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1224" y="1414463"/>
            <a:ext cx="27214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SENTRAIS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33224" y="2100263"/>
            <a:ext cx="42775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for Google Cloud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91000" y="2801243"/>
            <a:ext cx="762000" cy="28575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50428" y="3210818"/>
            <a:ext cx="24431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"Architecting Calm Through Chaos"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700" dirty="0"/>
          </a:p>
        </p:txBody>
      </p:sp>
      <p:pic>
        <p:nvPicPr>
          <p:cNvPr id="3" name="Image 0" descr="/tmp/rasterized-gradient-6b9d79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4400"/>
            <a:ext cx="4048125" cy="117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104900"/>
            <a:ext cx="3740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POSITION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71500" y="1354336"/>
            <a:ext cx="37404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LA28 Official Cloud Provider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1500" y="1723876"/>
            <a:ext cx="3740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Partner status announced October 2025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81000" y="2240012"/>
            <a:ext cx="4048125" cy="908447"/>
          </a:xfrm>
          <a:prstGeom prst="roundRect">
            <a:avLst>
              <a:gd name="adj" fmla="val 838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0050" y="2240012"/>
            <a:ext cx="0" cy="908447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392412"/>
            <a:ext cx="377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571500" y="2622798"/>
            <a:ext cx="37793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alone doesn't win events. Coordination does. Google needs an operational intelligence layer.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3300859"/>
            <a:ext cx="4048125" cy="908447"/>
          </a:xfrm>
          <a:prstGeom prst="roundRect">
            <a:avLst>
              <a:gd name="adj" fmla="val 838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3300859"/>
            <a:ext cx="0" cy="908447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3453259"/>
            <a:ext cx="3779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71500" y="3683645"/>
            <a:ext cx="377932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provides proven operational intelligence already deployed across 32 NFL stadiums.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14875" y="914400"/>
            <a:ext cx="4129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EVENTS CONVERGENCE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714875" y="1201936"/>
            <a:ext cx="4048125" cy="632371"/>
          </a:xfrm>
          <a:prstGeom prst="roundRect">
            <a:avLst>
              <a:gd name="adj" fmla="val 1205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48225" y="1356122"/>
            <a:ext cx="461814" cy="323850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62439" y="1335286"/>
            <a:ext cx="1554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World Cup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5462439" y="1554361"/>
            <a:ext cx="15540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teams • 104 games • 16 cities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14875" y="1948607"/>
            <a:ext cx="4048125" cy="632371"/>
          </a:xfrm>
          <a:prstGeom prst="roundRect">
            <a:avLst>
              <a:gd name="adj" fmla="val 1205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48225" y="2102793"/>
            <a:ext cx="461814" cy="32385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462439" y="2081957"/>
            <a:ext cx="17645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Women's World Cup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5462439" y="2301032"/>
            <a:ext cx="17645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teams • Brazil</a:t>
            </a:r>
            <a:endParaRPr lang="en-US" sz="825" dirty="0"/>
          </a:p>
        </p:txBody>
      </p:sp>
      <p:pic>
        <p:nvPicPr>
          <p:cNvPr id="24" name="Image 1" descr="/tmp/rasterized-gradient-3d1095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695277"/>
            <a:ext cx="4048125" cy="63237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848225" y="2849463"/>
            <a:ext cx="461814" cy="3238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462439" y="2828627"/>
            <a:ext cx="1772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LA28 Olympics</a:t>
            </a:r>
            <a:endParaRPr lang="en-US" sz="1125" dirty="0"/>
          </a:p>
        </p:txBody>
      </p:sp>
      <p:sp>
        <p:nvSpPr>
          <p:cNvPr id="27" name="Text 23"/>
          <p:cNvSpPr/>
          <p:nvPr/>
        </p:nvSpPr>
        <p:spPr>
          <a:xfrm>
            <a:off x="5462439" y="3047702"/>
            <a:ext cx="17723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athletes • 70,000+ workforce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Google Over AWS</a:t>
            </a:r>
            <a:endParaRPr lang="en-US" sz="2550" dirty="0"/>
          </a:p>
        </p:txBody>
      </p:sp>
      <p:pic>
        <p:nvPicPr>
          <p:cNvPr id="3" name="Image 0" descr="/tmp/rasterized-gradient-540f65d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028950"/>
            <a:ext cx="8382000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31623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028700" y="3247132"/>
            <a:ext cx="77141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has Olympic relationships but no operational layer. Sentrais + Google = complete solution.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Sentrais Brings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4076700" cy="832396"/>
          </a:xfrm>
          <a:prstGeom prst="roundRect">
            <a:avLst>
              <a:gd name="adj" fmla="val 915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2925" y="1057275"/>
            <a:ext cx="614065" cy="28575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419225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$600K implementation + $1.9M annually x 3 years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842046"/>
            <a:ext cx="4076700" cy="832396"/>
          </a:xfrm>
          <a:prstGeom prst="roundRect">
            <a:avLst>
              <a:gd name="adj" fmla="val 915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2925" y="2003971"/>
            <a:ext cx="360015" cy="2857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2925" y="2365921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Game-day operations across entire league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788741"/>
            <a:ext cx="4076700" cy="832396"/>
          </a:xfrm>
          <a:prstGeom prst="roundRect">
            <a:avLst>
              <a:gd name="adj" fmla="val 915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2950666"/>
            <a:ext cx="364331" cy="28575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" y="331261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operational coordination leadership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86300" y="895350"/>
            <a:ext cx="4076700" cy="1437829"/>
          </a:xfrm>
          <a:prstGeom prst="roundRect">
            <a:avLst>
              <a:gd name="adj" fmla="val 53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1047750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CREDENTIALS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38700" y="1238250"/>
            <a:ext cx="384733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Tye Hayes, CEO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8700" y="150867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veteran, crisis management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38700" y="168384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CIO/CTO of Atlanta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838700" y="18590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 cyber command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38700" y="203418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Innovation Hub operator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447479"/>
            <a:ext cx="4076700" cy="979140"/>
          </a:xfrm>
          <a:prstGeom prst="roundRect">
            <a:avLst>
              <a:gd name="adj" fmla="val 77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8700" y="2599879"/>
            <a:ext cx="384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METRICS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820603" y="2809429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99.7%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820603" y="3140869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Uptime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82753" y="2809429"/>
            <a:ext cx="184594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82753" y="3140869"/>
            <a:ext cx="18459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86300" y="3540919"/>
            <a:ext cx="4076700" cy="407640"/>
          </a:xfrm>
          <a:prstGeom prst="roundRect">
            <a:avLst>
              <a:gd name="adj" fmla="val 18693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1835" y="3664744"/>
            <a:ext cx="39056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building on GCP.</a:t>
            </a:r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an acceleration partnership.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Partnership Ask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4447282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114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10287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CREDITS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66800" y="1190625"/>
            <a:ext cx="37006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$350,000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14859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- AI Startup tier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1847850"/>
            <a:ext cx="4447282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0669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6800" y="19812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66800" y="2143125"/>
            <a:ext cx="37006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$750,000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6800" y="24384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 note - $15M cap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800350"/>
            <a:ext cx="4447282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3019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6800" y="29337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SUPPORT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66800" y="3095625"/>
            <a:ext cx="37006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$500,000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66800" y="3390900"/>
            <a:ext cx="3700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+ co-marketing</a:t>
            </a:r>
            <a:endParaRPr lang="en-US" sz="750" dirty="0"/>
          </a:p>
        </p:txBody>
      </p:sp>
      <p:pic>
        <p:nvPicPr>
          <p:cNvPr id="18" name="Image 0" descr="/tmp/rasterized-gradient-c25896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882" y="895350"/>
            <a:ext cx="3706118" cy="941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94700" y="1066800"/>
            <a:ext cx="3430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PARTNERSHIP VALUE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94700" y="1238250"/>
            <a:ext cx="343048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$1.6M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056882" y="1931640"/>
            <a:ext cx="3706118" cy="1361629"/>
          </a:xfrm>
          <a:prstGeom prst="roundRect">
            <a:avLst>
              <a:gd name="adj" fmla="val 559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190232" y="2064990"/>
            <a:ext cx="3508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GOOGLE GETS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90232" y="2274540"/>
            <a:ext cx="3508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intelligence layer for LA28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190232" y="2459236"/>
            <a:ext cx="3508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playbooks in GCP ecosystem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190232" y="2643932"/>
            <a:ext cx="3508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High-consumption GCP flywheel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190232" y="2828627"/>
            <a:ext cx="3508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AI validation (Gemini/Vertex)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190232" y="3013323"/>
            <a:ext cx="35082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vertical leadership vs AWS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5056882" y="3388519"/>
            <a:ext cx="3706118" cy="34290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26691" y="3493294"/>
            <a:ext cx="35664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Sports &amp; Major Events vertical for 3 years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 Consumption Flywheel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45045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GCP SPEND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197173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971550" y="1156246"/>
            <a:ext cx="3044577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550" y="1156246"/>
            <a:ext cx="152102" cy="228600"/>
          </a:xfrm>
          <a:prstGeom prst="roundRect">
            <a:avLst>
              <a:gd name="adj" fmla="val 25049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7092" y="1183928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1521023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971550" y="1480096"/>
            <a:ext cx="3044577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1550" y="1480096"/>
            <a:ext cx="608856" cy="2286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7092" y="1507778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1844873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71550" y="1803946"/>
            <a:ext cx="3044577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1550" y="1803946"/>
            <a:ext cx="1522214" cy="2286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7092" y="1831628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$7M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81000" y="2168723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71550" y="2127796"/>
            <a:ext cx="3044577" cy="2286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tmp/rasterized-gradient-198362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127796"/>
            <a:ext cx="3044577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117092" y="2148780"/>
            <a:ext cx="6800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$22M+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1000" y="2489746"/>
            <a:ext cx="4416177" cy="560040"/>
          </a:xfrm>
          <a:prstGeom prst="roundRect">
            <a:avLst>
              <a:gd name="adj" fmla="val 1360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00050" y="2489746"/>
            <a:ext cx="0" cy="56004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3400" y="2604046"/>
            <a:ext cx="42324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110x growth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Year 1 to Year 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3400" y="2802136"/>
            <a:ext cx="42324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High-consumption: compute + ML + IoT + analytics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82927" y="895350"/>
            <a:ext cx="37536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SERVICES USED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082927" y="1137196"/>
            <a:ext cx="3680073" cy="502890"/>
          </a:xfrm>
          <a:prstGeom prst="roundRect">
            <a:avLst>
              <a:gd name="adj" fmla="val 1515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16277" y="1232446"/>
            <a:ext cx="34816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+ Spanner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216277" y="1411486"/>
            <a:ext cx="3481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Frame data storage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082927" y="1735336"/>
            <a:ext cx="3680073" cy="502890"/>
          </a:xfrm>
          <a:prstGeom prst="roundRect">
            <a:avLst>
              <a:gd name="adj" fmla="val 1515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6277" y="1830586"/>
            <a:ext cx="34816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+ BigQuery ML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216277" y="2009626"/>
            <a:ext cx="3481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 Intelligence engine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082927" y="2333476"/>
            <a:ext cx="3680073" cy="502890"/>
          </a:xfrm>
          <a:prstGeom prst="roundRect">
            <a:avLst>
              <a:gd name="adj" fmla="val 1515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6277" y="2428726"/>
            <a:ext cx="34816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 + Dataflow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216277" y="2607766"/>
            <a:ext cx="3481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 streaming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082927" y="2931616"/>
            <a:ext cx="3680073" cy="502890"/>
          </a:xfrm>
          <a:prstGeom prst="roundRect">
            <a:avLst>
              <a:gd name="adj" fmla="val 1515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16277" y="3026866"/>
            <a:ext cx="34816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+ API Gateway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216277" y="3205907"/>
            <a:ext cx="34816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APIs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Together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PURSUIT TARGETS</a:t>
            </a:r>
            <a:endParaRPr lang="en-US" sz="825" dirty="0"/>
          </a:p>
        </p:txBody>
      </p:sp>
      <p:pic>
        <p:nvPicPr>
          <p:cNvPr id="4" name="Image 0" descr="/tmp/rasterized-gradient-f610fa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37196"/>
            <a:ext cx="4076700" cy="5637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5300" y="1251496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LA28 Organizing Committee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95300" y="145330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ops coordination - Q1 2026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1000" y="1796207"/>
            <a:ext cx="4076700" cy="582811"/>
          </a:xfrm>
          <a:prstGeom prst="roundRect">
            <a:avLst>
              <a:gd name="adj" fmla="val 130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4825" y="1920032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2026 Host Cities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04825" y="2121843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cities need coordination - Q3 2025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474268"/>
            <a:ext cx="4076700" cy="582811"/>
          </a:xfrm>
          <a:prstGeom prst="roundRect">
            <a:avLst>
              <a:gd name="adj" fmla="val 130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4825" y="2598093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MLB Teams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04825" y="2799904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Google MLB partnership - Q2 2026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3152329"/>
            <a:ext cx="4076700" cy="582811"/>
          </a:xfrm>
          <a:prstGeom prst="roundRect">
            <a:avLst>
              <a:gd name="adj" fmla="val 130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4825" y="3276154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 Venues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04825" y="3477964"/>
            <a:ext cx="3905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venues globally - Q4 2025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686300" y="895350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TIMELINE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137196"/>
            <a:ext cx="4076700" cy="550515"/>
          </a:xfrm>
          <a:prstGeom prst="roundRect">
            <a:avLst>
              <a:gd name="adj" fmla="val 1384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00600" y="125149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2026: Partnership Announcement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00600" y="144006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press + Cloud Next showcase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686300" y="1782961"/>
            <a:ext cx="4076700" cy="550515"/>
          </a:xfrm>
          <a:prstGeom prst="roundRect">
            <a:avLst>
              <a:gd name="adj" fmla="val 1384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00600" y="1897261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2026: FIFA World Cup Pursuit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00600" y="2085826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proposals to host cities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86300" y="2428726"/>
            <a:ext cx="4076700" cy="550515"/>
          </a:xfrm>
          <a:prstGeom prst="roundRect">
            <a:avLst>
              <a:gd name="adj" fmla="val 1384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00600" y="2543026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Scale Operations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00600" y="2731591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venues + case studies</a:t>
            </a:r>
            <a:endParaRPr lang="en-US" sz="750" dirty="0"/>
          </a:p>
        </p:txBody>
      </p:sp>
      <p:pic>
        <p:nvPicPr>
          <p:cNvPr id="26" name="Image 1" descr="/tmp/rasterized-gradient-f504f55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3074491"/>
            <a:ext cx="4076700" cy="55051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00600" y="3188791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2028: LA28 Olympics Execution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800600" y="337735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operational intelligence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0039" y="1238399"/>
            <a:ext cx="68237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the Future of Major Events Together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191000" y="1752749"/>
            <a:ext cx="762000" cy="28575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00933" y="1971824"/>
            <a:ext cx="1112044" cy="750540"/>
          </a:xfrm>
          <a:prstGeom prst="roundRect">
            <a:avLst>
              <a:gd name="adj" fmla="val 1015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74407" y="2114699"/>
            <a:ext cx="7650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874407" y="2446139"/>
            <a:ext cx="765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Value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003477" y="1971824"/>
            <a:ext cx="1166961" cy="750540"/>
          </a:xfrm>
          <a:prstGeom prst="roundRect">
            <a:avLst>
              <a:gd name="adj" fmla="val 1015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76401" y="2114699"/>
            <a:ext cx="82111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$22M+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176401" y="2446139"/>
            <a:ext cx="8211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GCP Spend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60938" y="1971824"/>
            <a:ext cx="1082129" cy="750540"/>
          </a:xfrm>
          <a:prstGeom prst="roundRect">
            <a:avLst>
              <a:gd name="adj" fmla="val 1015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34711" y="2114699"/>
            <a:ext cx="73458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LA28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34711" y="2446139"/>
            <a:ext cx="7345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Opportunity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310259" y="2950964"/>
            <a:ext cx="4523333" cy="401836"/>
          </a:xfrm>
          <a:prstGeom prst="roundRect">
            <a:avLst>
              <a:gd name="adj" fmla="val 18963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8859" y="3065264"/>
            <a:ext cx="41474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 Meeting with Google Cloud Sports &amp; Strategic Partnerships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078092" y="3543300"/>
            <a:ext cx="29876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 Hayes, CEO &amp; Founder | Sentrais Corporation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078092" y="3745111"/>
            <a:ext cx="29876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tye@sentrais.com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Sentrais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Sentrais Google Cloud Strategic Partnership</dc:title>
  <dc:subject>Strategic Partnership Proposal for Google Cloud Platform</dc:subject>
  <dc:creator>Sentrais Corporation</dc:creator>
  <cp:lastModifiedBy>Sentrais Corporation</cp:lastModifiedBy>
  <cp:revision>1</cp:revision>
  <dcterms:created xsi:type="dcterms:W3CDTF">2025-12-28T20:28:19Z</dcterms:created>
  <dcterms:modified xsi:type="dcterms:W3CDTF">2025-12-28T20:28:19Z</dcterms:modified>
</cp:coreProperties>
</file>