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ORCHESTRATION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the $1.16T Live Event Economy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during chaos. Making the complex simple.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2560320" cy="914400"/>
          </a:xfrm>
          <a:prstGeom prst="rect">
            <a:avLst/>
          </a:prstGeom>
          <a:solidFill>
            <a:srgbClr val="3A7B8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ARR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474720"/>
            <a:ext cx="2560320" cy="914400"/>
          </a:xfrm>
          <a:prstGeom prst="rect">
            <a:avLst/>
          </a:prstGeom>
          <a:solidFill>
            <a:srgbClr val="3A7B8A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CONTRACT VALUE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3474720"/>
            <a:ext cx="2560320" cy="914400"/>
          </a:xfrm>
          <a:prstGeom prst="rect">
            <a:avLst/>
          </a:prstGeom>
          <a:solidFill>
            <a:srgbClr val="3A7B8A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126480" y="4023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ROI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FRAGMENTATION AT THE POINT OF PERFORMANCE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Coordination Crisis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Clocks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operate on different temporal frameworks—minutes vs hours vs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Graveyard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plans abandoned under pressure of real-time decision-making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74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Paradox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compliance scores hide fundamental unpreparedness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$2-4M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leakage per venue annually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incidents from coordination failures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34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58368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15-minute curfew overrun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industry accepts chaos as normal. It's not. It's solvable.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SENTRAIS OPERATIONAL ORCHESTRATION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Orchestration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of synchronizing readiness, live operations, and learning across fragmented stakeholder ecosystems into a unified, certifiable capability. We don't notify. We orchestrate.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92024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920240" cy="914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blueprints, certification pre-checks, digital simulations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194560"/>
            <a:ext cx="192024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14600" y="2606040"/>
            <a:ext cx="1920240" cy="914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playbooks, real-time response tracking, Common Operating Picture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192024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606040"/>
            <a:ext cx="1920240" cy="914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capture, multi-agency coordination, adaptive protocols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2194560"/>
            <a:ext cx="192024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67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2606040"/>
            <a:ext cx="1920240" cy="914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6974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Auto-analytics, benchmarking, continuous playbook updates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703320"/>
            <a:ext cx="1554480" cy="3657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5" name="Text 23"/>
          <p:cNvSpPr/>
          <p:nvPr/>
        </p:nvSpPr>
        <p:spPr>
          <a:xfrm>
            <a:off x="219456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EVERGAME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3703320"/>
            <a:ext cx="1554480" cy="3657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eVenu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3703320"/>
            <a:ext cx="1554480" cy="3657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CiviGrid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06640" y="3703320"/>
            <a:ext cx="1554480" cy="3657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 |  INVESTOR PRESENTATION  |  sentrais.com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OPPORTUNITY: THE $85B+ LIVE EVENT ECONOMY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704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07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Music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0972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1907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7556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Touring &amp; Production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0972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677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Operations &amp; Tech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10972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163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852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&amp; Premium Ticketing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10972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3649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 Monetization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474720" cy="5029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TAM: $75-85B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2344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SERVICEABLE MARKET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16459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$450-600M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54880" y="2148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Serviceable Obtainable Market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56032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of tier-one venues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8036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 high-value touring artists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0040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major promoter (Live Nation/AEG)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52044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474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critical infrastructure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3749040" cy="3657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858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dominant intelligence platform exists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 |  INVESTOR PRESENTATION  |  sentrais.com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TRACTION: BATTLE-TESTED IN THE NFL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229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Contract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NFL clubs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931920" cy="8229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92024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11680" y="2057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ARR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377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quarterly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31920" cy="8229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83464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01168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First-Year ROI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venue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3931920" cy="82296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749040"/>
            <a:ext cx="73152" cy="8229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011680" y="3886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Reduction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206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improvement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005840"/>
            <a:ext cx="4114800" cy="320040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VALIDATION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1600200"/>
            <a:ext cx="182880" cy="182880"/>
          </a:xfrm>
          <a:prstGeom prst="ellipse">
            <a:avLst/>
          </a:prstGeom>
          <a:solidFill>
            <a:srgbClr val="3A7B8A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Bowl: Zero-downtime performance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2011680"/>
            <a:ext cx="182880" cy="182880"/>
          </a:xfrm>
          <a:prstGeom prst="ellipse">
            <a:avLst/>
          </a:prstGeom>
          <a:solidFill>
            <a:srgbClr val="3A7B8A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Recognition: Resilience Management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423160"/>
            <a:ext cx="182880" cy="182880"/>
          </a:xfrm>
          <a:prstGeom prst="ellipse">
            <a:avLst/>
          </a:prstGeom>
          <a:solidFill>
            <a:srgbClr val="3A7B8A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 annual value per NFL venue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834640"/>
            <a:ext cx="182880" cy="182880"/>
          </a:xfrm>
          <a:prstGeom prst="ellipse">
            <a:avLst/>
          </a:prstGeom>
          <a:solidFill>
            <a:srgbClr val="3A7B8A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Sub-10ms response times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246120"/>
            <a:ext cx="182880" cy="182880"/>
          </a:xfrm>
          <a:prstGeom prst="ellipse">
            <a:avLst/>
          </a:prstGeom>
          <a:solidFill>
            <a:srgbClr val="3A7B8A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prediction accuracy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374904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7307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"Sentrais transformed how we coordinate game-day operations."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 |  INVESTOR PRESENTATION  |  sentrais.com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STRATEGY: THREE-HORIZON MODEL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League Dominance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→ Year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 ARR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NFL: 32 clubs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NBA: 30 arenas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MLB: 30 stadiums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MLS: 29 venues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Verticals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→ Year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$65M ARR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Nation: 200+ venues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AEG Presents: 100+ venues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FIFA 2026: 12 host cities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Federal infrastructure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651760" cy="4114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Standard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17830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→ Year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057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ARR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FIFA/Olympics certification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leagues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G7/G20 events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Expo venues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Effects: Each deployment improves intelligence for ALL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PARTNERSHIPS: STRATEGIC GO-TO-MARKET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21031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Vertical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$1.75M Pipeline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NFL Venues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NBA/MLB Stadiums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NCAA Tier-1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00A4E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1463040"/>
            <a:ext cx="2651760" cy="21031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Venues &amp; Live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$3.35M Pipeline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Nation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AEG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MSG/Barclays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789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463040"/>
            <a:ext cx="2651760" cy="21031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&amp; Infrastructure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$9.3M Pipeline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FIFA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DHS/FEMA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834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TSA Airports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PIPELINE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$14.4M ARR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303520" y="4005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close = $8.6M new ARR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with $1.9M base = $10.5M ARR (Series A threshold)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SAAS + SUCCESS-BASED PRICING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6400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NFL/NBA/MLB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$150K-$250K/yr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platform, unlimited 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MLS/NCAA/Arenas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$75K-$150K/yr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orchestration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73152" cy="6400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Regional/Theater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$35K-$75K/yr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readiness + incidents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73152" cy="64008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66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Control Tower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$2-4M/yr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Multi-venue portfolio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114800" cy="329184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COMPOSITION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554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920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Base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3504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331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Fees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80960" y="2331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2743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Fees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2743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2743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2743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383280"/>
            <a:ext cx="3749040" cy="73152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520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fees create margin expansion at scale while aligning incentives with customers.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 |  INVESTOR PRESENTATION  |  sentrais.com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TO UNICORN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6400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" y="868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$1.9M ARR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NFL Foundation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6400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087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1463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 ARR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leagues + Live Nation pilots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6400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2057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$30M ARR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Multi-league saturation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640080" cy="45720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97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2651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$100M+ ARR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2880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standard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TRAJECTORY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SAFE: $15-20M cap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6118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A: $50-80M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886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B: $250-400M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94560" y="3886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 Unicorn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846320" y="822960"/>
            <a:ext cx="3840480" cy="1645920"/>
          </a:xfrm>
          <a:prstGeom prst="rect">
            <a:avLst/>
          </a:prstGeom>
          <a:solidFill>
            <a:srgbClr val="F4F6F7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914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NOTE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11887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$2M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5029200" y="1691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$15-20M valuation cap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20% discount to Series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Pro-rata rights through Series 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606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297180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platform delivery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0" y="329184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infrastructure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611880"/>
            <a:ext cx="137160" cy="137160"/>
          </a:xfrm>
          <a:prstGeom prst="rect">
            <a:avLst/>
          </a:prstGeom>
          <a:solidFill>
            <a:srgbClr val="3A7B8A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contracted enterprise execution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023360"/>
            <a:ext cx="3840480" cy="41148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Return: 2.5-4x in 12-18 months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Stadium. Certified. Intelligent.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during chaos. Making the complex simple.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3A7B8A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3246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sentrais.com  |  investors@sentrais.com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520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Sentrais Corporation  •  Atlanta, 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January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Orchestration - Investor Presentation</dc:title>
  <dc:subject>PptxGenJS Presentation</dc:subject>
  <dc:creator>Sentrais Corporation</dc:creator>
  <cp:lastModifiedBy>Sentrais Corporation</cp:lastModifiedBy>
  <cp:revision>1</cp:revision>
  <dcterms:created xsi:type="dcterms:W3CDTF">2026-01-26T02:41:18Z</dcterms:created>
  <dcterms:modified xsi:type="dcterms:W3CDTF">2026-01-26T02:41:18Z</dcterms:modified>
</cp:coreProperties>
</file>