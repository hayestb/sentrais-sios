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7+fywM3ajg9zCb9RsTuZLCGm2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>
      <p:cViewPr varScale="1">
        <p:scale>
          <a:sx n="159" d="100"/>
          <a:sy n="159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881112" y="944017"/>
            <a:ext cx="53816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90-DAY POC STRATEGY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104506" y="1629817"/>
            <a:ext cx="293484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15 Venues by March 31, 2026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765914" y="2342257"/>
            <a:ext cx="734431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65914" y="2768947"/>
            <a:ext cx="73443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 Stadiums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97945" y="2445097"/>
            <a:ext cx="9525" cy="381000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05724" y="2342257"/>
            <a:ext cx="667637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05724" y="2768947"/>
            <a:ext cx="667637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AEG Venues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71616" y="2445097"/>
            <a:ext cx="9525" cy="381000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376092" y="2342257"/>
            <a:ext cx="1004643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376092" y="2768947"/>
            <a:ext cx="1004643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Nation Venues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904530" y="3386138"/>
            <a:ext cx="988516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030662" y="3443288"/>
            <a:ext cx="736253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Sports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045446" y="3386138"/>
            <a:ext cx="1134219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70121" y="3443288"/>
            <a:ext cx="884870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Venues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332065" y="3386138"/>
            <a:ext cx="907256" cy="260896"/>
          </a:xfrm>
          <a:prstGeom prst="roundRect">
            <a:avLst>
              <a:gd name="adj" fmla="val 14604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59010" y="3443288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 Federal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206972" y="4066133"/>
            <a:ext cx="273005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CORPORATION TEAM BRIEFING JANUARY 2026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25" y="3304417"/>
            <a:ext cx="1458075" cy="145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WHAT IS SENTRAIS?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The Intelligence Operating System for High-Stakes Environments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2900" y="1831777"/>
            <a:ext cx="3968502" cy="777032"/>
          </a:xfrm>
          <a:prstGeom prst="roundRect">
            <a:avLst>
              <a:gd name="adj" fmla="val 73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361950" y="1831777"/>
            <a:ext cx="0" cy="777032"/>
          </a:xfrm>
          <a:prstGeom prst="straightConnector1">
            <a:avLst/>
          </a:prstGeom>
          <a:noFill/>
          <a:ln w="38100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2"/>
          <p:cNvSpPr/>
          <p:nvPr/>
        </p:nvSpPr>
        <p:spPr>
          <a:xfrm>
            <a:off x="514350" y="1965127"/>
            <a:ext cx="373697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CORE IDEA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14350" y="2182267"/>
            <a:ext cx="373697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825"/>
              <a:buFont typeface="Arial"/>
              <a:buNone/>
            </a:pPr>
            <a:r>
              <a:rPr lang="en-US" sz="82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Sentrais digitizes an organization's DNA—processes, playbooks, systems—into a unified core model that powers every project and platform.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42900" y="2723108"/>
            <a:ext cx="3968502" cy="1118146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9525" cap="flat" cmpd="sng">
            <a:solidFill>
              <a:srgbClr val="D1D9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6725" y="2846933"/>
            <a:ext cx="3795269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WHAT SENTRAIS DOES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6725" y="306972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Unifies fragmented systems into one intelligence layer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66725" y="324117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Accelerates commercialization through shared blueprints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66725" y="341262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Embeds resilience, governance, and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725" y="3584079"/>
            <a:ext cx="3795269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Compounds intelligence with every deployment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01902" y="1898452"/>
            <a:ext cx="4299198" cy="1346597"/>
          </a:xfrm>
          <a:prstGeom prst="roundRect">
            <a:avLst>
              <a:gd name="adj" fmla="val 4244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94927" y="2031802"/>
            <a:ext cx="411314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THE SENTRAIS ECOSYSTEM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2" descr="/tmp/rasterized-gradient-b65a47e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7229" y="2260402"/>
            <a:ext cx="1448544" cy="50274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068191" y="2355652"/>
            <a:ext cx="1166619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OS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68191" y="2547938"/>
            <a:ext cx="11666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Intelligence Operating System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455741" y="2858393"/>
            <a:ext cx="700236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555610" y="2925068"/>
            <a:ext cx="50050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EVERGAME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13128" y="2858393"/>
            <a:ext cx="462111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15377" y="2925068"/>
            <a:ext cx="257613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eVenu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732389" y="2858393"/>
            <a:ext cx="543074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833829" y="2925068"/>
            <a:ext cx="34019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CiviGrid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332613" y="2858393"/>
            <a:ext cx="514499" cy="253305"/>
          </a:xfrm>
          <a:prstGeom prst="roundRect">
            <a:avLst>
              <a:gd name="adj" fmla="val 15041"/>
            </a:avLst>
          </a:prstGeom>
          <a:solidFill>
            <a:srgbClr val="9AAF45">
              <a:alpha val="20000"/>
            </a:srgbClr>
          </a:solidFill>
          <a:ln w="952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34338" y="2925068"/>
            <a:ext cx="311048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Federal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01902" y="3359348"/>
            <a:ext cx="4299198" cy="415230"/>
          </a:xfrm>
          <a:prstGeom prst="roundRect">
            <a:avLst>
              <a:gd name="adj" fmla="val 13763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5496" y="3473648"/>
            <a:ext cx="415201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50"/>
              <a:buFont typeface="Arial"/>
              <a:buNone/>
            </a:pPr>
            <a:r>
              <a:rPr lang="en-US" sz="1050" b="1" i="1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"Calm during chaos. Making the complex simple."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Sentrais is the living intelligence core that translates organizational DNA into unified, resilient frameworks.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NIN METHODOLOGY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Gartner-Recognized Framework Systematic Approach to Resilience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4290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2483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2296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43179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43179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 Forensics, current state, operational mapping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04981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2E5A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3174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82987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150089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150089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Root cause analysis, risk prioritization, impact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56720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3A7B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43865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3678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85699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85699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Solution architecture, future-state blueprints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63629" y="1182886"/>
            <a:ext cx="1630710" cy="973187"/>
          </a:xfrm>
          <a:prstGeom prst="roundRect">
            <a:avLst>
              <a:gd name="adj" fmla="val 5872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14556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243693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56390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56390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Implementation, training, Sentrais activation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3" descr="/tmp/rasterized-gradient-ce64905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0539" y="1182886"/>
            <a:ext cx="1630710" cy="97318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852470" y="1297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950602" y="1343918"/>
            <a:ext cx="702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270818" y="1621036"/>
            <a:ext cx="143015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DEBRIEF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270818" y="1819126"/>
            <a:ext cx="1430152" cy="22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Continuous improvement, AAR automation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429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572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OUTCOME-FOCUSED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572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Not just technology—measurable resilience, accuracy, and speed to innovation.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2004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3147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RAPID DELIVERY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3147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90-day POCs deliver results, not PowerPoints. Outcomes in months, not years.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057900" y="3145036"/>
            <a:ext cx="2743200" cy="660946"/>
          </a:xfrm>
          <a:prstGeom prst="roundRect">
            <a:avLst>
              <a:gd name="adj" fmla="val 8647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172200" y="3259336"/>
            <a:ext cx="2564892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BATTLE-TESTED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172200" y="3444032"/>
            <a:ext cx="256489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Born from Atlanta cyber crisis, Super Bowl delivery, NFL production deployment.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NIN = NOVATE Intelligence Network Each POC follows this exact methodology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15-POC TARGET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Three Categories 90 Days Market-Defining Traction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42900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3818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62000" y="1424285"/>
            <a:ext cx="857089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NFL STADIUMS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62000" y="1584275"/>
            <a:ext cx="85708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Partner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33400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Mercedes-Benz Stadium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33400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Atlanta SB 2029 Host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57200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33400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SoFi Stadium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33400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Olympics 2028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33400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Allegiant Stadium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33400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Vegas Tech-Forward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33400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AT&amp;T Stadium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33400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Dallas Largest NFL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57200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33400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MetLife Stadium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33400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NY/NJ FIFA 2026 Final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194000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2E5A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308300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00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394918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613100" y="1424285"/>
            <a:ext cx="76448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AEG VENUES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613100" y="1584275"/>
            <a:ext cx="764488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308300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384500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Crypto.com Arena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384500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Flagship 20K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308300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384500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384500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London International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308300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384500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Dignity Health Sports Park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384500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FIFA Training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308300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384500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Theater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384500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Partner Alignment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308300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3384500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T-Mobile Arena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384500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Vegas Major Events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045101" y="1309985"/>
            <a:ext cx="2755850" cy="2641550"/>
          </a:xfrm>
          <a:prstGeom prst="roundRect">
            <a:avLst>
              <a:gd name="adj" fmla="val 2164"/>
            </a:avLst>
          </a:prstGeom>
          <a:solidFill>
            <a:srgbClr val="3A7B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159401" y="1440359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00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246019" y="1470868"/>
            <a:ext cx="7575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464201" y="1424285"/>
            <a:ext cx="729877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NATION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464201" y="1584275"/>
            <a:ext cx="729877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159401" y="1837581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235601" y="1894731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Fillmore Network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235601" y="2028081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Multi-venue proof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159401" y="2248942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235601" y="2306092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Hollywood Bowl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235601" y="2439442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Iconic 17.5K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159401" y="2660303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235601" y="2717453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 Rocks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235601" y="2850803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Denver Unique Ops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159401" y="3071664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235601" y="3128814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Bridgestone Arena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235601" y="3262164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Nashville 20K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159401" y="3483025"/>
            <a:ext cx="2527250" cy="354211"/>
          </a:xfrm>
          <a:prstGeom prst="roundRect">
            <a:avLst>
              <a:gd name="adj" fmla="val 10756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235601" y="3540175"/>
            <a:ext cx="242234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House of Blues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6235601" y="3673525"/>
            <a:ext cx="2422347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Artist integration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342900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31927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$1.35M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31927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POC Investment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3194000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3283028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$4M+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3283028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Y1 Pipeline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6045101" y="4364534"/>
            <a:ext cx="2755850" cy="512266"/>
          </a:xfrm>
          <a:prstGeom prst="roundRect">
            <a:avLst>
              <a:gd name="adj" fmla="val 7438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134128" y="4440734"/>
            <a:ext cx="2577795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3-4x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6134128" y="4680645"/>
            <a:ext cx="2577795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Expected ROI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CLOUD PARTNERSHIP STRATEGY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Three Partners Three Markets One Intelligence Layer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429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 cap="flat" cmpd="sng">
            <a:solidFill>
              <a:srgbClr val="4285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76250" y="1866007"/>
            <a:ext cx="584299" cy="274290"/>
          </a:xfrm>
          <a:prstGeom prst="roundRect">
            <a:avLst>
              <a:gd name="adj" fmla="val 13890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71500" y="1923157"/>
            <a:ext cx="40167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36749" y="1929854"/>
            <a:ext cx="439475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SPORTS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762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524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524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Sports leagues, entertainment, AI-native innovation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762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762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Vertex AI BigQuery Chronicle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62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762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NFL MLS NBA NCAA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762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334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Partnership signed, NFL case study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2004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 cap="flat" cmpd="sng">
            <a:solidFill>
              <a:srgbClr val="00A4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3333750" y="1866007"/>
            <a:ext cx="704850" cy="274290"/>
          </a:xfrm>
          <a:prstGeom prst="roundRect">
            <a:avLst>
              <a:gd name="adj" fmla="val 13890"/>
            </a:avLst>
          </a:prstGeom>
          <a:solidFill>
            <a:srgbClr val="00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429000" y="1923157"/>
            <a:ext cx="524637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114800" y="1929854"/>
            <a:ext cx="43962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VENUES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33337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34099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4099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Venue operators, enterprise deployments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3337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3337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Azure AI Dynamics 365 Teams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33337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3337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AEG Live Nation ASM Global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3337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00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33909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Azure marketplace listing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057900" y="1732657"/>
            <a:ext cx="2743200" cy="1984623"/>
          </a:xfrm>
          <a:prstGeom prst="roundRect">
            <a:avLst>
              <a:gd name="adj" fmla="val 2880"/>
            </a:avLst>
          </a:prstGeom>
          <a:solidFill>
            <a:srgbClr val="FFFFFF"/>
          </a:solidFill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191250" y="1866007"/>
            <a:ext cx="450949" cy="274290"/>
          </a:xfrm>
          <a:prstGeom prst="roundRect">
            <a:avLst>
              <a:gd name="adj" fmla="val 1389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718399" y="1929854"/>
            <a:ext cx="50475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FEDERAL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191250" y="2216497"/>
            <a:ext cx="2476500" cy="424755"/>
          </a:xfrm>
          <a:prstGeom prst="roundRect">
            <a:avLst>
              <a:gd name="adj" fmla="val 8970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267450" y="2292697"/>
            <a:ext cx="237058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267450" y="2431703"/>
            <a:ext cx="237058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Federal agencies, airports, critical infrastructure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191250" y="2717453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191250" y="2837408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GovCloud Bedrock Lambda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6191250" y="3033564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TARGETS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191250" y="3153519"/>
            <a:ext cx="252603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FEMA DHS TSA Airports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6191250" y="3349675"/>
            <a:ext cx="2476500" cy="234255"/>
          </a:xfrm>
          <a:prstGeom prst="roundRect">
            <a:avLst>
              <a:gd name="adj" fmla="val 16264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6248400" y="3406825"/>
            <a:ext cx="240944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Q1: FedRAMP pathway initiated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342900" y="4552950"/>
            <a:ext cx="8458200" cy="323850"/>
          </a:xfrm>
          <a:prstGeom prst="roundRect">
            <a:avLst>
              <a:gd name="adj" fmla="val 17647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058418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3191768" y="4648200"/>
            <a:ext cx="56714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JAN:</a:t>
            </a: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Google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938290" y="4648200"/>
            <a:ext cx="9715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224040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A4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4357390" y="4648200"/>
            <a:ext cx="64790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FEB:</a:t>
            </a: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Microsoft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5183088" y="4648200"/>
            <a:ext cx="9715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468838" y="467677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602188" y="4648200"/>
            <a:ext cx="49306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MAR:</a:t>
            </a: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AWS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/>
          <p:nvPr/>
        </p:nvSpPr>
        <p:spPr>
          <a:xfrm>
            <a:off x="342900" y="266700"/>
            <a:ext cx="432339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90-DAY EXECUTION CALENDAR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42900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Week-by-Week Milestones January 6 March 31, 2026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342900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12496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JANUARY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12496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Foundation &amp; NFL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342900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19100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1-2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19100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Finalize POC materials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19100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NFL stadium meetings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342900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19100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3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19100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Google partnership signed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342900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19100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4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19100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First 2 NFL POCs launched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342900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1B3A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93065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END: 2 POCs Active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3194000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2E5A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263597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FEBRUARY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263597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AEG &amp; Live Nation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3194000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3270200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5-6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3270200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AEG venue meetings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3270200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Live Nation approach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194000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270200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7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3270200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00A4EF"/>
                </a:solidFill>
                <a:latin typeface="Arial"/>
                <a:ea typeface="Arial"/>
                <a:cs typeface="Arial"/>
                <a:sym typeface="Arial"/>
              </a:rPr>
              <a:t>Microsoft partnership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3194000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3270200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8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3270200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AEG + LN POCs launch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3194000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2E5A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3244166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END: 8 POCs Active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6045101" y="1760637"/>
            <a:ext cx="2755850" cy="445591"/>
          </a:xfrm>
          <a:prstGeom prst="roundRect">
            <a:avLst>
              <a:gd name="adj" fmla="val 8550"/>
            </a:avLst>
          </a:prstGeom>
          <a:solidFill>
            <a:srgbClr val="3A7B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6114697" y="1836837"/>
            <a:ext cx="2616657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MARCH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6114697" y="2010073"/>
            <a:ext cx="2616657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Acceleration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6045101" y="2263378"/>
            <a:ext cx="2755850" cy="485477"/>
          </a:xfrm>
          <a:prstGeom prst="roundRect">
            <a:avLst>
              <a:gd name="adj" fmla="val 78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6121301" y="233957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9-10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6121301" y="2459534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Rapid POC velocity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6121301" y="2566095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AWS federal partnership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6045101" y="2806005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6121301" y="2882205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11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6121301" y="3002161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Case study documentation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6045101" y="3242072"/>
            <a:ext cx="2755850" cy="378916"/>
          </a:xfrm>
          <a:prstGeom prst="roundRect">
            <a:avLst>
              <a:gd name="adj" fmla="val 10055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121301" y="3318272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Week 12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6121301" y="3438227"/>
            <a:ext cx="2655519" cy="10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600"/>
              <a:buFont typeface="Arial"/>
              <a:buNone/>
            </a:pPr>
            <a:r>
              <a:rPr lang="en-US" sz="60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Series A prep complete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6045101" y="3678138"/>
            <a:ext cx="2755850" cy="234255"/>
          </a:xfrm>
          <a:prstGeom prst="roundRect">
            <a:avLst>
              <a:gd name="adj" fmla="val 16264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095266" y="3735288"/>
            <a:ext cx="2655519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675"/>
              <a:buFont typeface="Arial"/>
              <a:buNone/>
            </a:pPr>
            <a:r>
              <a:rPr lang="en-US" sz="6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END: 15 POCs ✓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342900" y="4756845"/>
            <a:ext cx="862736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Weekly tracking: POCs Initiated POCs in Discovery POCs in Deploy POCs Complete Pipeline Value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/>
          <p:nvPr/>
        </p:nvSpPr>
        <p:spPr>
          <a:xfrm>
            <a:off x="2139330" y="266700"/>
            <a:ext cx="486534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 METRICS &amp; CALL TO ACTION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58318" y="704850"/>
            <a:ext cx="862736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What We're Measuring What We Need From You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42900" y="1609725"/>
            <a:ext cx="4152900" cy="927646"/>
          </a:xfrm>
          <a:prstGeom prst="roundRect">
            <a:avLst>
              <a:gd name="adj" fmla="val 6161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57200" y="1724025"/>
            <a:ext cx="4002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57200" y="1946821"/>
            <a:ext cx="711053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4 (Jan 31)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746004" y="1946821"/>
            <a:ext cx="64820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POCs $500K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57200" y="2118271"/>
            <a:ext cx="721831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8 (Feb 28)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836194" y="2118271"/>
            <a:ext cx="5562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POCs $2M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57200" y="2289721"/>
            <a:ext cx="77572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12 (Mar 31)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3722191" y="2289721"/>
            <a:ext cx="67249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15 POCs $6M+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342900" y="2632621"/>
            <a:ext cx="4152900" cy="883741"/>
          </a:xfrm>
          <a:prstGeom prst="roundRect">
            <a:avLst>
              <a:gd name="adj" fmla="val 6467"/>
            </a:avLst>
          </a:prstGeom>
          <a:solidFill>
            <a:srgbClr val="9AAF45">
              <a:alpha val="20000"/>
            </a:srgbClr>
          </a:solidFill>
          <a:ln w="952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66725" y="2756446"/>
            <a:ext cx="3983355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AF45"/>
              </a:buClr>
              <a:buSzPts val="825"/>
              <a:buFont typeface="Arial"/>
              <a:buNone/>
            </a:pPr>
            <a:r>
              <a:rPr lang="en-US" sz="825" b="1" i="0" u="none" strike="noStrike" cap="none">
                <a:solidFill>
                  <a:srgbClr val="9AAF45"/>
                </a:solidFill>
                <a:latin typeface="Arial"/>
                <a:ea typeface="Arial"/>
                <a:cs typeface="Arial"/>
                <a:sym typeface="Arial"/>
              </a:rPr>
              <a:t>MARCH 31 END STATE</a:t>
            </a:r>
            <a:endParaRPr sz="8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64393" y="2979241"/>
            <a:ext cx="23787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64393" y="3272582"/>
            <a:ext cx="237878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810569" y="2979241"/>
            <a:ext cx="3743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10+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810569" y="3272582"/>
            <a:ext cx="374350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1291736" y="2979241"/>
            <a:ext cx="388924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1291736" y="3272582"/>
            <a:ext cx="388924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Proposals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1788907" y="2979241"/>
            <a:ext cx="22846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1788907" y="3272582"/>
            <a:ext cx="2284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342900" y="3611612"/>
            <a:ext cx="4152900" cy="457200"/>
          </a:xfrm>
          <a:prstGeom prst="roundRect">
            <a:avLst>
              <a:gd name="adj" fmla="val 12500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38150" y="3706862"/>
            <a:ext cx="404164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active POCs = market validation for Series A ($12-15M at $50-80M). NFL + venues + cloud = category leadership.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648200" y="1417439"/>
            <a:ext cx="4152900" cy="2175123"/>
          </a:xfrm>
          <a:prstGeom prst="roundRect">
            <a:avLst>
              <a:gd name="adj" fmla="val 26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762500" y="1531739"/>
            <a:ext cx="400278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IMMEDIATE ACTIONS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4762500" y="1786979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9"/>
          <p:cNvCxnSpPr/>
          <p:nvPr/>
        </p:nvCxnSpPr>
        <p:spPr>
          <a:xfrm>
            <a:off x="4776788" y="1786979"/>
            <a:ext cx="0" cy="525661"/>
          </a:xfrm>
          <a:prstGeom prst="straightConnector1">
            <a:avLst/>
          </a:prstGeom>
          <a:noFill/>
          <a:ln w="28575" cap="flat" cmpd="sng">
            <a:solidFill>
              <a:srgbClr val="1B3A4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6" name="Google Shape;416;p9"/>
          <p:cNvSpPr/>
          <p:nvPr/>
        </p:nvSpPr>
        <p:spPr>
          <a:xfrm>
            <a:off x="4867275" y="1863179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THIS WEEK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4867275" y="1996529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Finalize POC pricing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867275" y="2116485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Draft Google proposal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762500" y="2369790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9"/>
          <p:cNvCxnSpPr/>
          <p:nvPr/>
        </p:nvCxnSpPr>
        <p:spPr>
          <a:xfrm>
            <a:off x="4776788" y="2369790"/>
            <a:ext cx="0" cy="525661"/>
          </a:xfrm>
          <a:prstGeom prst="straightConnector1">
            <a:avLst/>
          </a:prstGeom>
          <a:noFill/>
          <a:ln w="28575" cap="flat" cmpd="sng">
            <a:solidFill>
              <a:srgbClr val="3A7B8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1" name="Google Shape;421;p9"/>
          <p:cNvSpPr/>
          <p:nvPr/>
        </p:nvSpPr>
        <p:spPr>
          <a:xfrm>
            <a:off x="4867275" y="2445990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NEXT 2 WEEKS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4867275" y="2579340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NFL stadium intros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4867275" y="2699296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Pre-recruit 3 Fellows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762500" y="2952601"/>
            <a:ext cx="3924300" cy="525661"/>
          </a:xfrm>
          <a:prstGeom prst="roundRect">
            <a:avLst>
              <a:gd name="adj" fmla="val 7248"/>
            </a:avLst>
          </a:prstGeom>
          <a:solidFill>
            <a:srgbClr val="F4F6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9"/>
          <p:cNvCxnSpPr/>
          <p:nvPr/>
        </p:nvCxnSpPr>
        <p:spPr>
          <a:xfrm>
            <a:off x="4776788" y="2952601"/>
            <a:ext cx="0" cy="525661"/>
          </a:xfrm>
          <a:prstGeom prst="straightConnector1">
            <a:avLst/>
          </a:prstGeom>
          <a:noFill/>
          <a:ln w="28575" cap="flat" cmpd="sng">
            <a:solidFill>
              <a:srgbClr val="9AAF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6" name="Google Shape;426;p9"/>
          <p:cNvSpPr/>
          <p:nvPr/>
        </p:nvSpPr>
        <p:spPr>
          <a:xfrm>
            <a:off x="4867275" y="3028801"/>
            <a:ext cx="381819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BY JAN 31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4867275" y="3162151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2 NFL POCs launched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4867275" y="3282107"/>
            <a:ext cx="3818192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72"/>
              </a:buClr>
              <a:buSzPts val="675"/>
              <a:buFont typeface="Arial"/>
              <a:buNone/>
            </a:pPr>
            <a:r>
              <a:rPr lang="en-US" sz="675" b="0" i="0" u="none" strike="noStrike" cap="none">
                <a:solidFill>
                  <a:srgbClr val="5A6A72"/>
                </a:solidFill>
                <a:latin typeface="Arial"/>
                <a:ea typeface="Arial"/>
                <a:cs typeface="Arial"/>
                <a:sym typeface="Arial"/>
              </a:rPr>
              <a:t>Google partnership signed</a:t>
            </a:r>
            <a:endParaRPr sz="6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4648200" y="3687812"/>
            <a:ext cx="4152900" cy="573286"/>
          </a:xfrm>
          <a:prstGeom prst="roundRect">
            <a:avLst>
              <a:gd name="adj" fmla="val 9969"/>
            </a:avLst>
          </a:prstGeom>
          <a:solidFill>
            <a:srgbClr val="9AAF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723257" y="3802112"/>
            <a:ext cx="400278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975"/>
              <a:buFont typeface="Arial"/>
              <a:buNone/>
            </a:pPr>
            <a:r>
              <a:rPr lang="en-US" sz="975" b="1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THE ASK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4723257" y="4013448"/>
            <a:ext cx="4002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B3A4B"/>
                </a:solidFill>
                <a:latin typeface="Arial"/>
                <a:ea typeface="Arial"/>
                <a:cs typeface="Arial"/>
                <a:sym typeface="Arial"/>
              </a:rPr>
              <a:t>Full commitment for 90 days. Every POC strengthens Sentrais. This is how we win.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58318" y="4743450"/>
            <a:ext cx="8627364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SENTRAIS CORPORATION Q1 2026 LET'S BUILD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b0ac8ce-1ef9-473b-b491-3ba03b6013fb}" enabled="1" method="Standard" siteId="{80090139-ad55-45f4-9bf7-34995ae28d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714</Words>
  <Application>Microsoft Macintosh PowerPoint</Application>
  <PresentationFormat>On-screen Show (16:9)</PresentationFormat>
  <Paragraphs>206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Sentrais Corporation</dc:creator>
  <cp:lastModifiedBy>Tye Hayes</cp:lastModifiedBy>
  <cp:revision>2</cp:revision>
  <dcterms:created xsi:type="dcterms:W3CDTF">2026-01-07T06:54:07Z</dcterms:created>
  <dcterms:modified xsi:type="dcterms:W3CDTF">2026-01-24T00:36:18Z</dcterms:modified>
</cp:coreProperties>
</file>