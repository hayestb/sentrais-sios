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7+fywM3ajg9zCb9RsTuZLCGm2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881112" y="944017"/>
            <a:ext cx="53816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90-DAY POC STRATEGY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104506" y="1629817"/>
            <a:ext cx="293484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15 Venues by March 31, 2026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765914" y="2342257"/>
            <a:ext cx="734431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65914" y="2768947"/>
            <a:ext cx="73443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NFL Stadiums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797945" y="2445097"/>
            <a:ext cx="9525" cy="381000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05724" y="2342257"/>
            <a:ext cx="66763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05724" y="2768947"/>
            <a:ext cx="6676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AEG Venues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71616" y="2445097"/>
            <a:ext cx="9525" cy="381000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376092" y="2342257"/>
            <a:ext cx="1004643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376092" y="2768947"/>
            <a:ext cx="100464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Nation Venues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904530" y="3386138"/>
            <a:ext cx="988516" cy="260896"/>
          </a:xfrm>
          <a:prstGeom prst="roundRect">
            <a:avLst>
              <a:gd fmla="val 14604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030662" y="3443288"/>
            <a:ext cx="736253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Google Sports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045446" y="3386138"/>
            <a:ext cx="1134219" cy="260896"/>
          </a:xfrm>
          <a:prstGeom prst="roundRect">
            <a:avLst>
              <a:gd fmla="val 14604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170121" y="3443288"/>
            <a:ext cx="88487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Microsoft Venues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332065" y="3386138"/>
            <a:ext cx="907256" cy="260896"/>
          </a:xfrm>
          <a:prstGeom prst="roundRect">
            <a:avLst>
              <a:gd fmla="val 14604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59010" y="3443288"/>
            <a:ext cx="6533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AWS Federal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206972" y="4066133"/>
            <a:ext cx="273005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SENTRAIS CORPORATION TEAM BRIEFING JANUARY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025" y="3304417"/>
            <a:ext cx="1458075" cy="1458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WHAT IS SENTRAIS?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The Intelligence Operating System for High-Stakes Environments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2900" y="1831777"/>
            <a:ext cx="3968502" cy="777032"/>
          </a:xfrm>
          <a:prstGeom prst="roundRect">
            <a:avLst>
              <a:gd fmla="val 7355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361950" y="1831777"/>
            <a:ext cx="0" cy="777032"/>
          </a:xfrm>
          <a:prstGeom prst="straightConnector1">
            <a:avLst/>
          </a:prstGeom>
          <a:noFill/>
          <a:ln cap="flat" cmpd="sng" w="38100">
            <a:solidFill>
              <a:srgbClr val="9AAF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514350" y="1965127"/>
            <a:ext cx="37369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THE CORE IDEA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14350" y="2182267"/>
            <a:ext cx="3736976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Sentrais digitizes an organization's DNA—processes, playbooks, systems—into a unified core model that powers every project and platform.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42900" y="2723108"/>
            <a:ext cx="3968502" cy="1118146"/>
          </a:xfrm>
          <a:prstGeom prst="roundRect">
            <a:avLst>
              <a:gd fmla="val 5111" name="adj"/>
            </a:avLst>
          </a:prstGeom>
          <a:solidFill>
            <a:srgbClr val="FFFFFF"/>
          </a:solidFill>
          <a:ln cap="flat" cmpd="sng" w="9525">
            <a:solidFill>
              <a:srgbClr val="D1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66725" y="2846933"/>
            <a:ext cx="37952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WHAT SENTRAIS DOES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66725" y="3069729"/>
            <a:ext cx="379526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Unifies fragmented systems into one intelligence layer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66725" y="3241179"/>
            <a:ext cx="379526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Accelerates commercialization through shared blueprints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66725" y="3412629"/>
            <a:ext cx="379526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Embeds resilience, governance, and security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66725" y="3584079"/>
            <a:ext cx="379526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Compounds intelligence with every deployment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01902" y="1898452"/>
            <a:ext cx="4299198" cy="1346597"/>
          </a:xfrm>
          <a:prstGeom prst="roundRect">
            <a:avLst>
              <a:gd fmla="val 4244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94927" y="2031802"/>
            <a:ext cx="411314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THE SENTRAIS ECOSYSTEM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b65a47e8.png" id="53" name="Google Shape;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7229" y="2260402"/>
            <a:ext cx="1448544" cy="50274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6068191" y="2355652"/>
            <a:ext cx="116661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SENTRAIS OS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68191" y="2547938"/>
            <a:ext cx="11666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Intelligence Operating System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55741" y="2858393"/>
            <a:ext cx="700236" cy="253305"/>
          </a:xfrm>
          <a:prstGeom prst="roundRect">
            <a:avLst>
              <a:gd fmla="val 15041" name="adj"/>
            </a:avLst>
          </a:prstGeom>
          <a:solidFill>
            <a:srgbClr val="9AAF45">
              <a:alpha val="20000"/>
            </a:srgbClr>
          </a:solidFill>
          <a:ln cap="flat" cmpd="sng" w="9525">
            <a:solidFill>
              <a:srgbClr val="9AA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555610" y="2925068"/>
            <a:ext cx="50050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EVERGAME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13128" y="2858393"/>
            <a:ext cx="462111" cy="253305"/>
          </a:xfrm>
          <a:prstGeom prst="roundRect">
            <a:avLst>
              <a:gd fmla="val 15041" name="adj"/>
            </a:avLst>
          </a:prstGeom>
          <a:solidFill>
            <a:srgbClr val="9AAF45">
              <a:alpha val="20000"/>
            </a:srgbClr>
          </a:solidFill>
          <a:ln cap="flat" cmpd="sng" w="9525">
            <a:solidFill>
              <a:srgbClr val="9AA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315377" y="2925068"/>
            <a:ext cx="25761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eVenu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732389" y="2858393"/>
            <a:ext cx="543074" cy="253305"/>
          </a:xfrm>
          <a:prstGeom prst="roundRect">
            <a:avLst>
              <a:gd fmla="val 15041" name="adj"/>
            </a:avLst>
          </a:prstGeom>
          <a:solidFill>
            <a:srgbClr val="9AAF45">
              <a:alpha val="20000"/>
            </a:srgbClr>
          </a:solidFill>
          <a:ln cap="flat" cmpd="sng" w="9525">
            <a:solidFill>
              <a:srgbClr val="9AA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833829" y="2925068"/>
            <a:ext cx="34019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CiviGrid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332613" y="2858393"/>
            <a:ext cx="514499" cy="253305"/>
          </a:xfrm>
          <a:prstGeom prst="roundRect">
            <a:avLst>
              <a:gd fmla="val 15041" name="adj"/>
            </a:avLst>
          </a:prstGeom>
          <a:solidFill>
            <a:srgbClr val="9AAF45">
              <a:alpha val="20000"/>
            </a:srgbClr>
          </a:solidFill>
          <a:ln cap="flat" cmpd="sng" w="9525">
            <a:solidFill>
              <a:srgbClr val="9AA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434338" y="2925068"/>
            <a:ext cx="31104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Federal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501902" y="3359348"/>
            <a:ext cx="4299198" cy="415230"/>
          </a:xfrm>
          <a:prstGeom prst="roundRect">
            <a:avLst>
              <a:gd fmla="val 13763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5496" y="3473648"/>
            <a:ext cx="41520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Arial"/>
              <a:buNone/>
            </a:pPr>
            <a:r>
              <a:rPr b="1" i="1" lang="en-US" sz="10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"Calm during chaos. Making the complex simple."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Sentrais is the living intelligence core that translates organizational DNA into unified, resilient frameworks.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THE NIN METHODOLOGY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Gartner-Recognized Framework Systematic Approach to Resilience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42900" y="1182886"/>
            <a:ext cx="1630710" cy="973187"/>
          </a:xfrm>
          <a:prstGeom prst="roundRect">
            <a:avLst>
              <a:gd fmla="val 5872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24830" y="1297186"/>
            <a:ext cx="266700" cy="266700"/>
          </a:xfrm>
          <a:prstGeom prst="roundRect">
            <a:avLst>
              <a:gd fmla="val 342857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122963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43179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43179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NIN Forensics, current state, operational mapping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049810" y="1182886"/>
            <a:ext cx="1630710" cy="973187"/>
          </a:xfrm>
          <a:prstGeom prst="roundRect">
            <a:avLst>
              <a:gd fmla="val 5872" name="adj"/>
            </a:avLst>
          </a:prstGeom>
          <a:solidFill>
            <a:srgbClr val="2E5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731740" y="1297186"/>
            <a:ext cx="266700" cy="266700"/>
          </a:xfrm>
          <a:prstGeom prst="roundRect">
            <a:avLst>
              <a:gd fmla="val 342857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829873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150089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150089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Root cause analysis, risk prioritization, impact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756720" y="1182886"/>
            <a:ext cx="1630710" cy="973187"/>
          </a:xfrm>
          <a:prstGeom prst="roundRect">
            <a:avLst>
              <a:gd fmla="val 5872" name="adj"/>
            </a:avLst>
          </a:prstGeom>
          <a:solidFill>
            <a:srgbClr val="3A7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438650" y="1297186"/>
            <a:ext cx="266700" cy="266700"/>
          </a:xfrm>
          <a:prstGeom prst="roundRect">
            <a:avLst>
              <a:gd fmla="val 342857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36783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856998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856998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 architecture, future-state blueprints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463629" y="1182886"/>
            <a:ext cx="1630710" cy="973187"/>
          </a:xfrm>
          <a:prstGeom prst="roundRect">
            <a:avLst>
              <a:gd fmla="val 5872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145560" y="1297186"/>
            <a:ext cx="266700" cy="266700"/>
          </a:xfrm>
          <a:prstGeom prst="roundRect">
            <a:avLst>
              <a:gd fmla="val 342857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243693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563908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563908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Implementation, training, Sentrais activation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ce64905b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0539" y="1182886"/>
            <a:ext cx="1630710" cy="97318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7852470" y="1297186"/>
            <a:ext cx="266700" cy="266700"/>
          </a:xfrm>
          <a:prstGeom prst="roundRect">
            <a:avLst>
              <a:gd fmla="val 342857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950602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270818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DEBRIEF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270818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Continuous improvement, AAR automation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42900" y="3145036"/>
            <a:ext cx="2743200" cy="660946"/>
          </a:xfrm>
          <a:prstGeom prst="roundRect">
            <a:avLst>
              <a:gd fmla="val 8647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57200" y="3259336"/>
            <a:ext cx="256489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OUTCOME-FOCUSED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3444032"/>
            <a:ext cx="256489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Not just technology—measurable resilience, accuracy, and speed to innovation.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200400" y="3145036"/>
            <a:ext cx="2743200" cy="660946"/>
          </a:xfrm>
          <a:prstGeom prst="roundRect">
            <a:avLst>
              <a:gd fmla="val 8647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314700" y="3259336"/>
            <a:ext cx="256489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RAPID DELIVERY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314700" y="3444032"/>
            <a:ext cx="256489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90-day POCs deliver results, not PowerPoints. Outcomes in months, not years.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057900" y="3145036"/>
            <a:ext cx="2743200" cy="660946"/>
          </a:xfrm>
          <a:prstGeom prst="roundRect">
            <a:avLst>
              <a:gd fmla="val 8647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172200" y="3259336"/>
            <a:ext cx="256489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BATTLE-TESTED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172200" y="3444032"/>
            <a:ext cx="256489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Born from Atlanta cyber crisis, Super Bowl delivery, NFL production deployment.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NIN = NOVATE Intelligence Network Each POC follows this exact methodology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WHERE WE ARE TODAY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NFL-Validated Production-Proven Ready to Scale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23adcbba.png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493490"/>
            <a:ext cx="4152900" cy="155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476250" y="1626840"/>
            <a:ext cx="381149" cy="196155"/>
          </a:xfrm>
          <a:prstGeom prst="roundRect">
            <a:avLst>
              <a:gd fmla="val 19423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71500" y="1664940"/>
            <a:ext cx="19446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LIVE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33599" y="1631603"/>
            <a:ext cx="16926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NFL ANCHOR CONTRACT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76250" y="1918246"/>
            <a:ext cx="23787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66614" y="1963043"/>
            <a:ext cx="1746513" cy="20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clubs deployed with EVERGAME360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76250" y="2268736"/>
            <a:ext cx="59416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$1.9M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115913" y="2313533"/>
            <a:ext cx="1637517" cy="20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committed ARR (76% of Y1 target)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76250" y="2619226"/>
            <a:ext cx="499286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4 yrs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22896" y="2664023"/>
            <a:ext cx="1431670" cy="20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R&amp;D, $5M founder investment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42900" y="3160216"/>
            <a:ext cx="4152900" cy="1038225"/>
          </a:xfrm>
          <a:prstGeom prst="roundRect">
            <a:avLst>
              <a:gd fmla="val 5505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3274516"/>
            <a:ext cx="4002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WHY NFL MATTERS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" y="3465016"/>
            <a:ext cx="4002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Most complex sports operation in the world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57200" y="3626941"/>
            <a:ext cx="4002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Production-proven technology at scale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57200" y="3788866"/>
            <a:ext cx="4002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Unassailable reference for all verticals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57200" y="3950791"/>
            <a:ext cx="4002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Gartner Market Guide recognition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648200" y="1468934"/>
            <a:ext cx="4152900" cy="933450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9525">
            <a:solidFill>
              <a:srgbClr val="D1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72025" y="1592759"/>
            <a:ext cx="39833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CORPORATE STRUCTURE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72025" y="1802309"/>
            <a:ext cx="39833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Sentrais Corp</a:t>
            </a: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 — C-Corp, all IP, platform, advisory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772025" y="1973759"/>
            <a:ext cx="39833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7B8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3A7B8A"/>
                </a:solidFill>
                <a:latin typeface="Arial"/>
                <a:ea typeface="Arial"/>
                <a:cs typeface="Arial"/>
                <a:sym typeface="Arial"/>
              </a:rPr>
              <a:t>NOVATELabs</a:t>
            </a: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 — 501(c)(3), research, workforce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72025" y="2145209"/>
            <a:ext cx="39833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Partners Network</a:t>
            </a:r>
            <a:r>
              <a:rPr b="0" i="0" lang="en-US" sz="75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 — Certified delivery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648200" y="2516684"/>
            <a:ext cx="4152900" cy="1020961"/>
          </a:xfrm>
          <a:prstGeom prst="roundRect">
            <a:avLst>
              <a:gd fmla="val 5598" name="adj"/>
            </a:avLst>
          </a:prstGeom>
          <a:solidFill>
            <a:srgbClr val="FFFFFF"/>
          </a:solidFill>
          <a:ln cap="flat" cmpd="sng" w="9525">
            <a:solidFill>
              <a:srgbClr val="D1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772025" y="2640509"/>
            <a:ext cx="39833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LEADERSHIP TEAM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772025" y="2850059"/>
            <a:ext cx="19625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Tye Hayes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772025" y="2983409"/>
            <a:ext cx="1962531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Founder &amp; CEO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753225" y="2850059"/>
            <a:ext cx="19625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Knox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753225" y="2983409"/>
            <a:ext cx="1962531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Chief Product Officer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753225" y="3160514"/>
            <a:ext cx="19625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Tionna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753225" y="3293864"/>
            <a:ext cx="1962531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Director, Labs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648200" y="3651945"/>
            <a:ext cx="4152900" cy="571202"/>
          </a:xfrm>
          <a:prstGeom prst="roundRect">
            <a:avLst>
              <a:gd fmla="val 10005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743450" y="3747195"/>
            <a:ext cx="404164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FOUNDER CREDENTIALS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743450" y="3905250"/>
            <a:ext cx="4041648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Service-Disabled Navy Veteran Former CIO, City of Atlanta Cyber crisis commander Super Bowl LIII delivery Hartsfield-Jackson innovation lead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Transitioning from NOVATE Solutions (S-Corp) to Sentrais Corporation (C-Corp) for institutional investment readiness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THE 15-POC TARGET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Three Categories 90 Days Market-Defining Traction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42900" y="1309985"/>
            <a:ext cx="2755850" cy="2641550"/>
          </a:xfrm>
          <a:prstGeom prst="roundRect">
            <a:avLst>
              <a:gd fmla="val 2164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200" y="1440359"/>
            <a:ext cx="247650" cy="247650"/>
          </a:xfrm>
          <a:prstGeom prst="roundRect">
            <a:avLst>
              <a:gd fmla="val 15385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43818" y="1470868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62000" y="1424285"/>
            <a:ext cx="85708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NFL STADIUMS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62000" y="1584275"/>
            <a:ext cx="85708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Google Partner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1837581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33400" y="1894731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Mercedes-Benz Stadium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33400" y="2028081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Atlanta SB 2029 Host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2248942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33400" y="2306092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SoFi Stadium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33400" y="2439442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Olympics 2028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7200" y="2660303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33400" y="2717453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Allegiant Stadium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33400" y="2850803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Vegas Tech-Forward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" y="3071664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33400" y="3128814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AT&amp;T Stadium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33400" y="3262164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Dallas Largest NFL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57200" y="3483025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33400" y="3540175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MetLife Stadium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33400" y="3673525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NY/NJ FIFA 2026 Final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194000" y="1309985"/>
            <a:ext cx="2755850" cy="2641550"/>
          </a:xfrm>
          <a:prstGeom prst="roundRect">
            <a:avLst>
              <a:gd fmla="val 2164" name="adj"/>
            </a:avLst>
          </a:prstGeom>
          <a:solidFill>
            <a:srgbClr val="2E5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308300" y="1440359"/>
            <a:ext cx="247650" cy="247650"/>
          </a:xfrm>
          <a:prstGeom prst="roundRect">
            <a:avLst>
              <a:gd fmla="val 15385" name="adj"/>
            </a:avLst>
          </a:prstGeom>
          <a:solidFill>
            <a:srgbClr val="00A4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394918" y="1470868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613100" y="1424285"/>
            <a:ext cx="76448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AEG VENUES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613100" y="1584275"/>
            <a:ext cx="76448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Microsoft Partner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308300" y="1837581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384500" y="1894731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Crypto.com Arena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384500" y="2028081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Flagship 20K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308300" y="2248942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384500" y="2306092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O2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384500" y="2439442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International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308300" y="2660303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384500" y="2717453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Dignity Health Sports Park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384500" y="2850803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FIFA Training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308300" y="3071664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384500" y="3128814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Theater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384500" y="3262164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Partner Alignment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308300" y="3483025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384500" y="3540175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T-Mobile Arena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384500" y="3673525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Vegas Major Events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6045101" y="1309985"/>
            <a:ext cx="2755850" cy="2641550"/>
          </a:xfrm>
          <a:prstGeom prst="roundRect">
            <a:avLst>
              <a:gd fmla="val 2164" name="adj"/>
            </a:avLst>
          </a:prstGeom>
          <a:solidFill>
            <a:srgbClr val="3A7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159401" y="1440359"/>
            <a:ext cx="247650" cy="247650"/>
          </a:xfrm>
          <a:prstGeom prst="roundRect">
            <a:avLst>
              <a:gd fmla="val 15385" name="adj"/>
            </a:avLst>
          </a:prstGeom>
          <a:solidFill>
            <a:srgbClr val="00A4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246019" y="1470868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464201" y="1424285"/>
            <a:ext cx="72987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NATION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464201" y="1584275"/>
            <a:ext cx="72987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Microsoft Partner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159401" y="1837581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235601" y="1894731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Fillmore Network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235601" y="2028081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Multi-venue proof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159401" y="2248942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235601" y="2306092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Hollywood Bowl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235601" y="2439442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Iconic 17.5K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159401" y="2660303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235601" y="2717453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 Rocks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235601" y="2850803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Denver Unique Ops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159401" y="3071664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235601" y="3128814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Bridgestone Arena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6235601" y="3262164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Nashville 20K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159401" y="3483025"/>
            <a:ext cx="2527250" cy="354211"/>
          </a:xfrm>
          <a:prstGeom prst="roundRect">
            <a:avLst>
              <a:gd fmla="val 10756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6235601" y="3540175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House of Blues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6235601" y="3673525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Artist integration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42900" y="4364534"/>
            <a:ext cx="2755850" cy="512266"/>
          </a:xfrm>
          <a:prstGeom prst="roundRect">
            <a:avLst>
              <a:gd fmla="val 7438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31927" y="4440734"/>
            <a:ext cx="2577795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$1.35M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31927" y="4680645"/>
            <a:ext cx="2577795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POC Investment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194000" y="4364534"/>
            <a:ext cx="2755850" cy="512266"/>
          </a:xfrm>
          <a:prstGeom prst="roundRect">
            <a:avLst>
              <a:gd fmla="val 7438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3283028" y="4440734"/>
            <a:ext cx="2577795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$4M+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3283028" y="4680645"/>
            <a:ext cx="2577795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Y1 Pipeline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045101" y="4364534"/>
            <a:ext cx="2755850" cy="512266"/>
          </a:xfrm>
          <a:prstGeom prst="roundRect">
            <a:avLst>
              <a:gd fmla="val 7438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134128" y="4440734"/>
            <a:ext cx="2577795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3-4x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134128" y="4680645"/>
            <a:ext cx="2577795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Expected ROI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CLOUD PARTNERSHIP STRATEGY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Three Partners Three Markets One Intelligence Layer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42900" y="1732657"/>
            <a:ext cx="2743200" cy="1984623"/>
          </a:xfrm>
          <a:prstGeom prst="roundRect">
            <a:avLst>
              <a:gd fmla="val 2880" name="adj"/>
            </a:avLst>
          </a:prstGeom>
          <a:solidFill>
            <a:srgbClr val="FFFFFF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76250" y="1866007"/>
            <a:ext cx="584299" cy="274290"/>
          </a:xfrm>
          <a:prstGeom prst="roundRect">
            <a:avLst>
              <a:gd fmla="val 1389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71500" y="1923157"/>
            <a:ext cx="40167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136749" y="1929854"/>
            <a:ext cx="43947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SPORTS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76250" y="2216497"/>
            <a:ext cx="2476500" cy="424755"/>
          </a:xfrm>
          <a:prstGeom prst="roundRect">
            <a:avLst>
              <a:gd fmla="val 897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52450" y="2292697"/>
            <a:ext cx="237058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52450" y="2431703"/>
            <a:ext cx="23705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Sports leagues, entertainment, AI-native innovation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76250" y="2717453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76250" y="2837408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Vertex AI BigQuery Chronicle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76250" y="3033564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TARGETS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76250" y="3153519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NFL MLS NBA NCAA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76250" y="3349675"/>
            <a:ext cx="2476500" cy="234255"/>
          </a:xfrm>
          <a:prstGeom prst="roundRect">
            <a:avLst>
              <a:gd fmla="val 16264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33400" y="3406825"/>
            <a:ext cx="240944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Q1: Partnership signed, NFL case study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200400" y="1732657"/>
            <a:ext cx="2743200" cy="1984623"/>
          </a:xfrm>
          <a:prstGeom prst="roundRect">
            <a:avLst>
              <a:gd fmla="val 2880" name="adj"/>
            </a:avLst>
          </a:prstGeom>
          <a:solidFill>
            <a:srgbClr val="FFFFFF"/>
          </a:solidFill>
          <a:ln cap="flat" cmpd="sng" w="19050">
            <a:solidFill>
              <a:srgbClr val="00A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3333750" y="1866007"/>
            <a:ext cx="704850" cy="274290"/>
          </a:xfrm>
          <a:prstGeom prst="roundRect">
            <a:avLst>
              <a:gd fmla="val 13890" name="adj"/>
            </a:avLst>
          </a:prstGeom>
          <a:solidFill>
            <a:srgbClr val="00A4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3429000" y="1923157"/>
            <a:ext cx="5246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114800" y="1929854"/>
            <a:ext cx="43962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VENUES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3333750" y="2216497"/>
            <a:ext cx="2476500" cy="424755"/>
          </a:xfrm>
          <a:prstGeom prst="roundRect">
            <a:avLst>
              <a:gd fmla="val 897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3409950" y="2292697"/>
            <a:ext cx="237058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3409950" y="2431703"/>
            <a:ext cx="23705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Venue operators, enterprise deployments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3333750" y="2717453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3333750" y="2837408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Azure AI Dynamics 365 Teams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3333750" y="3033564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TARGETS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3333750" y="3153519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AEG Live Nation ASM Global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333750" y="3349675"/>
            <a:ext cx="2476500" cy="234255"/>
          </a:xfrm>
          <a:prstGeom prst="roundRect">
            <a:avLst>
              <a:gd fmla="val 16264" name="adj"/>
            </a:avLst>
          </a:prstGeom>
          <a:solidFill>
            <a:srgbClr val="00A4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3390900" y="3406825"/>
            <a:ext cx="240944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Q1: Azure marketplace listing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057900" y="1732657"/>
            <a:ext cx="2743200" cy="1984623"/>
          </a:xfrm>
          <a:prstGeom prst="roundRect">
            <a:avLst>
              <a:gd fmla="val 2880" name="adj"/>
            </a:avLst>
          </a:prstGeom>
          <a:solidFill>
            <a:srgbClr val="FFFFFF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191250" y="1866007"/>
            <a:ext cx="450949" cy="274290"/>
          </a:xfrm>
          <a:prstGeom prst="roundRect">
            <a:avLst>
              <a:gd fmla="val 1389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6286500" y="1923157"/>
            <a:ext cx="26565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718399" y="1929854"/>
            <a:ext cx="50475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FEDERAL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191250" y="2216497"/>
            <a:ext cx="2476500" cy="424755"/>
          </a:xfrm>
          <a:prstGeom prst="roundRect">
            <a:avLst>
              <a:gd fmla="val 8970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267450" y="2292697"/>
            <a:ext cx="237058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267450" y="2431703"/>
            <a:ext cx="23705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Federal agencies, airports, critical infrastructure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6191250" y="2717453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6191250" y="2837408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GovCloud Bedrock Lambda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6191250" y="3033564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TARGETS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6191250" y="3153519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FEMA DHS TSA Airports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6191250" y="3349675"/>
            <a:ext cx="2476500" cy="234255"/>
          </a:xfrm>
          <a:prstGeom prst="roundRect">
            <a:avLst>
              <a:gd fmla="val 16264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6248400" y="3406825"/>
            <a:ext cx="240944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Q1: FedRAMP pathway initiated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342900" y="4552950"/>
            <a:ext cx="8458200" cy="323850"/>
          </a:xfrm>
          <a:prstGeom prst="roundRect">
            <a:avLst>
              <a:gd fmla="val 17647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3058418" y="4676775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3191768" y="4648200"/>
            <a:ext cx="5671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JAN:</a:t>
            </a: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Google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3938290" y="4648200"/>
            <a:ext cx="971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4224040" y="4676775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00A4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4357390" y="4648200"/>
            <a:ext cx="64790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FEB:</a:t>
            </a: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Microsoft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5183088" y="4648200"/>
            <a:ext cx="971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5468838" y="4676775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5602188" y="4648200"/>
            <a:ext cx="4930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MAR:</a:t>
            </a: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AWS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90-DAY EXECUTION CALENDAR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Week-by-Week Milestones January 6 March 31, 2026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342900" y="1760637"/>
            <a:ext cx="2755850" cy="445591"/>
          </a:xfrm>
          <a:prstGeom prst="roundRect">
            <a:avLst>
              <a:gd fmla="val 8550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412496" y="1836837"/>
            <a:ext cx="261665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JANUARY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412496" y="2010073"/>
            <a:ext cx="26166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Foundation &amp; NFL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342900" y="2263378"/>
            <a:ext cx="2755850" cy="485477"/>
          </a:xfrm>
          <a:prstGeom prst="roundRect">
            <a:avLst>
              <a:gd fmla="val 7848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19100" y="233957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1-2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419100" y="2459534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Finalize POC materials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19100" y="2566095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NFL stadium meetings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342900" y="2806005"/>
            <a:ext cx="2755850" cy="378916"/>
          </a:xfrm>
          <a:prstGeom prst="roundRect">
            <a:avLst>
              <a:gd fmla="val 10055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419100" y="2882205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3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419100" y="3002161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Google partnership signed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342900" y="3242072"/>
            <a:ext cx="2755850" cy="378916"/>
          </a:xfrm>
          <a:prstGeom prst="roundRect">
            <a:avLst>
              <a:gd fmla="val 10055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19100" y="3318272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4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419100" y="3438227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First 2 NFL POCs launched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342900" y="3678138"/>
            <a:ext cx="2755850" cy="234255"/>
          </a:xfrm>
          <a:prstGeom prst="roundRect">
            <a:avLst>
              <a:gd fmla="val 16264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93065" y="373528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END: 2 POCs Active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3194000" y="1760637"/>
            <a:ext cx="2755850" cy="445591"/>
          </a:xfrm>
          <a:prstGeom prst="roundRect">
            <a:avLst>
              <a:gd fmla="val 8550" name="adj"/>
            </a:avLst>
          </a:prstGeom>
          <a:solidFill>
            <a:srgbClr val="2E5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3263597" y="1836837"/>
            <a:ext cx="261665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FEBRUARY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3263597" y="2010073"/>
            <a:ext cx="26166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AEG &amp; Live Nation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3194000" y="2263378"/>
            <a:ext cx="2755850" cy="485477"/>
          </a:xfrm>
          <a:prstGeom prst="roundRect">
            <a:avLst>
              <a:gd fmla="val 7848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3270200" y="233957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5-6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3270200" y="2459534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AEG venue meetings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3270200" y="2566095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Live Nation approach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3194000" y="2806005"/>
            <a:ext cx="2755850" cy="378916"/>
          </a:xfrm>
          <a:prstGeom prst="roundRect">
            <a:avLst>
              <a:gd fmla="val 10055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3270200" y="2882205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7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3270200" y="3002161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Microsoft partnership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3194000" y="3242072"/>
            <a:ext cx="2755850" cy="378916"/>
          </a:xfrm>
          <a:prstGeom prst="roundRect">
            <a:avLst>
              <a:gd fmla="val 10055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3270200" y="3318272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8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3270200" y="3438227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AEG + LN POCs launch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3194000" y="3678138"/>
            <a:ext cx="2755850" cy="234255"/>
          </a:xfrm>
          <a:prstGeom prst="roundRect">
            <a:avLst>
              <a:gd fmla="val 16264" name="adj"/>
            </a:avLst>
          </a:prstGeom>
          <a:solidFill>
            <a:srgbClr val="2E5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3244166" y="373528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END: 8 POCs Active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6045101" y="1760637"/>
            <a:ext cx="2755850" cy="445591"/>
          </a:xfrm>
          <a:prstGeom prst="roundRect">
            <a:avLst>
              <a:gd fmla="val 8550" name="adj"/>
            </a:avLst>
          </a:prstGeom>
          <a:solidFill>
            <a:srgbClr val="3A7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6114697" y="1836837"/>
            <a:ext cx="261665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6114697" y="2010073"/>
            <a:ext cx="26166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Acceleration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6045101" y="2263378"/>
            <a:ext cx="2755850" cy="485477"/>
          </a:xfrm>
          <a:prstGeom prst="roundRect">
            <a:avLst>
              <a:gd fmla="val 7848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6121301" y="233957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9-10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6121301" y="2459534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Rapid POC velocity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6121301" y="2566095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AWS federal partnership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6045101" y="2806005"/>
            <a:ext cx="2755850" cy="378916"/>
          </a:xfrm>
          <a:prstGeom prst="roundRect">
            <a:avLst>
              <a:gd fmla="val 10055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6121301" y="2882205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11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6121301" y="3002161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Case study documentation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6045101" y="3242072"/>
            <a:ext cx="2755850" cy="378916"/>
          </a:xfrm>
          <a:prstGeom prst="roundRect">
            <a:avLst>
              <a:gd fmla="val 10055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6121301" y="3318272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12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6121301" y="3438227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Series A prep complete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6045101" y="3678138"/>
            <a:ext cx="2755850" cy="234255"/>
          </a:xfrm>
          <a:prstGeom prst="roundRect">
            <a:avLst>
              <a:gd fmla="val 16264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6095266" y="373528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END: 15 POCs ✓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Weekly tracking: POCs Initiated POCs in Discovery POCs in Deploy POCs Complete Pipeline Value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"/>
          <p:cNvSpPr/>
          <p:nvPr/>
        </p:nvSpPr>
        <p:spPr>
          <a:xfrm>
            <a:off x="342900" y="975568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TEAM ROLES &amp; RESPONSIBILITIES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342900" y="1413718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Who Does What 15 POCs Require All Hands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342900" y="1872704"/>
            <a:ext cx="2043113" cy="969466"/>
          </a:xfrm>
          <a:prstGeom prst="roundRect">
            <a:avLst>
              <a:gd fmla="val 5895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57200" y="1987004"/>
            <a:ext cx="266700" cy="266700"/>
          </a:xfrm>
          <a:prstGeom prst="roundRect">
            <a:avLst>
              <a:gd fmla="val 342857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520601" y="2046982"/>
            <a:ext cx="14254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781050" y="1987004"/>
            <a:ext cx="52084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Tye Hayes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781050" y="2133600"/>
            <a:ext cx="52084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CEO 80%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57200" y="2329904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Executive relationships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57200" y="2468910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partnerships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57200" y="2607915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Strategic selling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2481263" y="1872704"/>
            <a:ext cx="2043113" cy="969466"/>
          </a:xfrm>
          <a:prstGeom prst="roundRect">
            <a:avLst>
              <a:gd fmla="val 5895" name="adj"/>
            </a:avLst>
          </a:prstGeom>
          <a:solidFill>
            <a:srgbClr val="2E5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2595563" y="1987004"/>
            <a:ext cx="266700" cy="266700"/>
          </a:xfrm>
          <a:prstGeom prst="roundRect">
            <a:avLst>
              <a:gd fmla="val 342857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2690961" y="2046982"/>
            <a:ext cx="772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2919413" y="1987004"/>
            <a:ext cx="388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Knox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2919413" y="2133600"/>
            <a:ext cx="38892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CPO 70%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2595563" y="2329904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NIN methodology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2595563" y="2468910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 customization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2595563" y="2607915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Technical leadership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4619625" y="1872704"/>
            <a:ext cx="2043113" cy="969466"/>
          </a:xfrm>
          <a:prstGeom prst="roundRect">
            <a:avLst>
              <a:gd fmla="val 5895" name="adj"/>
            </a:avLst>
          </a:prstGeom>
          <a:solidFill>
            <a:srgbClr val="3A7B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733925" y="1987004"/>
            <a:ext cx="266700" cy="266700"/>
          </a:xfrm>
          <a:prstGeom prst="roundRect">
            <a:avLst>
              <a:gd fmla="val 342857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800302" y="2046982"/>
            <a:ext cx="1366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KJ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5057775" y="1987003"/>
            <a:ext cx="947700" cy="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FFFFFF"/>
                </a:solidFill>
              </a:rPr>
              <a:t>Mikalina/Free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5057775" y="2133600"/>
            <a:ext cx="44235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CRO 100%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733925" y="2329904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POC sales &amp; pipeline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4733925" y="2468910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coordination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733925" y="2607915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Weekly tracking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6757988" y="1872704"/>
            <a:ext cx="2043113" cy="969466"/>
          </a:xfrm>
          <a:prstGeom prst="roundRect">
            <a:avLst>
              <a:gd fmla="val 5895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6872288" y="1987004"/>
            <a:ext cx="266700" cy="266700"/>
          </a:xfrm>
          <a:prstGeom prst="roundRect">
            <a:avLst>
              <a:gd fmla="val 342857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6973491" y="2046982"/>
            <a:ext cx="654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7196138" y="1987004"/>
            <a:ext cx="52494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Tionna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7196138" y="2133600"/>
            <a:ext cx="524941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Labs Dir 60%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6872288" y="2329904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Fellow deployment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6872288" y="2468910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SIPE configuration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6872288" y="2607915"/>
            <a:ext cx="1850803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Technical delivery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342900" y="3108871"/>
            <a:ext cx="2755850" cy="481905"/>
          </a:xfrm>
          <a:prstGeom prst="roundRect">
            <a:avLst>
              <a:gd fmla="val 11859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38150" y="3204121"/>
            <a:ext cx="261665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LABS FELLOWS (5-8)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38150" y="3375571"/>
            <a:ext cx="26166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Implementation, configuration. Each supports 2-3 POCs.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3194000" y="3108871"/>
            <a:ext cx="2755850" cy="481905"/>
          </a:xfrm>
          <a:prstGeom prst="roundRect">
            <a:avLst>
              <a:gd fmla="val 11859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3289250" y="3204121"/>
            <a:ext cx="261665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COMMISSION AGENTS (8-15%)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3289250" y="3375571"/>
            <a:ext cx="26166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Mid-market venues. Zero fixed cost. Target 30-50 agents.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6045101" y="3108871"/>
            <a:ext cx="2755850" cy="481905"/>
          </a:xfrm>
          <a:prstGeom prst="roundRect">
            <a:avLst>
              <a:gd fmla="val 11859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6140351" y="3204121"/>
            <a:ext cx="261665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CERTIFIED PARTNERS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6140351" y="3375571"/>
            <a:ext cx="2616657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Implementation delivery. Revenue share model.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342900" y="3857476"/>
            <a:ext cx="8458200" cy="310455"/>
          </a:xfrm>
          <a:prstGeom prst="roundRect">
            <a:avLst>
              <a:gd fmla="val 18408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2428131" y="3952726"/>
            <a:ext cx="947565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Lean Core:</a:t>
            </a: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8 FTEs only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3547616" y="3952726"/>
            <a:ext cx="153580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Automation First:</a:t>
            </a: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AI before headcount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5243810" y="3952726"/>
            <a:ext cx="150150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Partner Before Build:</a:t>
            </a: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Certify capacity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"/>
          <p:cNvSpPr/>
          <p:nvPr/>
        </p:nvSpPr>
        <p:spPr>
          <a:xfrm>
            <a:off x="2139330" y="266700"/>
            <a:ext cx="486534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 METRICS &amp; CALL TO ACTION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258318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What We're Measuring What We Need From You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42900" y="1609725"/>
            <a:ext cx="4152900" cy="927646"/>
          </a:xfrm>
          <a:prstGeom prst="roundRect">
            <a:avLst>
              <a:gd fmla="val 6161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457200" y="1724025"/>
            <a:ext cx="400278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KEY MILESTONES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57200" y="1946821"/>
            <a:ext cx="71105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4 (Jan 31)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3746004" y="1946821"/>
            <a:ext cx="64820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POCs $500K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457200" y="2118271"/>
            <a:ext cx="7218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8 (Feb 28)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3836194" y="2118271"/>
            <a:ext cx="5562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POCs $2M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57200" y="2289721"/>
            <a:ext cx="77572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12 (Mar 31)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3722191" y="2289721"/>
            <a:ext cx="67249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15 POCs $6M+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342900" y="2632621"/>
            <a:ext cx="4152900" cy="883741"/>
          </a:xfrm>
          <a:prstGeom prst="roundRect">
            <a:avLst>
              <a:gd fmla="val 6467" name="adj"/>
            </a:avLst>
          </a:prstGeom>
          <a:solidFill>
            <a:srgbClr val="9AAF45">
              <a:alpha val="20000"/>
            </a:srgbClr>
          </a:solidFill>
          <a:ln cap="flat" cmpd="sng" w="9525">
            <a:solidFill>
              <a:srgbClr val="9AA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66725" y="2756446"/>
            <a:ext cx="398335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MARCH 31 END STATE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464393" y="2979241"/>
            <a:ext cx="23787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64393" y="3272582"/>
            <a:ext cx="23787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POCs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810569" y="2979241"/>
            <a:ext cx="3743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10+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810569" y="3272582"/>
            <a:ext cx="37435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1291736" y="2979241"/>
            <a:ext cx="38892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1291736" y="3272582"/>
            <a:ext cx="38892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Proposals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1788907" y="2979241"/>
            <a:ext cx="228466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1788907" y="3272582"/>
            <a:ext cx="22846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342900" y="3611612"/>
            <a:ext cx="4152900" cy="457200"/>
          </a:xfrm>
          <a:prstGeom prst="roundRect">
            <a:avLst>
              <a:gd fmla="val 12500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438150" y="3706862"/>
            <a:ext cx="404164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active POCs = market validation for Series A ($12-15M at $50-80M). NFL + venues + cloud = category leadership.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648200" y="1417439"/>
            <a:ext cx="4152900" cy="2175123"/>
          </a:xfrm>
          <a:prstGeom prst="roundRect">
            <a:avLst>
              <a:gd fmla="val 26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4762500" y="1531739"/>
            <a:ext cx="400278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IMMEDIATE ACTIONS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4762500" y="1786979"/>
            <a:ext cx="3924300" cy="525661"/>
          </a:xfrm>
          <a:prstGeom prst="roundRect">
            <a:avLst>
              <a:gd fmla="val 7248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9"/>
          <p:cNvCxnSpPr/>
          <p:nvPr/>
        </p:nvCxnSpPr>
        <p:spPr>
          <a:xfrm>
            <a:off x="4776788" y="1786979"/>
            <a:ext cx="0" cy="525661"/>
          </a:xfrm>
          <a:prstGeom prst="straightConnector1">
            <a:avLst/>
          </a:prstGeom>
          <a:noFill/>
          <a:ln cap="flat" cmpd="sng" w="28575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9"/>
          <p:cNvSpPr/>
          <p:nvPr/>
        </p:nvSpPr>
        <p:spPr>
          <a:xfrm>
            <a:off x="4867275" y="1863179"/>
            <a:ext cx="381819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THIS WEEK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4867275" y="1996529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Finalize POC pricing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4867275" y="2116485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Draft Google proposal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4762500" y="2369790"/>
            <a:ext cx="3924300" cy="525661"/>
          </a:xfrm>
          <a:prstGeom prst="roundRect">
            <a:avLst>
              <a:gd fmla="val 7248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9"/>
          <p:cNvCxnSpPr/>
          <p:nvPr/>
        </p:nvCxnSpPr>
        <p:spPr>
          <a:xfrm>
            <a:off x="4776788" y="2369790"/>
            <a:ext cx="0" cy="525661"/>
          </a:xfrm>
          <a:prstGeom prst="straightConnector1">
            <a:avLst/>
          </a:prstGeom>
          <a:noFill/>
          <a:ln cap="flat" cmpd="sng" w="28575">
            <a:solidFill>
              <a:srgbClr val="3A7B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9"/>
          <p:cNvSpPr/>
          <p:nvPr/>
        </p:nvSpPr>
        <p:spPr>
          <a:xfrm>
            <a:off x="4867275" y="2445990"/>
            <a:ext cx="381819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NEXT 2 WEEKS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4867275" y="2579340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NFL stadium intros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4867275" y="2699296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Pre-recruit 3 Fellows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4762500" y="2952601"/>
            <a:ext cx="3924300" cy="525661"/>
          </a:xfrm>
          <a:prstGeom prst="roundRect">
            <a:avLst>
              <a:gd fmla="val 7248" name="adj"/>
            </a:avLst>
          </a:prstGeom>
          <a:solidFill>
            <a:srgbClr val="F4F6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9"/>
          <p:cNvCxnSpPr/>
          <p:nvPr/>
        </p:nvCxnSpPr>
        <p:spPr>
          <a:xfrm>
            <a:off x="4776788" y="2952601"/>
            <a:ext cx="0" cy="525661"/>
          </a:xfrm>
          <a:prstGeom prst="straightConnector1">
            <a:avLst/>
          </a:prstGeom>
          <a:noFill/>
          <a:ln cap="flat" cmpd="sng" w="28575">
            <a:solidFill>
              <a:srgbClr val="9AAF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9"/>
          <p:cNvSpPr/>
          <p:nvPr/>
        </p:nvSpPr>
        <p:spPr>
          <a:xfrm>
            <a:off x="4867275" y="3028801"/>
            <a:ext cx="381819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BY JAN 31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4867275" y="3162151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2 NFL POCs launched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4867275" y="3282107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Google partnership signed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4648200" y="3687812"/>
            <a:ext cx="4152900" cy="573286"/>
          </a:xfrm>
          <a:prstGeom prst="roundRect">
            <a:avLst>
              <a:gd fmla="val 9969" name="adj"/>
            </a:avLst>
          </a:prstGeom>
          <a:solidFill>
            <a:srgbClr val="9AAF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723257" y="3802112"/>
            <a:ext cx="400278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THE ASK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4723257" y="4013448"/>
            <a:ext cx="4002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Full commitment for 90 days. Every POC strengthens Sentrais. This is how we win.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258318" y="4743450"/>
            <a:ext cx="862736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SENTRAIS CORPORATION Q1 2026 LET'S BUILD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2026-01-07T06:54:07Z</dcterms:created>
  <dc:creator>Sentrais Corporation</dc:creator>
</cp:coreProperties>
</file>