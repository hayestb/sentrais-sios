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1112" y="944017"/>
            <a:ext cx="5381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POC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04506" y="1629817"/>
            <a:ext cx="29348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2100"/>
              </a:spcAft>
              <a:buNone/>
            </a:pPr>
            <a:r>
              <a:rPr lang="en-US" sz="16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Venues by March 31, 2026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765914" y="2342257"/>
            <a:ext cx="7344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65914" y="2768947"/>
            <a:ext cx="7344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Stadiums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97945" y="2445097"/>
            <a:ext cx="9525" cy="3810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05724" y="2342257"/>
            <a:ext cx="6676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05724" y="2768947"/>
            <a:ext cx="667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 Venues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1616" y="2445097"/>
            <a:ext cx="9525" cy="3810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76092" y="2342257"/>
            <a:ext cx="10046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76092" y="2768947"/>
            <a:ext cx="10046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Nation Venues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4530" y="3386138"/>
            <a:ext cx="988516" cy="260896"/>
          </a:xfrm>
          <a:prstGeom prst="roundRect">
            <a:avLst>
              <a:gd name="adj" fmla="val 146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30662" y="3443288"/>
            <a:ext cx="736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Sports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045446" y="3386138"/>
            <a:ext cx="1134219" cy="260896"/>
          </a:xfrm>
          <a:prstGeom prst="roundRect">
            <a:avLst>
              <a:gd name="adj" fmla="val 146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70121" y="3443288"/>
            <a:ext cx="8848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Venues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332065" y="3386138"/>
            <a:ext cx="907256" cy="260896"/>
          </a:xfrm>
          <a:prstGeom prst="roundRect">
            <a:avLst>
              <a:gd name="adj" fmla="val 146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59010" y="3443288"/>
            <a:ext cx="6533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Federal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206972" y="4066133"/>
            <a:ext cx="27300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100"/>
              </a:spcBef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TEAM BRIEFING JANUARY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SENTRAIS?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Intelligence Operating System for High-Stakes Environments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831777"/>
            <a:ext cx="3968502" cy="777032"/>
          </a:xfrm>
          <a:prstGeom prst="roundRect">
            <a:avLst>
              <a:gd name="adj" fmla="val 73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1950" y="1831777"/>
            <a:ext cx="0" cy="777032"/>
          </a:xfrm>
          <a:prstGeom prst="line">
            <a:avLst/>
          </a:prstGeom>
          <a:noFill/>
          <a:ln w="38100">
            <a:solidFill>
              <a:srgbClr val="9AA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965127"/>
            <a:ext cx="3736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2182267"/>
            <a:ext cx="37369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digitizes an organization's DNA—processes, playbooks, systems—into a unified core model that powers every project and platform.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42900" y="2723108"/>
            <a:ext cx="3968502" cy="1118146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9525">
            <a:solidFill>
              <a:srgbClr val="D1D9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25" y="2846933"/>
            <a:ext cx="3795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SENTRAIS DOES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" y="3069729"/>
            <a:ext cx="3795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Unifies fragmented systems into one intelligence layer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725" y="3241179"/>
            <a:ext cx="3795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commercialization through shared blueprints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6725" y="3412629"/>
            <a:ext cx="3795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resilience, governance, and security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6725" y="3584079"/>
            <a:ext cx="3795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intelligence with every deployment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01902" y="1898452"/>
            <a:ext cx="4299198" cy="1346597"/>
          </a:xfrm>
          <a:prstGeom prst="roundRect">
            <a:avLst>
              <a:gd name="adj" fmla="val 4244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4927" y="2031802"/>
            <a:ext cx="4113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SENTRAIS ECOSYSTEM</a:t>
            </a:r>
            <a:endParaRPr lang="en-US" sz="750" dirty="0"/>
          </a:p>
        </p:txBody>
      </p:sp>
      <p:pic>
        <p:nvPicPr>
          <p:cNvPr id="16" name="Image 0" descr="/tmp/rasterized-gradient-b65a47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7229" y="2260402"/>
            <a:ext cx="1448544" cy="5027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068191" y="2355652"/>
            <a:ext cx="11666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OS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6068191" y="2547938"/>
            <a:ext cx="11666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Operating System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5455741" y="2858393"/>
            <a:ext cx="700236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>
            <a:solidFill>
              <a:srgbClr val="9AAF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555610" y="2925068"/>
            <a:ext cx="5005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EVERGAME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6213128" y="2858393"/>
            <a:ext cx="462111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>
            <a:solidFill>
              <a:srgbClr val="9AAF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15377" y="2925068"/>
            <a:ext cx="2576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eVenu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6732389" y="2858393"/>
            <a:ext cx="543074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>
            <a:solidFill>
              <a:srgbClr val="9AAF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33829" y="2925068"/>
            <a:ext cx="340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CiviGrid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7332613" y="2858393"/>
            <a:ext cx="514499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>
            <a:solidFill>
              <a:srgbClr val="9AAF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434338" y="2925068"/>
            <a:ext cx="3110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4501902" y="3359348"/>
            <a:ext cx="4299198" cy="415230"/>
          </a:xfrm>
          <a:prstGeom prst="roundRect">
            <a:avLst>
              <a:gd name="adj" fmla="val 13763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75496" y="3473648"/>
            <a:ext cx="41520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"Calm during chaos. Making the complex simple."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900"/>
              </a:spcBef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is the living intelligence core that translates organizational DNA into unified, resilient frameworks.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 METHODOLOGY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Gartner-Recognized Framework Systematic Approach to Resilience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483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2963" y="1343918"/>
            <a:ext cx="702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43179" y="1621036"/>
            <a:ext cx="14301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3179" y="1819126"/>
            <a:ext cx="143015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 Forensics, current state, operational mapping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049810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2E5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3174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29873" y="1343918"/>
            <a:ext cx="702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150089" y="1621036"/>
            <a:ext cx="14301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50089" y="1819126"/>
            <a:ext cx="143015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analysis, risk prioritization, impact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756720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3A7B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3865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36783" y="1343918"/>
            <a:ext cx="702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856998" y="1621036"/>
            <a:ext cx="14301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56998" y="1819126"/>
            <a:ext cx="143015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architecture, future-state blueprints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463629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4556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43693" y="1343918"/>
            <a:ext cx="702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563908" y="1621036"/>
            <a:ext cx="14301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63908" y="1819126"/>
            <a:ext cx="143015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training, Sentrais activation</a:t>
            </a:r>
            <a:endParaRPr lang="en-US" sz="675" dirty="0"/>
          </a:p>
        </p:txBody>
      </p:sp>
      <p:pic>
        <p:nvPicPr>
          <p:cNvPr id="24" name="Image 0" descr="/tmp/rasterized-gradient-ce64905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539" y="1182886"/>
            <a:ext cx="1630710" cy="97318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85247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950602" y="1343918"/>
            <a:ext cx="702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270818" y="1621036"/>
            <a:ext cx="14301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270818" y="1819126"/>
            <a:ext cx="143015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improvement, AAR automation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42900" y="3145036"/>
            <a:ext cx="2743200" cy="660946"/>
          </a:xfrm>
          <a:prstGeom prst="roundRect">
            <a:avLst>
              <a:gd name="adj" fmla="val 86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7200" y="3259336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OUTCOME-FOCUSED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57200" y="3444032"/>
            <a:ext cx="2564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technology—measurable resilience, accuracy, and speed to innovation.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200400" y="3145036"/>
            <a:ext cx="2743200" cy="660946"/>
          </a:xfrm>
          <a:prstGeom prst="roundRect">
            <a:avLst>
              <a:gd name="adj" fmla="val 86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314700" y="3259336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DELIVERY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314700" y="3444032"/>
            <a:ext cx="2564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POCs deliver results, not PowerPoints. Outcomes in months, not years.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057900" y="3145036"/>
            <a:ext cx="2743200" cy="660946"/>
          </a:xfrm>
          <a:prstGeom prst="roundRect">
            <a:avLst>
              <a:gd name="adj" fmla="val 86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172200" y="3259336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BATTLE-TESTED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6172200" y="3444032"/>
            <a:ext cx="2564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from Atlanta cyber crisis, Super Bowl delivery, NFL production deployment.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900"/>
              </a:spcBef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 = NOVATE Intelligence Network Each POC follows this exact methodology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NFL-Validated Production-Proven Ready to Scale</a:t>
            </a:r>
            <a:endParaRPr lang="en-US" sz="975" dirty="0"/>
          </a:p>
        </p:txBody>
      </p:sp>
      <p:pic>
        <p:nvPicPr>
          <p:cNvPr id="4" name="Image 0" descr="/tmp/rasterized-gradient-23adcb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493490"/>
            <a:ext cx="4152900" cy="15524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1626840"/>
            <a:ext cx="381149" cy="196155"/>
          </a:xfrm>
          <a:prstGeom prst="roundRect">
            <a:avLst>
              <a:gd name="adj" fmla="val 19423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1664940"/>
            <a:ext cx="1944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933599" y="1631603"/>
            <a:ext cx="16926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ANCHOR CONTRACT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6250" y="1918246"/>
            <a:ext cx="2378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6614" y="1963043"/>
            <a:ext cx="1746513" cy="203746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deployed with EVERGAME360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76250" y="2268736"/>
            <a:ext cx="59416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15913" y="2313533"/>
            <a:ext cx="1637517" cy="203746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ARR (76% of Y1 target)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6250" y="2619226"/>
            <a:ext cx="49928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yrs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22896" y="2664023"/>
            <a:ext cx="1431670" cy="203746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R&amp;D, $5M founder investment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2900" y="3160216"/>
            <a:ext cx="4152900" cy="1038225"/>
          </a:xfrm>
          <a:prstGeom prst="roundRect">
            <a:avLst>
              <a:gd name="adj" fmla="val 550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3274516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NFL MATTERS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57200" y="3465016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complex sports operation in the world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57200" y="3626941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Production-proven technology at scale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788866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Unassailable reference for all verticals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3950791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Market Guide recognition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48200" y="1468934"/>
            <a:ext cx="4152900" cy="9334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1D9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72025" y="159275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STRUCTURE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72025" y="180230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C-Corp, all IP, platform, advisory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72025" y="197375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NOVATELabs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501(c)(3), research, workforce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772025" y="214520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Network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Certified delivery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648200" y="2516684"/>
            <a:ext cx="4152900" cy="1020961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9525">
            <a:solidFill>
              <a:srgbClr val="D1D9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72025" y="264050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72025" y="2850059"/>
            <a:ext cx="1962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 Hayes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772025" y="2983409"/>
            <a:ext cx="1962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6753225" y="2850059"/>
            <a:ext cx="1962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753225" y="2983409"/>
            <a:ext cx="1962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Product Officer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772025" y="3160514"/>
            <a:ext cx="1962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Kirjuan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772025" y="3293864"/>
            <a:ext cx="1962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Revenue Officer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6753225" y="3160514"/>
            <a:ext cx="1962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Tionna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753225" y="3293864"/>
            <a:ext cx="1962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Labs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4648200" y="3651945"/>
            <a:ext cx="4152900" cy="571202"/>
          </a:xfrm>
          <a:prstGeom prst="roundRect">
            <a:avLst>
              <a:gd name="adj" fmla="val 10005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743450" y="3747195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CREDENTIALS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743450" y="3905250"/>
            <a:ext cx="4041648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Service-Disabled Navy Veteran Former CIO, City of Atlanta Cyber crisis commander Super Bowl LIII delivery Hartsfield-Jackson innovation lead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Transitioning from NOVATE Solutions (S-Corp) to Sentrais Corporation (C-Corp) for institutional investment readiness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15-POC TARGET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Categories 90 Days Market-Defining Traction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309985"/>
            <a:ext cx="2755850" cy="2641550"/>
          </a:xfrm>
          <a:prstGeom prst="roundRect">
            <a:avLst>
              <a:gd name="adj" fmla="val 2164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40359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3818" y="147086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424285"/>
            <a:ext cx="857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STADIUMS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584275"/>
            <a:ext cx="8570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Partner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57200" y="1837581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1894731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Mercedes-Benz Stadium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3400" y="2028081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SB 2029 Host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57200" y="2248942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2306092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 Stadium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3400" y="2439442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Olympics 2028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" y="2660303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2717453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Allegiant Stadium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3400" y="2850803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Vegas Tech-Forward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3071664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3400" y="3128814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AT&amp;T Stadium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3400" y="3262164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Largest NFL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57200" y="3483025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400" y="3540175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MetLife Stadium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3400" y="3673525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NY/NJ FIFA 2026 Final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194000" y="1309985"/>
            <a:ext cx="2755850" cy="2641550"/>
          </a:xfrm>
          <a:prstGeom prst="roundRect">
            <a:avLst>
              <a:gd name="adj" fmla="val 2164"/>
            </a:avLst>
          </a:prstGeom>
          <a:solidFill>
            <a:srgbClr val="2E5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08300" y="1440359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00A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94918" y="147086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3100" y="1424285"/>
            <a:ext cx="7644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 VENUES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3100" y="1584275"/>
            <a:ext cx="7644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Partner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308300" y="1837581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4500" y="1894731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Crypto.com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84500" y="2028081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Flagship 20K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308300" y="2248942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84500" y="2306092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84500" y="2439442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International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308300" y="2660303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84500" y="2717453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 Health Sports Park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84500" y="2850803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FIFA Training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308300" y="3071664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84500" y="3128814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Theater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4500" y="3262164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Partner Alignment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08300" y="3483025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4500" y="3540175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T-Mobile Arena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384500" y="3673525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Vegas Major Events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045101" y="1309985"/>
            <a:ext cx="2755850" cy="2641550"/>
          </a:xfrm>
          <a:prstGeom prst="roundRect">
            <a:avLst>
              <a:gd name="adj" fmla="val 2164"/>
            </a:avLst>
          </a:prstGeom>
          <a:solidFill>
            <a:srgbClr val="3A7B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9401" y="1440359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00A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46019" y="147086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64201" y="1424285"/>
            <a:ext cx="7298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64201" y="1584275"/>
            <a:ext cx="7298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Partner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159401" y="1837581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35601" y="1894731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Fillmore Network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35601" y="2028081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Multi-venue proof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159401" y="2248942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235601" y="2306092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Hollywood Bowl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35601" y="2439442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Iconic 17.5K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159401" y="2660303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35601" y="2717453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Rocks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35601" y="2850803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 Unique Ops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159401" y="3071664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35601" y="3128814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Bridgestone Arena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35601" y="3262164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20K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6159401" y="3483025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35601" y="3540175"/>
            <a:ext cx="2422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of Blues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235601" y="3673525"/>
            <a:ext cx="24223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integration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342900" y="4364534"/>
            <a:ext cx="2755850" cy="512266"/>
          </a:xfrm>
          <a:prstGeom prst="roundRect">
            <a:avLst>
              <a:gd name="adj" fmla="val 7438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31927" y="4440734"/>
            <a:ext cx="25777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$1.35M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431927" y="4680645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Investment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3194000" y="4364534"/>
            <a:ext cx="2755850" cy="512266"/>
          </a:xfrm>
          <a:prstGeom prst="roundRect">
            <a:avLst>
              <a:gd name="adj" fmla="val 7438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283028" y="4440734"/>
            <a:ext cx="25777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$4M+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283028" y="4680645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Pipeline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6045101" y="4364534"/>
            <a:ext cx="2755850" cy="512266"/>
          </a:xfrm>
          <a:prstGeom prst="roundRect">
            <a:avLst>
              <a:gd name="adj" fmla="val 7438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34128" y="4440734"/>
            <a:ext cx="25777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3-4x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134128" y="4680645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ROI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PARTNERSHIP STRATEGY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Partners Three Markets One Intelligence Layer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732657"/>
            <a:ext cx="2743200" cy="1984623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866007"/>
            <a:ext cx="584299" cy="274290"/>
          </a:xfrm>
          <a:prstGeom prst="roundRect">
            <a:avLst>
              <a:gd name="adj" fmla="val 13890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923157"/>
            <a:ext cx="4016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749" y="1929854"/>
            <a:ext cx="4394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" y="2216497"/>
            <a:ext cx="2476500" cy="424755"/>
          </a:xfrm>
          <a:prstGeom prst="roundRect">
            <a:avLst>
              <a:gd name="adj" fmla="val 897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2292697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52450" y="2431703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leagues, entertainment, AI-native innovation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6250" y="2717453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76250" y="2837408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BigQuery Chronicle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76250" y="3033564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6250" y="3153519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MLS NBA NCAA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76250" y="3349675"/>
            <a:ext cx="2476500" cy="234255"/>
          </a:xfrm>
          <a:prstGeom prst="roundRect">
            <a:avLst>
              <a:gd name="adj" fmla="val 16264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3406825"/>
            <a:ext cx="2409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Partnership signed, NFL case study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200400" y="1732657"/>
            <a:ext cx="2743200" cy="1984623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>
            <a:solidFill>
              <a:srgbClr val="00A4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3750" y="1866007"/>
            <a:ext cx="704850" cy="274290"/>
          </a:xfrm>
          <a:prstGeom prst="roundRect">
            <a:avLst>
              <a:gd name="adj" fmla="val 13890"/>
            </a:avLst>
          </a:prstGeom>
          <a:solidFill>
            <a:srgbClr val="00A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29000" y="1923157"/>
            <a:ext cx="524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1929854"/>
            <a:ext cx="4396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333750" y="2216497"/>
            <a:ext cx="2476500" cy="424755"/>
          </a:xfrm>
          <a:prstGeom prst="roundRect">
            <a:avLst>
              <a:gd name="adj" fmla="val 897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09950" y="2292697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409950" y="2431703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operators, enterprise deployments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33750" y="2717453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333750" y="2837408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Dynamics 365 Teams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333750" y="3033564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333750" y="3153519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 Live Nation ASM Global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333750" y="3349675"/>
            <a:ext cx="2476500" cy="234255"/>
          </a:xfrm>
          <a:prstGeom prst="roundRect">
            <a:avLst>
              <a:gd name="adj" fmla="val 16264"/>
            </a:avLst>
          </a:prstGeom>
          <a:solidFill>
            <a:srgbClr val="00A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90900" y="3406825"/>
            <a:ext cx="2409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Azure marketplace listing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6057900" y="1732657"/>
            <a:ext cx="2743200" cy="1984623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91250" y="1866007"/>
            <a:ext cx="450949" cy="274290"/>
          </a:xfrm>
          <a:prstGeom prst="roundRect">
            <a:avLst>
              <a:gd name="adj" fmla="val 13890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86500" y="1923157"/>
            <a:ext cx="2656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18399" y="1929854"/>
            <a:ext cx="5047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191250" y="2216497"/>
            <a:ext cx="2476500" cy="424755"/>
          </a:xfrm>
          <a:prstGeom prst="roundRect">
            <a:avLst>
              <a:gd name="adj" fmla="val 897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67450" y="2292697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267450" y="2431703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agencies, airports, critical infrastructure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91250" y="2717453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191250" y="2837408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GovCloud Bedrock Lambda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191250" y="3033564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191250" y="3153519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DHS TSA Airports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191250" y="3349675"/>
            <a:ext cx="2476500" cy="234255"/>
          </a:xfrm>
          <a:prstGeom prst="roundRect">
            <a:avLst>
              <a:gd name="adj" fmla="val 16264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48400" y="3406825"/>
            <a:ext cx="2409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FedRAMP pathway initiated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342900" y="4552950"/>
            <a:ext cx="8458200" cy="323850"/>
          </a:xfrm>
          <a:prstGeom prst="roundRect">
            <a:avLst>
              <a:gd name="adj" fmla="val 17647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058418" y="4676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191768" y="4648200"/>
            <a:ext cx="5671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938290" y="4648200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224040" y="4676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A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57390" y="4648200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Microsoft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183088" y="4648200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468838" y="4676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02188" y="4648200"/>
            <a:ext cx="493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EXECUTION CALENDAR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Week-by-Week Milestones January 6 March 31, 2026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760637"/>
            <a:ext cx="2755850" cy="445591"/>
          </a:xfrm>
          <a:prstGeom prst="roundRect">
            <a:avLst>
              <a:gd name="adj" fmla="val 8550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2496" y="1836837"/>
            <a:ext cx="26166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2496" y="2010073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NFL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42900" y="2263378"/>
            <a:ext cx="2755850" cy="485477"/>
          </a:xfrm>
          <a:prstGeom prst="roundRect">
            <a:avLst>
              <a:gd name="adj" fmla="val 7848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339578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19100" y="2459534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POC materials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19100" y="2566095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stadium meetings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42900" y="2806005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2882205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19100" y="3002161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partnership signed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42900" y="3242072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3318272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19100" y="3438227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 NFL POCs launched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42900" y="3678138"/>
            <a:ext cx="2755850" cy="234255"/>
          </a:xfrm>
          <a:prstGeom prst="roundRect">
            <a:avLst>
              <a:gd name="adj" fmla="val 16264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3065" y="3735288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END: 2 POCs Active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194000" y="1760637"/>
            <a:ext cx="2755850" cy="445591"/>
          </a:xfrm>
          <a:prstGeom prst="roundRect">
            <a:avLst>
              <a:gd name="adj" fmla="val 8550"/>
            </a:avLst>
          </a:prstGeom>
          <a:solidFill>
            <a:srgbClr val="2E5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63597" y="1836837"/>
            <a:ext cx="26166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263597" y="2010073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 &amp; Live Nation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194000" y="2263378"/>
            <a:ext cx="2755850" cy="485477"/>
          </a:xfrm>
          <a:prstGeom prst="roundRect">
            <a:avLst>
              <a:gd name="adj" fmla="val 7848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70200" y="2339578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270200" y="2459534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 venue meetings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270200" y="2566095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Nation approach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194000" y="2806005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70200" y="2882205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270200" y="3002161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partnership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194000" y="3242072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70200" y="3318272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270200" y="3438227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 + LN POCs launch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94000" y="3678138"/>
            <a:ext cx="2755850" cy="234255"/>
          </a:xfrm>
          <a:prstGeom prst="roundRect">
            <a:avLst>
              <a:gd name="adj" fmla="val 16264"/>
            </a:avLst>
          </a:prstGeom>
          <a:solidFill>
            <a:srgbClr val="2E5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44166" y="3735288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END: 8 POCs Active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045101" y="1760637"/>
            <a:ext cx="2755850" cy="445591"/>
          </a:xfrm>
          <a:prstGeom prst="roundRect">
            <a:avLst>
              <a:gd name="adj" fmla="val 8550"/>
            </a:avLst>
          </a:prstGeom>
          <a:solidFill>
            <a:srgbClr val="3A7B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14697" y="1836837"/>
            <a:ext cx="26166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114697" y="2010073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045101" y="2263378"/>
            <a:ext cx="2755850" cy="485477"/>
          </a:xfrm>
          <a:prstGeom prst="roundRect">
            <a:avLst>
              <a:gd name="adj" fmla="val 7848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21301" y="2339578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121301" y="2459534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POC velocity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21301" y="2566095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federal partnership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045101" y="2806005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21301" y="2882205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121301" y="3002161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documentation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045101" y="3242072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21301" y="3318272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121301" y="3438227"/>
            <a:ext cx="265551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prep complete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045101" y="3678138"/>
            <a:ext cx="2755850" cy="234255"/>
          </a:xfrm>
          <a:prstGeom prst="roundRect">
            <a:avLst>
              <a:gd name="adj" fmla="val 16264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95266" y="3735288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END: 15 POCs ✓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tracking: POCs Initiated POCs in Discovery POCs in Deploy POCs Complete Pipeline Value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975568"/>
            <a:ext cx="43233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&amp; RESPONSIBILITIES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1413718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 15 POCs Require All Hands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872704"/>
            <a:ext cx="2043113" cy="969466"/>
          </a:xfrm>
          <a:prstGeom prst="roundRect">
            <a:avLst>
              <a:gd name="adj" fmla="val 5895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9870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0601" y="2046982"/>
            <a:ext cx="1425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81050" y="1987004"/>
            <a:ext cx="5208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 Hayes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81050" y="2133600"/>
            <a:ext cx="5208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80%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57200" y="2329904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relationships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57200" y="2468910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partnerships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57200" y="2607915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selling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481263" y="1872704"/>
            <a:ext cx="2043113" cy="969466"/>
          </a:xfrm>
          <a:prstGeom prst="roundRect">
            <a:avLst>
              <a:gd name="adj" fmla="val 5895"/>
            </a:avLst>
          </a:prstGeom>
          <a:solidFill>
            <a:srgbClr val="2E5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95563" y="19870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90961" y="2046982"/>
            <a:ext cx="7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919413" y="1987004"/>
            <a:ext cx="388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919413" y="2133600"/>
            <a:ext cx="388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 70%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595563" y="2329904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 methodology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595563" y="2468910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customization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595563" y="2607915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leadership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19625" y="1872704"/>
            <a:ext cx="2043113" cy="969466"/>
          </a:xfrm>
          <a:prstGeom prst="roundRect">
            <a:avLst>
              <a:gd name="adj" fmla="val 5895"/>
            </a:avLst>
          </a:prstGeom>
          <a:solidFill>
            <a:srgbClr val="3A7B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19870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302" y="2046982"/>
            <a:ext cx="1366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057775" y="1987004"/>
            <a:ext cx="4423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Kirjuan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057775" y="2133600"/>
            <a:ext cx="4423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 100%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33925" y="2329904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sales &amp; pipeline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733925" y="2468910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coordination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733925" y="2607915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tracking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757988" y="1872704"/>
            <a:ext cx="2043113" cy="969466"/>
          </a:xfrm>
          <a:prstGeom prst="roundRect">
            <a:avLst>
              <a:gd name="adj" fmla="val 5895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72288" y="19870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73491" y="2046982"/>
            <a:ext cx="654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196138" y="1987004"/>
            <a:ext cx="5249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Tionna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196138" y="2133600"/>
            <a:ext cx="5249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Dir 60%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872288" y="2329904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deployment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872288" y="2468910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 configuration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872288" y="2607915"/>
            <a:ext cx="1850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3A4B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delivery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42900" y="3108871"/>
            <a:ext cx="2755850" cy="481905"/>
          </a:xfrm>
          <a:prstGeom prst="roundRect">
            <a:avLst>
              <a:gd name="adj" fmla="val 11859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8150" y="3204121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FELLOWS (5-8)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38150" y="3375571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configuration. Each supports 2-3 POCs.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3194000" y="3108871"/>
            <a:ext cx="2755850" cy="481905"/>
          </a:xfrm>
          <a:prstGeom prst="roundRect">
            <a:avLst>
              <a:gd name="adj" fmla="val 11859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289250" y="3204121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AGENTS (8-15%)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89250" y="3375571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venues. Zero fixed cost. Target 30-50 agents.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045101" y="3108871"/>
            <a:ext cx="2755850" cy="481905"/>
          </a:xfrm>
          <a:prstGeom prst="roundRect">
            <a:avLst>
              <a:gd name="adj" fmla="val 11859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40351" y="3204121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PARTNERS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40351" y="3375571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delivery. Revenue share model.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342900" y="3857476"/>
            <a:ext cx="8458200" cy="310455"/>
          </a:xfrm>
          <a:prstGeom prst="roundRect">
            <a:avLst>
              <a:gd name="adj" fmla="val 18408"/>
            </a:avLst>
          </a:prstGeom>
          <a:solidFill>
            <a:srgbClr val="1B3A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428131" y="3952726"/>
            <a:ext cx="9475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Core: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FTEs only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3547616" y="3952726"/>
            <a:ext cx="15358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First: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before headcount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243810" y="3952726"/>
            <a:ext cx="15015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AAF45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Before Build: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Certify capacity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9330" y="266700"/>
            <a:ext cx="48653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CALL TO ACTION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58318" y="7048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Measuring What We Need From You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1609725"/>
            <a:ext cx="4152900" cy="927646"/>
          </a:xfrm>
          <a:prstGeom prst="roundRect">
            <a:avLst>
              <a:gd name="adj" fmla="val 61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724025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946821"/>
            <a:ext cx="711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(Jan 31)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746004" y="1946821"/>
            <a:ext cx="6482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POCs $500K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118271"/>
            <a:ext cx="7218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(Feb 28)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36194" y="2118271"/>
            <a:ext cx="556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POCs $2M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2289721"/>
            <a:ext cx="775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(Mar 31)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22191" y="2289721"/>
            <a:ext cx="672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POCs $6M+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2900" y="2632621"/>
            <a:ext cx="4152900" cy="883741"/>
          </a:xfrm>
          <a:prstGeom prst="roundRect">
            <a:avLst>
              <a:gd name="adj" fmla="val 6467"/>
            </a:avLst>
          </a:prstGeom>
          <a:solidFill>
            <a:srgbClr val="9AAF45">
              <a:alpha val="20000"/>
            </a:srgbClr>
          </a:solidFill>
          <a:ln w="9525">
            <a:solidFill>
              <a:srgbClr val="9AAF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725" y="2756446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AA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31 END STATE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4393" y="2979241"/>
            <a:ext cx="2378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4393" y="3272582"/>
            <a:ext cx="2378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10569" y="2979241"/>
            <a:ext cx="3743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10569" y="3272582"/>
            <a:ext cx="3743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291736" y="2979241"/>
            <a:ext cx="38892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91736" y="3272582"/>
            <a:ext cx="388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1788907" y="2979241"/>
            <a:ext cx="22846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788907" y="3272582"/>
            <a:ext cx="2284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42900" y="3611612"/>
            <a:ext cx="4152900" cy="4572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8150" y="3706862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active POCs = market validation for Series A ($12-15M at $50-80M). NFL + venues + cloud = category leadership.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48200" y="1417439"/>
            <a:ext cx="4152900" cy="2175123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153173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2500" y="1786979"/>
            <a:ext cx="3924300" cy="525661"/>
          </a:xfrm>
          <a:prstGeom prst="roundRect">
            <a:avLst>
              <a:gd name="adj" fmla="val 7248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76788" y="1786979"/>
            <a:ext cx="0" cy="525661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7275" y="1863179"/>
            <a:ext cx="3818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67275" y="1996529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POC pricing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867275" y="2116485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Google proposal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762500" y="2369790"/>
            <a:ext cx="3924300" cy="525661"/>
          </a:xfrm>
          <a:prstGeom prst="roundRect">
            <a:avLst>
              <a:gd name="adj" fmla="val 7248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76788" y="2369790"/>
            <a:ext cx="0" cy="525661"/>
          </a:xfrm>
          <a:prstGeom prst="line">
            <a:avLst/>
          </a:prstGeom>
          <a:noFill/>
          <a:ln w="28575">
            <a:solidFill>
              <a:srgbClr val="3A7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7275" y="2445990"/>
            <a:ext cx="3818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2 WEEKS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67275" y="2579340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stadium intros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867275" y="2699296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Pre-recruit 3 Fellows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762500" y="2952601"/>
            <a:ext cx="3924300" cy="525661"/>
          </a:xfrm>
          <a:prstGeom prst="roundRect">
            <a:avLst>
              <a:gd name="adj" fmla="val 7248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76788" y="2952601"/>
            <a:ext cx="0" cy="525661"/>
          </a:xfrm>
          <a:prstGeom prst="line">
            <a:avLst/>
          </a:prstGeom>
          <a:noFill/>
          <a:ln w="28575">
            <a:solidFill>
              <a:srgbClr val="9AAF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7275" y="3028801"/>
            <a:ext cx="3818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JAN 31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67275" y="3162151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NFL POCs launched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867275" y="3282107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partnership signed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648200" y="3687812"/>
            <a:ext cx="4152900" cy="573286"/>
          </a:xfrm>
          <a:prstGeom prst="roundRect">
            <a:avLst>
              <a:gd name="adj" fmla="val 9969"/>
            </a:avLst>
          </a:prstGeom>
          <a:solidFill>
            <a:srgbClr val="9AA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23257" y="3802112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4723257" y="4013448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3A4B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commitment for 90 days. Every POC strengthens Sentrais. This is how we win.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8318" y="4743450"/>
            <a:ext cx="8627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Q1 2026 LET'S BUILD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Sentrais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Sentrais 90-Day POC Strategy</dc:title>
  <dc:subject>Team Briefing - Q1 2026</dc:subject>
  <dc:creator>Sentrais Corporation</dc:creator>
  <cp:lastModifiedBy>Sentrais Corporation</cp:lastModifiedBy>
  <cp:revision>1</cp:revision>
  <dcterms:created xsi:type="dcterms:W3CDTF">2026-01-07T06:54:07Z</dcterms:created>
  <dcterms:modified xsi:type="dcterms:W3CDTF">2026-01-07T06:54:07Z</dcterms:modified>
</cp:coreProperties>
</file>