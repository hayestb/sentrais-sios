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 id="2147483663" r:id="rId2"/>
  </p:sldMasterIdLst>
  <p:notesMasterIdLst>
    <p:notesMasterId r:id="rId2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9144000" cy="5143500" type="screen16x9"/>
  <p:notesSz cx="6858000" cy="9144000"/>
  <p:embeddedFontLst>
    <p:embeddedFont>
      <p:font typeface="Century Gothic" panose="020B0502020202020204" pitchFamily="34" charset="0"/>
      <p:regular r:id="rId26"/>
      <p:bold r:id="rId27"/>
      <p:italic r:id="rId28"/>
      <p:boldItalic r:id="rId29"/>
    </p:embeddedFont>
    <p:embeddedFont>
      <p:font typeface="IBM Plex Sans" panose="020B0503050203000203" pitchFamily="34" charset="0"/>
      <p:regular r:id="rId30"/>
      <p:bold r:id="rId31"/>
      <p:italic r:id="rId32"/>
      <p:boldItalic r:id="rId33"/>
    </p:embeddedFont>
    <p:embeddedFont>
      <p:font typeface="Montserrat" pitchFamily="2" charset="77"/>
      <p:regular r:id="rId34"/>
      <p:bold r:id="rId35"/>
      <p:italic r:id="rId36"/>
      <p:boldItalic r:id="rId37"/>
    </p:embeddedFont>
    <p:embeddedFont>
      <p:font typeface="Open Sans" pitchFamily="2" charset="0"/>
      <p:regular r:id="rId38"/>
      <p:bold r:id="rId39"/>
      <p:italic r:id="rId40"/>
      <p:boldItalic r:id="rId41"/>
    </p:embeddedFont>
    <p:embeddedFont>
      <p:font typeface="Roboto" panose="020000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71CDCBF-DB96-496A-9D63-6544212617A7}">
  <a:tblStyle styleId="{E71CDCBF-DB96-496A-9D63-6544212617A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0863061-04CA-4EAB-8348-4A41C09F2EE4}"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0"/>
    <p:restoredTop sz="94728"/>
  </p:normalViewPr>
  <p:slideViewPr>
    <p:cSldViewPr snapToGrid="0">
      <p:cViewPr>
        <p:scale>
          <a:sx n="150" d="100"/>
          <a:sy n="150" d="100"/>
        </p:scale>
        <p:origin x="144" y="14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19.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4.fntdata"/><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font" Target="fonts/font20.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3.fntdata"/><Relationship Id="rId36" Type="http://schemas.openxmlformats.org/officeDocument/2006/relationships/font" Target="fonts/font11.fntdata"/><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6.fntdata"/><Relationship Id="rId44" Type="http://schemas.openxmlformats.org/officeDocument/2006/relationships/font" Target="fonts/font19.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aba290fb63_1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aba290fb63_1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75000"/>
              </a:lnSpc>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Meeting Agenda:</a:t>
            </a:r>
            <a:endParaRPr>
              <a:solidFill>
                <a:schemeClr val="dk1"/>
              </a:solidFill>
              <a:latin typeface="Roboto"/>
              <a:ea typeface="Roboto"/>
              <a:cs typeface="Roboto"/>
              <a:sym typeface="Roboto"/>
            </a:endParaRPr>
          </a:p>
          <a:p>
            <a:pPr marL="0" lvl="0" indent="0" algn="l" rtl="0">
              <a:spcBef>
                <a:spcPts val="1500"/>
              </a:spcBef>
              <a:spcAft>
                <a:spcPts val="0"/>
              </a:spcAft>
              <a:buNone/>
            </a:pPr>
            <a:r>
              <a:rPr lang="en">
                <a:solidFill>
                  <a:schemeClr val="dk1"/>
                </a:solidFill>
                <a:latin typeface="Roboto"/>
                <a:ea typeface="Roboto"/>
                <a:cs typeface="Roboto"/>
                <a:sym typeface="Roboto"/>
              </a:rPr>
              <a:t>Introduction (2 slides)</a:t>
            </a:r>
            <a:endParaRPr>
              <a:solidFill>
                <a:schemeClr val="dk1"/>
              </a:solidFill>
              <a:latin typeface="Roboto"/>
              <a:ea typeface="Roboto"/>
              <a:cs typeface="Roboto"/>
              <a:sym typeface="Roboto"/>
            </a:endParaRPr>
          </a:p>
          <a:p>
            <a:pPr marL="0" lvl="0" indent="0" algn="l" rtl="0">
              <a:spcBef>
                <a:spcPts val="0"/>
              </a:spcBef>
              <a:spcAft>
                <a:spcPts val="0"/>
              </a:spcAft>
              <a:buNone/>
            </a:pPr>
            <a:r>
              <a:rPr lang="en">
                <a:solidFill>
                  <a:schemeClr val="dk1"/>
                </a:solidFill>
                <a:latin typeface="Roboto"/>
                <a:ea typeface="Roboto"/>
                <a:cs typeface="Roboto"/>
                <a:sym typeface="Roboto"/>
              </a:rPr>
              <a:t>a. Recap of Previous Presentation</a:t>
            </a:r>
            <a:endParaRPr>
              <a:solidFill>
                <a:schemeClr val="dk1"/>
              </a:solidFill>
              <a:latin typeface="Roboto"/>
              <a:ea typeface="Roboto"/>
              <a:cs typeface="Roboto"/>
              <a:sym typeface="Roboto"/>
            </a:endParaRPr>
          </a:p>
          <a:p>
            <a:pPr marL="457200" lvl="0" indent="-228600" algn="l" rtl="0">
              <a:lnSpc>
                <a:spcPct val="115000"/>
              </a:lnSpc>
              <a:spcBef>
                <a:spcPts val="1500"/>
              </a:spcBef>
              <a:spcAft>
                <a:spcPts val="0"/>
              </a:spcAft>
              <a:buClr>
                <a:schemeClr val="dk1"/>
              </a:buClr>
              <a:buSzPts val="1100"/>
              <a:buFont typeface="Roboto"/>
              <a:buNone/>
            </a:pPr>
            <a:r>
              <a:rPr lang="en">
                <a:solidFill>
                  <a:schemeClr val="dk1"/>
                </a:solidFill>
                <a:latin typeface="Roboto"/>
                <a:ea typeface="Roboto"/>
                <a:cs typeface="Roboto"/>
                <a:sym typeface="Roboto"/>
              </a:rPr>
              <a:t>b. Overview of Today's Update</a:t>
            </a:r>
            <a:endParaRPr>
              <a:solidFill>
                <a:schemeClr val="dk1"/>
              </a:solidFill>
              <a:latin typeface="Roboto"/>
              <a:ea typeface="Roboto"/>
              <a:cs typeface="Roboto"/>
              <a:sym typeface="Roboto"/>
            </a:endParaRPr>
          </a:p>
          <a:p>
            <a:pPr marL="0" lvl="0" indent="0" algn="l" rtl="0">
              <a:spcBef>
                <a:spcPts val="1500"/>
              </a:spcBef>
              <a:spcAft>
                <a:spcPts val="0"/>
              </a:spcAft>
              <a:buNone/>
            </a:pPr>
            <a:r>
              <a:rPr lang="en">
                <a:solidFill>
                  <a:schemeClr val="dk1"/>
                </a:solidFill>
                <a:latin typeface="Roboto"/>
                <a:ea typeface="Roboto"/>
                <a:cs typeface="Roboto"/>
                <a:sym typeface="Roboto"/>
              </a:rPr>
              <a:t>Program Overview (3 slides)</a:t>
            </a:r>
            <a:endParaRPr>
              <a:solidFill>
                <a:schemeClr val="dk1"/>
              </a:solidFill>
              <a:latin typeface="Roboto"/>
              <a:ea typeface="Roboto"/>
              <a:cs typeface="Roboto"/>
              <a:sym typeface="Roboto"/>
            </a:endParaRPr>
          </a:p>
          <a:p>
            <a:pPr marL="0" lvl="0" indent="0" algn="l" rtl="0">
              <a:spcBef>
                <a:spcPts val="0"/>
              </a:spcBef>
              <a:spcAft>
                <a:spcPts val="0"/>
              </a:spcAft>
              <a:buNone/>
            </a:pPr>
            <a:r>
              <a:rPr lang="en">
                <a:solidFill>
                  <a:schemeClr val="dk1"/>
                </a:solidFill>
                <a:latin typeface="Roboto"/>
                <a:ea typeface="Roboto"/>
                <a:cs typeface="Roboto"/>
                <a:sym typeface="Roboto"/>
              </a:rPr>
              <a:t>a. Introduction to the Innovation Hub Program</a:t>
            </a:r>
            <a:endParaRPr>
              <a:solidFill>
                <a:schemeClr val="dk1"/>
              </a:solidFill>
              <a:latin typeface="Roboto"/>
              <a:ea typeface="Roboto"/>
              <a:cs typeface="Roboto"/>
              <a:sym typeface="Roboto"/>
            </a:endParaRPr>
          </a:p>
          <a:p>
            <a:pPr marL="0" lvl="0" indent="0" algn="l" rtl="0">
              <a:spcBef>
                <a:spcPts val="0"/>
              </a:spcBef>
              <a:spcAft>
                <a:spcPts val="0"/>
              </a:spcAft>
              <a:buNone/>
            </a:pPr>
            <a:r>
              <a:rPr lang="en">
                <a:solidFill>
                  <a:schemeClr val="dk1"/>
                </a:solidFill>
                <a:latin typeface="Roboto"/>
                <a:ea typeface="Roboto"/>
                <a:cs typeface="Roboto"/>
                <a:sym typeface="Roboto"/>
              </a:rPr>
              <a:t>b. Program Design Highlights</a:t>
            </a:r>
            <a:endParaRPr>
              <a:solidFill>
                <a:schemeClr val="dk1"/>
              </a:solidFill>
              <a:latin typeface="Roboto"/>
              <a:ea typeface="Roboto"/>
              <a:cs typeface="Roboto"/>
              <a:sym typeface="Roboto"/>
            </a:endParaRPr>
          </a:p>
          <a:p>
            <a:pPr marL="457200" lvl="0" indent="-228600" algn="l" rtl="0">
              <a:lnSpc>
                <a:spcPct val="115000"/>
              </a:lnSpc>
              <a:spcBef>
                <a:spcPts val="1500"/>
              </a:spcBef>
              <a:spcAft>
                <a:spcPts val="0"/>
              </a:spcAft>
              <a:buClr>
                <a:schemeClr val="dk1"/>
              </a:buClr>
              <a:buSzPts val="1100"/>
              <a:buFont typeface="Roboto"/>
              <a:buNone/>
            </a:pPr>
            <a:r>
              <a:rPr lang="en">
                <a:solidFill>
                  <a:schemeClr val="dk1"/>
                </a:solidFill>
                <a:latin typeface="Roboto"/>
                <a:ea typeface="Roboto"/>
                <a:cs typeface="Roboto"/>
                <a:sym typeface="Roboto"/>
              </a:rPr>
              <a:t>c. Execution Model and Phase Gates</a:t>
            </a:r>
            <a:endParaRPr>
              <a:solidFill>
                <a:schemeClr val="dk1"/>
              </a:solidFill>
              <a:latin typeface="Roboto"/>
              <a:ea typeface="Roboto"/>
              <a:cs typeface="Roboto"/>
              <a:sym typeface="Roboto"/>
            </a:endParaRPr>
          </a:p>
          <a:p>
            <a:pPr marL="0" lvl="0" indent="0" algn="l" rtl="0">
              <a:spcBef>
                <a:spcPts val="1500"/>
              </a:spcBef>
              <a:spcAft>
                <a:spcPts val="0"/>
              </a:spcAft>
              <a:buNone/>
            </a:pPr>
            <a:r>
              <a:rPr lang="en">
                <a:solidFill>
                  <a:schemeClr val="dk1"/>
                </a:solidFill>
                <a:latin typeface="Roboto"/>
                <a:ea typeface="Roboto"/>
                <a:cs typeface="Roboto"/>
                <a:sym typeface="Roboto"/>
              </a:rPr>
              <a:t>Project Placement Simulation (2 slides)</a:t>
            </a:r>
            <a:endParaRPr>
              <a:solidFill>
                <a:schemeClr val="dk1"/>
              </a:solidFill>
              <a:latin typeface="Roboto"/>
              <a:ea typeface="Roboto"/>
              <a:cs typeface="Roboto"/>
              <a:sym typeface="Roboto"/>
            </a:endParaRPr>
          </a:p>
          <a:p>
            <a:pPr marL="0" lvl="0" indent="0" algn="l" rtl="0">
              <a:spcBef>
                <a:spcPts val="0"/>
              </a:spcBef>
              <a:spcAft>
                <a:spcPts val="0"/>
              </a:spcAft>
              <a:buNone/>
            </a:pPr>
            <a:r>
              <a:rPr lang="en">
                <a:solidFill>
                  <a:schemeClr val="dk1"/>
                </a:solidFill>
                <a:latin typeface="Roboto"/>
                <a:ea typeface="Roboto"/>
                <a:cs typeface="Roboto"/>
                <a:sym typeface="Roboto"/>
              </a:rPr>
              <a:t>a. Selection of Sponsor Projects</a:t>
            </a:r>
            <a:endParaRPr>
              <a:solidFill>
                <a:schemeClr val="dk1"/>
              </a:solidFill>
              <a:latin typeface="Roboto"/>
              <a:ea typeface="Roboto"/>
              <a:cs typeface="Roboto"/>
              <a:sym typeface="Roboto"/>
            </a:endParaRPr>
          </a:p>
          <a:p>
            <a:pPr marL="457200" lvl="0" indent="-228600" algn="l" rtl="0">
              <a:lnSpc>
                <a:spcPct val="115000"/>
              </a:lnSpc>
              <a:spcBef>
                <a:spcPts val="1500"/>
              </a:spcBef>
              <a:spcAft>
                <a:spcPts val="0"/>
              </a:spcAft>
              <a:buClr>
                <a:schemeClr val="dk1"/>
              </a:buClr>
              <a:buSzPts val="1100"/>
              <a:buFont typeface="Roboto"/>
              <a:buNone/>
            </a:pPr>
            <a:r>
              <a:rPr lang="en">
                <a:solidFill>
                  <a:schemeClr val="dk1"/>
                </a:solidFill>
                <a:latin typeface="Roboto"/>
                <a:ea typeface="Roboto"/>
                <a:cs typeface="Roboto"/>
                <a:sym typeface="Roboto"/>
              </a:rPr>
              <a:t>b. Placement on Maturity Model and Governance Structure</a:t>
            </a:r>
            <a:endParaRPr>
              <a:solidFill>
                <a:schemeClr val="dk1"/>
              </a:solidFill>
              <a:latin typeface="Roboto"/>
              <a:ea typeface="Roboto"/>
              <a:cs typeface="Roboto"/>
              <a:sym typeface="Roboto"/>
            </a:endParaRPr>
          </a:p>
          <a:p>
            <a:pPr marL="0" lvl="0" indent="0" algn="l" rtl="0">
              <a:spcBef>
                <a:spcPts val="1500"/>
              </a:spcBef>
              <a:spcAft>
                <a:spcPts val="0"/>
              </a:spcAft>
              <a:buNone/>
            </a:pPr>
            <a:r>
              <a:rPr lang="en">
                <a:solidFill>
                  <a:schemeClr val="dk1"/>
                </a:solidFill>
                <a:latin typeface="Roboto"/>
                <a:ea typeface="Roboto"/>
                <a:cs typeface="Roboto"/>
                <a:sym typeface="Roboto"/>
              </a:rPr>
              <a:t>Project Pitch Simulation (3 slides)</a:t>
            </a:r>
            <a:endParaRPr>
              <a:solidFill>
                <a:schemeClr val="dk1"/>
              </a:solidFill>
              <a:latin typeface="Roboto"/>
              <a:ea typeface="Roboto"/>
              <a:cs typeface="Roboto"/>
              <a:sym typeface="Roboto"/>
            </a:endParaRPr>
          </a:p>
          <a:p>
            <a:pPr marL="0" lvl="0" indent="0" algn="l" rtl="0">
              <a:spcBef>
                <a:spcPts val="0"/>
              </a:spcBef>
              <a:spcAft>
                <a:spcPts val="0"/>
              </a:spcAft>
              <a:buNone/>
            </a:pPr>
            <a:r>
              <a:rPr lang="en">
                <a:solidFill>
                  <a:schemeClr val="dk1"/>
                </a:solidFill>
                <a:latin typeface="Roboto"/>
                <a:ea typeface="Roboto"/>
                <a:cs typeface="Roboto"/>
                <a:sym typeface="Roboto"/>
              </a:rPr>
              <a:t>a. Introduction of Multimodal AI Project</a:t>
            </a:r>
            <a:endParaRPr>
              <a:solidFill>
                <a:schemeClr val="dk1"/>
              </a:solidFill>
              <a:latin typeface="Roboto"/>
              <a:ea typeface="Roboto"/>
              <a:cs typeface="Roboto"/>
              <a:sym typeface="Roboto"/>
            </a:endParaRPr>
          </a:p>
          <a:p>
            <a:pPr marL="0" lvl="0" indent="0" algn="l" rtl="0">
              <a:spcBef>
                <a:spcPts val="0"/>
              </a:spcBef>
              <a:spcAft>
                <a:spcPts val="0"/>
              </a:spcAft>
              <a:buNone/>
            </a:pPr>
            <a:r>
              <a:rPr lang="en">
                <a:solidFill>
                  <a:schemeClr val="dk1"/>
                </a:solidFill>
                <a:latin typeface="Roboto"/>
                <a:ea typeface="Roboto"/>
                <a:cs typeface="Roboto"/>
                <a:sym typeface="Roboto"/>
              </a:rPr>
              <a:t>b. Business and Technological Value</a:t>
            </a:r>
            <a:endParaRPr>
              <a:solidFill>
                <a:schemeClr val="dk1"/>
              </a:solidFill>
              <a:latin typeface="Roboto"/>
              <a:ea typeface="Roboto"/>
              <a:cs typeface="Roboto"/>
              <a:sym typeface="Roboto"/>
            </a:endParaRPr>
          </a:p>
          <a:p>
            <a:pPr marL="457200" lvl="0" indent="-228600" algn="l" rtl="0">
              <a:lnSpc>
                <a:spcPct val="115000"/>
              </a:lnSpc>
              <a:spcBef>
                <a:spcPts val="1500"/>
              </a:spcBef>
              <a:spcAft>
                <a:spcPts val="0"/>
              </a:spcAft>
              <a:buClr>
                <a:schemeClr val="dk1"/>
              </a:buClr>
              <a:buSzPts val="1100"/>
              <a:buFont typeface="Roboto"/>
              <a:buNone/>
            </a:pPr>
            <a:r>
              <a:rPr lang="en">
                <a:solidFill>
                  <a:schemeClr val="dk1"/>
                </a:solidFill>
                <a:latin typeface="Roboto"/>
                <a:ea typeface="Roboto"/>
                <a:cs typeface="Roboto"/>
                <a:sym typeface="Roboto"/>
              </a:rPr>
              <a:t>c. Request for Funding</a:t>
            </a:r>
            <a:endParaRPr>
              <a:solidFill>
                <a:schemeClr val="dk1"/>
              </a:solidFill>
              <a:latin typeface="Roboto"/>
              <a:ea typeface="Roboto"/>
              <a:cs typeface="Roboto"/>
              <a:sym typeface="Roboto"/>
            </a:endParaRPr>
          </a:p>
          <a:p>
            <a:pPr marL="0" lvl="0" indent="0" algn="l" rtl="0">
              <a:spcBef>
                <a:spcPts val="1500"/>
              </a:spcBef>
              <a:spcAft>
                <a:spcPts val="0"/>
              </a:spcAft>
              <a:buNone/>
            </a:pPr>
            <a:r>
              <a:rPr lang="en">
                <a:solidFill>
                  <a:schemeClr val="dk1"/>
                </a:solidFill>
                <a:latin typeface="Roboto"/>
                <a:ea typeface="Roboto"/>
                <a:cs typeface="Roboto"/>
                <a:sym typeface="Roboto"/>
              </a:rPr>
              <a:t>Backup Slides (1 slide)</a:t>
            </a:r>
            <a:endParaRPr>
              <a:solidFill>
                <a:schemeClr val="dk1"/>
              </a:solidFill>
              <a:latin typeface="Roboto"/>
              <a:ea typeface="Roboto"/>
              <a:cs typeface="Roboto"/>
              <a:sym typeface="Roboto"/>
            </a:endParaRPr>
          </a:p>
          <a:p>
            <a:pPr marL="457200" lvl="0" indent="-228600" algn="l" rtl="0">
              <a:lnSpc>
                <a:spcPct val="115000"/>
              </a:lnSpc>
              <a:spcBef>
                <a:spcPts val="1500"/>
              </a:spcBef>
              <a:spcAft>
                <a:spcPts val="0"/>
              </a:spcAft>
              <a:buClr>
                <a:schemeClr val="dk1"/>
              </a:buClr>
              <a:buSzPts val="1100"/>
              <a:buFont typeface="Roboto"/>
              <a:buNone/>
            </a:pPr>
            <a:r>
              <a:rPr lang="en">
                <a:solidFill>
                  <a:schemeClr val="dk1"/>
                </a:solidFill>
                <a:latin typeface="Roboto"/>
                <a:ea typeface="Roboto"/>
                <a:cs typeface="Roboto"/>
                <a:sym typeface="Roboto"/>
              </a:rPr>
              <a:t>a. Project Evaluation Criteria</a:t>
            </a:r>
            <a:endParaRPr>
              <a:solidFill>
                <a:schemeClr val="dk1"/>
              </a:solidFill>
              <a:latin typeface="Roboto"/>
              <a:ea typeface="Roboto"/>
              <a:cs typeface="Roboto"/>
              <a:sym typeface="Roboto"/>
            </a:endParaRPr>
          </a:p>
          <a:p>
            <a:pPr marL="0" lvl="0" indent="0" algn="l" rtl="0">
              <a:lnSpc>
                <a:spcPct val="175000"/>
              </a:lnSpc>
              <a:spcBef>
                <a:spcPts val="1500"/>
              </a:spcBef>
              <a:spcAft>
                <a:spcPts val="0"/>
              </a:spcAft>
              <a:buClr>
                <a:schemeClr val="dk1"/>
              </a:buClr>
              <a:buSzPts val="1100"/>
              <a:buFont typeface="Arial"/>
              <a:buNone/>
            </a:pPr>
            <a:r>
              <a:rPr lang="en">
                <a:solidFill>
                  <a:schemeClr val="dk1"/>
                </a:solidFill>
                <a:latin typeface="Roboto"/>
                <a:ea typeface="Roboto"/>
                <a:cs typeface="Roboto"/>
                <a:sym typeface="Roboto"/>
              </a:rPr>
              <a:t>Meeting Agenda Slide Details:</a:t>
            </a:r>
            <a:endParaRPr>
              <a:solidFill>
                <a:schemeClr val="dk1"/>
              </a:solidFill>
              <a:latin typeface="Roboto"/>
              <a:ea typeface="Roboto"/>
              <a:cs typeface="Roboto"/>
              <a:sym typeface="Roboto"/>
            </a:endParaRPr>
          </a:p>
          <a:p>
            <a:pPr marL="0" lvl="0" indent="0" algn="l" rtl="0">
              <a:lnSpc>
                <a:spcPct val="175000"/>
              </a:lnSpc>
              <a:spcBef>
                <a:spcPts val="1500"/>
              </a:spcBef>
              <a:spcAft>
                <a:spcPts val="0"/>
              </a:spcAft>
              <a:buClr>
                <a:schemeClr val="dk1"/>
              </a:buClr>
              <a:buSzPts val="1100"/>
              <a:buFont typeface="Arial"/>
              <a:buNone/>
            </a:pPr>
            <a:r>
              <a:rPr lang="en">
                <a:solidFill>
                  <a:schemeClr val="dk1"/>
                </a:solidFill>
                <a:latin typeface="Roboto"/>
                <a:ea typeface="Roboto"/>
                <a:cs typeface="Roboto"/>
                <a:sym typeface="Roboto"/>
              </a:rPr>
              <a:t>Slide 1: Introduction</a:t>
            </a:r>
            <a:endParaRPr>
              <a:solidFill>
                <a:schemeClr val="dk1"/>
              </a:solidFill>
              <a:latin typeface="Roboto"/>
              <a:ea typeface="Roboto"/>
              <a:cs typeface="Roboto"/>
              <a:sym typeface="Roboto"/>
            </a:endParaRPr>
          </a:p>
          <a:p>
            <a:pPr marL="457200" lvl="0" indent="-298450" algn="l" rtl="0">
              <a:lnSpc>
                <a:spcPct val="115000"/>
              </a:lnSpc>
              <a:spcBef>
                <a:spcPts val="1500"/>
              </a:spcBef>
              <a:spcAft>
                <a:spcPts val="0"/>
              </a:spcAft>
              <a:buClr>
                <a:schemeClr val="dk1"/>
              </a:buClr>
              <a:buSzPts val="1100"/>
              <a:buFont typeface="Roboto"/>
              <a:buChar char="●"/>
            </a:pPr>
            <a:r>
              <a:rPr lang="en">
                <a:solidFill>
                  <a:schemeClr val="dk1"/>
                </a:solidFill>
                <a:latin typeface="Roboto"/>
                <a:ea typeface="Roboto"/>
                <a:cs typeface="Roboto"/>
                <a:sym typeface="Roboto"/>
              </a:rPr>
              <a:t>Slide 1: Title: "Introduction"</a:t>
            </a:r>
            <a:endParaRPr>
              <a:solidFill>
                <a:schemeClr val="dk1"/>
              </a:solidFill>
              <a:latin typeface="Roboto"/>
              <a:ea typeface="Roboto"/>
              <a:cs typeface="Roboto"/>
              <a:sym typeface="Roboto"/>
            </a:endParaRPr>
          </a:p>
          <a:p>
            <a:pPr marL="457200" lvl="0" indent="-298450" algn="l" rtl="0">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Briefly mention the previous presentation and its purpose.</a:t>
            </a:r>
            <a:endParaRPr>
              <a:solidFill>
                <a:schemeClr val="dk1"/>
              </a:solidFill>
              <a:latin typeface="Roboto"/>
              <a:ea typeface="Roboto"/>
              <a:cs typeface="Roboto"/>
              <a:sym typeface="Roboto"/>
            </a:endParaRPr>
          </a:p>
          <a:p>
            <a:pPr marL="457200" lvl="0" indent="-298450" algn="l" rtl="0">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Slide 2: Title: "Today's Update"</a:t>
            </a:r>
            <a:endParaRPr>
              <a:solidFill>
                <a:schemeClr val="dk1"/>
              </a:solidFill>
              <a:latin typeface="Roboto"/>
              <a:ea typeface="Roboto"/>
              <a:cs typeface="Roboto"/>
              <a:sym typeface="Roboto"/>
            </a:endParaRPr>
          </a:p>
          <a:p>
            <a:pPr marL="457200" lvl="0" indent="-298450" algn="l" rtl="0">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Highlight the focus of today's presentation.</a:t>
            </a:r>
            <a:endParaRPr>
              <a:solidFill>
                <a:schemeClr val="dk1"/>
              </a:solidFill>
              <a:latin typeface="Roboto"/>
              <a:ea typeface="Roboto"/>
              <a:cs typeface="Roboto"/>
              <a:sym typeface="Roboto"/>
            </a:endParaRPr>
          </a:p>
          <a:p>
            <a:pPr marL="0" lvl="0" indent="0" algn="l" rtl="0">
              <a:lnSpc>
                <a:spcPct val="175000"/>
              </a:lnSpc>
              <a:spcBef>
                <a:spcPts val="1500"/>
              </a:spcBef>
              <a:spcAft>
                <a:spcPts val="0"/>
              </a:spcAft>
              <a:buClr>
                <a:schemeClr val="dk1"/>
              </a:buClr>
              <a:buSzPts val="1100"/>
              <a:buFont typeface="Arial"/>
              <a:buNone/>
            </a:pPr>
            <a:r>
              <a:rPr lang="en">
                <a:solidFill>
                  <a:schemeClr val="dk1"/>
                </a:solidFill>
                <a:latin typeface="Roboto"/>
                <a:ea typeface="Roboto"/>
                <a:cs typeface="Roboto"/>
                <a:sym typeface="Roboto"/>
              </a:rPr>
              <a:t>Slide 2: Program Overview</a:t>
            </a:r>
            <a:endParaRPr>
              <a:solidFill>
                <a:schemeClr val="dk1"/>
              </a:solidFill>
              <a:latin typeface="Roboto"/>
              <a:ea typeface="Roboto"/>
              <a:cs typeface="Roboto"/>
              <a:sym typeface="Roboto"/>
            </a:endParaRPr>
          </a:p>
          <a:p>
            <a:pPr marL="457200" lvl="0" indent="-298450" algn="l" rtl="0">
              <a:lnSpc>
                <a:spcPct val="115000"/>
              </a:lnSpc>
              <a:spcBef>
                <a:spcPts val="1500"/>
              </a:spcBef>
              <a:spcAft>
                <a:spcPts val="0"/>
              </a:spcAft>
              <a:buClr>
                <a:schemeClr val="dk1"/>
              </a:buClr>
              <a:buSzPts val="1100"/>
              <a:buFont typeface="Roboto"/>
              <a:buChar char="●"/>
            </a:pPr>
            <a:r>
              <a:rPr lang="en">
                <a:solidFill>
                  <a:schemeClr val="dk1"/>
                </a:solidFill>
                <a:latin typeface="Roboto"/>
                <a:ea typeface="Roboto"/>
                <a:cs typeface="Roboto"/>
                <a:sym typeface="Roboto"/>
              </a:rPr>
              <a:t>Slide 3: Title: "Innovation Hub Program"</a:t>
            </a:r>
            <a:endParaRPr>
              <a:solidFill>
                <a:schemeClr val="dk1"/>
              </a:solidFill>
              <a:latin typeface="Roboto"/>
              <a:ea typeface="Roboto"/>
              <a:cs typeface="Roboto"/>
              <a:sym typeface="Roboto"/>
            </a:endParaRPr>
          </a:p>
          <a:p>
            <a:pPr marL="457200" lvl="0" indent="-298450" algn="l" rtl="0">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Briefly introduce the Innovation Hub Program.</a:t>
            </a:r>
            <a:endParaRPr>
              <a:solidFill>
                <a:schemeClr val="dk1"/>
              </a:solidFill>
              <a:latin typeface="Roboto"/>
              <a:ea typeface="Roboto"/>
              <a:cs typeface="Roboto"/>
              <a:sym typeface="Roboto"/>
            </a:endParaRPr>
          </a:p>
          <a:p>
            <a:pPr marL="457200" lvl="0" indent="-298450" algn="l" rtl="0">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Slide 4: Title: "Program Design"</a:t>
            </a:r>
            <a:endParaRPr>
              <a:solidFill>
                <a:schemeClr val="dk1"/>
              </a:solidFill>
              <a:latin typeface="Roboto"/>
              <a:ea typeface="Roboto"/>
              <a:cs typeface="Roboto"/>
              <a:sym typeface="Roboto"/>
            </a:endParaRPr>
          </a:p>
          <a:p>
            <a:pPr marL="457200" lvl="0" indent="-298450" algn="l" rtl="0">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Highlight key elements of the program's design.</a:t>
            </a:r>
            <a:endParaRPr>
              <a:solidFill>
                <a:schemeClr val="dk1"/>
              </a:solidFill>
              <a:latin typeface="Roboto"/>
              <a:ea typeface="Roboto"/>
              <a:cs typeface="Roboto"/>
              <a:sym typeface="Roboto"/>
            </a:endParaRPr>
          </a:p>
          <a:p>
            <a:pPr marL="457200" lvl="0" indent="-298450" algn="l" rtl="0">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Slide 5: Title: "Execution Model"</a:t>
            </a:r>
            <a:endParaRPr>
              <a:solidFill>
                <a:schemeClr val="dk1"/>
              </a:solidFill>
              <a:latin typeface="Roboto"/>
              <a:ea typeface="Roboto"/>
              <a:cs typeface="Roboto"/>
              <a:sym typeface="Roboto"/>
            </a:endParaRPr>
          </a:p>
          <a:p>
            <a:pPr marL="457200" lvl="0" indent="-298450" algn="l" rtl="0">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Explain the execution model and mention phase gates.</a:t>
            </a:r>
            <a:endParaRPr>
              <a:solidFill>
                <a:schemeClr val="dk1"/>
              </a:solidFill>
              <a:latin typeface="Roboto"/>
              <a:ea typeface="Roboto"/>
              <a:cs typeface="Roboto"/>
              <a:sym typeface="Roboto"/>
            </a:endParaRPr>
          </a:p>
          <a:p>
            <a:pPr marL="0" lvl="0" indent="0" algn="l" rtl="0">
              <a:lnSpc>
                <a:spcPct val="175000"/>
              </a:lnSpc>
              <a:spcBef>
                <a:spcPts val="1500"/>
              </a:spcBef>
              <a:spcAft>
                <a:spcPts val="0"/>
              </a:spcAft>
              <a:buClr>
                <a:schemeClr val="dk1"/>
              </a:buClr>
              <a:buSzPts val="1100"/>
              <a:buFont typeface="Arial"/>
              <a:buNone/>
            </a:pPr>
            <a:r>
              <a:rPr lang="en">
                <a:solidFill>
                  <a:schemeClr val="dk1"/>
                </a:solidFill>
                <a:latin typeface="Roboto"/>
                <a:ea typeface="Roboto"/>
                <a:cs typeface="Roboto"/>
                <a:sym typeface="Roboto"/>
              </a:rPr>
              <a:t>Slide 3: Project Placement Simulation</a:t>
            </a:r>
            <a:endParaRPr>
              <a:solidFill>
                <a:schemeClr val="dk1"/>
              </a:solidFill>
              <a:latin typeface="Roboto"/>
              <a:ea typeface="Roboto"/>
              <a:cs typeface="Roboto"/>
              <a:sym typeface="Roboto"/>
            </a:endParaRPr>
          </a:p>
          <a:p>
            <a:pPr marL="457200" lvl="0" indent="-298450" algn="l" rtl="0">
              <a:lnSpc>
                <a:spcPct val="115000"/>
              </a:lnSpc>
              <a:spcBef>
                <a:spcPts val="1500"/>
              </a:spcBef>
              <a:spcAft>
                <a:spcPts val="0"/>
              </a:spcAft>
              <a:buClr>
                <a:schemeClr val="dk1"/>
              </a:buClr>
              <a:buSzPts val="1100"/>
              <a:buFont typeface="Roboto"/>
              <a:buChar char="●"/>
            </a:pPr>
            <a:r>
              <a:rPr lang="en">
                <a:solidFill>
                  <a:schemeClr val="dk1"/>
                </a:solidFill>
                <a:latin typeface="Roboto"/>
                <a:ea typeface="Roboto"/>
                <a:cs typeface="Roboto"/>
                <a:sym typeface="Roboto"/>
              </a:rPr>
              <a:t>Slide 6: Title: "Sponsor Projects Selection"</a:t>
            </a:r>
            <a:endParaRPr>
              <a:solidFill>
                <a:schemeClr val="dk1"/>
              </a:solidFill>
              <a:latin typeface="Roboto"/>
              <a:ea typeface="Roboto"/>
              <a:cs typeface="Roboto"/>
              <a:sym typeface="Roboto"/>
            </a:endParaRPr>
          </a:p>
          <a:p>
            <a:pPr marL="457200" lvl="0" indent="-298450" algn="l" rtl="0">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Explain the selection of three sponsor projects for the simulation.</a:t>
            </a:r>
            <a:endParaRPr>
              <a:solidFill>
                <a:schemeClr val="dk1"/>
              </a:solidFill>
              <a:latin typeface="Roboto"/>
              <a:ea typeface="Roboto"/>
              <a:cs typeface="Roboto"/>
              <a:sym typeface="Roboto"/>
            </a:endParaRPr>
          </a:p>
          <a:p>
            <a:pPr marL="457200" lvl="0" indent="-298450" algn="l" rtl="0">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Slide 7: Title: "Maturity Model &amp; Governance"</a:t>
            </a:r>
            <a:endParaRPr>
              <a:solidFill>
                <a:schemeClr val="dk1"/>
              </a:solidFill>
              <a:latin typeface="Roboto"/>
              <a:ea typeface="Roboto"/>
              <a:cs typeface="Roboto"/>
              <a:sym typeface="Roboto"/>
            </a:endParaRPr>
          </a:p>
          <a:p>
            <a:pPr marL="457200" lvl="0" indent="-298450" algn="l" rtl="0">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Display a visual representation of project placement on the maturity model and governance structure.</a:t>
            </a:r>
            <a:endParaRPr>
              <a:solidFill>
                <a:schemeClr val="dk1"/>
              </a:solidFill>
              <a:latin typeface="Roboto"/>
              <a:ea typeface="Roboto"/>
              <a:cs typeface="Roboto"/>
              <a:sym typeface="Roboto"/>
            </a:endParaRPr>
          </a:p>
          <a:p>
            <a:pPr marL="0" lvl="0" indent="0" algn="l" rtl="0">
              <a:lnSpc>
                <a:spcPct val="175000"/>
              </a:lnSpc>
              <a:spcBef>
                <a:spcPts val="1500"/>
              </a:spcBef>
              <a:spcAft>
                <a:spcPts val="0"/>
              </a:spcAft>
              <a:buClr>
                <a:schemeClr val="dk1"/>
              </a:buClr>
              <a:buSzPts val="1100"/>
              <a:buFont typeface="Arial"/>
              <a:buNone/>
            </a:pPr>
            <a:r>
              <a:rPr lang="en">
                <a:solidFill>
                  <a:schemeClr val="dk1"/>
                </a:solidFill>
                <a:latin typeface="Roboto"/>
                <a:ea typeface="Roboto"/>
                <a:cs typeface="Roboto"/>
                <a:sym typeface="Roboto"/>
              </a:rPr>
              <a:t>Slide 4: Project Pitch Simulation</a:t>
            </a:r>
            <a:endParaRPr>
              <a:solidFill>
                <a:schemeClr val="dk1"/>
              </a:solidFill>
              <a:latin typeface="Roboto"/>
              <a:ea typeface="Roboto"/>
              <a:cs typeface="Roboto"/>
              <a:sym typeface="Roboto"/>
            </a:endParaRPr>
          </a:p>
          <a:p>
            <a:pPr marL="457200" lvl="0" indent="-298450" algn="l" rtl="0">
              <a:lnSpc>
                <a:spcPct val="115000"/>
              </a:lnSpc>
              <a:spcBef>
                <a:spcPts val="1500"/>
              </a:spcBef>
              <a:spcAft>
                <a:spcPts val="0"/>
              </a:spcAft>
              <a:buClr>
                <a:schemeClr val="dk1"/>
              </a:buClr>
              <a:buSzPts val="1100"/>
              <a:buFont typeface="Roboto"/>
              <a:buChar char="●"/>
            </a:pPr>
            <a:r>
              <a:rPr lang="en">
                <a:solidFill>
                  <a:schemeClr val="dk1"/>
                </a:solidFill>
                <a:latin typeface="Roboto"/>
                <a:ea typeface="Roboto"/>
                <a:cs typeface="Roboto"/>
                <a:sym typeface="Roboto"/>
              </a:rPr>
              <a:t>Slide 8: Title: "Multimodal AI Project"</a:t>
            </a:r>
            <a:endParaRPr>
              <a:solidFill>
                <a:schemeClr val="dk1"/>
              </a:solidFill>
              <a:latin typeface="Roboto"/>
              <a:ea typeface="Roboto"/>
              <a:cs typeface="Roboto"/>
              <a:sym typeface="Roboto"/>
            </a:endParaRPr>
          </a:p>
          <a:p>
            <a:pPr marL="457200" lvl="0" indent="-298450" algn="l" rtl="0">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Introduce the Multimodal AI project.</a:t>
            </a:r>
            <a:endParaRPr>
              <a:solidFill>
                <a:schemeClr val="dk1"/>
              </a:solidFill>
              <a:latin typeface="Roboto"/>
              <a:ea typeface="Roboto"/>
              <a:cs typeface="Roboto"/>
              <a:sym typeface="Roboto"/>
            </a:endParaRPr>
          </a:p>
          <a:p>
            <a:pPr marL="457200" lvl="0" indent="-298450" algn="l" rtl="0">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Slide 9: Title: "Business &amp; Technological Value"</a:t>
            </a:r>
            <a:endParaRPr>
              <a:solidFill>
                <a:schemeClr val="dk1"/>
              </a:solidFill>
              <a:latin typeface="Roboto"/>
              <a:ea typeface="Roboto"/>
              <a:cs typeface="Roboto"/>
              <a:sym typeface="Roboto"/>
            </a:endParaRPr>
          </a:p>
          <a:p>
            <a:pPr marL="457200" lvl="0" indent="-298450" algn="l" rtl="0">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Present the business and technological value of the project.</a:t>
            </a:r>
            <a:endParaRPr>
              <a:solidFill>
                <a:schemeClr val="dk1"/>
              </a:solidFill>
              <a:latin typeface="Roboto"/>
              <a:ea typeface="Roboto"/>
              <a:cs typeface="Roboto"/>
              <a:sym typeface="Roboto"/>
            </a:endParaRPr>
          </a:p>
          <a:p>
            <a:pPr marL="457200" lvl="0" indent="-298450" algn="l" rtl="0">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Slide 10: Title: "Funding Request"</a:t>
            </a:r>
            <a:endParaRPr>
              <a:solidFill>
                <a:schemeClr val="dk1"/>
              </a:solidFill>
              <a:latin typeface="Roboto"/>
              <a:ea typeface="Roboto"/>
              <a:cs typeface="Roboto"/>
              <a:sym typeface="Roboto"/>
            </a:endParaRPr>
          </a:p>
          <a:p>
            <a:pPr marL="457200" lvl="0" indent="-298450" algn="l" rtl="0">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Outline the project's request for funding.</a:t>
            </a:r>
            <a:endParaRPr>
              <a:solidFill>
                <a:schemeClr val="dk1"/>
              </a:solidFill>
              <a:latin typeface="Roboto"/>
              <a:ea typeface="Roboto"/>
              <a:cs typeface="Roboto"/>
              <a:sym typeface="Roboto"/>
            </a:endParaRPr>
          </a:p>
          <a:p>
            <a:pPr marL="0" lvl="0" indent="0" algn="l" rtl="0">
              <a:lnSpc>
                <a:spcPct val="175000"/>
              </a:lnSpc>
              <a:spcBef>
                <a:spcPts val="1500"/>
              </a:spcBef>
              <a:spcAft>
                <a:spcPts val="0"/>
              </a:spcAft>
              <a:buClr>
                <a:schemeClr val="dk1"/>
              </a:buClr>
              <a:buSzPts val="1100"/>
              <a:buFont typeface="Arial"/>
              <a:buNone/>
            </a:pPr>
            <a:r>
              <a:rPr lang="en">
                <a:solidFill>
                  <a:schemeClr val="dk1"/>
                </a:solidFill>
                <a:latin typeface="Roboto"/>
                <a:ea typeface="Roboto"/>
                <a:cs typeface="Roboto"/>
                <a:sym typeface="Roboto"/>
              </a:rPr>
              <a:t>Slide 5: Backup Slides</a:t>
            </a:r>
            <a:endParaRPr>
              <a:solidFill>
                <a:schemeClr val="dk1"/>
              </a:solidFill>
              <a:latin typeface="Roboto"/>
              <a:ea typeface="Roboto"/>
              <a:cs typeface="Roboto"/>
              <a:sym typeface="Roboto"/>
            </a:endParaRPr>
          </a:p>
          <a:p>
            <a:pPr marL="457200" lvl="0" indent="-298450" algn="l" rtl="0">
              <a:lnSpc>
                <a:spcPct val="115000"/>
              </a:lnSpc>
              <a:spcBef>
                <a:spcPts val="1500"/>
              </a:spcBef>
              <a:spcAft>
                <a:spcPts val="0"/>
              </a:spcAft>
              <a:buClr>
                <a:schemeClr val="dk1"/>
              </a:buClr>
              <a:buSzPts val="1100"/>
              <a:buFont typeface="Roboto"/>
              <a:buChar char="●"/>
            </a:pPr>
            <a:r>
              <a:rPr lang="en">
                <a:solidFill>
                  <a:schemeClr val="dk1"/>
                </a:solidFill>
                <a:latin typeface="Roboto"/>
                <a:ea typeface="Roboto"/>
                <a:cs typeface="Roboto"/>
                <a:sym typeface="Roboto"/>
              </a:rPr>
              <a:t>Slide 11: Title: "Project Evaluation Criteria"</a:t>
            </a:r>
            <a:endParaRPr>
              <a:solidFill>
                <a:schemeClr val="dk1"/>
              </a:solidFill>
              <a:latin typeface="Roboto"/>
              <a:ea typeface="Roboto"/>
              <a:cs typeface="Roboto"/>
              <a:sym typeface="Roboto"/>
            </a:endParaRPr>
          </a:p>
          <a:p>
            <a:pPr marL="457200" lvl="0" indent="-298450" algn="l" rtl="0">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Mention the criteria used for project evaluation as backup slides.</a:t>
            </a:r>
            <a:endParaRPr>
              <a:solidFill>
                <a:schemeClr val="dk1"/>
              </a:solidFill>
              <a:latin typeface="Roboto"/>
              <a:ea typeface="Roboto"/>
              <a:cs typeface="Roboto"/>
              <a:sym typeface="Roboto"/>
            </a:endParaRPr>
          </a:p>
          <a:p>
            <a:pPr marL="0" lvl="0" indent="0" algn="l" rtl="0">
              <a:lnSpc>
                <a:spcPct val="175000"/>
              </a:lnSpc>
              <a:spcBef>
                <a:spcPts val="1500"/>
              </a:spcBef>
              <a:spcAft>
                <a:spcPts val="0"/>
              </a:spcAft>
              <a:buClr>
                <a:schemeClr val="dk1"/>
              </a:buClr>
              <a:buSzPts val="1100"/>
              <a:buFont typeface="Arial"/>
              <a:buNone/>
            </a:pPr>
            <a:r>
              <a:rPr lang="en">
                <a:solidFill>
                  <a:schemeClr val="dk1"/>
                </a:solidFill>
                <a:latin typeface="Roboto"/>
                <a:ea typeface="Roboto"/>
                <a:cs typeface="Roboto"/>
                <a:sym typeface="Roboto"/>
              </a:rPr>
              <a:t>Remember to use visuals, charts, and minimal text to convey the key points effectively during the presentation. Keep the slides concise and visually engaging to maintain the audience's interest and understanding.</a:t>
            </a:r>
            <a:endParaRPr>
              <a:solidFill>
                <a:schemeClr val="dk1"/>
              </a:solidFill>
              <a:latin typeface="Roboto"/>
              <a:ea typeface="Roboto"/>
              <a:cs typeface="Roboto"/>
              <a:sym typeface="Roboto"/>
            </a:endParaRPr>
          </a:p>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aba290fb63_1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g2aba290fb63_1_1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ab7db7ad62_3_90: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157" name="Google Shape;157;g2ab7db7ad62_3_90: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 sz="1200" b="0" i="0" u="none" strike="noStrike" cap="none">
                <a:solidFill>
                  <a:schemeClr val="dk1"/>
                </a:solidFill>
                <a:latin typeface="Calibri"/>
                <a:ea typeface="Calibri"/>
                <a:cs typeface="Calibri"/>
                <a:sym typeface="Calibri"/>
              </a:rPr>
              <a:t>1.7.2013</a:t>
            </a:r>
            <a:endParaRPr/>
          </a:p>
        </p:txBody>
      </p:sp>
      <p:sp>
        <p:nvSpPr>
          <p:cNvPr id="158" name="Google Shape;158;g2ab7db7ad62_3_90: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g2ab7db7ad62_3_90: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g2ab7db7ad62_3_90: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161" name="Google Shape;161;g2ab7db7ad62_3_90: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2acc523f483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g2acc523f483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ab7db7ad62_3_3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g2ab7db7ad62_3_3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9" name="Google Shape;189;g2ab7db7ad62_3_3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2ab7db7ad62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t>
            </a:r>
            <a:endParaRPr dirty="0"/>
          </a:p>
        </p:txBody>
      </p:sp>
      <p:sp>
        <p:nvSpPr>
          <p:cNvPr id="201" name="Google Shape;201;g2ab7db7ad62_1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2acc523f483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2acc523f483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2aba989396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9" name="Google Shape;299;g2aba9893968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2ab7db7ad62_3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1" name="Google Shape;381;g2ab7db7ad62_3_2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264f7123234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4" name="Google Shape;394;g264f7123234_0_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64f712323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2" name="Google Shape;402;g264f7123234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2acc523f483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8" name="Google Shape;408;g2acc523f483_0_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acc523f483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1" name="Google Shape;421;g2acc523f483_0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2aba2910f9b_0_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4" name="Google Shape;434;g2aba2910f9b_0_2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2acc523f483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2acc523f483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aba2910f9b_0_7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4" name="Google Shape;454;g2aba2910f9b_0_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2ac02bd595e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5" name="Google Shape;475;g2ac02bd595e_0_1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2acc523f483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2" name="Google Shape;482;g2acc523f483_0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2aba2910f9b_0_2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2aba2910f9b_0_2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2ab7db7ad62_3_542:notes"/>
          <p:cNvSpPr>
            <a:spLocks noGrp="1" noRot="1" noChangeAspect="1"/>
          </p:cNvSpPr>
          <p:nvPr>
            <p:ph type="sldImg" idx="2"/>
          </p:nvPr>
        </p:nvSpPr>
        <p:spPr>
          <a:xfrm>
            <a:off x="2290763" y="512763"/>
            <a:ext cx="4562400" cy="2567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6" name="Google Shape;496;g2ab7db7ad62_3_5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000">
              <a:solidFill>
                <a:srgbClr val="003A74"/>
              </a:solidFill>
              <a:latin typeface="Open Sans"/>
              <a:ea typeface="Open Sans"/>
              <a:cs typeface="Open Sans"/>
              <a:sym typeface="Open Sans"/>
            </a:endParaRPr>
          </a:p>
        </p:txBody>
      </p:sp>
      <p:sp>
        <p:nvSpPr>
          <p:cNvPr id="497" name="Google Shape;497;g2ab7db7ad62_3_5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 sz="1200" b="0" i="0" u="none" strike="noStrike" cap="none">
                <a:solidFill>
                  <a:srgbClr val="000000"/>
                </a:solidFill>
                <a:latin typeface="Calibri"/>
                <a:ea typeface="Calibri"/>
                <a:cs typeface="Calibri"/>
                <a:sym typeface="Calibri"/>
              </a:rPr>
              <a:t>20</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2ab7db7ad62_3_557: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2ab7db7ad62_3_5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2000">
              <a:solidFill>
                <a:srgbClr val="003A74"/>
              </a:solidFill>
              <a:latin typeface="Open Sans"/>
              <a:ea typeface="Open Sans"/>
              <a:cs typeface="Open Sans"/>
              <a:sym typeface="Open Sans"/>
            </a:endParaRPr>
          </a:p>
        </p:txBody>
      </p:sp>
      <p:sp>
        <p:nvSpPr>
          <p:cNvPr id="504" name="Google Shape;504;g2ab7db7ad62_3_55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 sz="1200" b="0" i="0" u="none" strike="noStrike" cap="none">
                <a:solidFill>
                  <a:srgbClr val="000000"/>
                </a:solidFill>
                <a:latin typeface="Calibri"/>
                <a:ea typeface="Calibri"/>
                <a:cs typeface="Calibri"/>
                <a:sym typeface="Calibri"/>
              </a:rPr>
              <a:t>21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g2ab7db7ad62_3_58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0" name="Google Shape;510;g2ab7db7ad62_3_5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_Title Only">
  <p:cSld name="2_Title Only">
    <p:spTree>
      <p:nvGrpSpPr>
        <p:cNvPr id="1" name="Shape 50"/>
        <p:cNvGrpSpPr/>
        <p:nvPr/>
      </p:nvGrpSpPr>
      <p:grpSpPr>
        <a:xfrm>
          <a:off x="0" y="0"/>
          <a:ext cx="0" cy="0"/>
          <a:chOff x="0" y="0"/>
          <a:chExt cx="0" cy="0"/>
        </a:xfrm>
      </p:grpSpPr>
      <p:sp>
        <p:nvSpPr>
          <p:cNvPr id="51" name="Google Shape;51;p13"/>
          <p:cNvSpPr txBox="1">
            <a:spLocks noGrp="1"/>
          </p:cNvSpPr>
          <p:nvPr>
            <p:ph type="dt" idx="10"/>
          </p:nvPr>
        </p:nvSpPr>
        <p:spPr>
          <a:xfrm>
            <a:off x="125017" y="5008630"/>
            <a:ext cx="742800" cy="960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2" name="Google Shape;52;p13"/>
          <p:cNvSpPr txBox="1">
            <a:spLocks noGrp="1"/>
          </p:cNvSpPr>
          <p:nvPr>
            <p:ph type="ftr" idx="11"/>
          </p:nvPr>
        </p:nvSpPr>
        <p:spPr>
          <a:xfrm>
            <a:off x="3028950" y="5008630"/>
            <a:ext cx="3086100" cy="960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3" name="Google Shape;53;p13"/>
          <p:cNvSpPr txBox="1">
            <a:spLocks noGrp="1"/>
          </p:cNvSpPr>
          <p:nvPr>
            <p:ph type="sldNum" idx="12"/>
          </p:nvPr>
        </p:nvSpPr>
        <p:spPr>
          <a:xfrm>
            <a:off x="8851474" y="4983371"/>
            <a:ext cx="282600" cy="146400"/>
          </a:xfrm>
          <a:prstGeom prst="rect">
            <a:avLst/>
          </a:prstGeom>
          <a:noFill/>
          <a:ln>
            <a:noFill/>
          </a:ln>
        </p:spPr>
        <p:txBody>
          <a:bodyPr spcFirstLastPara="1" wrap="square" lIns="68575" tIns="34275" rIns="68575" bIns="34275" anchor="ctr" anchorCtr="0">
            <a:normAutofit fontScale="62500" lnSpcReduction="20000"/>
          </a:bodyPr>
          <a:lstStyle>
            <a:lvl1pPr marL="0" lvl="0" indent="0" algn="ctr" rtl="0">
              <a:spcBef>
                <a:spcPts val="0"/>
              </a:spcBef>
              <a:buNone/>
              <a:defRPr/>
            </a:lvl1pPr>
            <a:lvl2pPr marL="0" lvl="1" indent="0" algn="ctr" rtl="0">
              <a:spcBef>
                <a:spcPts val="0"/>
              </a:spcBef>
              <a:buNone/>
              <a:defRPr/>
            </a:lvl2pPr>
            <a:lvl3pPr marL="0" lvl="2" indent="0" algn="ctr" rtl="0">
              <a:spcBef>
                <a:spcPts val="0"/>
              </a:spcBef>
              <a:buNone/>
              <a:defRPr/>
            </a:lvl3pPr>
            <a:lvl4pPr marL="0" lvl="3" indent="0" algn="ctr" rtl="0">
              <a:spcBef>
                <a:spcPts val="0"/>
              </a:spcBef>
              <a:buNone/>
              <a:defRPr/>
            </a:lvl4pPr>
            <a:lvl5pPr marL="0" lvl="4" indent="0" algn="ctr" rtl="0">
              <a:spcBef>
                <a:spcPts val="0"/>
              </a:spcBef>
              <a:buNone/>
              <a:defRPr/>
            </a:lvl5pPr>
            <a:lvl6pPr marL="0" lvl="5" indent="0" algn="ctr" rtl="0">
              <a:spcBef>
                <a:spcPts val="0"/>
              </a:spcBef>
              <a:buNone/>
              <a:defRPr/>
            </a:lvl6pPr>
            <a:lvl7pPr marL="0" lvl="6" indent="0" algn="ctr" rtl="0">
              <a:spcBef>
                <a:spcPts val="0"/>
              </a:spcBef>
              <a:buNone/>
              <a:defRPr/>
            </a:lvl7pPr>
            <a:lvl8pPr marL="0" lvl="7" indent="0" algn="ctr" rtl="0">
              <a:spcBef>
                <a:spcPts val="0"/>
              </a:spcBef>
              <a:buNone/>
              <a:defRPr/>
            </a:lvl8pPr>
            <a:lvl9pPr marL="0" lvl="8" indent="0" algn="ctr" rtl="0">
              <a:spcBef>
                <a:spcPts val="0"/>
              </a:spcBef>
              <a:buNone/>
              <a:defRPr/>
            </a:lvl9pPr>
          </a:lstStyle>
          <a:p>
            <a:pPr marL="0" lvl="0" indent="0" algn="ctr" rtl="0">
              <a:spcBef>
                <a:spcPts val="0"/>
              </a:spcBef>
              <a:spcAft>
                <a:spcPts val="0"/>
              </a:spcAft>
              <a:buNone/>
            </a:pPr>
            <a:fld id="{00000000-1234-1234-1234-123412341234}" type="slidenum">
              <a:rPr lang="en"/>
              <a:t>‹#›</a:t>
            </a:fld>
            <a:endParaRPr/>
          </a:p>
        </p:txBody>
      </p:sp>
      <p:sp>
        <p:nvSpPr>
          <p:cNvPr id="54" name="Google Shape;54;p13"/>
          <p:cNvSpPr txBox="1">
            <a:spLocks noGrp="1"/>
          </p:cNvSpPr>
          <p:nvPr>
            <p:ph type="body" idx="1"/>
          </p:nvPr>
        </p:nvSpPr>
        <p:spPr>
          <a:xfrm>
            <a:off x="113634" y="528797"/>
            <a:ext cx="8915400" cy="1155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rgbClr val="595959"/>
              </a:buClr>
              <a:buSzPts val="600"/>
              <a:buNone/>
              <a:defRPr sz="600">
                <a:solidFill>
                  <a:srgbClr val="595959"/>
                </a:solidFill>
              </a:defRPr>
            </a:lvl1pPr>
            <a:lvl2pPr marL="914400" lvl="1" indent="-317500" algn="l" rtl="0">
              <a:lnSpc>
                <a:spcPct val="100000"/>
              </a:lnSpc>
              <a:spcBef>
                <a:spcPts val="1200"/>
              </a:spcBef>
              <a:spcAft>
                <a:spcPts val="0"/>
              </a:spcAft>
              <a:buClr>
                <a:srgbClr val="3F3F3F"/>
              </a:buClr>
              <a:buSzPts val="1400"/>
              <a:buChar char="○"/>
              <a:defRPr/>
            </a:lvl2pPr>
            <a:lvl3pPr marL="1371600" lvl="2" indent="-317500" algn="l" rtl="0">
              <a:lnSpc>
                <a:spcPct val="100000"/>
              </a:lnSpc>
              <a:spcBef>
                <a:spcPts val="1200"/>
              </a:spcBef>
              <a:spcAft>
                <a:spcPts val="0"/>
              </a:spcAft>
              <a:buClr>
                <a:srgbClr val="3F3F3F"/>
              </a:buClr>
              <a:buSzPts val="1400"/>
              <a:buChar char="■"/>
              <a:defRPr/>
            </a:lvl3pPr>
            <a:lvl4pPr marL="1828800" lvl="3" indent="-317500" algn="l" rtl="0">
              <a:lnSpc>
                <a:spcPct val="100000"/>
              </a:lnSpc>
              <a:spcBef>
                <a:spcPts val="1200"/>
              </a:spcBef>
              <a:spcAft>
                <a:spcPts val="0"/>
              </a:spcAft>
              <a:buClr>
                <a:srgbClr val="3F3F3F"/>
              </a:buClr>
              <a:buSzPts val="1400"/>
              <a:buChar char="●"/>
              <a:defRPr/>
            </a:lvl4pPr>
            <a:lvl5pPr marL="2286000" lvl="4" indent="-317500" algn="l" rtl="0">
              <a:lnSpc>
                <a:spcPct val="100000"/>
              </a:lnSpc>
              <a:spcBef>
                <a:spcPts val="1200"/>
              </a:spcBef>
              <a:spcAft>
                <a:spcPts val="0"/>
              </a:spcAft>
              <a:buClr>
                <a:srgbClr val="3F3F3F"/>
              </a:buClr>
              <a:buSzPts val="1400"/>
              <a:buChar char="○"/>
              <a:defRPr/>
            </a:lvl5pPr>
            <a:lvl6pPr marL="2743200" lvl="5" indent="-317500" algn="l" rtl="0">
              <a:lnSpc>
                <a:spcPct val="90000"/>
              </a:lnSpc>
              <a:spcBef>
                <a:spcPts val="1200"/>
              </a:spcBef>
              <a:spcAft>
                <a:spcPts val="0"/>
              </a:spcAft>
              <a:buClr>
                <a:schemeClr val="dk1"/>
              </a:buClr>
              <a:buSzPts val="1400"/>
              <a:buChar char="■"/>
              <a:defRPr/>
            </a:lvl6pPr>
            <a:lvl7pPr marL="3200400" lvl="6" indent="-317500" algn="l" rtl="0">
              <a:lnSpc>
                <a:spcPct val="90000"/>
              </a:lnSpc>
              <a:spcBef>
                <a:spcPts val="1200"/>
              </a:spcBef>
              <a:spcAft>
                <a:spcPts val="0"/>
              </a:spcAft>
              <a:buClr>
                <a:schemeClr val="dk1"/>
              </a:buClr>
              <a:buSzPts val="1400"/>
              <a:buChar char="●"/>
              <a:defRPr/>
            </a:lvl7pPr>
            <a:lvl8pPr marL="3657600" lvl="7" indent="-317500" algn="l" rtl="0">
              <a:lnSpc>
                <a:spcPct val="90000"/>
              </a:lnSpc>
              <a:spcBef>
                <a:spcPts val="1200"/>
              </a:spcBef>
              <a:spcAft>
                <a:spcPts val="0"/>
              </a:spcAft>
              <a:buClr>
                <a:schemeClr val="dk1"/>
              </a:buClr>
              <a:buSzPts val="1400"/>
              <a:buChar char="○"/>
              <a:defRPr/>
            </a:lvl8pPr>
            <a:lvl9pPr marL="4114800" lvl="8" indent="-317500" algn="l" rtl="0">
              <a:lnSpc>
                <a:spcPct val="90000"/>
              </a:lnSpc>
              <a:spcBef>
                <a:spcPts val="1200"/>
              </a:spcBef>
              <a:spcAft>
                <a:spcPts val="1200"/>
              </a:spcAft>
              <a:buClr>
                <a:schemeClr val="dk1"/>
              </a:buClr>
              <a:buSzPts val="1400"/>
              <a:buChar char="■"/>
              <a:defRPr/>
            </a:lvl9pPr>
          </a:lstStyle>
          <a:p>
            <a:endParaRPr/>
          </a:p>
        </p:txBody>
      </p:sp>
      <p:sp>
        <p:nvSpPr>
          <p:cNvPr id="55" name="Google Shape;55;p13"/>
          <p:cNvSpPr txBox="1">
            <a:spLocks noGrp="1"/>
          </p:cNvSpPr>
          <p:nvPr>
            <p:ph type="title"/>
          </p:nvPr>
        </p:nvSpPr>
        <p:spPr>
          <a:xfrm>
            <a:off x="113634" y="121580"/>
            <a:ext cx="8916600" cy="396600"/>
          </a:xfrm>
          <a:prstGeom prst="rect">
            <a:avLst/>
          </a:prstGeom>
          <a:noFill/>
          <a:ln>
            <a:noFill/>
          </a:ln>
        </p:spPr>
        <p:txBody>
          <a:bodyPr spcFirstLastPara="1" wrap="square" lIns="68575" tIns="34275" rIns="68575" bIns="34275" anchor="ctr" anchorCtr="0">
            <a:noAutofit/>
          </a:bodyPr>
          <a:lstStyle>
            <a:lvl1pPr lvl="0" algn="l" rtl="0">
              <a:lnSpc>
                <a:spcPct val="100000"/>
              </a:lnSpc>
              <a:spcBef>
                <a:spcPts val="0"/>
              </a:spcBef>
              <a:spcAft>
                <a:spcPts val="0"/>
              </a:spcAft>
              <a:buClr>
                <a:srgbClr val="262626"/>
              </a:buClr>
              <a:buSzPts val="2400"/>
              <a:buFont typeface="Century Gothic"/>
              <a:buNone/>
              <a:defRPr>
                <a:solidFill>
                  <a:srgbClr val="262626"/>
                </a:solidFill>
                <a:latin typeface="Century Gothic"/>
                <a:ea typeface="Century Gothic"/>
                <a:cs typeface="Century Gothic"/>
                <a:sym typeface="Century Gothic"/>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6" name="Google Shape;56;p13"/>
          <p:cNvSpPr>
            <a:spLocks noGrp="1"/>
          </p:cNvSpPr>
          <p:nvPr>
            <p:ph type="pic" idx="2"/>
          </p:nvPr>
        </p:nvSpPr>
        <p:spPr>
          <a:xfrm>
            <a:off x="109538" y="728003"/>
            <a:ext cx="8921400" cy="118380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Lean Canvas">
  <p:cSld name="Lean Canvas">
    <p:spTree>
      <p:nvGrpSpPr>
        <p:cNvPr id="1" name="Shape 57"/>
        <p:cNvGrpSpPr/>
        <p:nvPr/>
      </p:nvGrpSpPr>
      <p:grpSpPr>
        <a:xfrm>
          <a:off x="0" y="0"/>
          <a:ext cx="0" cy="0"/>
          <a:chOff x="0" y="0"/>
          <a:chExt cx="0" cy="0"/>
        </a:xfrm>
      </p:grpSpPr>
      <p:sp>
        <p:nvSpPr>
          <p:cNvPr id="58" name="Google Shape;58;p14"/>
          <p:cNvSpPr txBox="1">
            <a:spLocks noGrp="1"/>
          </p:cNvSpPr>
          <p:nvPr>
            <p:ph type="body" idx="1"/>
          </p:nvPr>
        </p:nvSpPr>
        <p:spPr>
          <a:xfrm>
            <a:off x="285622" y="800100"/>
            <a:ext cx="1619400" cy="1147500"/>
          </a:xfrm>
          <a:prstGeom prst="rect">
            <a:avLst/>
          </a:prstGeom>
          <a:solidFill>
            <a:srgbClr val="FFFFFF"/>
          </a:solidFill>
          <a:ln>
            <a:noFill/>
          </a:ln>
        </p:spPr>
        <p:txBody>
          <a:bodyPr spcFirstLastPara="1" wrap="square" lIns="68575" tIns="34275" rIns="68575" bIns="34275" anchor="t" anchorCtr="0">
            <a:norm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1200"/>
              </a:spcBef>
              <a:spcAft>
                <a:spcPts val="120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59" name="Google Shape;59;p14"/>
          <p:cNvSpPr txBox="1">
            <a:spLocks noGrp="1"/>
          </p:cNvSpPr>
          <p:nvPr>
            <p:ph type="body" idx="2"/>
          </p:nvPr>
        </p:nvSpPr>
        <p:spPr>
          <a:xfrm>
            <a:off x="2017232" y="800100"/>
            <a:ext cx="1619400" cy="1147500"/>
          </a:xfrm>
          <a:prstGeom prst="rect">
            <a:avLst/>
          </a:prstGeom>
          <a:solidFill>
            <a:srgbClr val="FFFFFF"/>
          </a:solidFill>
          <a:ln>
            <a:noFill/>
          </a:ln>
        </p:spPr>
        <p:txBody>
          <a:bodyPr spcFirstLastPara="1" wrap="square" lIns="68575" tIns="34275" rIns="68575" bIns="34275" anchor="t" anchorCtr="0">
            <a:norm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1200"/>
              </a:spcBef>
              <a:spcAft>
                <a:spcPts val="120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60" name="Google Shape;60;p14"/>
          <p:cNvSpPr txBox="1">
            <a:spLocks noGrp="1"/>
          </p:cNvSpPr>
          <p:nvPr>
            <p:ph type="body" idx="3"/>
          </p:nvPr>
        </p:nvSpPr>
        <p:spPr>
          <a:xfrm>
            <a:off x="3754790" y="800100"/>
            <a:ext cx="1619400" cy="1147500"/>
          </a:xfrm>
          <a:prstGeom prst="rect">
            <a:avLst/>
          </a:prstGeom>
          <a:solidFill>
            <a:srgbClr val="FFFFFF"/>
          </a:solidFill>
          <a:ln>
            <a:noFill/>
          </a:ln>
        </p:spPr>
        <p:txBody>
          <a:bodyPr spcFirstLastPara="1" wrap="square" lIns="68575" tIns="34275" rIns="68575" bIns="34275" anchor="t" anchorCtr="0">
            <a:norm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1200"/>
              </a:spcBef>
              <a:spcAft>
                <a:spcPts val="120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61" name="Google Shape;61;p14"/>
          <p:cNvSpPr txBox="1">
            <a:spLocks noGrp="1"/>
          </p:cNvSpPr>
          <p:nvPr>
            <p:ph type="body" idx="4"/>
          </p:nvPr>
        </p:nvSpPr>
        <p:spPr>
          <a:xfrm>
            <a:off x="5490947" y="792050"/>
            <a:ext cx="1619400" cy="1147500"/>
          </a:xfrm>
          <a:prstGeom prst="rect">
            <a:avLst/>
          </a:prstGeom>
          <a:solidFill>
            <a:srgbClr val="FFFFFF"/>
          </a:solidFill>
          <a:ln>
            <a:noFill/>
          </a:ln>
        </p:spPr>
        <p:txBody>
          <a:bodyPr spcFirstLastPara="1" wrap="square" lIns="68575" tIns="34275" rIns="68575" bIns="34275" anchor="t" anchorCtr="0">
            <a:norm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1200"/>
              </a:spcBef>
              <a:spcAft>
                <a:spcPts val="120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62" name="Google Shape;62;p14"/>
          <p:cNvSpPr txBox="1">
            <a:spLocks noGrp="1"/>
          </p:cNvSpPr>
          <p:nvPr>
            <p:ph type="body" idx="5"/>
          </p:nvPr>
        </p:nvSpPr>
        <p:spPr>
          <a:xfrm>
            <a:off x="7233052" y="792050"/>
            <a:ext cx="1619400" cy="1147500"/>
          </a:xfrm>
          <a:prstGeom prst="rect">
            <a:avLst/>
          </a:prstGeom>
          <a:solidFill>
            <a:srgbClr val="FFFFFF"/>
          </a:solidFill>
          <a:ln>
            <a:noFill/>
          </a:ln>
        </p:spPr>
        <p:txBody>
          <a:bodyPr spcFirstLastPara="1" wrap="square" lIns="68575" tIns="34275" rIns="68575" bIns="34275" anchor="t" anchorCtr="0">
            <a:norm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1200"/>
              </a:spcBef>
              <a:spcAft>
                <a:spcPts val="120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63" name="Google Shape;63;p14"/>
          <p:cNvSpPr txBox="1">
            <a:spLocks noGrp="1"/>
          </p:cNvSpPr>
          <p:nvPr>
            <p:ph type="body" idx="6"/>
          </p:nvPr>
        </p:nvSpPr>
        <p:spPr>
          <a:xfrm>
            <a:off x="285622" y="2224350"/>
            <a:ext cx="1619400" cy="1147500"/>
          </a:xfrm>
          <a:prstGeom prst="rect">
            <a:avLst/>
          </a:prstGeom>
          <a:solidFill>
            <a:srgbClr val="FFFFFF"/>
          </a:solidFill>
          <a:ln>
            <a:noFill/>
          </a:ln>
        </p:spPr>
        <p:txBody>
          <a:bodyPr spcFirstLastPara="1" wrap="square" lIns="68575" tIns="34275" rIns="68575" bIns="34275" anchor="t" anchorCtr="0">
            <a:norm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1200"/>
              </a:spcBef>
              <a:spcAft>
                <a:spcPts val="120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64" name="Google Shape;64;p14"/>
          <p:cNvSpPr txBox="1">
            <a:spLocks noGrp="1"/>
          </p:cNvSpPr>
          <p:nvPr>
            <p:ph type="body" idx="7"/>
          </p:nvPr>
        </p:nvSpPr>
        <p:spPr>
          <a:xfrm>
            <a:off x="2027727" y="2224350"/>
            <a:ext cx="1619400" cy="1147500"/>
          </a:xfrm>
          <a:prstGeom prst="rect">
            <a:avLst/>
          </a:prstGeom>
          <a:solidFill>
            <a:srgbClr val="FFFFFF"/>
          </a:solidFill>
          <a:ln>
            <a:noFill/>
          </a:ln>
        </p:spPr>
        <p:txBody>
          <a:bodyPr spcFirstLastPara="1" wrap="square" lIns="68575" tIns="34275" rIns="68575" bIns="34275" anchor="t" anchorCtr="0">
            <a:norm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1200"/>
              </a:spcBef>
              <a:spcAft>
                <a:spcPts val="120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65" name="Google Shape;65;p14"/>
          <p:cNvSpPr txBox="1">
            <a:spLocks noGrp="1"/>
          </p:cNvSpPr>
          <p:nvPr>
            <p:ph type="body" idx="8"/>
          </p:nvPr>
        </p:nvSpPr>
        <p:spPr>
          <a:xfrm>
            <a:off x="3759337" y="2224350"/>
            <a:ext cx="1619400" cy="1147500"/>
          </a:xfrm>
          <a:prstGeom prst="rect">
            <a:avLst/>
          </a:prstGeom>
          <a:solidFill>
            <a:srgbClr val="FFFFFF"/>
          </a:solidFill>
          <a:ln>
            <a:noFill/>
          </a:ln>
        </p:spPr>
        <p:txBody>
          <a:bodyPr spcFirstLastPara="1" wrap="square" lIns="68575" tIns="34275" rIns="68575" bIns="34275" anchor="t" anchorCtr="0">
            <a:norm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1200"/>
              </a:spcBef>
              <a:spcAft>
                <a:spcPts val="120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66" name="Google Shape;66;p14"/>
          <p:cNvSpPr txBox="1">
            <a:spLocks noGrp="1"/>
          </p:cNvSpPr>
          <p:nvPr>
            <p:ph type="body" idx="9"/>
          </p:nvPr>
        </p:nvSpPr>
        <p:spPr>
          <a:xfrm>
            <a:off x="5494226" y="2224350"/>
            <a:ext cx="1619400" cy="1147500"/>
          </a:xfrm>
          <a:prstGeom prst="rect">
            <a:avLst/>
          </a:prstGeom>
          <a:solidFill>
            <a:srgbClr val="FFFFFF"/>
          </a:solidFill>
          <a:ln>
            <a:noFill/>
          </a:ln>
        </p:spPr>
        <p:txBody>
          <a:bodyPr spcFirstLastPara="1" wrap="square" lIns="68575" tIns="34275" rIns="68575" bIns="34275" anchor="t" anchorCtr="0">
            <a:norm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1200"/>
              </a:spcBef>
              <a:spcAft>
                <a:spcPts val="120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67" name="Google Shape;67;p14"/>
          <p:cNvSpPr txBox="1">
            <a:spLocks noGrp="1"/>
          </p:cNvSpPr>
          <p:nvPr>
            <p:ph type="body" idx="13"/>
          </p:nvPr>
        </p:nvSpPr>
        <p:spPr>
          <a:xfrm>
            <a:off x="7233052" y="2224172"/>
            <a:ext cx="1619400" cy="1147500"/>
          </a:xfrm>
          <a:prstGeom prst="rect">
            <a:avLst/>
          </a:prstGeom>
          <a:solidFill>
            <a:srgbClr val="FFFFFF"/>
          </a:solidFill>
          <a:ln>
            <a:noFill/>
          </a:ln>
        </p:spPr>
        <p:txBody>
          <a:bodyPr spcFirstLastPara="1" wrap="square" lIns="68575" tIns="34275" rIns="68575" bIns="34275" anchor="t" anchorCtr="0">
            <a:norm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1200"/>
              </a:spcBef>
              <a:spcAft>
                <a:spcPts val="120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68" name="Google Shape;68;p14"/>
          <p:cNvSpPr txBox="1">
            <a:spLocks noGrp="1"/>
          </p:cNvSpPr>
          <p:nvPr>
            <p:ph type="body" idx="14"/>
          </p:nvPr>
        </p:nvSpPr>
        <p:spPr>
          <a:xfrm>
            <a:off x="285622" y="3657600"/>
            <a:ext cx="4210200" cy="1086000"/>
          </a:xfrm>
          <a:prstGeom prst="rect">
            <a:avLst/>
          </a:prstGeom>
          <a:solidFill>
            <a:srgbClr val="FFFFFF"/>
          </a:solidFill>
          <a:ln>
            <a:noFill/>
          </a:ln>
        </p:spPr>
        <p:txBody>
          <a:bodyPr spcFirstLastPara="1" wrap="square" lIns="68575" tIns="34275" rIns="68575" bIns="34275" anchor="t" anchorCtr="0">
            <a:norm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1200"/>
              </a:spcBef>
              <a:spcAft>
                <a:spcPts val="120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69" name="Google Shape;69;p14"/>
          <p:cNvSpPr txBox="1">
            <a:spLocks noGrp="1"/>
          </p:cNvSpPr>
          <p:nvPr>
            <p:ph type="body" idx="15"/>
          </p:nvPr>
        </p:nvSpPr>
        <p:spPr>
          <a:xfrm>
            <a:off x="4667400" y="3657600"/>
            <a:ext cx="4185000" cy="1086000"/>
          </a:xfrm>
          <a:prstGeom prst="rect">
            <a:avLst/>
          </a:prstGeom>
          <a:solidFill>
            <a:srgbClr val="FFFFFF"/>
          </a:solidFill>
          <a:ln>
            <a:noFill/>
          </a:ln>
        </p:spPr>
        <p:txBody>
          <a:bodyPr spcFirstLastPara="1" wrap="square" lIns="68575" tIns="34275" rIns="68575" bIns="34275" anchor="t" anchorCtr="0">
            <a:norm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1200"/>
              </a:spcBef>
              <a:spcAft>
                <a:spcPts val="120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70" name="Google Shape;70;p14"/>
          <p:cNvSpPr txBox="1">
            <a:spLocks noGrp="1"/>
          </p:cNvSpPr>
          <p:nvPr>
            <p:ph type="body" idx="16"/>
          </p:nvPr>
        </p:nvSpPr>
        <p:spPr>
          <a:xfrm>
            <a:off x="3657600" y="285750"/>
            <a:ext cx="1295400" cy="171600"/>
          </a:xfrm>
          <a:prstGeom prst="rect">
            <a:avLst/>
          </a:prstGeom>
          <a:solidFill>
            <a:srgbClr val="FFFFFF"/>
          </a:solidFill>
          <a:ln>
            <a:noFill/>
          </a:ln>
        </p:spPr>
        <p:txBody>
          <a:bodyPr spcFirstLastPara="1" wrap="square" lIns="68575" tIns="34275" rIns="68575" bIns="34275" anchor="t" anchorCtr="0">
            <a:norm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1200"/>
              </a:spcBef>
              <a:spcAft>
                <a:spcPts val="120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71" name="Google Shape;71;p14"/>
          <p:cNvSpPr txBox="1">
            <a:spLocks noGrp="1"/>
          </p:cNvSpPr>
          <p:nvPr>
            <p:ph type="body" idx="17"/>
          </p:nvPr>
        </p:nvSpPr>
        <p:spPr>
          <a:xfrm>
            <a:off x="5247878" y="285750"/>
            <a:ext cx="1295400" cy="171600"/>
          </a:xfrm>
          <a:prstGeom prst="rect">
            <a:avLst/>
          </a:prstGeom>
          <a:solidFill>
            <a:srgbClr val="FFFFFF"/>
          </a:solidFill>
          <a:ln>
            <a:noFill/>
          </a:ln>
        </p:spPr>
        <p:txBody>
          <a:bodyPr spcFirstLastPara="1" wrap="square" lIns="68575" tIns="34275" rIns="68575" bIns="34275" anchor="t" anchorCtr="0">
            <a:norm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1200"/>
              </a:spcBef>
              <a:spcAft>
                <a:spcPts val="120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72" name="Google Shape;72;p14"/>
          <p:cNvSpPr txBox="1">
            <a:spLocks noGrp="1"/>
          </p:cNvSpPr>
          <p:nvPr>
            <p:ph type="body" idx="18"/>
          </p:nvPr>
        </p:nvSpPr>
        <p:spPr>
          <a:xfrm>
            <a:off x="7162800" y="285750"/>
            <a:ext cx="1066800" cy="171600"/>
          </a:xfrm>
          <a:prstGeom prst="rect">
            <a:avLst/>
          </a:prstGeom>
          <a:solidFill>
            <a:srgbClr val="FFFFFF"/>
          </a:solidFill>
          <a:ln>
            <a:noFill/>
          </a:ln>
        </p:spPr>
        <p:txBody>
          <a:bodyPr spcFirstLastPara="1" wrap="square" lIns="68575" tIns="34275" rIns="68575" bIns="34275" anchor="t" anchorCtr="0">
            <a:norm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1200"/>
              </a:spcBef>
              <a:spcAft>
                <a:spcPts val="120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73" name="Google Shape;73;p14"/>
          <p:cNvSpPr txBox="1">
            <a:spLocks noGrp="1"/>
          </p:cNvSpPr>
          <p:nvPr>
            <p:ph type="body" idx="19"/>
          </p:nvPr>
        </p:nvSpPr>
        <p:spPr>
          <a:xfrm>
            <a:off x="8534400" y="285750"/>
            <a:ext cx="381000" cy="171600"/>
          </a:xfrm>
          <a:prstGeom prst="rect">
            <a:avLst/>
          </a:prstGeom>
          <a:solidFill>
            <a:srgbClr val="FFFFFF"/>
          </a:solidFill>
          <a:ln>
            <a:noFill/>
          </a:ln>
        </p:spPr>
        <p:txBody>
          <a:bodyPr spcFirstLastPara="1" wrap="square" lIns="68575" tIns="34275" rIns="68575" bIns="34275" anchor="t" anchorCtr="0">
            <a:norm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12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1200"/>
              </a:spcBef>
              <a:spcAft>
                <a:spcPts val="120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Lean Canvas">
  <p:cSld name="Lean Canvas">
    <p:spTree>
      <p:nvGrpSpPr>
        <p:cNvPr id="1" name="Shape 114"/>
        <p:cNvGrpSpPr/>
        <p:nvPr/>
      </p:nvGrpSpPr>
      <p:grpSpPr>
        <a:xfrm>
          <a:off x="0" y="0"/>
          <a:ext cx="0" cy="0"/>
          <a:chOff x="0" y="0"/>
          <a:chExt cx="0" cy="0"/>
        </a:xfrm>
      </p:grpSpPr>
      <p:sp>
        <p:nvSpPr>
          <p:cNvPr id="115" name="Google Shape;115;p16"/>
          <p:cNvSpPr txBox="1">
            <a:spLocks noGrp="1"/>
          </p:cNvSpPr>
          <p:nvPr>
            <p:ph type="body" idx="1"/>
          </p:nvPr>
        </p:nvSpPr>
        <p:spPr>
          <a:xfrm>
            <a:off x="285622" y="800100"/>
            <a:ext cx="1619400" cy="1147500"/>
          </a:xfrm>
          <a:prstGeom prst="rect">
            <a:avLst/>
          </a:prstGeom>
          <a:solidFill>
            <a:srgbClr val="FFFFFF"/>
          </a:solidFill>
          <a:ln>
            <a:noFill/>
          </a:ln>
        </p:spPr>
        <p:txBody>
          <a:bodyPr spcFirstLastPara="1" wrap="square" lIns="68575" tIns="34275" rIns="68575" bIns="34275" anchor="t" anchorCtr="0">
            <a:no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116" name="Google Shape;116;p16"/>
          <p:cNvSpPr txBox="1">
            <a:spLocks noGrp="1"/>
          </p:cNvSpPr>
          <p:nvPr>
            <p:ph type="body" idx="2"/>
          </p:nvPr>
        </p:nvSpPr>
        <p:spPr>
          <a:xfrm>
            <a:off x="2017232" y="800100"/>
            <a:ext cx="1619400" cy="1147500"/>
          </a:xfrm>
          <a:prstGeom prst="rect">
            <a:avLst/>
          </a:prstGeom>
          <a:solidFill>
            <a:srgbClr val="FFFFFF"/>
          </a:solidFill>
          <a:ln>
            <a:noFill/>
          </a:ln>
        </p:spPr>
        <p:txBody>
          <a:bodyPr spcFirstLastPara="1" wrap="square" lIns="68575" tIns="34275" rIns="68575" bIns="34275" anchor="t" anchorCtr="0">
            <a:no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117" name="Google Shape;117;p16"/>
          <p:cNvSpPr txBox="1">
            <a:spLocks noGrp="1"/>
          </p:cNvSpPr>
          <p:nvPr>
            <p:ph type="body" idx="3"/>
          </p:nvPr>
        </p:nvSpPr>
        <p:spPr>
          <a:xfrm>
            <a:off x="3754790" y="800100"/>
            <a:ext cx="1619400" cy="1147500"/>
          </a:xfrm>
          <a:prstGeom prst="rect">
            <a:avLst/>
          </a:prstGeom>
          <a:solidFill>
            <a:srgbClr val="FFFFFF"/>
          </a:solidFill>
          <a:ln>
            <a:noFill/>
          </a:ln>
        </p:spPr>
        <p:txBody>
          <a:bodyPr spcFirstLastPara="1" wrap="square" lIns="68575" tIns="34275" rIns="68575" bIns="34275" anchor="t" anchorCtr="0">
            <a:no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118" name="Google Shape;118;p16"/>
          <p:cNvSpPr txBox="1">
            <a:spLocks noGrp="1"/>
          </p:cNvSpPr>
          <p:nvPr>
            <p:ph type="body" idx="4"/>
          </p:nvPr>
        </p:nvSpPr>
        <p:spPr>
          <a:xfrm>
            <a:off x="5490947" y="792050"/>
            <a:ext cx="1619400" cy="1147500"/>
          </a:xfrm>
          <a:prstGeom prst="rect">
            <a:avLst/>
          </a:prstGeom>
          <a:solidFill>
            <a:srgbClr val="FFFFFF"/>
          </a:solidFill>
          <a:ln>
            <a:noFill/>
          </a:ln>
        </p:spPr>
        <p:txBody>
          <a:bodyPr spcFirstLastPara="1" wrap="square" lIns="68575" tIns="34275" rIns="68575" bIns="34275" anchor="t" anchorCtr="0">
            <a:no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119" name="Google Shape;119;p16"/>
          <p:cNvSpPr txBox="1">
            <a:spLocks noGrp="1"/>
          </p:cNvSpPr>
          <p:nvPr>
            <p:ph type="body" idx="5"/>
          </p:nvPr>
        </p:nvSpPr>
        <p:spPr>
          <a:xfrm>
            <a:off x="7233052" y="792050"/>
            <a:ext cx="1619400" cy="1147500"/>
          </a:xfrm>
          <a:prstGeom prst="rect">
            <a:avLst/>
          </a:prstGeom>
          <a:solidFill>
            <a:srgbClr val="FFFFFF"/>
          </a:solidFill>
          <a:ln>
            <a:noFill/>
          </a:ln>
        </p:spPr>
        <p:txBody>
          <a:bodyPr spcFirstLastPara="1" wrap="square" lIns="68575" tIns="34275" rIns="68575" bIns="34275" anchor="t" anchorCtr="0">
            <a:no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120" name="Google Shape;120;p16"/>
          <p:cNvSpPr txBox="1">
            <a:spLocks noGrp="1"/>
          </p:cNvSpPr>
          <p:nvPr>
            <p:ph type="body" idx="6"/>
          </p:nvPr>
        </p:nvSpPr>
        <p:spPr>
          <a:xfrm>
            <a:off x="285622" y="2224350"/>
            <a:ext cx="1619400" cy="1147500"/>
          </a:xfrm>
          <a:prstGeom prst="rect">
            <a:avLst/>
          </a:prstGeom>
          <a:solidFill>
            <a:srgbClr val="FFFFFF"/>
          </a:solidFill>
          <a:ln>
            <a:noFill/>
          </a:ln>
        </p:spPr>
        <p:txBody>
          <a:bodyPr spcFirstLastPara="1" wrap="square" lIns="68575" tIns="34275" rIns="68575" bIns="34275" anchor="t" anchorCtr="0">
            <a:no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121" name="Google Shape;121;p16"/>
          <p:cNvSpPr txBox="1">
            <a:spLocks noGrp="1"/>
          </p:cNvSpPr>
          <p:nvPr>
            <p:ph type="body" idx="7"/>
          </p:nvPr>
        </p:nvSpPr>
        <p:spPr>
          <a:xfrm>
            <a:off x="2027727" y="2224350"/>
            <a:ext cx="1619400" cy="1147500"/>
          </a:xfrm>
          <a:prstGeom prst="rect">
            <a:avLst/>
          </a:prstGeom>
          <a:solidFill>
            <a:srgbClr val="FFFFFF"/>
          </a:solidFill>
          <a:ln>
            <a:noFill/>
          </a:ln>
        </p:spPr>
        <p:txBody>
          <a:bodyPr spcFirstLastPara="1" wrap="square" lIns="68575" tIns="34275" rIns="68575" bIns="34275" anchor="t" anchorCtr="0">
            <a:no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122" name="Google Shape;122;p16"/>
          <p:cNvSpPr txBox="1">
            <a:spLocks noGrp="1"/>
          </p:cNvSpPr>
          <p:nvPr>
            <p:ph type="body" idx="8"/>
          </p:nvPr>
        </p:nvSpPr>
        <p:spPr>
          <a:xfrm>
            <a:off x="3759337" y="2224350"/>
            <a:ext cx="1619400" cy="1147500"/>
          </a:xfrm>
          <a:prstGeom prst="rect">
            <a:avLst/>
          </a:prstGeom>
          <a:solidFill>
            <a:srgbClr val="FFFFFF"/>
          </a:solidFill>
          <a:ln>
            <a:noFill/>
          </a:ln>
        </p:spPr>
        <p:txBody>
          <a:bodyPr spcFirstLastPara="1" wrap="square" lIns="68575" tIns="34275" rIns="68575" bIns="34275" anchor="t" anchorCtr="0">
            <a:no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123" name="Google Shape;123;p16"/>
          <p:cNvSpPr txBox="1">
            <a:spLocks noGrp="1"/>
          </p:cNvSpPr>
          <p:nvPr>
            <p:ph type="body" idx="9"/>
          </p:nvPr>
        </p:nvSpPr>
        <p:spPr>
          <a:xfrm>
            <a:off x="5494226" y="2224350"/>
            <a:ext cx="1619400" cy="1147500"/>
          </a:xfrm>
          <a:prstGeom prst="rect">
            <a:avLst/>
          </a:prstGeom>
          <a:solidFill>
            <a:srgbClr val="FFFFFF"/>
          </a:solidFill>
          <a:ln>
            <a:noFill/>
          </a:ln>
        </p:spPr>
        <p:txBody>
          <a:bodyPr spcFirstLastPara="1" wrap="square" lIns="68575" tIns="34275" rIns="68575" bIns="34275" anchor="t" anchorCtr="0">
            <a:no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124" name="Google Shape;124;p16"/>
          <p:cNvSpPr txBox="1">
            <a:spLocks noGrp="1"/>
          </p:cNvSpPr>
          <p:nvPr>
            <p:ph type="body" idx="13"/>
          </p:nvPr>
        </p:nvSpPr>
        <p:spPr>
          <a:xfrm>
            <a:off x="7233052" y="2224172"/>
            <a:ext cx="1619400" cy="1147500"/>
          </a:xfrm>
          <a:prstGeom prst="rect">
            <a:avLst/>
          </a:prstGeom>
          <a:solidFill>
            <a:srgbClr val="FFFFFF"/>
          </a:solidFill>
          <a:ln>
            <a:noFill/>
          </a:ln>
        </p:spPr>
        <p:txBody>
          <a:bodyPr spcFirstLastPara="1" wrap="square" lIns="68575" tIns="34275" rIns="68575" bIns="34275" anchor="t" anchorCtr="0">
            <a:no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125" name="Google Shape;125;p16"/>
          <p:cNvSpPr txBox="1">
            <a:spLocks noGrp="1"/>
          </p:cNvSpPr>
          <p:nvPr>
            <p:ph type="body" idx="14"/>
          </p:nvPr>
        </p:nvSpPr>
        <p:spPr>
          <a:xfrm>
            <a:off x="285622" y="3657600"/>
            <a:ext cx="4210200" cy="1086000"/>
          </a:xfrm>
          <a:prstGeom prst="rect">
            <a:avLst/>
          </a:prstGeom>
          <a:solidFill>
            <a:srgbClr val="FFFFFF"/>
          </a:solidFill>
          <a:ln>
            <a:noFill/>
          </a:ln>
        </p:spPr>
        <p:txBody>
          <a:bodyPr spcFirstLastPara="1" wrap="square" lIns="68575" tIns="34275" rIns="68575" bIns="34275" anchor="t" anchorCtr="0">
            <a:no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126" name="Google Shape;126;p16"/>
          <p:cNvSpPr txBox="1">
            <a:spLocks noGrp="1"/>
          </p:cNvSpPr>
          <p:nvPr>
            <p:ph type="body" idx="15"/>
          </p:nvPr>
        </p:nvSpPr>
        <p:spPr>
          <a:xfrm>
            <a:off x="4667400" y="3657600"/>
            <a:ext cx="4185000" cy="1086000"/>
          </a:xfrm>
          <a:prstGeom prst="rect">
            <a:avLst/>
          </a:prstGeom>
          <a:solidFill>
            <a:srgbClr val="FFFFFF"/>
          </a:solidFill>
          <a:ln>
            <a:noFill/>
          </a:ln>
        </p:spPr>
        <p:txBody>
          <a:bodyPr spcFirstLastPara="1" wrap="square" lIns="68575" tIns="34275" rIns="68575" bIns="34275" anchor="t" anchorCtr="0">
            <a:no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127" name="Google Shape;127;p16"/>
          <p:cNvSpPr txBox="1">
            <a:spLocks noGrp="1"/>
          </p:cNvSpPr>
          <p:nvPr>
            <p:ph type="body" idx="16"/>
          </p:nvPr>
        </p:nvSpPr>
        <p:spPr>
          <a:xfrm>
            <a:off x="3657600" y="285750"/>
            <a:ext cx="1295400" cy="171600"/>
          </a:xfrm>
          <a:prstGeom prst="rect">
            <a:avLst/>
          </a:prstGeom>
          <a:solidFill>
            <a:srgbClr val="FFFFFF"/>
          </a:solidFill>
          <a:ln>
            <a:noFill/>
          </a:ln>
        </p:spPr>
        <p:txBody>
          <a:bodyPr spcFirstLastPara="1" wrap="square" lIns="68575" tIns="34275" rIns="68575" bIns="34275" anchor="t" anchorCtr="0">
            <a:no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128" name="Google Shape;128;p16"/>
          <p:cNvSpPr txBox="1">
            <a:spLocks noGrp="1"/>
          </p:cNvSpPr>
          <p:nvPr>
            <p:ph type="body" idx="17"/>
          </p:nvPr>
        </p:nvSpPr>
        <p:spPr>
          <a:xfrm>
            <a:off x="5247878" y="285750"/>
            <a:ext cx="1295400" cy="171600"/>
          </a:xfrm>
          <a:prstGeom prst="rect">
            <a:avLst/>
          </a:prstGeom>
          <a:solidFill>
            <a:srgbClr val="FFFFFF"/>
          </a:solidFill>
          <a:ln>
            <a:noFill/>
          </a:ln>
        </p:spPr>
        <p:txBody>
          <a:bodyPr spcFirstLastPara="1" wrap="square" lIns="68575" tIns="34275" rIns="68575" bIns="34275" anchor="t" anchorCtr="0">
            <a:no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129" name="Google Shape;129;p16"/>
          <p:cNvSpPr txBox="1">
            <a:spLocks noGrp="1"/>
          </p:cNvSpPr>
          <p:nvPr>
            <p:ph type="body" idx="18"/>
          </p:nvPr>
        </p:nvSpPr>
        <p:spPr>
          <a:xfrm>
            <a:off x="7162800" y="285750"/>
            <a:ext cx="1066800" cy="171600"/>
          </a:xfrm>
          <a:prstGeom prst="rect">
            <a:avLst/>
          </a:prstGeom>
          <a:solidFill>
            <a:srgbClr val="FFFFFF"/>
          </a:solidFill>
          <a:ln>
            <a:noFill/>
          </a:ln>
        </p:spPr>
        <p:txBody>
          <a:bodyPr spcFirstLastPara="1" wrap="square" lIns="68575" tIns="34275" rIns="68575" bIns="34275" anchor="t" anchorCtr="0">
            <a:no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130" name="Google Shape;130;p16"/>
          <p:cNvSpPr txBox="1">
            <a:spLocks noGrp="1"/>
          </p:cNvSpPr>
          <p:nvPr>
            <p:ph type="body" idx="19"/>
          </p:nvPr>
        </p:nvSpPr>
        <p:spPr>
          <a:xfrm>
            <a:off x="8534400" y="285750"/>
            <a:ext cx="381000" cy="171600"/>
          </a:xfrm>
          <a:prstGeom prst="rect">
            <a:avLst/>
          </a:prstGeom>
          <a:solidFill>
            <a:srgbClr val="FFFFFF"/>
          </a:solidFill>
          <a:ln>
            <a:noFill/>
          </a:ln>
        </p:spPr>
        <p:txBody>
          <a:bodyPr spcFirstLastPara="1" wrap="square" lIns="68575" tIns="34275" rIns="68575" bIns="34275" anchor="t" anchorCtr="0">
            <a:noAutofit/>
          </a:bodyPr>
          <a:lstStyle>
            <a:lvl1pPr marL="457200" marR="0" lvl="0" indent="-228600" algn="l" rtl="0">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1pPr>
            <a:lvl2pPr marL="914400" marR="0" lvl="1" indent="-361950" algn="l" rtl="0">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theme" Target="../theme/theme2.xml"/><Relationship Id="rId1" Type="http://schemas.openxmlformats.org/officeDocument/2006/relationships/slideLayout" Target="../slideLayouts/slideLayout14.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rtl="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rtl="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rtl="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rtl="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rtl="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rtl="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rtl="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rtl="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74"/>
        <p:cNvGrpSpPr/>
        <p:nvPr/>
      </p:nvGrpSpPr>
      <p:grpSpPr>
        <a:xfrm>
          <a:off x="0" y="0"/>
          <a:ext cx="0" cy="0"/>
          <a:chOff x="0" y="0"/>
          <a:chExt cx="0" cy="0"/>
        </a:xfrm>
      </p:grpSpPr>
      <p:sp>
        <p:nvSpPr>
          <p:cNvPr id="75" name="Google Shape;75;p15"/>
          <p:cNvSpPr/>
          <p:nvPr/>
        </p:nvSpPr>
        <p:spPr>
          <a:xfrm>
            <a:off x="225670" y="571500"/>
            <a:ext cx="8683800" cy="4229100"/>
          </a:xfrm>
          <a:prstGeom prst="rect">
            <a:avLst/>
          </a:prstGeom>
          <a:solidFill>
            <a:srgbClr val="FFFFFF"/>
          </a:solidFill>
          <a:ln w="9525" cap="flat" cmpd="sng">
            <a:solidFill>
              <a:schemeClr val="lt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76" name="Google Shape;76;p15"/>
          <p:cNvSpPr txBox="1"/>
          <p:nvPr/>
        </p:nvSpPr>
        <p:spPr>
          <a:xfrm>
            <a:off x="228599" y="228600"/>
            <a:ext cx="3369000" cy="2538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200" b="1">
                <a:solidFill>
                  <a:schemeClr val="dk1"/>
                </a:solidFill>
                <a:latin typeface="Arial"/>
                <a:ea typeface="Arial"/>
                <a:cs typeface="Arial"/>
                <a:sym typeface="Arial"/>
              </a:rPr>
              <a:t>Innovation Hub - Funding Request</a:t>
            </a:r>
            <a:endParaRPr sz="1100"/>
          </a:p>
        </p:txBody>
      </p:sp>
      <p:sp>
        <p:nvSpPr>
          <p:cNvPr id="77" name="Google Shape;77;p15"/>
          <p:cNvSpPr txBox="1"/>
          <p:nvPr/>
        </p:nvSpPr>
        <p:spPr>
          <a:xfrm>
            <a:off x="3563816" y="138113"/>
            <a:ext cx="1295400" cy="1461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500" i="1">
                <a:solidFill>
                  <a:schemeClr val="dk1"/>
                </a:solidFill>
                <a:latin typeface="Arial"/>
                <a:ea typeface="Arial"/>
                <a:cs typeface="Arial"/>
                <a:sym typeface="Arial"/>
              </a:rPr>
              <a:t>Designed for:</a:t>
            </a:r>
            <a:endParaRPr sz="1100"/>
          </a:p>
        </p:txBody>
      </p:sp>
      <p:sp>
        <p:nvSpPr>
          <p:cNvPr id="78" name="Google Shape;78;p15"/>
          <p:cNvSpPr txBox="1"/>
          <p:nvPr/>
        </p:nvSpPr>
        <p:spPr>
          <a:xfrm>
            <a:off x="5106866" y="182011"/>
            <a:ext cx="1295400" cy="1461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500" i="1">
                <a:solidFill>
                  <a:schemeClr val="dk1"/>
                </a:solidFill>
                <a:latin typeface="Arial"/>
                <a:ea typeface="Arial"/>
                <a:cs typeface="Arial"/>
                <a:sym typeface="Arial"/>
              </a:rPr>
              <a:t>Designed by:</a:t>
            </a:r>
            <a:endParaRPr sz="1100"/>
          </a:p>
        </p:txBody>
      </p:sp>
      <p:sp>
        <p:nvSpPr>
          <p:cNvPr id="79" name="Google Shape;79;p15"/>
          <p:cNvSpPr txBox="1"/>
          <p:nvPr/>
        </p:nvSpPr>
        <p:spPr>
          <a:xfrm>
            <a:off x="7074877" y="135731"/>
            <a:ext cx="1121100" cy="1461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500" i="1">
                <a:solidFill>
                  <a:schemeClr val="dk1"/>
                </a:solidFill>
                <a:latin typeface="Arial"/>
                <a:ea typeface="Arial"/>
                <a:cs typeface="Arial"/>
                <a:sym typeface="Arial"/>
              </a:rPr>
              <a:t>Date:</a:t>
            </a:r>
            <a:endParaRPr sz="1100"/>
          </a:p>
        </p:txBody>
      </p:sp>
      <p:sp>
        <p:nvSpPr>
          <p:cNvPr id="80" name="Google Shape;80;p15"/>
          <p:cNvSpPr txBox="1"/>
          <p:nvPr/>
        </p:nvSpPr>
        <p:spPr>
          <a:xfrm>
            <a:off x="8439151" y="135732"/>
            <a:ext cx="573000" cy="1461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500" i="1">
                <a:solidFill>
                  <a:schemeClr val="dk1"/>
                </a:solidFill>
                <a:latin typeface="Arial"/>
                <a:ea typeface="Arial"/>
                <a:cs typeface="Arial"/>
                <a:sym typeface="Arial"/>
              </a:rPr>
              <a:t>Version:</a:t>
            </a:r>
            <a:endParaRPr sz="1100"/>
          </a:p>
        </p:txBody>
      </p:sp>
      <p:sp>
        <p:nvSpPr>
          <p:cNvPr id="81" name="Google Shape;81;p15"/>
          <p:cNvSpPr txBox="1"/>
          <p:nvPr/>
        </p:nvSpPr>
        <p:spPr>
          <a:xfrm>
            <a:off x="225670" y="591741"/>
            <a:ext cx="1614900" cy="1923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800" b="1">
                <a:solidFill>
                  <a:schemeClr val="dk1"/>
                </a:solidFill>
                <a:latin typeface="Arial"/>
                <a:ea typeface="Arial"/>
                <a:cs typeface="Arial"/>
                <a:sym typeface="Arial"/>
              </a:rPr>
              <a:t>Problem</a:t>
            </a:r>
            <a:endParaRPr sz="1100"/>
          </a:p>
        </p:txBody>
      </p:sp>
      <p:sp>
        <p:nvSpPr>
          <p:cNvPr id="82" name="Google Shape;82;p15"/>
          <p:cNvSpPr txBox="1"/>
          <p:nvPr/>
        </p:nvSpPr>
        <p:spPr>
          <a:xfrm>
            <a:off x="225670" y="1987154"/>
            <a:ext cx="1614900" cy="1923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800" b="1">
                <a:solidFill>
                  <a:schemeClr val="dk1"/>
                </a:solidFill>
                <a:latin typeface="Arial"/>
                <a:ea typeface="Arial"/>
                <a:cs typeface="Arial"/>
                <a:sym typeface="Arial"/>
              </a:rPr>
              <a:t>Existing Alternatives</a:t>
            </a:r>
            <a:endParaRPr sz="1100"/>
          </a:p>
        </p:txBody>
      </p:sp>
      <p:sp>
        <p:nvSpPr>
          <p:cNvPr id="83" name="Google Shape;83;p15"/>
          <p:cNvSpPr txBox="1"/>
          <p:nvPr/>
        </p:nvSpPr>
        <p:spPr>
          <a:xfrm>
            <a:off x="225670" y="3429001"/>
            <a:ext cx="1614900" cy="1923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800" b="1">
                <a:solidFill>
                  <a:schemeClr val="dk1"/>
                </a:solidFill>
                <a:latin typeface="Arial"/>
                <a:ea typeface="Arial"/>
                <a:cs typeface="Arial"/>
                <a:sym typeface="Arial"/>
              </a:rPr>
              <a:t>Cost Structure</a:t>
            </a:r>
            <a:endParaRPr sz="1100"/>
          </a:p>
        </p:txBody>
      </p:sp>
      <p:sp>
        <p:nvSpPr>
          <p:cNvPr id="84" name="Google Shape;84;p15"/>
          <p:cNvSpPr txBox="1"/>
          <p:nvPr/>
        </p:nvSpPr>
        <p:spPr>
          <a:xfrm>
            <a:off x="1960685" y="591741"/>
            <a:ext cx="1616400" cy="1923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800" b="1">
                <a:solidFill>
                  <a:schemeClr val="dk1"/>
                </a:solidFill>
                <a:latin typeface="Arial"/>
                <a:ea typeface="Arial"/>
                <a:cs typeface="Arial"/>
                <a:sym typeface="Arial"/>
              </a:rPr>
              <a:t>Solution</a:t>
            </a:r>
            <a:endParaRPr sz="1100"/>
          </a:p>
        </p:txBody>
      </p:sp>
      <p:sp>
        <p:nvSpPr>
          <p:cNvPr id="85" name="Google Shape;85;p15"/>
          <p:cNvSpPr txBox="1"/>
          <p:nvPr/>
        </p:nvSpPr>
        <p:spPr>
          <a:xfrm>
            <a:off x="1960685" y="1987154"/>
            <a:ext cx="1616400" cy="1923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800" b="1">
                <a:solidFill>
                  <a:schemeClr val="dk1"/>
                </a:solidFill>
                <a:latin typeface="Arial"/>
                <a:ea typeface="Arial"/>
                <a:cs typeface="Arial"/>
                <a:sym typeface="Arial"/>
              </a:rPr>
              <a:t>Key Metrics</a:t>
            </a:r>
            <a:endParaRPr sz="1100"/>
          </a:p>
        </p:txBody>
      </p:sp>
      <p:sp>
        <p:nvSpPr>
          <p:cNvPr id="86" name="Google Shape;86;p15"/>
          <p:cNvSpPr txBox="1"/>
          <p:nvPr/>
        </p:nvSpPr>
        <p:spPr>
          <a:xfrm>
            <a:off x="3716216" y="591741"/>
            <a:ext cx="1614900" cy="1923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800" b="1">
                <a:solidFill>
                  <a:schemeClr val="dk1"/>
                </a:solidFill>
                <a:latin typeface="Arial"/>
                <a:ea typeface="Arial"/>
                <a:cs typeface="Arial"/>
                <a:sym typeface="Arial"/>
              </a:rPr>
              <a:t>Unique Value Prop</a:t>
            </a:r>
            <a:endParaRPr sz="1100"/>
          </a:p>
        </p:txBody>
      </p:sp>
      <p:sp>
        <p:nvSpPr>
          <p:cNvPr id="87" name="Google Shape;87;p15"/>
          <p:cNvSpPr txBox="1"/>
          <p:nvPr/>
        </p:nvSpPr>
        <p:spPr>
          <a:xfrm>
            <a:off x="3716216" y="1987154"/>
            <a:ext cx="1614900" cy="1923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800" b="1">
                <a:solidFill>
                  <a:schemeClr val="dk1"/>
                </a:solidFill>
                <a:latin typeface="Arial"/>
                <a:ea typeface="Arial"/>
                <a:cs typeface="Arial"/>
                <a:sym typeface="Arial"/>
              </a:rPr>
              <a:t>High-Level Concept</a:t>
            </a:r>
            <a:endParaRPr sz="1100"/>
          </a:p>
        </p:txBody>
      </p:sp>
      <p:sp>
        <p:nvSpPr>
          <p:cNvPr id="88" name="Google Shape;88;p15"/>
          <p:cNvSpPr txBox="1"/>
          <p:nvPr/>
        </p:nvSpPr>
        <p:spPr>
          <a:xfrm>
            <a:off x="5464421" y="586979"/>
            <a:ext cx="1614900" cy="1923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800" b="1">
                <a:solidFill>
                  <a:schemeClr val="dk1"/>
                </a:solidFill>
                <a:latin typeface="Arial"/>
                <a:ea typeface="Arial"/>
                <a:cs typeface="Arial"/>
                <a:sym typeface="Arial"/>
              </a:rPr>
              <a:t>Expected Outcome</a:t>
            </a:r>
            <a:endParaRPr sz="1100"/>
          </a:p>
        </p:txBody>
      </p:sp>
      <p:sp>
        <p:nvSpPr>
          <p:cNvPr id="89" name="Google Shape;89;p15"/>
          <p:cNvSpPr txBox="1"/>
          <p:nvPr/>
        </p:nvSpPr>
        <p:spPr>
          <a:xfrm>
            <a:off x="5464421" y="1982391"/>
            <a:ext cx="1614900" cy="1923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800" b="1">
                <a:solidFill>
                  <a:schemeClr val="dk1"/>
                </a:solidFill>
                <a:latin typeface="Arial"/>
                <a:ea typeface="Arial"/>
                <a:cs typeface="Arial"/>
                <a:sym typeface="Arial"/>
              </a:rPr>
              <a:t>Next Steps</a:t>
            </a:r>
            <a:endParaRPr sz="1100"/>
          </a:p>
        </p:txBody>
      </p:sp>
      <p:sp>
        <p:nvSpPr>
          <p:cNvPr id="90" name="Google Shape;90;p15"/>
          <p:cNvSpPr txBox="1"/>
          <p:nvPr/>
        </p:nvSpPr>
        <p:spPr>
          <a:xfrm>
            <a:off x="7217021" y="591741"/>
            <a:ext cx="1614900" cy="1923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800" b="1">
                <a:solidFill>
                  <a:schemeClr val="dk1"/>
                </a:solidFill>
                <a:latin typeface="Arial"/>
                <a:ea typeface="Arial"/>
                <a:cs typeface="Arial"/>
                <a:sym typeface="Arial"/>
              </a:rPr>
              <a:t>Customer Segments</a:t>
            </a:r>
            <a:endParaRPr sz="1100"/>
          </a:p>
        </p:txBody>
      </p:sp>
      <p:sp>
        <p:nvSpPr>
          <p:cNvPr id="91" name="Google Shape;91;p15"/>
          <p:cNvSpPr txBox="1"/>
          <p:nvPr/>
        </p:nvSpPr>
        <p:spPr>
          <a:xfrm>
            <a:off x="7217021" y="1987154"/>
            <a:ext cx="1614900" cy="1923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800" b="1">
                <a:solidFill>
                  <a:schemeClr val="dk1"/>
                </a:solidFill>
                <a:latin typeface="Arial"/>
                <a:ea typeface="Arial"/>
                <a:cs typeface="Arial"/>
                <a:sym typeface="Arial"/>
              </a:rPr>
              <a:t>Early Adopters</a:t>
            </a:r>
            <a:endParaRPr sz="1100"/>
          </a:p>
        </p:txBody>
      </p:sp>
      <p:sp>
        <p:nvSpPr>
          <p:cNvPr id="92" name="Google Shape;92;p15"/>
          <p:cNvSpPr txBox="1"/>
          <p:nvPr/>
        </p:nvSpPr>
        <p:spPr>
          <a:xfrm>
            <a:off x="4591051" y="3429001"/>
            <a:ext cx="1614900" cy="1923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800" b="1">
                <a:solidFill>
                  <a:schemeClr val="dk1"/>
                </a:solidFill>
                <a:latin typeface="Arial"/>
                <a:ea typeface="Arial"/>
                <a:cs typeface="Arial"/>
                <a:sym typeface="Arial"/>
              </a:rPr>
              <a:t>Value Proposition </a:t>
            </a:r>
            <a:endParaRPr sz="1100"/>
          </a:p>
        </p:txBody>
      </p:sp>
      <p:sp>
        <p:nvSpPr>
          <p:cNvPr id="93" name="Google Shape;93;p15"/>
          <p:cNvSpPr/>
          <p:nvPr/>
        </p:nvSpPr>
        <p:spPr>
          <a:xfrm>
            <a:off x="225669" y="571500"/>
            <a:ext cx="1734900" cy="2857500"/>
          </a:xfrm>
          <a:prstGeom prst="rect">
            <a:avLst/>
          </a:prstGeom>
          <a:noFill/>
          <a:ln w="952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94" name="Google Shape;94;p15"/>
          <p:cNvSpPr/>
          <p:nvPr/>
        </p:nvSpPr>
        <p:spPr>
          <a:xfrm>
            <a:off x="1960685" y="570311"/>
            <a:ext cx="1736400" cy="1412100"/>
          </a:xfrm>
          <a:prstGeom prst="rect">
            <a:avLst/>
          </a:prstGeom>
          <a:noFill/>
          <a:ln w="952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95" name="Google Shape;95;p15"/>
          <p:cNvSpPr/>
          <p:nvPr/>
        </p:nvSpPr>
        <p:spPr>
          <a:xfrm>
            <a:off x="1960685" y="1982391"/>
            <a:ext cx="1736400" cy="1446600"/>
          </a:xfrm>
          <a:prstGeom prst="rect">
            <a:avLst/>
          </a:prstGeom>
          <a:noFill/>
          <a:ln w="952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96" name="Google Shape;96;p15"/>
          <p:cNvSpPr/>
          <p:nvPr/>
        </p:nvSpPr>
        <p:spPr>
          <a:xfrm>
            <a:off x="3697166" y="571500"/>
            <a:ext cx="1734900" cy="2857500"/>
          </a:xfrm>
          <a:prstGeom prst="rect">
            <a:avLst/>
          </a:prstGeom>
          <a:noFill/>
          <a:ln w="952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97" name="Google Shape;97;p15"/>
          <p:cNvSpPr/>
          <p:nvPr/>
        </p:nvSpPr>
        <p:spPr>
          <a:xfrm>
            <a:off x="5432181" y="571501"/>
            <a:ext cx="1734900" cy="1412100"/>
          </a:xfrm>
          <a:prstGeom prst="rect">
            <a:avLst/>
          </a:prstGeom>
          <a:noFill/>
          <a:ln w="952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98" name="Google Shape;98;p15"/>
          <p:cNvSpPr/>
          <p:nvPr/>
        </p:nvSpPr>
        <p:spPr>
          <a:xfrm>
            <a:off x="5432181" y="1982391"/>
            <a:ext cx="1734900" cy="1446600"/>
          </a:xfrm>
          <a:prstGeom prst="rect">
            <a:avLst/>
          </a:prstGeom>
          <a:noFill/>
          <a:ln w="952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99" name="Google Shape;99;p15"/>
          <p:cNvSpPr/>
          <p:nvPr/>
        </p:nvSpPr>
        <p:spPr>
          <a:xfrm>
            <a:off x="7173059" y="571500"/>
            <a:ext cx="1736400" cy="2857500"/>
          </a:xfrm>
          <a:prstGeom prst="rect">
            <a:avLst/>
          </a:prstGeom>
          <a:noFill/>
          <a:ln w="952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00" name="Google Shape;100;p15"/>
          <p:cNvSpPr/>
          <p:nvPr/>
        </p:nvSpPr>
        <p:spPr>
          <a:xfrm>
            <a:off x="225669" y="3434954"/>
            <a:ext cx="4350600" cy="1365600"/>
          </a:xfrm>
          <a:prstGeom prst="rect">
            <a:avLst/>
          </a:prstGeom>
          <a:noFill/>
          <a:ln w="952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01" name="Google Shape;101;p15"/>
          <p:cNvSpPr/>
          <p:nvPr/>
        </p:nvSpPr>
        <p:spPr>
          <a:xfrm>
            <a:off x="4576397" y="3434954"/>
            <a:ext cx="4331700" cy="1365600"/>
          </a:xfrm>
          <a:prstGeom prst="rect">
            <a:avLst/>
          </a:prstGeom>
          <a:noFill/>
          <a:ln w="952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102" name="Google Shape;102;p15" descr="channels.png"/>
          <p:cNvPicPr preferRelativeResize="0"/>
          <p:nvPr/>
        </p:nvPicPr>
        <p:blipFill rotWithShape="1">
          <a:blip r:embed="rId3">
            <a:alphaModFix/>
          </a:blip>
          <a:srcRect/>
          <a:stretch/>
        </p:blipFill>
        <p:spPr>
          <a:xfrm>
            <a:off x="6762751" y="1969295"/>
            <a:ext cx="266700" cy="216694"/>
          </a:xfrm>
          <a:prstGeom prst="rect">
            <a:avLst/>
          </a:prstGeom>
          <a:noFill/>
          <a:ln>
            <a:noFill/>
          </a:ln>
        </p:spPr>
      </p:pic>
      <p:pic>
        <p:nvPicPr>
          <p:cNvPr id="103" name="Google Shape;103;p15" descr="cost-structure.png"/>
          <p:cNvPicPr preferRelativeResize="0"/>
          <p:nvPr/>
        </p:nvPicPr>
        <p:blipFill rotWithShape="1">
          <a:blip r:embed="rId4">
            <a:alphaModFix/>
          </a:blip>
          <a:srcRect/>
          <a:stretch/>
        </p:blipFill>
        <p:spPr>
          <a:xfrm>
            <a:off x="4251082" y="3429000"/>
            <a:ext cx="266700" cy="215504"/>
          </a:xfrm>
          <a:prstGeom prst="rect">
            <a:avLst/>
          </a:prstGeom>
          <a:noFill/>
          <a:ln>
            <a:noFill/>
          </a:ln>
        </p:spPr>
      </p:pic>
      <p:pic>
        <p:nvPicPr>
          <p:cNvPr id="104" name="Google Shape;104;p15" descr="customer-segments.png"/>
          <p:cNvPicPr preferRelativeResize="0"/>
          <p:nvPr/>
        </p:nvPicPr>
        <p:blipFill rotWithShape="1">
          <a:blip r:embed="rId5">
            <a:alphaModFix/>
          </a:blip>
          <a:srcRect/>
          <a:stretch/>
        </p:blipFill>
        <p:spPr>
          <a:xfrm>
            <a:off x="8543193" y="571500"/>
            <a:ext cx="266700" cy="215503"/>
          </a:xfrm>
          <a:prstGeom prst="rect">
            <a:avLst/>
          </a:prstGeom>
          <a:noFill/>
          <a:ln>
            <a:noFill/>
          </a:ln>
        </p:spPr>
      </p:pic>
      <p:pic>
        <p:nvPicPr>
          <p:cNvPr id="105" name="Google Shape;105;p15" descr="early-adopters.png"/>
          <p:cNvPicPr preferRelativeResize="0"/>
          <p:nvPr/>
        </p:nvPicPr>
        <p:blipFill rotWithShape="1">
          <a:blip r:embed="rId6">
            <a:alphaModFix/>
          </a:blip>
          <a:srcRect/>
          <a:stretch/>
        </p:blipFill>
        <p:spPr>
          <a:xfrm>
            <a:off x="8543193" y="1955006"/>
            <a:ext cx="266700" cy="215503"/>
          </a:xfrm>
          <a:prstGeom prst="rect">
            <a:avLst/>
          </a:prstGeom>
          <a:noFill/>
          <a:ln>
            <a:noFill/>
          </a:ln>
        </p:spPr>
      </p:pic>
      <p:pic>
        <p:nvPicPr>
          <p:cNvPr id="106" name="Google Shape;106;p15" descr="existing-alternatives.png"/>
          <p:cNvPicPr preferRelativeResize="0"/>
          <p:nvPr/>
        </p:nvPicPr>
        <p:blipFill rotWithShape="1">
          <a:blip r:embed="rId7">
            <a:alphaModFix/>
          </a:blip>
          <a:srcRect/>
          <a:stretch/>
        </p:blipFill>
        <p:spPr>
          <a:xfrm>
            <a:off x="1617784" y="1969295"/>
            <a:ext cx="265236" cy="216694"/>
          </a:xfrm>
          <a:prstGeom prst="rect">
            <a:avLst/>
          </a:prstGeom>
          <a:noFill/>
          <a:ln>
            <a:noFill/>
          </a:ln>
        </p:spPr>
      </p:pic>
      <p:pic>
        <p:nvPicPr>
          <p:cNvPr id="107" name="Google Shape;107;p15" descr="high-level-concept.png"/>
          <p:cNvPicPr preferRelativeResize="0"/>
          <p:nvPr/>
        </p:nvPicPr>
        <p:blipFill rotWithShape="1">
          <a:blip r:embed="rId8">
            <a:alphaModFix/>
          </a:blip>
          <a:srcRect/>
          <a:stretch/>
        </p:blipFill>
        <p:spPr>
          <a:xfrm>
            <a:off x="5106866" y="1969295"/>
            <a:ext cx="266700" cy="216694"/>
          </a:xfrm>
          <a:prstGeom prst="rect">
            <a:avLst/>
          </a:prstGeom>
          <a:noFill/>
          <a:ln>
            <a:noFill/>
          </a:ln>
        </p:spPr>
      </p:pic>
      <p:pic>
        <p:nvPicPr>
          <p:cNvPr id="108" name="Google Shape;108;p15" descr="key-metrics.png"/>
          <p:cNvPicPr preferRelativeResize="0"/>
          <p:nvPr/>
        </p:nvPicPr>
        <p:blipFill rotWithShape="1">
          <a:blip r:embed="rId9">
            <a:alphaModFix/>
          </a:blip>
          <a:srcRect/>
          <a:stretch/>
        </p:blipFill>
        <p:spPr>
          <a:xfrm>
            <a:off x="3371851" y="1969295"/>
            <a:ext cx="266700" cy="216694"/>
          </a:xfrm>
          <a:prstGeom prst="rect">
            <a:avLst/>
          </a:prstGeom>
          <a:noFill/>
          <a:ln>
            <a:noFill/>
          </a:ln>
        </p:spPr>
      </p:pic>
      <p:pic>
        <p:nvPicPr>
          <p:cNvPr id="109" name="Google Shape;109;p15" descr="problem.png"/>
          <p:cNvPicPr preferRelativeResize="0"/>
          <p:nvPr/>
        </p:nvPicPr>
        <p:blipFill rotWithShape="1">
          <a:blip r:embed="rId10">
            <a:alphaModFix/>
          </a:blip>
          <a:srcRect/>
          <a:stretch/>
        </p:blipFill>
        <p:spPr>
          <a:xfrm>
            <a:off x="1617784" y="571500"/>
            <a:ext cx="265236" cy="215503"/>
          </a:xfrm>
          <a:prstGeom prst="rect">
            <a:avLst/>
          </a:prstGeom>
          <a:noFill/>
          <a:ln>
            <a:noFill/>
          </a:ln>
        </p:spPr>
      </p:pic>
      <p:pic>
        <p:nvPicPr>
          <p:cNvPr id="110" name="Google Shape;110;p15" descr="revenue-streams.png"/>
          <p:cNvPicPr preferRelativeResize="0"/>
          <p:nvPr/>
        </p:nvPicPr>
        <p:blipFill rotWithShape="1">
          <a:blip r:embed="rId11">
            <a:alphaModFix/>
          </a:blip>
          <a:srcRect/>
          <a:stretch/>
        </p:blipFill>
        <p:spPr>
          <a:xfrm>
            <a:off x="8543193" y="3429000"/>
            <a:ext cx="266700" cy="215504"/>
          </a:xfrm>
          <a:prstGeom prst="rect">
            <a:avLst/>
          </a:prstGeom>
          <a:noFill/>
          <a:ln>
            <a:noFill/>
          </a:ln>
        </p:spPr>
      </p:pic>
      <p:pic>
        <p:nvPicPr>
          <p:cNvPr id="111" name="Google Shape;111;p15" descr="solution.png"/>
          <p:cNvPicPr preferRelativeResize="0"/>
          <p:nvPr/>
        </p:nvPicPr>
        <p:blipFill rotWithShape="1">
          <a:blip r:embed="rId12">
            <a:alphaModFix/>
          </a:blip>
          <a:srcRect/>
          <a:stretch/>
        </p:blipFill>
        <p:spPr>
          <a:xfrm>
            <a:off x="3371851" y="576263"/>
            <a:ext cx="266700" cy="215503"/>
          </a:xfrm>
          <a:prstGeom prst="rect">
            <a:avLst/>
          </a:prstGeom>
          <a:noFill/>
          <a:ln>
            <a:noFill/>
          </a:ln>
        </p:spPr>
      </p:pic>
      <p:pic>
        <p:nvPicPr>
          <p:cNvPr id="112" name="Google Shape;112;p15" descr="unfair-advantage.png"/>
          <p:cNvPicPr preferRelativeResize="0"/>
          <p:nvPr/>
        </p:nvPicPr>
        <p:blipFill rotWithShape="1">
          <a:blip r:embed="rId13">
            <a:alphaModFix/>
          </a:blip>
          <a:srcRect/>
          <a:stretch/>
        </p:blipFill>
        <p:spPr>
          <a:xfrm>
            <a:off x="6762751" y="571500"/>
            <a:ext cx="266700" cy="215503"/>
          </a:xfrm>
          <a:prstGeom prst="rect">
            <a:avLst/>
          </a:prstGeom>
          <a:noFill/>
          <a:ln>
            <a:noFill/>
          </a:ln>
        </p:spPr>
      </p:pic>
      <p:pic>
        <p:nvPicPr>
          <p:cNvPr id="113" name="Google Shape;113;p15" descr="unique-value-proposition.png"/>
          <p:cNvPicPr preferRelativeResize="0"/>
          <p:nvPr/>
        </p:nvPicPr>
        <p:blipFill rotWithShape="1">
          <a:blip r:embed="rId14">
            <a:alphaModFix/>
          </a:blip>
          <a:srcRect/>
          <a:stretch/>
        </p:blipFill>
        <p:spPr>
          <a:xfrm>
            <a:off x="5106866" y="571500"/>
            <a:ext cx="266700" cy="21550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3" Type="http://schemas.openxmlformats.org/officeDocument/2006/relationships/image" Target="../media/image27.png"/><Relationship Id="rId18" Type="http://schemas.openxmlformats.org/officeDocument/2006/relationships/image" Target="../media/image32.png"/><Relationship Id="rId26" Type="http://schemas.openxmlformats.org/officeDocument/2006/relationships/image" Target="../media/image40.png"/><Relationship Id="rId3" Type="http://schemas.openxmlformats.org/officeDocument/2006/relationships/image" Target="../media/image17.png"/><Relationship Id="rId21" Type="http://schemas.openxmlformats.org/officeDocument/2006/relationships/image" Target="../media/image35.jpg"/><Relationship Id="rId34" Type="http://schemas.openxmlformats.org/officeDocument/2006/relationships/image" Target="../media/image48.png"/><Relationship Id="rId7" Type="http://schemas.openxmlformats.org/officeDocument/2006/relationships/image" Target="../media/image21.jpg"/><Relationship Id="rId12" Type="http://schemas.openxmlformats.org/officeDocument/2006/relationships/image" Target="../media/image26.jpg"/><Relationship Id="rId17" Type="http://schemas.openxmlformats.org/officeDocument/2006/relationships/image" Target="../media/image31.jpg"/><Relationship Id="rId25" Type="http://schemas.openxmlformats.org/officeDocument/2006/relationships/image" Target="../media/image39.png"/><Relationship Id="rId33" Type="http://schemas.openxmlformats.org/officeDocument/2006/relationships/image" Target="../media/image47.png"/><Relationship Id="rId2" Type="http://schemas.openxmlformats.org/officeDocument/2006/relationships/notesSlide" Target="../notesSlides/notesSlide22.xml"/><Relationship Id="rId16" Type="http://schemas.openxmlformats.org/officeDocument/2006/relationships/image" Target="../media/image30.png"/><Relationship Id="rId20" Type="http://schemas.openxmlformats.org/officeDocument/2006/relationships/image" Target="../media/image34.png"/><Relationship Id="rId29" Type="http://schemas.openxmlformats.org/officeDocument/2006/relationships/image" Target="../media/image43.png"/><Relationship Id="rId1" Type="http://schemas.openxmlformats.org/officeDocument/2006/relationships/slideLayout" Target="../slideLayouts/slideLayout11.xml"/><Relationship Id="rId6" Type="http://schemas.openxmlformats.org/officeDocument/2006/relationships/image" Target="../media/image20.png"/><Relationship Id="rId11" Type="http://schemas.openxmlformats.org/officeDocument/2006/relationships/image" Target="../media/image25.jpg"/><Relationship Id="rId24" Type="http://schemas.openxmlformats.org/officeDocument/2006/relationships/image" Target="../media/image38.png"/><Relationship Id="rId32" Type="http://schemas.openxmlformats.org/officeDocument/2006/relationships/image" Target="../media/image46.png"/><Relationship Id="rId5" Type="http://schemas.openxmlformats.org/officeDocument/2006/relationships/image" Target="../media/image19.png"/><Relationship Id="rId15" Type="http://schemas.openxmlformats.org/officeDocument/2006/relationships/image" Target="../media/image29.png"/><Relationship Id="rId23" Type="http://schemas.openxmlformats.org/officeDocument/2006/relationships/image" Target="../media/image37.jpg"/><Relationship Id="rId28" Type="http://schemas.openxmlformats.org/officeDocument/2006/relationships/image" Target="../media/image42.png"/><Relationship Id="rId10" Type="http://schemas.openxmlformats.org/officeDocument/2006/relationships/image" Target="../media/image24.jpg"/><Relationship Id="rId19" Type="http://schemas.openxmlformats.org/officeDocument/2006/relationships/image" Target="../media/image33.png"/><Relationship Id="rId31" Type="http://schemas.openxmlformats.org/officeDocument/2006/relationships/image" Target="../media/image45.png"/><Relationship Id="rId4" Type="http://schemas.openxmlformats.org/officeDocument/2006/relationships/image" Target="../media/image18.jpg"/><Relationship Id="rId9" Type="http://schemas.openxmlformats.org/officeDocument/2006/relationships/image" Target="../media/image23.png"/><Relationship Id="rId14" Type="http://schemas.openxmlformats.org/officeDocument/2006/relationships/image" Target="../media/image28.png"/><Relationship Id="rId22" Type="http://schemas.openxmlformats.org/officeDocument/2006/relationships/image" Target="../media/image36.jpg"/><Relationship Id="rId27" Type="http://schemas.openxmlformats.org/officeDocument/2006/relationships/image" Target="../media/image41.png"/><Relationship Id="rId30" Type="http://schemas.openxmlformats.org/officeDocument/2006/relationships/image" Target="../media/image44.png"/><Relationship Id="rId35" Type="http://schemas.openxmlformats.org/officeDocument/2006/relationships/image" Target="../media/image49.png"/><Relationship Id="rId8" Type="http://schemas.openxmlformats.org/officeDocument/2006/relationships/image" Target="../media/image2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5" name="Google Shape;135;p17"/>
          <p:cNvCxnSpPr/>
          <p:nvPr/>
        </p:nvCxnSpPr>
        <p:spPr>
          <a:xfrm>
            <a:off x="2771550" y="0"/>
            <a:ext cx="0" cy="3838800"/>
          </a:xfrm>
          <a:prstGeom prst="straightConnector1">
            <a:avLst/>
          </a:prstGeom>
          <a:noFill/>
          <a:ln w="9525" cap="flat" cmpd="sng">
            <a:solidFill>
              <a:srgbClr val="666666"/>
            </a:solidFill>
            <a:prstDash val="solid"/>
            <a:round/>
            <a:headEnd type="none" w="med" len="med"/>
            <a:tailEnd type="none" w="med" len="med"/>
          </a:ln>
        </p:spPr>
      </p:cxnSp>
      <p:sp>
        <p:nvSpPr>
          <p:cNvPr id="136" name="Google Shape;136;p17"/>
          <p:cNvSpPr txBox="1">
            <a:spLocks noGrp="1"/>
          </p:cNvSpPr>
          <p:nvPr>
            <p:ph type="ctrTitle"/>
          </p:nvPr>
        </p:nvSpPr>
        <p:spPr>
          <a:xfrm>
            <a:off x="3022903" y="1355469"/>
            <a:ext cx="5290800" cy="2844600"/>
          </a:xfrm>
          <a:prstGeom prst="rect">
            <a:avLst/>
          </a:prstGeom>
        </p:spPr>
        <p:txBody>
          <a:bodyPr spcFirstLastPara="1" wrap="square" lIns="91425" tIns="91425" rIns="91425" bIns="91425" anchor="b" anchorCtr="0">
            <a:normAutofit/>
          </a:bodyPr>
          <a:lstStyle/>
          <a:p>
            <a:pPr marL="0" lvl="0" indent="0" algn="l" rtl="0">
              <a:lnSpc>
                <a:spcPct val="80000"/>
              </a:lnSpc>
              <a:spcBef>
                <a:spcPts val="0"/>
              </a:spcBef>
              <a:spcAft>
                <a:spcPts val="0"/>
              </a:spcAft>
              <a:buNone/>
            </a:pPr>
            <a:r>
              <a:rPr lang="en" sz="3600" b="1">
                <a:solidFill>
                  <a:srgbClr val="000099"/>
                </a:solidFill>
              </a:rPr>
              <a:t>Technology Innovation HUB</a:t>
            </a:r>
            <a:endParaRPr sz="3600" b="1">
              <a:solidFill>
                <a:srgbClr val="000099"/>
              </a:solidFill>
            </a:endParaRPr>
          </a:p>
          <a:p>
            <a:pPr marL="0" lvl="0" indent="0" algn="l" rtl="0">
              <a:lnSpc>
                <a:spcPct val="80000"/>
              </a:lnSpc>
              <a:spcBef>
                <a:spcPts val="0"/>
              </a:spcBef>
              <a:spcAft>
                <a:spcPts val="0"/>
              </a:spcAft>
              <a:buClr>
                <a:schemeClr val="dk1"/>
              </a:buClr>
              <a:buSzPts val="1100"/>
              <a:buFont typeface="Arial"/>
              <a:buNone/>
            </a:pPr>
            <a:r>
              <a:rPr lang="en" sz="3600" b="1"/>
              <a:t>Program Update</a:t>
            </a:r>
            <a:endParaRPr sz="3600" b="1"/>
          </a:p>
          <a:p>
            <a:pPr marL="0" lvl="0" indent="0" algn="l" rtl="0">
              <a:lnSpc>
                <a:spcPct val="80000"/>
              </a:lnSpc>
              <a:spcBef>
                <a:spcPts val="0"/>
              </a:spcBef>
              <a:spcAft>
                <a:spcPts val="0"/>
              </a:spcAft>
              <a:buClr>
                <a:schemeClr val="dk1"/>
              </a:buClr>
              <a:buSzPts val="1100"/>
              <a:buFont typeface="Arial"/>
              <a:buNone/>
            </a:pPr>
            <a:endParaRPr sz="3600"/>
          </a:p>
          <a:p>
            <a:pPr marL="0" lvl="0" indent="0" algn="l" rtl="0">
              <a:lnSpc>
                <a:spcPct val="80000"/>
              </a:lnSpc>
              <a:spcBef>
                <a:spcPts val="0"/>
              </a:spcBef>
              <a:spcAft>
                <a:spcPts val="0"/>
              </a:spcAft>
              <a:buNone/>
            </a:pPr>
            <a:endParaRPr sz="3600"/>
          </a:p>
        </p:txBody>
      </p:sp>
      <p:sp>
        <p:nvSpPr>
          <p:cNvPr id="137" name="Google Shape;137;p17"/>
          <p:cNvSpPr txBox="1">
            <a:spLocks noGrp="1"/>
          </p:cNvSpPr>
          <p:nvPr>
            <p:ph type="subTitle" idx="1"/>
          </p:nvPr>
        </p:nvSpPr>
        <p:spPr>
          <a:xfrm>
            <a:off x="3045539" y="3369531"/>
            <a:ext cx="4571100" cy="1373807"/>
          </a:xfrm>
          <a:prstGeom prst="rect">
            <a:avLst/>
          </a:prstGeom>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 sz="1120" dirty="0"/>
              <a:t>For the </a:t>
            </a:r>
            <a:r>
              <a:rPr lang="en" sz="1120" b="1" dirty="0">
                <a:latin typeface="Montserrat"/>
                <a:ea typeface="Montserrat"/>
                <a:cs typeface="Montserrat"/>
                <a:sym typeface="Montserrat"/>
              </a:rPr>
              <a:t>National Football League</a:t>
            </a:r>
            <a:endParaRPr sz="1120" b="1" dirty="0">
              <a:latin typeface="Montserrat"/>
              <a:ea typeface="Montserrat"/>
              <a:cs typeface="Montserrat"/>
              <a:sym typeface="Montserrat"/>
            </a:endParaRPr>
          </a:p>
          <a:p>
            <a:pPr marL="0" lvl="0" indent="0" algn="l" rtl="0">
              <a:lnSpc>
                <a:spcPct val="115000"/>
              </a:lnSpc>
              <a:spcBef>
                <a:spcPts val="0"/>
              </a:spcBef>
              <a:spcAft>
                <a:spcPts val="0"/>
              </a:spcAft>
              <a:buSzPts val="605"/>
              <a:buNone/>
            </a:pPr>
            <a:r>
              <a:rPr lang="en" sz="1120" dirty="0"/>
              <a:t>Program Update   </a:t>
            </a:r>
            <a:r>
              <a:rPr lang="en" sz="900" dirty="0"/>
              <a:t>I</a:t>
            </a:r>
            <a:r>
              <a:rPr lang="en" sz="1120" dirty="0"/>
              <a:t>   January 8, 2024 </a:t>
            </a:r>
            <a:endParaRPr sz="1120" dirty="0"/>
          </a:p>
          <a:p>
            <a:pPr marL="0" lvl="0" indent="0" algn="l" rtl="0">
              <a:lnSpc>
                <a:spcPct val="115000"/>
              </a:lnSpc>
              <a:spcBef>
                <a:spcPts val="0"/>
              </a:spcBef>
              <a:spcAft>
                <a:spcPts val="0"/>
              </a:spcAft>
              <a:buSzPts val="605"/>
              <a:buNone/>
            </a:pPr>
            <a:r>
              <a:rPr lang="en" sz="1120" b="1" dirty="0" err="1"/>
              <a:t>Tye</a:t>
            </a:r>
            <a:r>
              <a:rPr lang="en" sz="1120" b="1" dirty="0">
                <a:latin typeface="Montserrat"/>
                <a:ea typeface="Montserrat"/>
                <a:cs typeface="Montserrat"/>
                <a:sym typeface="Montserrat"/>
              </a:rPr>
              <a:t> Hayes</a:t>
            </a:r>
            <a:r>
              <a:rPr lang="en" sz="1120" dirty="0"/>
              <a:t>, CEO, N-Ovate Solutions</a:t>
            </a:r>
            <a:endParaRPr sz="1120" dirty="0"/>
          </a:p>
          <a:p>
            <a:pPr marL="0" lvl="0" indent="0" algn="l" rtl="0">
              <a:lnSpc>
                <a:spcPct val="115000"/>
              </a:lnSpc>
              <a:spcBef>
                <a:spcPts val="0"/>
              </a:spcBef>
              <a:spcAft>
                <a:spcPts val="0"/>
              </a:spcAft>
              <a:buSzPts val="605"/>
              <a:buNone/>
            </a:pPr>
            <a:r>
              <a:rPr lang="en" sz="1120" b="1" dirty="0"/>
              <a:t>Jeff </a:t>
            </a:r>
            <a:r>
              <a:rPr lang="en" sz="1120" b="1" dirty="0" err="1"/>
              <a:t>Cratty</a:t>
            </a:r>
            <a:r>
              <a:rPr lang="en" sz="1120" dirty="0"/>
              <a:t>, CTO, N-Ovate Solutions</a:t>
            </a:r>
            <a:endParaRPr sz="1120" dirty="0"/>
          </a:p>
          <a:p>
            <a:pPr marL="0" lvl="0" indent="0" algn="l" rtl="0">
              <a:lnSpc>
                <a:spcPct val="115000"/>
              </a:lnSpc>
              <a:spcBef>
                <a:spcPts val="0"/>
              </a:spcBef>
              <a:spcAft>
                <a:spcPts val="0"/>
              </a:spcAft>
              <a:buSzPts val="605"/>
              <a:buNone/>
            </a:pPr>
            <a:r>
              <a:rPr lang="en" sz="1120" b="1" dirty="0"/>
              <a:t>Brad </a:t>
            </a:r>
            <a:r>
              <a:rPr lang="en" sz="1120" b="1" dirty="0" err="1"/>
              <a:t>Boim</a:t>
            </a:r>
            <a:r>
              <a:rPr lang="en" sz="1120" dirty="0"/>
              <a:t>, Sr. Director, Post Production-Media</a:t>
            </a:r>
            <a:endParaRPr sz="1120" dirty="0"/>
          </a:p>
          <a:p>
            <a:pPr marL="0" lvl="0" indent="0" algn="l" rtl="0">
              <a:lnSpc>
                <a:spcPct val="115000"/>
              </a:lnSpc>
              <a:spcBef>
                <a:spcPts val="0"/>
              </a:spcBef>
              <a:spcAft>
                <a:spcPts val="0"/>
              </a:spcAft>
              <a:buSzPts val="605"/>
              <a:buNone/>
            </a:pPr>
            <a:endParaRPr sz="1120" dirty="0"/>
          </a:p>
        </p:txBody>
      </p:sp>
      <p:sp>
        <p:nvSpPr>
          <p:cNvPr id="138" name="Google Shape;138;p17"/>
          <p:cNvSpPr/>
          <p:nvPr/>
        </p:nvSpPr>
        <p:spPr>
          <a:xfrm>
            <a:off x="8188099" y="4031069"/>
            <a:ext cx="772176" cy="912829"/>
          </a:xfrm>
          <a:custGeom>
            <a:avLst/>
            <a:gdLst/>
            <a:ahLst/>
            <a:cxnLst/>
            <a:rect l="l" t="t" r="r" b="b"/>
            <a:pathLst>
              <a:path w="12869601" h="6638759" extrusionOk="0">
                <a:moveTo>
                  <a:pt x="0" y="0"/>
                </a:moveTo>
                <a:lnTo>
                  <a:pt x="12869601" y="0"/>
                </a:lnTo>
                <a:lnTo>
                  <a:pt x="12869601" y="6638759"/>
                </a:lnTo>
                <a:lnTo>
                  <a:pt x="0" y="6638759"/>
                </a:lnTo>
                <a:lnTo>
                  <a:pt x="0" y="0"/>
                </a:lnTo>
                <a:close/>
              </a:path>
            </a:pathLst>
          </a:custGeom>
          <a:blipFill rotWithShape="1">
            <a:blip r:embed="rId3">
              <a:alphaModFix/>
            </a:blip>
            <a:stretch>
              <a:fillRect l="-102802" t="-28588" r="-109932" b="-27147"/>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b="0" i="0" u="none" strike="noStrike" cap="non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8"/>
          <p:cNvSpPr/>
          <p:nvPr/>
        </p:nvSpPr>
        <p:spPr>
          <a:xfrm>
            <a:off x="982375" y="1564525"/>
            <a:ext cx="402000" cy="393600"/>
          </a:xfrm>
          <a:prstGeom prst="ellipse">
            <a:avLst/>
          </a:prstGeom>
          <a:solidFill>
            <a:srgbClr val="00009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FFFF"/>
                </a:solidFill>
                <a:latin typeface="Open Sans"/>
                <a:ea typeface="Open Sans"/>
                <a:cs typeface="Open Sans"/>
                <a:sym typeface="Open Sans"/>
              </a:rPr>
              <a:t>1</a:t>
            </a:r>
            <a:endParaRPr sz="1400" b="1" i="0" u="none" strike="noStrike" cap="none">
              <a:solidFill>
                <a:srgbClr val="FFFFFF"/>
              </a:solidFill>
              <a:latin typeface="Open Sans"/>
              <a:ea typeface="Open Sans"/>
              <a:cs typeface="Open Sans"/>
              <a:sym typeface="Open Sans"/>
            </a:endParaRPr>
          </a:p>
        </p:txBody>
      </p:sp>
      <p:sp>
        <p:nvSpPr>
          <p:cNvPr id="144" name="Google Shape;144;p18"/>
          <p:cNvSpPr/>
          <p:nvPr/>
        </p:nvSpPr>
        <p:spPr>
          <a:xfrm>
            <a:off x="4487950" y="1564525"/>
            <a:ext cx="402000" cy="393600"/>
          </a:xfrm>
          <a:prstGeom prst="ellipse">
            <a:avLst/>
          </a:prstGeom>
          <a:solidFill>
            <a:srgbClr val="00009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FFFF"/>
                </a:solidFill>
                <a:latin typeface="Open Sans"/>
                <a:ea typeface="Open Sans"/>
                <a:cs typeface="Open Sans"/>
                <a:sym typeface="Open Sans"/>
              </a:rPr>
              <a:t>3</a:t>
            </a:r>
            <a:endParaRPr sz="1400" b="1" i="0" u="none" strike="noStrike" cap="none">
              <a:solidFill>
                <a:srgbClr val="FFFFFF"/>
              </a:solidFill>
              <a:latin typeface="Open Sans"/>
              <a:ea typeface="Open Sans"/>
              <a:cs typeface="Open Sans"/>
              <a:sym typeface="Open Sans"/>
            </a:endParaRPr>
          </a:p>
        </p:txBody>
      </p:sp>
      <p:sp>
        <p:nvSpPr>
          <p:cNvPr id="145" name="Google Shape;145;p18"/>
          <p:cNvSpPr/>
          <p:nvPr/>
        </p:nvSpPr>
        <p:spPr>
          <a:xfrm>
            <a:off x="982375" y="2698225"/>
            <a:ext cx="402000" cy="393600"/>
          </a:xfrm>
          <a:prstGeom prst="ellipse">
            <a:avLst/>
          </a:prstGeom>
          <a:solidFill>
            <a:srgbClr val="00009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FFFF"/>
                </a:solidFill>
                <a:latin typeface="Open Sans"/>
                <a:ea typeface="Open Sans"/>
                <a:cs typeface="Open Sans"/>
                <a:sym typeface="Open Sans"/>
              </a:rPr>
              <a:t>2</a:t>
            </a:r>
            <a:endParaRPr sz="1400" b="1" i="0" u="none" strike="noStrike" cap="none">
              <a:solidFill>
                <a:srgbClr val="FFFFFF"/>
              </a:solidFill>
              <a:latin typeface="Open Sans"/>
              <a:ea typeface="Open Sans"/>
              <a:cs typeface="Open Sans"/>
              <a:sym typeface="Open Sans"/>
            </a:endParaRPr>
          </a:p>
        </p:txBody>
      </p:sp>
      <p:sp>
        <p:nvSpPr>
          <p:cNvPr id="146" name="Google Shape;146;p18"/>
          <p:cNvSpPr/>
          <p:nvPr/>
        </p:nvSpPr>
        <p:spPr>
          <a:xfrm>
            <a:off x="4487950" y="2698225"/>
            <a:ext cx="402000" cy="393600"/>
          </a:xfrm>
          <a:prstGeom prst="ellipse">
            <a:avLst/>
          </a:prstGeom>
          <a:solidFill>
            <a:srgbClr val="00009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FFFF"/>
                </a:solidFill>
                <a:latin typeface="Open Sans"/>
                <a:ea typeface="Open Sans"/>
                <a:cs typeface="Open Sans"/>
                <a:sym typeface="Open Sans"/>
              </a:rPr>
              <a:t>4</a:t>
            </a:r>
            <a:endParaRPr sz="1400" b="1" i="0" u="none" strike="noStrike" cap="none">
              <a:solidFill>
                <a:srgbClr val="FFFFFF"/>
              </a:solidFill>
              <a:latin typeface="Open Sans"/>
              <a:ea typeface="Open Sans"/>
              <a:cs typeface="Open Sans"/>
              <a:sym typeface="Open Sans"/>
            </a:endParaRPr>
          </a:p>
        </p:txBody>
      </p:sp>
      <p:sp>
        <p:nvSpPr>
          <p:cNvPr id="147" name="Google Shape;147;p18"/>
          <p:cNvSpPr txBox="1">
            <a:spLocks noGrp="1"/>
          </p:cNvSpPr>
          <p:nvPr>
            <p:ph type="title"/>
          </p:nvPr>
        </p:nvSpPr>
        <p:spPr>
          <a:xfrm>
            <a:off x="1452725" y="1564525"/>
            <a:ext cx="2514300" cy="1109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50" b="1"/>
              <a:t>Background</a:t>
            </a:r>
            <a:endParaRPr sz="1250" b="1"/>
          </a:p>
          <a:p>
            <a:pPr marL="0" lvl="0" indent="0" algn="l" rtl="0">
              <a:spcBef>
                <a:spcPts val="0"/>
              </a:spcBef>
              <a:spcAft>
                <a:spcPts val="0"/>
              </a:spcAft>
              <a:buClr>
                <a:schemeClr val="dk1"/>
              </a:buClr>
              <a:buSzPts val="1100"/>
              <a:buFont typeface="Arial"/>
              <a:buNone/>
            </a:pPr>
            <a:r>
              <a:rPr lang="en" sz="1050"/>
              <a:t>Recap of Previous Presentation</a:t>
            </a:r>
            <a:endParaRPr sz="1050"/>
          </a:p>
          <a:p>
            <a:pPr marL="0" lvl="0" indent="0" algn="l" rtl="0">
              <a:spcBef>
                <a:spcPts val="0"/>
              </a:spcBef>
              <a:spcAft>
                <a:spcPts val="0"/>
              </a:spcAft>
              <a:buClr>
                <a:schemeClr val="dk1"/>
              </a:buClr>
              <a:buSzPts val="1100"/>
              <a:buFont typeface="Arial"/>
              <a:buNone/>
            </a:pPr>
            <a:r>
              <a:rPr lang="en" sz="1050"/>
              <a:t>Explanation of Value Zone</a:t>
            </a:r>
            <a:endParaRPr sz="1050"/>
          </a:p>
          <a:p>
            <a:pPr marL="0" lvl="0" indent="0" algn="l" rtl="0">
              <a:spcBef>
                <a:spcPts val="0"/>
              </a:spcBef>
              <a:spcAft>
                <a:spcPts val="0"/>
              </a:spcAft>
              <a:buClr>
                <a:schemeClr val="dk1"/>
              </a:buClr>
              <a:buSzPts val="1100"/>
              <a:buFont typeface="Arial"/>
              <a:buNone/>
            </a:pPr>
            <a:endParaRPr sz="1050"/>
          </a:p>
          <a:p>
            <a:pPr marL="0" lvl="0" indent="0" algn="l" rtl="0">
              <a:spcBef>
                <a:spcPts val="0"/>
              </a:spcBef>
              <a:spcAft>
                <a:spcPts val="0"/>
              </a:spcAft>
              <a:buClr>
                <a:schemeClr val="dk1"/>
              </a:buClr>
              <a:buSzPts val="1100"/>
              <a:buFont typeface="Arial"/>
              <a:buNone/>
            </a:pPr>
            <a:endParaRPr sz="1050"/>
          </a:p>
          <a:p>
            <a:pPr marL="0" lvl="0" indent="0" algn="l" rtl="0">
              <a:spcBef>
                <a:spcPts val="0"/>
              </a:spcBef>
              <a:spcAft>
                <a:spcPts val="0"/>
              </a:spcAft>
              <a:buClr>
                <a:schemeClr val="dk1"/>
              </a:buClr>
              <a:buSzPts val="990"/>
              <a:buFont typeface="Arial"/>
              <a:buNone/>
            </a:pPr>
            <a:endParaRPr sz="1050"/>
          </a:p>
        </p:txBody>
      </p:sp>
      <p:sp>
        <p:nvSpPr>
          <p:cNvPr id="148" name="Google Shape;148;p18"/>
          <p:cNvSpPr txBox="1">
            <a:spLocks noGrp="1"/>
          </p:cNvSpPr>
          <p:nvPr>
            <p:ph type="title"/>
          </p:nvPr>
        </p:nvSpPr>
        <p:spPr>
          <a:xfrm>
            <a:off x="4966150" y="2678575"/>
            <a:ext cx="2699400" cy="1143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90"/>
              <a:buNone/>
            </a:pPr>
            <a:r>
              <a:rPr lang="en" sz="1250" b="1"/>
              <a:t>Pilot Project Updates</a:t>
            </a:r>
            <a:endParaRPr sz="1250" b="1"/>
          </a:p>
          <a:p>
            <a:pPr marL="0" lvl="0" indent="0" algn="l" rtl="0">
              <a:spcBef>
                <a:spcPts val="0"/>
              </a:spcBef>
              <a:spcAft>
                <a:spcPts val="0"/>
              </a:spcAft>
              <a:buClr>
                <a:schemeClr val="dk1"/>
              </a:buClr>
              <a:buSzPts val="1100"/>
              <a:buFont typeface="Arial"/>
              <a:buNone/>
            </a:pPr>
            <a:r>
              <a:rPr lang="en" sz="1050"/>
              <a:t>Optical Tracking Progress</a:t>
            </a:r>
            <a:endParaRPr sz="1050"/>
          </a:p>
          <a:p>
            <a:pPr marL="0" lvl="0" indent="0" algn="l" rtl="0">
              <a:spcBef>
                <a:spcPts val="0"/>
              </a:spcBef>
              <a:spcAft>
                <a:spcPts val="0"/>
              </a:spcAft>
              <a:buClr>
                <a:schemeClr val="dk1"/>
              </a:buClr>
              <a:buSzPts val="1100"/>
              <a:buFont typeface="Arial"/>
              <a:buNone/>
            </a:pPr>
            <a:r>
              <a:rPr lang="en" sz="1050"/>
              <a:t>NFL Player View Project Developments</a:t>
            </a:r>
            <a:endParaRPr sz="1050"/>
          </a:p>
          <a:p>
            <a:pPr marL="0" lvl="0" indent="0" algn="l" rtl="0">
              <a:spcBef>
                <a:spcPts val="0"/>
              </a:spcBef>
              <a:spcAft>
                <a:spcPts val="0"/>
              </a:spcAft>
              <a:buClr>
                <a:schemeClr val="dk1"/>
              </a:buClr>
              <a:buSzPts val="1100"/>
              <a:buFont typeface="Arial"/>
              <a:buNone/>
            </a:pPr>
            <a:r>
              <a:rPr lang="en" sz="1050"/>
              <a:t>NLP / Multi-modal AI Milestones</a:t>
            </a:r>
            <a:endParaRPr sz="1050"/>
          </a:p>
          <a:p>
            <a:pPr marL="0" lvl="0" indent="0" algn="l" rtl="0">
              <a:spcBef>
                <a:spcPts val="0"/>
              </a:spcBef>
              <a:spcAft>
                <a:spcPts val="0"/>
              </a:spcAft>
              <a:buClr>
                <a:schemeClr val="dk1"/>
              </a:buClr>
              <a:buSzPts val="1100"/>
              <a:buFont typeface="Arial"/>
              <a:buNone/>
            </a:pPr>
            <a:endParaRPr sz="1050"/>
          </a:p>
          <a:p>
            <a:pPr marL="0" lvl="0" indent="0" algn="l" rtl="0">
              <a:spcBef>
                <a:spcPts val="0"/>
              </a:spcBef>
              <a:spcAft>
                <a:spcPts val="0"/>
              </a:spcAft>
              <a:buClr>
                <a:schemeClr val="dk1"/>
              </a:buClr>
              <a:buSzPts val="990"/>
              <a:buFont typeface="Arial"/>
              <a:buNone/>
            </a:pPr>
            <a:endParaRPr sz="1050"/>
          </a:p>
        </p:txBody>
      </p:sp>
      <p:sp>
        <p:nvSpPr>
          <p:cNvPr id="149" name="Google Shape;149;p18"/>
          <p:cNvSpPr txBox="1">
            <a:spLocks noGrp="1"/>
          </p:cNvSpPr>
          <p:nvPr>
            <p:ph type="title"/>
          </p:nvPr>
        </p:nvSpPr>
        <p:spPr>
          <a:xfrm>
            <a:off x="1452725" y="2678575"/>
            <a:ext cx="2514300" cy="119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90"/>
              <a:buNone/>
            </a:pPr>
            <a:r>
              <a:rPr lang="en" sz="1250" b="1"/>
              <a:t>Innovation HUB</a:t>
            </a:r>
            <a:endParaRPr sz="1250" b="1">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050"/>
              <a:t>Program Design and Criteria</a:t>
            </a:r>
            <a:br>
              <a:rPr lang="en" sz="1050"/>
            </a:br>
            <a:r>
              <a:rPr lang="en" sz="1050"/>
              <a:t>Governance Structure </a:t>
            </a:r>
            <a:endParaRPr sz="1050"/>
          </a:p>
        </p:txBody>
      </p:sp>
      <p:sp>
        <p:nvSpPr>
          <p:cNvPr id="150" name="Google Shape;150;p18"/>
          <p:cNvSpPr txBox="1">
            <a:spLocks noGrp="1"/>
          </p:cNvSpPr>
          <p:nvPr>
            <p:ph type="title"/>
          </p:nvPr>
        </p:nvSpPr>
        <p:spPr>
          <a:xfrm>
            <a:off x="5028700" y="1564525"/>
            <a:ext cx="2559900" cy="779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50" b="1"/>
              <a:t>Operating Model of the Innovation Hub</a:t>
            </a:r>
            <a:endParaRPr sz="1250" b="1"/>
          </a:p>
          <a:p>
            <a:pPr marL="0" lvl="0" indent="0" algn="l" rtl="0">
              <a:spcBef>
                <a:spcPts val="0"/>
              </a:spcBef>
              <a:spcAft>
                <a:spcPts val="0"/>
              </a:spcAft>
              <a:buClr>
                <a:schemeClr val="dk1"/>
              </a:buClr>
              <a:buSzPts val="1100"/>
              <a:buFont typeface="Arial"/>
              <a:buNone/>
            </a:pPr>
            <a:r>
              <a:rPr lang="en" sz="1050"/>
              <a:t>Execution Phase Gates</a:t>
            </a:r>
            <a:endParaRPr sz="1050"/>
          </a:p>
          <a:p>
            <a:pPr marL="0" lvl="0" indent="0" algn="l" rtl="0">
              <a:spcBef>
                <a:spcPts val="0"/>
              </a:spcBef>
              <a:spcAft>
                <a:spcPts val="0"/>
              </a:spcAft>
              <a:buClr>
                <a:schemeClr val="dk1"/>
              </a:buClr>
              <a:buSzPts val="1100"/>
              <a:buFont typeface="Arial"/>
              <a:buNone/>
            </a:pPr>
            <a:endParaRPr sz="1050"/>
          </a:p>
          <a:p>
            <a:pPr marL="0" lvl="0" indent="0" algn="l" rtl="0">
              <a:spcBef>
                <a:spcPts val="0"/>
              </a:spcBef>
              <a:spcAft>
                <a:spcPts val="0"/>
              </a:spcAft>
              <a:buClr>
                <a:schemeClr val="dk1"/>
              </a:buClr>
              <a:buSzPts val="1100"/>
              <a:buFont typeface="Arial"/>
              <a:buNone/>
            </a:pPr>
            <a:endParaRPr sz="1050"/>
          </a:p>
          <a:p>
            <a:pPr marL="0" lvl="0" indent="0" algn="l" rtl="0">
              <a:lnSpc>
                <a:spcPct val="100000"/>
              </a:lnSpc>
              <a:spcBef>
                <a:spcPts val="0"/>
              </a:spcBef>
              <a:spcAft>
                <a:spcPts val="0"/>
              </a:spcAft>
              <a:buSzPts val="990"/>
              <a:buNone/>
            </a:pPr>
            <a:endParaRPr sz="1250" b="1">
              <a:latin typeface="Montserrat"/>
              <a:ea typeface="Montserrat"/>
              <a:cs typeface="Montserrat"/>
              <a:sym typeface="Montserrat"/>
            </a:endParaRPr>
          </a:p>
        </p:txBody>
      </p:sp>
      <p:sp>
        <p:nvSpPr>
          <p:cNvPr id="151" name="Google Shape;151;p18"/>
          <p:cNvSpPr txBox="1">
            <a:spLocks noGrp="1"/>
          </p:cNvSpPr>
          <p:nvPr>
            <p:ph type="title"/>
          </p:nvPr>
        </p:nvSpPr>
        <p:spPr>
          <a:xfrm>
            <a:off x="725550" y="365275"/>
            <a:ext cx="7756200" cy="1155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800"/>
              <a:buNone/>
            </a:pPr>
            <a:r>
              <a:rPr lang="en" sz="3300" b="1">
                <a:solidFill>
                  <a:srgbClr val="EF4138"/>
                </a:solidFill>
              </a:rPr>
              <a:t>Meeting Agenda</a:t>
            </a:r>
            <a:endParaRPr sz="3300">
              <a:solidFill>
                <a:srgbClr val="EF4138"/>
              </a:solidFill>
            </a:endParaRPr>
          </a:p>
        </p:txBody>
      </p:sp>
      <p:sp>
        <p:nvSpPr>
          <p:cNvPr id="152" name="Google Shape;152;p18"/>
          <p:cNvSpPr/>
          <p:nvPr/>
        </p:nvSpPr>
        <p:spPr>
          <a:xfrm>
            <a:off x="4487950" y="3884700"/>
            <a:ext cx="402000" cy="393600"/>
          </a:xfrm>
          <a:prstGeom prst="ellipse">
            <a:avLst/>
          </a:prstGeom>
          <a:solidFill>
            <a:srgbClr val="00009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b="1">
                <a:solidFill>
                  <a:srgbClr val="FFFFFF"/>
                </a:solidFill>
                <a:latin typeface="Open Sans"/>
                <a:ea typeface="Open Sans"/>
                <a:cs typeface="Open Sans"/>
                <a:sym typeface="Open Sans"/>
              </a:rPr>
              <a:t>5</a:t>
            </a:r>
            <a:endParaRPr sz="1400" b="1" i="0" u="none" strike="noStrike" cap="none">
              <a:solidFill>
                <a:srgbClr val="FFFFFF"/>
              </a:solidFill>
              <a:latin typeface="Open Sans"/>
              <a:ea typeface="Open Sans"/>
              <a:cs typeface="Open Sans"/>
              <a:sym typeface="Open Sans"/>
            </a:endParaRPr>
          </a:p>
        </p:txBody>
      </p:sp>
      <p:sp>
        <p:nvSpPr>
          <p:cNvPr id="153" name="Google Shape;153;p18"/>
          <p:cNvSpPr txBox="1">
            <a:spLocks noGrp="1"/>
          </p:cNvSpPr>
          <p:nvPr>
            <p:ph type="title"/>
          </p:nvPr>
        </p:nvSpPr>
        <p:spPr>
          <a:xfrm>
            <a:off x="4966150" y="3884700"/>
            <a:ext cx="2409600" cy="1143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90"/>
              <a:buNone/>
            </a:pPr>
            <a:r>
              <a:rPr lang="en" sz="1250" b="1"/>
              <a:t>NLP / Multi-modal AI Pitch</a:t>
            </a:r>
            <a:endParaRPr sz="1250" b="1"/>
          </a:p>
          <a:p>
            <a:pPr marL="0" lvl="0" indent="0" algn="l" rtl="0">
              <a:spcBef>
                <a:spcPts val="0"/>
              </a:spcBef>
              <a:spcAft>
                <a:spcPts val="0"/>
              </a:spcAft>
              <a:buClr>
                <a:schemeClr val="dk1"/>
              </a:buClr>
              <a:buSzPts val="1100"/>
              <a:buFont typeface="Arial"/>
              <a:buNone/>
            </a:pPr>
            <a:r>
              <a:rPr lang="en" sz="1050"/>
              <a:t>Introduction</a:t>
            </a:r>
            <a:endParaRPr sz="1050"/>
          </a:p>
          <a:p>
            <a:pPr marL="0" lvl="0" indent="0" algn="l" rtl="0">
              <a:spcBef>
                <a:spcPts val="0"/>
              </a:spcBef>
              <a:spcAft>
                <a:spcPts val="0"/>
              </a:spcAft>
              <a:buClr>
                <a:schemeClr val="dk1"/>
              </a:buClr>
              <a:buSzPts val="990"/>
              <a:buFont typeface="Arial"/>
              <a:buNone/>
            </a:pPr>
            <a:r>
              <a:rPr lang="en" sz="1050"/>
              <a:t>Business Value</a:t>
            </a:r>
            <a:endParaRPr sz="1050"/>
          </a:p>
        </p:txBody>
      </p:sp>
      <p:sp>
        <p:nvSpPr>
          <p:cNvPr id="154" name="Google Shape;154;p18"/>
          <p:cNvSpPr/>
          <p:nvPr/>
        </p:nvSpPr>
        <p:spPr>
          <a:xfrm>
            <a:off x="8188099" y="4031069"/>
            <a:ext cx="772176" cy="912829"/>
          </a:xfrm>
          <a:custGeom>
            <a:avLst/>
            <a:gdLst/>
            <a:ahLst/>
            <a:cxnLst/>
            <a:rect l="l" t="t" r="r" b="b"/>
            <a:pathLst>
              <a:path w="12869601" h="6638759" extrusionOk="0">
                <a:moveTo>
                  <a:pt x="0" y="0"/>
                </a:moveTo>
                <a:lnTo>
                  <a:pt x="12869601" y="0"/>
                </a:lnTo>
                <a:lnTo>
                  <a:pt x="12869601" y="6638759"/>
                </a:lnTo>
                <a:lnTo>
                  <a:pt x="0" y="6638759"/>
                </a:lnTo>
                <a:lnTo>
                  <a:pt x="0" y="0"/>
                </a:lnTo>
                <a:close/>
              </a:path>
            </a:pathLst>
          </a:custGeom>
          <a:blipFill rotWithShape="1">
            <a:blip r:embed="rId3">
              <a:alphaModFix/>
            </a:blip>
            <a:stretch>
              <a:fillRect l="-102802" t="-28588" r="-109932" b="-27147"/>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b="0" i="0" u="none" strike="noStrike" cap="non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9"/>
          <p:cNvSpPr/>
          <p:nvPr/>
        </p:nvSpPr>
        <p:spPr>
          <a:xfrm>
            <a:off x="7496943" y="4366833"/>
            <a:ext cx="1327651" cy="388439"/>
          </a:xfrm>
          <a:custGeom>
            <a:avLst/>
            <a:gdLst/>
            <a:ahLst/>
            <a:cxnLst/>
            <a:rect l="l" t="t" r="r" b="b"/>
            <a:pathLst>
              <a:path w="2655302" h="776879" extrusionOk="0">
                <a:moveTo>
                  <a:pt x="0" y="0"/>
                </a:moveTo>
                <a:lnTo>
                  <a:pt x="2655302" y="0"/>
                </a:lnTo>
                <a:lnTo>
                  <a:pt x="2655302" y="776879"/>
                </a:lnTo>
                <a:lnTo>
                  <a:pt x="0" y="776879"/>
                </a:lnTo>
                <a:lnTo>
                  <a:pt x="0" y="0"/>
                </a:lnTo>
                <a:close/>
              </a:path>
            </a:pathLst>
          </a:custGeom>
          <a:blipFill rotWithShape="1">
            <a:blip r:embed="rId3">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64" name="Google Shape;164;p19"/>
          <p:cNvSpPr txBox="1"/>
          <p:nvPr/>
        </p:nvSpPr>
        <p:spPr>
          <a:xfrm>
            <a:off x="439887" y="506006"/>
            <a:ext cx="8262000" cy="461700"/>
          </a:xfrm>
          <a:prstGeom prst="rect">
            <a:avLst/>
          </a:prstGeom>
          <a:noFill/>
          <a:ln>
            <a:noFill/>
          </a:ln>
        </p:spPr>
        <p:txBody>
          <a:bodyPr spcFirstLastPara="1" wrap="square" lIns="0" tIns="0" rIns="0" bIns="0" anchor="t" anchorCtr="0">
            <a:spAutoFit/>
          </a:bodyPr>
          <a:lstStyle/>
          <a:p>
            <a:pPr marL="0" marR="0" lvl="0" indent="0" algn="l" rtl="0">
              <a:lnSpc>
                <a:spcPct val="144000"/>
              </a:lnSpc>
              <a:spcBef>
                <a:spcPts val="0"/>
              </a:spcBef>
              <a:spcAft>
                <a:spcPts val="0"/>
              </a:spcAft>
              <a:buNone/>
            </a:pPr>
            <a:r>
              <a:rPr lang="en" sz="3000" b="1" u="none">
                <a:solidFill>
                  <a:srgbClr val="000099"/>
                </a:solidFill>
                <a:latin typeface="Montserrat"/>
                <a:ea typeface="Montserrat"/>
                <a:cs typeface="Montserrat"/>
                <a:sym typeface="Montserrat"/>
              </a:rPr>
              <a:t>4 Zones Model:</a:t>
            </a:r>
            <a:r>
              <a:rPr lang="en" sz="3000" b="1" u="none">
                <a:solidFill>
                  <a:srgbClr val="003A74"/>
                </a:solidFill>
                <a:latin typeface="Montserrat"/>
                <a:ea typeface="Montserrat"/>
                <a:cs typeface="Montserrat"/>
                <a:sym typeface="Montserrat"/>
              </a:rPr>
              <a:t> </a:t>
            </a:r>
            <a:r>
              <a:rPr lang="en" sz="3000" b="1" u="none">
                <a:solidFill>
                  <a:srgbClr val="EF4138"/>
                </a:solidFill>
                <a:latin typeface="Montserrat"/>
                <a:ea typeface="Montserrat"/>
                <a:cs typeface="Montserrat"/>
                <a:sym typeface="Montserrat"/>
              </a:rPr>
              <a:t>Business Value Creation</a:t>
            </a:r>
            <a:endParaRPr sz="1100">
              <a:solidFill>
                <a:srgbClr val="EF4138"/>
              </a:solidFill>
            </a:endParaRPr>
          </a:p>
        </p:txBody>
      </p:sp>
      <p:cxnSp>
        <p:nvCxnSpPr>
          <p:cNvPr id="165" name="Google Shape;165;p19"/>
          <p:cNvCxnSpPr/>
          <p:nvPr/>
        </p:nvCxnSpPr>
        <p:spPr>
          <a:xfrm rot="19453">
            <a:off x="3097696" y="2752355"/>
            <a:ext cx="4188367" cy="0"/>
          </a:xfrm>
          <a:prstGeom prst="straightConnector1">
            <a:avLst/>
          </a:prstGeom>
          <a:noFill/>
          <a:ln w="9525" cap="rnd" cmpd="sng">
            <a:solidFill>
              <a:srgbClr val="808080"/>
            </a:solidFill>
            <a:prstDash val="solid"/>
            <a:round/>
            <a:headEnd type="none" w="sm" len="sm"/>
            <a:tailEnd type="none" w="sm" len="sm"/>
          </a:ln>
        </p:spPr>
      </p:cxnSp>
      <p:cxnSp>
        <p:nvCxnSpPr>
          <p:cNvPr id="166" name="Google Shape;166;p19"/>
          <p:cNvCxnSpPr/>
          <p:nvPr/>
        </p:nvCxnSpPr>
        <p:spPr>
          <a:xfrm rot="5358111">
            <a:off x="4219323" y="2764384"/>
            <a:ext cx="1945044" cy="0"/>
          </a:xfrm>
          <a:prstGeom prst="straightConnector1">
            <a:avLst/>
          </a:prstGeom>
          <a:noFill/>
          <a:ln w="9525" cap="rnd" cmpd="sng">
            <a:solidFill>
              <a:srgbClr val="808080"/>
            </a:solidFill>
            <a:prstDash val="solid"/>
            <a:round/>
            <a:headEnd type="none" w="sm" len="sm"/>
            <a:tailEnd type="none" w="sm" len="sm"/>
          </a:ln>
        </p:spPr>
      </p:cxnSp>
      <p:sp>
        <p:nvSpPr>
          <p:cNvPr id="167" name="Google Shape;167;p19"/>
          <p:cNvSpPr txBox="1"/>
          <p:nvPr/>
        </p:nvSpPr>
        <p:spPr>
          <a:xfrm>
            <a:off x="2902359" y="2216176"/>
            <a:ext cx="2146200" cy="215400"/>
          </a:xfrm>
          <a:prstGeom prst="rect">
            <a:avLst/>
          </a:prstGeom>
          <a:noFill/>
          <a:ln>
            <a:noFill/>
          </a:ln>
        </p:spPr>
        <p:txBody>
          <a:bodyPr spcFirstLastPara="1" wrap="square" lIns="0" tIns="0" rIns="0" bIns="0" anchor="t" anchorCtr="0">
            <a:spAutoFit/>
          </a:bodyPr>
          <a:lstStyle/>
          <a:p>
            <a:pPr marL="0" marR="0" lvl="0" indent="0" algn="l" rtl="0">
              <a:lnSpc>
                <a:spcPct val="135927"/>
              </a:lnSpc>
              <a:spcBef>
                <a:spcPts val="0"/>
              </a:spcBef>
              <a:spcAft>
                <a:spcPts val="0"/>
              </a:spcAft>
              <a:buNone/>
            </a:pPr>
            <a:r>
              <a:rPr lang="en" sz="1400" b="1" u="none">
                <a:solidFill>
                  <a:srgbClr val="000099"/>
                </a:solidFill>
                <a:latin typeface="Montserrat"/>
                <a:ea typeface="Montserrat"/>
                <a:cs typeface="Montserrat"/>
                <a:sym typeface="Montserrat"/>
              </a:rPr>
              <a:t>Transformation Zone</a:t>
            </a:r>
            <a:endParaRPr sz="1100">
              <a:solidFill>
                <a:srgbClr val="000099"/>
              </a:solidFill>
            </a:endParaRPr>
          </a:p>
        </p:txBody>
      </p:sp>
      <p:sp>
        <p:nvSpPr>
          <p:cNvPr id="168" name="Google Shape;168;p19"/>
          <p:cNvSpPr txBox="1"/>
          <p:nvPr/>
        </p:nvSpPr>
        <p:spPr>
          <a:xfrm>
            <a:off x="5416910" y="2216176"/>
            <a:ext cx="1839600" cy="215400"/>
          </a:xfrm>
          <a:prstGeom prst="rect">
            <a:avLst/>
          </a:prstGeom>
          <a:noFill/>
          <a:ln>
            <a:noFill/>
          </a:ln>
        </p:spPr>
        <p:txBody>
          <a:bodyPr spcFirstLastPara="1" wrap="square" lIns="0" tIns="0" rIns="0" bIns="0" anchor="t" anchorCtr="0">
            <a:spAutoFit/>
          </a:bodyPr>
          <a:lstStyle/>
          <a:p>
            <a:pPr marL="0" marR="0" lvl="0" indent="0" algn="ctr" rtl="0">
              <a:lnSpc>
                <a:spcPct val="135927"/>
              </a:lnSpc>
              <a:spcBef>
                <a:spcPts val="0"/>
              </a:spcBef>
              <a:spcAft>
                <a:spcPts val="0"/>
              </a:spcAft>
              <a:buNone/>
            </a:pPr>
            <a:r>
              <a:rPr lang="en" sz="1400" b="1" u="none">
                <a:solidFill>
                  <a:srgbClr val="EF4138"/>
                </a:solidFill>
                <a:latin typeface="Montserrat"/>
                <a:ea typeface="Montserrat"/>
                <a:cs typeface="Montserrat"/>
                <a:sym typeface="Montserrat"/>
              </a:rPr>
              <a:t>Performance Zone</a:t>
            </a:r>
            <a:endParaRPr sz="1100">
              <a:solidFill>
                <a:srgbClr val="EF4138"/>
              </a:solidFill>
            </a:endParaRPr>
          </a:p>
        </p:txBody>
      </p:sp>
      <p:sp>
        <p:nvSpPr>
          <p:cNvPr id="169" name="Google Shape;169;p19"/>
          <p:cNvSpPr txBox="1"/>
          <p:nvPr/>
        </p:nvSpPr>
        <p:spPr>
          <a:xfrm>
            <a:off x="5416910" y="3091139"/>
            <a:ext cx="1839600" cy="215400"/>
          </a:xfrm>
          <a:prstGeom prst="rect">
            <a:avLst/>
          </a:prstGeom>
          <a:noFill/>
          <a:ln>
            <a:noFill/>
          </a:ln>
        </p:spPr>
        <p:txBody>
          <a:bodyPr spcFirstLastPara="1" wrap="square" lIns="0" tIns="0" rIns="0" bIns="0" anchor="t" anchorCtr="0">
            <a:spAutoFit/>
          </a:bodyPr>
          <a:lstStyle/>
          <a:p>
            <a:pPr marL="0" marR="0" lvl="0" indent="0" algn="ctr" rtl="0">
              <a:lnSpc>
                <a:spcPct val="135927"/>
              </a:lnSpc>
              <a:spcBef>
                <a:spcPts val="0"/>
              </a:spcBef>
              <a:spcAft>
                <a:spcPts val="0"/>
              </a:spcAft>
              <a:buNone/>
            </a:pPr>
            <a:r>
              <a:rPr lang="en" sz="1400" b="1" u="none">
                <a:solidFill>
                  <a:srgbClr val="EF4138"/>
                </a:solidFill>
                <a:latin typeface="Montserrat"/>
                <a:ea typeface="Montserrat"/>
                <a:cs typeface="Montserrat"/>
                <a:sym typeface="Montserrat"/>
              </a:rPr>
              <a:t>Productivity Zone</a:t>
            </a:r>
            <a:endParaRPr sz="1100">
              <a:solidFill>
                <a:srgbClr val="EF4138"/>
              </a:solidFill>
            </a:endParaRPr>
          </a:p>
        </p:txBody>
      </p:sp>
      <p:sp>
        <p:nvSpPr>
          <p:cNvPr id="170" name="Google Shape;170;p19"/>
          <p:cNvSpPr txBox="1"/>
          <p:nvPr/>
        </p:nvSpPr>
        <p:spPr>
          <a:xfrm>
            <a:off x="2902359" y="3091139"/>
            <a:ext cx="1839600" cy="215400"/>
          </a:xfrm>
          <a:prstGeom prst="rect">
            <a:avLst/>
          </a:prstGeom>
          <a:noFill/>
          <a:ln>
            <a:noFill/>
          </a:ln>
        </p:spPr>
        <p:txBody>
          <a:bodyPr spcFirstLastPara="1" wrap="square" lIns="0" tIns="0" rIns="0" bIns="0" anchor="t" anchorCtr="0">
            <a:spAutoFit/>
          </a:bodyPr>
          <a:lstStyle/>
          <a:p>
            <a:pPr marL="0" marR="0" lvl="0" indent="0" algn="l" rtl="0">
              <a:lnSpc>
                <a:spcPct val="135927"/>
              </a:lnSpc>
              <a:spcBef>
                <a:spcPts val="0"/>
              </a:spcBef>
              <a:spcAft>
                <a:spcPts val="0"/>
              </a:spcAft>
              <a:buNone/>
            </a:pPr>
            <a:r>
              <a:rPr lang="en" sz="1400" b="1" u="none">
                <a:solidFill>
                  <a:srgbClr val="000099"/>
                </a:solidFill>
                <a:latin typeface="Montserrat"/>
                <a:ea typeface="Montserrat"/>
                <a:cs typeface="Montserrat"/>
                <a:sym typeface="Montserrat"/>
              </a:rPr>
              <a:t>Incubation Zone</a:t>
            </a:r>
            <a:endParaRPr sz="1100">
              <a:solidFill>
                <a:srgbClr val="000099"/>
              </a:solidFill>
            </a:endParaRPr>
          </a:p>
        </p:txBody>
      </p:sp>
      <p:grpSp>
        <p:nvGrpSpPr>
          <p:cNvPr id="171" name="Google Shape;171;p19"/>
          <p:cNvGrpSpPr/>
          <p:nvPr/>
        </p:nvGrpSpPr>
        <p:grpSpPr>
          <a:xfrm>
            <a:off x="975550" y="2028081"/>
            <a:ext cx="1724625" cy="591589"/>
            <a:chOff x="0" y="-306300"/>
            <a:chExt cx="4599000" cy="2018387"/>
          </a:xfrm>
        </p:grpSpPr>
        <p:sp>
          <p:nvSpPr>
            <p:cNvPr id="172" name="Google Shape;172;p19"/>
            <p:cNvSpPr/>
            <p:nvPr/>
          </p:nvSpPr>
          <p:spPr>
            <a:xfrm>
              <a:off x="0" y="0"/>
              <a:ext cx="4598797" cy="1712087"/>
            </a:xfrm>
            <a:custGeom>
              <a:avLst/>
              <a:gdLst/>
              <a:ahLst/>
              <a:cxnLst/>
              <a:rect l="l" t="t" r="r" b="b"/>
              <a:pathLst>
                <a:path w="4598797" h="1712087" extrusionOk="0">
                  <a:moveTo>
                    <a:pt x="0" y="0"/>
                  </a:moveTo>
                  <a:lnTo>
                    <a:pt x="4598797" y="0"/>
                  </a:lnTo>
                  <a:lnTo>
                    <a:pt x="4598797" y="1712087"/>
                  </a:lnTo>
                  <a:lnTo>
                    <a:pt x="0" y="1712087"/>
                  </a:ln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73" name="Google Shape;173;p19"/>
            <p:cNvSpPr txBox="1"/>
            <p:nvPr/>
          </p:nvSpPr>
          <p:spPr>
            <a:xfrm>
              <a:off x="0" y="-306300"/>
              <a:ext cx="4599000" cy="1854900"/>
            </a:xfrm>
            <a:prstGeom prst="rect">
              <a:avLst/>
            </a:prstGeom>
            <a:solidFill>
              <a:schemeClr val="lt1"/>
            </a:solidFill>
            <a:ln>
              <a:noFill/>
            </a:ln>
          </p:spPr>
          <p:txBody>
            <a:bodyPr spcFirstLastPara="1" wrap="square" lIns="25400" tIns="25400" rIns="25400" bIns="25400" anchor="t" anchorCtr="0">
              <a:noAutofit/>
            </a:bodyPr>
            <a:lstStyle/>
            <a:p>
              <a:pPr marL="0" marR="0" lvl="0" indent="0" algn="l" rtl="0">
                <a:lnSpc>
                  <a:spcPct val="100000"/>
                </a:lnSpc>
                <a:spcBef>
                  <a:spcPts val="0"/>
                </a:spcBef>
                <a:spcAft>
                  <a:spcPts val="0"/>
                </a:spcAft>
                <a:buNone/>
              </a:pPr>
              <a:r>
                <a:rPr lang="en" sz="1400" b="1" u="none">
                  <a:solidFill>
                    <a:schemeClr val="dk1"/>
                  </a:solidFill>
                  <a:latin typeface="Montserrat"/>
                  <a:ea typeface="Montserrat"/>
                  <a:cs typeface="Montserrat"/>
                  <a:sym typeface="Montserrat"/>
                </a:rPr>
                <a:t>NFL Goals &amp;</a:t>
              </a:r>
              <a:endParaRPr sz="1100">
                <a:solidFill>
                  <a:schemeClr val="dk1"/>
                </a:solidFill>
              </a:endParaRPr>
            </a:p>
            <a:p>
              <a:pPr marL="0" marR="0" lvl="0" indent="0" algn="l" rtl="0">
                <a:lnSpc>
                  <a:spcPct val="100000"/>
                </a:lnSpc>
                <a:spcBef>
                  <a:spcPts val="0"/>
                </a:spcBef>
                <a:spcAft>
                  <a:spcPts val="0"/>
                </a:spcAft>
                <a:buNone/>
              </a:pPr>
              <a:r>
                <a:rPr lang="en" sz="1400" b="1" u="none">
                  <a:solidFill>
                    <a:schemeClr val="dk1"/>
                  </a:solidFill>
                  <a:latin typeface="Montserrat"/>
                  <a:ea typeface="Montserrat"/>
                  <a:cs typeface="Montserrat"/>
                  <a:sym typeface="Montserrat"/>
                </a:rPr>
                <a:t>Focus Area</a:t>
              </a:r>
              <a:endParaRPr sz="1100">
                <a:solidFill>
                  <a:schemeClr val="dk1"/>
                </a:solidFill>
              </a:endParaRPr>
            </a:p>
          </p:txBody>
        </p:sp>
      </p:grpSp>
      <p:sp>
        <p:nvSpPr>
          <p:cNvPr id="174" name="Google Shape;174;p19"/>
          <p:cNvSpPr txBox="1"/>
          <p:nvPr/>
        </p:nvSpPr>
        <p:spPr>
          <a:xfrm>
            <a:off x="969000" y="3962450"/>
            <a:ext cx="6317100" cy="982800"/>
          </a:xfrm>
          <a:prstGeom prst="rect">
            <a:avLst/>
          </a:prstGeom>
          <a:noFill/>
          <a:ln>
            <a:noFill/>
          </a:ln>
        </p:spPr>
        <p:txBody>
          <a:bodyPr spcFirstLastPara="1" wrap="square" lIns="0" tIns="0" rIns="0" bIns="0" anchor="t" anchorCtr="0">
            <a:spAutoFit/>
          </a:bodyPr>
          <a:lstStyle/>
          <a:p>
            <a:pPr marL="457200" marR="0" lvl="0" indent="-304800" algn="l" rtl="0">
              <a:lnSpc>
                <a:spcPct val="144036"/>
              </a:lnSpc>
              <a:spcBef>
                <a:spcPts val="0"/>
              </a:spcBef>
              <a:spcAft>
                <a:spcPts val="0"/>
              </a:spcAft>
              <a:buClr>
                <a:srgbClr val="EF4138"/>
              </a:buClr>
              <a:buSzPts val="1200"/>
              <a:buChar char="➔"/>
            </a:pPr>
            <a:r>
              <a:rPr lang="en" sz="1200" b="1" u="none">
                <a:solidFill>
                  <a:schemeClr val="dk1"/>
                </a:solidFill>
                <a:latin typeface="Montserrat"/>
                <a:ea typeface="Montserrat"/>
                <a:cs typeface="Montserrat"/>
                <a:sym typeface="Montserrat"/>
              </a:rPr>
              <a:t>Disruptive </a:t>
            </a:r>
            <a:r>
              <a:rPr lang="en" sz="1200" b="1">
                <a:solidFill>
                  <a:schemeClr val="dk1"/>
                </a:solidFill>
                <a:latin typeface="Montserrat"/>
                <a:ea typeface="Montserrat"/>
                <a:cs typeface="Montserrat"/>
                <a:sym typeface="Montserrat"/>
              </a:rPr>
              <a:t>I</a:t>
            </a:r>
            <a:r>
              <a:rPr lang="en" sz="1200" b="1" u="none">
                <a:solidFill>
                  <a:schemeClr val="dk1"/>
                </a:solidFill>
                <a:latin typeface="Montserrat"/>
                <a:ea typeface="Montserrat"/>
                <a:cs typeface="Montserrat"/>
                <a:sym typeface="Montserrat"/>
              </a:rPr>
              <a:t>nnovations:  </a:t>
            </a:r>
            <a:r>
              <a:rPr lang="en" sz="1200">
                <a:solidFill>
                  <a:schemeClr val="dk1"/>
                </a:solidFill>
                <a:latin typeface="Montserrat"/>
                <a:ea typeface="Montserrat"/>
                <a:cs typeface="Montserrat"/>
                <a:sym typeface="Montserrat"/>
              </a:rPr>
              <a:t>N</a:t>
            </a:r>
            <a:r>
              <a:rPr lang="en" sz="1200" u="none">
                <a:solidFill>
                  <a:schemeClr val="dk1"/>
                </a:solidFill>
                <a:latin typeface="Montserrat"/>
                <a:ea typeface="Montserrat"/>
                <a:cs typeface="Montserrat"/>
                <a:sym typeface="Montserrat"/>
              </a:rPr>
              <a:t>ew business models and operating models</a:t>
            </a:r>
            <a:endParaRPr sz="1200" u="none">
              <a:solidFill>
                <a:schemeClr val="dk1"/>
              </a:solidFill>
              <a:latin typeface="Montserrat"/>
              <a:ea typeface="Montserrat"/>
              <a:cs typeface="Montserrat"/>
              <a:sym typeface="Montserrat"/>
            </a:endParaRPr>
          </a:p>
          <a:p>
            <a:pPr marL="457200" lvl="0" indent="-304800" algn="l" rtl="0">
              <a:lnSpc>
                <a:spcPct val="144036"/>
              </a:lnSpc>
              <a:spcBef>
                <a:spcPts val="0"/>
              </a:spcBef>
              <a:spcAft>
                <a:spcPts val="0"/>
              </a:spcAft>
              <a:buClr>
                <a:srgbClr val="EF4138"/>
              </a:buClr>
              <a:buSzPts val="1200"/>
              <a:buChar char="➔"/>
            </a:pPr>
            <a:r>
              <a:rPr lang="en" sz="1200" b="1">
                <a:solidFill>
                  <a:schemeClr val="dk1"/>
                </a:solidFill>
                <a:latin typeface="Montserrat"/>
                <a:ea typeface="Montserrat"/>
                <a:cs typeface="Montserrat"/>
                <a:sym typeface="Montserrat"/>
              </a:rPr>
              <a:t>Sustaining Innovations:  </a:t>
            </a:r>
            <a:r>
              <a:rPr lang="en" sz="1200">
                <a:solidFill>
                  <a:schemeClr val="dk1"/>
                </a:solidFill>
                <a:latin typeface="Montserrat"/>
                <a:ea typeface="Montserrat"/>
                <a:cs typeface="Montserrat"/>
                <a:sym typeface="Montserrat"/>
              </a:rPr>
              <a:t>Extension and improvements to already existing innovations inside the organizations</a:t>
            </a:r>
            <a:endParaRPr sz="1200">
              <a:solidFill>
                <a:schemeClr val="dk1"/>
              </a:solidFill>
              <a:latin typeface="Montserrat"/>
              <a:ea typeface="Montserrat"/>
              <a:cs typeface="Montserrat"/>
              <a:sym typeface="Montserrat"/>
            </a:endParaRPr>
          </a:p>
          <a:p>
            <a:pPr marL="0" marR="0" lvl="0" indent="0" algn="l" rtl="0">
              <a:lnSpc>
                <a:spcPct val="144036"/>
              </a:lnSpc>
              <a:spcBef>
                <a:spcPts val="0"/>
              </a:spcBef>
              <a:spcAft>
                <a:spcPts val="0"/>
              </a:spcAft>
              <a:buNone/>
            </a:pPr>
            <a:endParaRPr sz="1200" u="none">
              <a:solidFill>
                <a:srgbClr val="000000"/>
              </a:solidFill>
              <a:latin typeface="Montserrat"/>
              <a:ea typeface="Montserrat"/>
              <a:cs typeface="Montserrat"/>
              <a:sym typeface="Montserrat"/>
            </a:endParaRPr>
          </a:p>
        </p:txBody>
      </p:sp>
      <p:sp>
        <p:nvSpPr>
          <p:cNvPr id="175" name="Google Shape;175;p19"/>
          <p:cNvSpPr txBox="1"/>
          <p:nvPr/>
        </p:nvSpPr>
        <p:spPr>
          <a:xfrm>
            <a:off x="5424861" y="1423817"/>
            <a:ext cx="2453100" cy="5001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b="1" dirty="0">
                <a:solidFill>
                  <a:schemeClr val="dk1"/>
                </a:solidFill>
                <a:latin typeface="Montserrat"/>
                <a:ea typeface="Montserrat"/>
                <a:cs typeface="Montserrat"/>
                <a:sym typeface="Montserrat"/>
              </a:rPr>
              <a:t>SUSTAINING INNOVATIONS</a:t>
            </a:r>
            <a:endParaRPr sz="1400" b="1" dirty="0">
              <a:solidFill>
                <a:schemeClr val="dk1"/>
              </a:solidFill>
              <a:latin typeface="Montserrat"/>
              <a:ea typeface="Montserrat"/>
              <a:cs typeface="Montserrat"/>
              <a:sym typeface="Montserrat"/>
            </a:endParaRPr>
          </a:p>
        </p:txBody>
      </p:sp>
      <p:sp>
        <p:nvSpPr>
          <p:cNvPr id="176" name="Google Shape;176;p19"/>
          <p:cNvSpPr txBox="1"/>
          <p:nvPr/>
        </p:nvSpPr>
        <p:spPr>
          <a:xfrm>
            <a:off x="2910310" y="1423807"/>
            <a:ext cx="2177100" cy="5001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b="1">
                <a:solidFill>
                  <a:schemeClr val="dk1"/>
                </a:solidFill>
                <a:latin typeface="Montserrat"/>
                <a:ea typeface="Montserrat"/>
                <a:cs typeface="Montserrat"/>
                <a:sym typeface="Montserrat"/>
              </a:rPr>
              <a:t>DISRUPTION INNOVATIONS</a:t>
            </a:r>
            <a:endParaRPr sz="1400" b="1">
              <a:solidFill>
                <a:schemeClr val="dk1"/>
              </a:solidFill>
              <a:latin typeface="Montserrat"/>
              <a:ea typeface="Montserrat"/>
              <a:cs typeface="Montserrat"/>
              <a:sym typeface="Montserrat"/>
            </a:endParaRPr>
          </a:p>
        </p:txBody>
      </p:sp>
      <p:sp>
        <p:nvSpPr>
          <p:cNvPr id="177" name="Google Shape;177;p19"/>
          <p:cNvSpPr txBox="1"/>
          <p:nvPr/>
        </p:nvSpPr>
        <p:spPr>
          <a:xfrm>
            <a:off x="969012" y="2851045"/>
            <a:ext cx="1723800" cy="695700"/>
          </a:xfrm>
          <a:prstGeom prst="rect">
            <a:avLst/>
          </a:prstGeom>
          <a:solidFill>
            <a:schemeClr val="lt1"/>
          </a:solidFill>
          <a:ln>
            <a:noFill/>
          </a:ln>
        </p:spPr>
        <p:txBody>
          <a:bodyPr spcFirstLastPara="1" wrap="square" lIns="25400" tIns="25400" rIns="25400" bIns="25400" anchor="ctr" anchorCtr="0">
            <a:noAutofit/>
          </a:bodyPr>
          <a:lstStyle/>
          <a:p>
            <a:pPr marL="0" marR="0" lvl="0" indent="0" algn="l" rtl="0">
              <a:lnSpc>
                <a:spcPct val="100000"/>
              </a:lnSpc>
              <a:spcBef>
                <a:spcPts val="0"/>
              </a:spcBef>
              <a:spcAft>
                <a:spcPts val="0"/>
              </a:spcAft>
              <a:buNone/>
            </a:pPr>
            <a:r>
              <a:rPr lang="en" sz="1400" b="1" u="none">
                <a:solidFill>
                  <a:schemeClr val="dk1"/>
                </a:solidFill>
                <a:latin typeface="Montserrat"/>
                <a:ea typeface="Montserrat"/>
                <a:cs typeface="Montserrat"/>
                <a:sym typeface="Montserrat"/>
              </a:rPr>
              <a:t>Enabling</a:t>
            </a:r>
            <a:endParaRPr sz="1100">
              <a:solidFill>
                <a:schemeClr val="dk1"/>
              </a:solidFill>
            </a:endParaRPr>
          </a:p>
          <a:p>
            <a:pPr marL="0" marR="0" lvl="0" indent="0" algn="l" rtl="0">
              <a:lnSpc>
                <a:spcPct val="100000"/>
              </a:lnSpc>
              <a:spcBef>
                <a:spcPts val="0"/>
              </a:spcBef>
              <a:spcAft>
                <a:spcPts val="0"/>
              </a:spcAft>
              <a:buNone/>
            </a:pPr>
            <a:r>
              <a:rPr lang="en" sz="1400" b="1" u="none">
                <a:solidFill>
                  <a:schemeClr val="dk1"/>
                </a:solidFill>
                <a:latin typeface="Montserrat"/>
                <a:ea typeface="Montserrat"/>
                <a:cs typeface="Montserrat"/>
                <a:sym typeface="Montserrat"/>
              </a:rPr>
              <a:t>Investments</a:t>
            </a:r>
            <a:endParaRPr sz="1100">
              <a:solidFill>
                <a:schemeClr val="dk1"/>
              </a:solidFill>
            </a:endParaRPr>
          </a:p>
        </p:txBody>
      </p:sp>
      <p:sp>
        <p:nvSpPr>
          <p:cNvPr id="178" name="Google Shape;178;p19"/>
          <p:cNvSpPr/>
          <p:nvPr/>
        </p:nvSpPr>
        <p:spPr>
          <a:xfrm>
            <a:off x="8188099" y="4031069"/>
            <a:ext cx="772176" cy="912829"/>
          </a:xfrm>
          <a:custGeom>
            <a:avLst/>
            <a:gdLst/>
            <a:ahLst/>
            <a:cxnLst/>
            <a:rect l="l" t="t" r="r" b="b"/>
            <a:pathLst>
              <a:path w="12869601" h="6638759" extrusionOk="0">
                <a:moveTo>
                  <a:pt x="0" y="0"/>
                </a:moveTo>
                <a:lnTo>
                  <a:pt x="12869601" y="0"/>
                </a:lnTo>
                <a:lnTo>
                  <a:pt x="12869601" y="6638759"/>
                </a:lnTo>
                <a:lnTo>
                  <a:pt x="0" y="6638759"/>
                </a:lnTo>
                <a:lnTo>
                  <a:pt x="0" y="0"/>
                </a:lnTo>
                <a:close/>
              </a:path>
            </a:pathLst>
          </a:custGeom>
          <a:blipFill rotWithShape="1">
            <a:blip r:embed="rId4">
              <a:alphaModFix/>
            </a:blip>
            <a:stretch>
              <a:fillRect l="-102802" t="-28588" r="-109932" b="-27147"/>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b="0" i="0" u="none" strike="noStrike" cap="non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0"/>
          <p:cNvSpPr txBox="1"/>
          <p:nvPr/>
        </p:nvSpPr>
        <p:spPr>
          <a:xfrm>
            <a:off x="725550" y="1744763"/>
            <a:ext cx="6670500" cy="2982900"/>
          </a:xfrm>
          <a:prstGeom prst="rect">
            <a:avLst/>
          </a:prstGeom>
          <a:noFill/>
          <a:ln>
            <a:noFill/>
          </a:ln>
        </p:spPr>
        <p:txBody>
          <a:bodyPr spcFirstLastPara="1" wrap="square" lIns="68575" tIns="68575" rIns="68575" bIns="68575" anchor="t" anchorCtr="0">
            <a:spAutoFit/>
          </a:bodyPr>
          <a:lstStyle/>
          <a:p>
            <a:pPr marL="0" lvl="0" indent="0" algn="l" rtl="0">
              <a:lnSpc>
                <a:spcPct val="150000"/>
              </a:lnSpc>
              <a:spcBef>
                <a:spcPts val="0"/>
              </a:spcBef>
              <a:spcAft>
                <a:spcPts val="0"/>
              </a:spcAft>
              <a:buNone/>
            </a:pPr>
            <a:r>
              <a:rPr lang="en" b="1">
                <a:solidFill>
                  <a:srgbClr val="EF4138"/>
                </a:solidFill>
                <a:latin typeface="Montserrat"/>
                <a:ea typeface="Montserrat"/>
                <a:cs typeface="Montserrat"/>
                <a:sym typeface="Montserrat"/>
              </a:rPr>
              <a:t>Program Design </a:t>
            </a:r>
            <a:endParaRPr b="1">
              <a:solidFill>
                <a:srgbClr val="000099"/>
              </a:solidFill>
              <a:latin typeface="Montserrat"/>
              <a:ea typeface="Montserrat"/>
              <a:cs typeface="Montserrat"/>
              <a:sym typeface="Montserrat"/>
            </a:endParaRPr>
          </a:p>
          <a:p>
            <a:pPr marL="457200" lvl="0" indent="-317500" algn="l" rtl="0">
              <a:lnSpc>
                <a:spcPct val="115000"/>
              </a:lnSpc>
              <a:spcBef>
                <a:spcPts val="0"/>
              </a:spcBef>
              <a:spcAft>
                <a:spcPts val="0"/>
              </a:spcAft>
              <a:buClr>
                <a:srgbClr val="003A74"/>
              </a:buClr>
              <a:buSzPts val="1400"/>
              <a:buFont typeface="Montserrat"/>
              <a:buChar char="➔"/>
            </a:pPr>
            <a:r>
              <a:rPr lang="en">
                <a:solidFill>
                  <a:schemeClr val="dk1"/>
                </a:solidFill>
                <a:latin typeface="Montserrat"/>
                <a:ea typeface="Montserrat"/>
                <a:cs typeface="Montserrat"/>
                <a:sym typeface="Montserrat"/>
              </a:rPr>
              <a:t>VC Model of Investment​</a:t>
            </a:r>
            <a:endParaRPr>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rgbClr val="003A74"/>
              </a:buClr>
              <a:buSzPts val="1400"/>
              <a:buFont typeface="Montserrat"/>
              <a:buChar char="➔"/>
            </a:pPr>
            <a:r>
              <a:rPr lang="en">
                <a:solidFill>
                  <a:schemeClr val="dk1"/>
                </a:solidFill>
                <a:latin typeface="Montserrat"/>
                <a:ea typeface="Montserrat"/>
                <a:cs typeface="Montserrat"/>
                <a:sym typeface="Montserrat"/>
              </a:rPr>
              <a:t>Full visibility on objectives and progress of each project</a:t>
            </a:r>
            <a:endParaRPr>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rgbClr val="003A74"/>
              </a:buClr>
              <a:buSzPts val="1400"/>
              <a:buFont typeface="Montserrat"/>
              <a:buChar char="➔"/>
            </a:pPr>
            <a:r>
              <a:rPr lang="en">
                <a:solidFill>
                  <a:schemeClr val="dk1"/>
                </a:solidFill>
                <a:latin typeface="Montserrat"/>
                <a:ea typeface="Montserrat"/>
                <a:cs typeface="Montserrat"/>
                <a:sym typeface="Montserrat"/>
              </a:rPr>
              <a:t>Centralized decision making on which projects to fund</a:t>
            </a:r>
            <a:endParaRPr>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None/>
            </a:pPr>
            <a:endParaRPr>
              <a:solidFill>
                <a:schemeClr val="dk1"/>
              </a:solidFill>
              <a:latin typeface="Montserrat"/>
              <a:ea typeface="Montserrat"/>
              <a:cs typeface="Montserrat"/>
              <a:sym typeface="Montserrat"/>
            </a:endParaRPr>
          </a:p>
          <a:p>
            <a:pPr marL="0" lvl="0" indent="0" algn="l" rtl="0">
              <a:lnSpc>
                <a:spcPct val="150000"/>
              </a:lnSpc>
              <a:spcBef>
                <a:spcPts val="0"/>
              </a:spcBef>
              <a:spcAft>
                <a:spcPts val="0"/>
              </a:spcAft>
              <a:buNone/>
            </a:pPr>
            <a:r>
              <a:rPr lang="en" b="1">
                <a:solidFill>
                  <a:srgbClr val="EF4138"/>
                </a:solidFill>
                <a:latin typeface="Montserrat"/>
                <a:ea typeface="Montserrat"/>
                <a:cs typeface="Montserrat"/>
                <a:sym typeface="Montserrat"/>
              </a:rPr>
              <a:t>Established Success Criteria</a:t>
            </a:r>
            <a:endParaRPr>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rgbClr val="003A74"/>
              </a:buClr>
              <a:buSzPts val="1400"/>
              <a:buFont typeface="Montserrat"/>
              <a:buChar char="➔"/>
            </a:pPr>
            <a:r>
              <a:rPr lang="en">
                <a:solidFill>
                  <a:schemeClr val="dk1"/>
                </a:solidFill>
                <a:latin typeface="Montserrat"/>
                <a:ea typeface="Montserrat"/>
                <a:cs typeface="Montserrat"/>
                <a:sym typeface="Montserrat"/>
              </a:rPr>
              <a:t>Funding decision based on rigorous screening and evaluation process</a:t>
            </a:r>
            <a:endParaRPr>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rgbClr val="003A74"/>
              </a:buClr>
              <a:buSzPts val="1400"/>
              <a:buFont typeface="Montserrat"/>
              <a:buChar char="➔"/>
            </a:pPr>
            <a:r>
              <a:rPr lang="en">
                <a:solidFill>
                  <a:schemeClr val="dk1"/>
                </a:solidFill>
                <a:latin typeface="Montserrat"/>
                <a:ea typeface="Montserrat"/>
                <a:cs typeface="Montserrat"/>
                <a:sym typeface="Montserrat"/>
              </a:rPr>
              <a:t>Funding linked to stage gates or milestones</a:t>
            </a:r>
            <a:endParaRPr>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rgbClr val="003A74"/>
              </a:buClr>
              <a:buSzPts val="1400"/>
              <a:buFont typeface="Montserrat"/>
              <a:buChar char="➔"/>
            </a:pPr>
            <a:r>
              <a:rPr lang="en">
                <a:solidFill>
                  <a:schemeClr val="dk1"/>
                </a:solidFill>
                <a:latin typeface="Montserrat"/>
                <a:ea typeface="Montserrat"/>
                <a:cs typeface="Montserrat"/>
                <a:sym typeface="Montserrat"/>
              </a:rPr>
              <a:t>Control of funding based on milestone-based success criteria</a:t>
            </a:r>
            <a:endParaRPr>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rgbClr val="003A74"/>
              </a:buClr>
              <a:buSzPts val="1400"/>
              <a:buFont typeface="Montserrat"/>
              <a:buChar char="➔"/>
            </a:pPr>
            <a:r>
              <a:rPr lang="en">
                <a:solidFill>
                  <a:schemeClr val="dk1"/>
                </a:solidFill>
                <a:latin typeface="Montserrat"/>
                <a:ea typeface="Montserrat"/>
                <a:cs typeface="Montserrat"/>
                <a:sym typeface="Montserrat"/>
              </a:rPr>
              <a:t>Multiple exit options for sponsors based on process success</a:t>
            </a:r>
            <a:endParaRPr>
              <a:solidFill>
                <a:schemeClr val="dk1"/>
              </a:solidFill>
              <a:latin typeface="Montserrat"/>
              <a:ea typeface="Montserrat"/>
              <a:cs typeface="Montserrat"/>
              <a:sym typeface="Montserrat"/>
            </a:endParaRPr>
          </a:p>
        </p:txBody>
      </p:sp>
      <p:sp>
        <p:nvSpPr>
          <p:cNvPr id="184" name="Google Shape;184;p20"/>
          <p:cNvSpPr txBox="1"/>
          <p:nvPr/>
        </p:nvSpPr>
        <p:spPr>
          <a:xfrm>
            <a:off x="1674675" y="493663"/>
            <a:ext cx="6818700" cy="785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3000" b="1">
                <a:solidFill>
                  <a:srgbClr val="000099"/>
                </a:solidFill>
                <a:latin typeface="Montserrat"/>
                <a:ea typeface="Montserrat"/>
                <a:cs typeface="Montserrat"/>
                <a:sym typeface="Montserrat"/>
              </a:rPr>
              <a:t>Program Design &amp; Criteria </a:t>
            </a:r>
            <a:endParaRPr sz="3000" b="1">
              <a:solidFill>
                <a:srgbClr val="000099"/>
              </a:solidFill>
              <a:latin typeface="Montserrat"/>
              <a:ea typeface="Montserrat"/>
              <a:cs typeface="Montserrat"/>
              <a:sym typeface="Montserrat"/>
            </a:endParaRPr>
          </a:p>
          <a:p>
            <a:pPr marL="0" marR="0" lvl="0" indent="0" algn="l" rtl="0">
              <a:lnSpc>
                <a:spcPct val="100000"/>
              </a:lnSpc>
              <a:spcBef>
                <a:spcPts val="0"/>
              </a:spcBef>
              <a:spcAft>
                <a:spcPts val="0"/>
              </a:spcAft>
              <a:buNone/>
            </a:pPr>
            <a:endParaRPr sz="2100" b="1">
              <a:solidFill>
                <a:srgbClr val="EF4138"/>
              </a:solidFill>
              <a:latin typeface="Montserrat"/>
              <a:ea typeface="Montserrat"/>
              <a:cs typeface="Montserrat"/>
              <a:sym typeface="Montserrat"/>
            </a:endParaRPr>
          </a:p>
        </p:txBody>
      </p:sp>
      <p:sp>
        <p:nvSpPr>
          <p:cNvPr id="185" name="Google Shape;185;p20"/>
          <p:cNvSpPr/>
          <p:nvPr/>
        </p:nvSpPr>
        <p:spPr>
          <a:xfrm>
            <a:off x="579049" y="429794"/>
            <a:ext cx="772176" cy="912829"/>
          </a:xfrm>
          <a:custGeom>
            <a:avLst/>
            <a:gdLst/>
            <a:ahLst/>
            <a:cxnLst/>
            <a:rect l="l" t="t" r="r" b="b"/>
            <a:pathLst>
              <a:path w="12869601" h="6638759" extrusionOk="0">
                <a:moveTo>
                  <a:pt x="0" y="0"/>
                </a:moveTo>
                <a:lnTo>
                  <a:pt x="12869601" y="0"/>
                </a:lnTo>
                <a:lnTo>
                  <a:pt x="12869601" y="6638759"/>
                </a:lnTo>
                <a:lnTo>
                  <a:pt x="0" y="6638759"/>
                </a:lnTo>
                <a:lnTo>
                  <a:pt x="0" y="0"/>
                </a:lnTo>
                <a:close/>
              </a:path>
            </a:pathLst>
          </a:custGeom>
          <a:blipFill rotWithShape="1">
            <a:blip r:embed="rId3">
              <a:alphaModFix/>
            </a:blip>
            <a:stretch>
              <a:fillRect l="-102802" t="-28588" r="-109932" b="-27147"/>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b="0" i="0" u="none" strike="noStrike" cap="non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1"/>
          <p:cNvSpPr/>
          <p:nvPr/>
        </p:nvSpPr>
        <p:spPr>
          <a:xfrm>
            <a:off x="579060" y="1771651"/>
            <a:ext cx="7879200" cy="6693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1200" b="1">
                <a:solidFill>
                  <a:srgbClr val="000099"/>
                </a:solidFill>
                <a:latin typeface="Montserrat"/>
                <a:ea typeface="Montserrat"/>
                <a:cs typeface="Montserrat"/>
                <a:sym typeface="Montserrat"/>
              </a:rPr>
              <a:t>Executive Steering Committee</a:t>
            </a:r>
            <a:endParaRPr sz="1200" b="1">
              <a:solidFill>
                <a:srgbClr val="000099"/>
              </a:solidFill>
              <a:latin typeface="Montserrat"/>
              <a:ea typeface="Montserrat"/>
              <a:cs typeface="Montserrat"/>
              <a:sym typeface="Montserrat"/>
            </a:endParaRPr>
          </a:p>
          <a:p>
            <a:pPr marL="0" marR="0" lvl="0" indent="0" algn="ctr" rtl="0">
              <a:spcBef>
                <a:spcPts val="0"/>
              </a:spcBef>
              <a:spcAft>
                <a:spcPts val="0"/>
              </a:spcAft>
              <a:buNone/>
            </a:pPr>
            <a:r>
              <a:rPr lang="en" sz="1000">
                <a:solidFill>
                  <a:schemeClr val="dk1"/>
                </a:solidFill>
                <a:latin typeface="Montserrat"/>
                <a:ea typeface="Montserrat"/>
                <a:cs typeface="Montserrat"/>
                <a:sym typeface="Montserrat"/>
              </a:rPr>
              <a:t>EVPs</a:t>
            </a:r>
            <a:endParaRPr sz="1100">
              <a:latin typeface="Montserrat"/>
              <a:ea typeface="Montserrat"/>
              <a:cs typeface="Montserrat"/>
              <a:sym typeface="Montserrat"/>
            </a:endParaRPr>
          </a:p>
        </p:txBody>
      </p:sp>
      <p:sp>
        <p:nvSpPr>
          <p:cNvPr id="192" name="Google Shape;192;p21"/>
          <p:cNvSpPr/>
          <p:nvPr/>
        </p:nvSpPr>
        <p:spPr>
          <a:xfrm>
            <a:off x="579061" y="3269465"/>
            <a:ext cx="7882500" cy="669300"/>
          </a:xfrm>
          <a:prstGeom prst="rect">
            <a:avLst/>
          </a:prstGeom>
          <a:solidFill>
            <a:schemeClr val="lt1"/>
          </a:solidFill>
          <a:ln w="9525" cap="flat" cmpd="sng">
            <a:solidFill>
              <a:srgbClr val="EF4138"/>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1200" b="1">
                <a:solidFill>
                  <a:srgbClr val="EF4138"/>
                </a:solidFill>
                <a:latin typeface="Montserrat"/>
                <a:ea typeface="Montserrat"/>
                <a:cs typeface="Montserrat"/>
                <a:sym typeface="Montserrat"/>
              </a:rPr>
              <a:t>Innovation Tech Advisory Committee</a:t>
            </a:r>
            <a:endParaRPr sz="1100">
              <a:solidFill>
                <a:srgbClr val="EF4138"/>
              </a:solidFill>
              <a:latin typeface="Montserrat"/>
              <a:ea typeface="Montserrat"/>
              <a:cs typeface="Montserrat"/>
              <a:sym typeface="Montserrat"/>
            </a:endParaRPr>
          </a:p>
          <a:p>
            <a:pPr marL="0" marR="0" lvl="0" indent="0" algn="ctr" rtl="0">
              <a:spcBef>
                <a:spcPts val="0"/>
              </a:spcBef>
              <a:spcAft>
                <a:spcPts val="0"/>
              </a:spcAft>
              <a:buNone/>
            </a:pPr>
            <a:r>
              <a:rPr lang="en" sz="1000">
                <a:solidFill>
                  <a:schemeClr val="dk1"/>
                </a:solidFill>
                <a:latin typeface="Montserrat"/>
                <a:ea typeface="Montserrat"/>
                <a:cs typeface="Montserrat"/>
                <a:sym typeface="Montserrat"/>
              </a:rPr>
              <a:t>NFL Technical Working Group</a:t>
            </a:r>
            <a:endParaRPr sz="1000">
              <a:solidFill>
                <a:schemeClr val="dk1"/>
              </a:solidFill>
              <a:latin typeface="Montserrat"/>
              <a:ea typeface="Montserrat"/>
              <a:cs typeface="Montserrat"/>
              <a:sym typeface="Montserrat"/>
            </a:endParaRPr>
          </a:p>
        </p:txBody>
      </p:sp>
      <p:sp>
        <p:nvSpPr>
          <p:cNvPr id="193" name="Google Shape;193;p21"/>
          <p:cNvSpPr/>
          <p:nvPr/>
        </p:nvSpPr>
        <p:spPr>
          <a:xfrm>
            <a:off x="579060" y="2523503"/>
            <a:ext cx="7879200" cy="6693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1200" b="1">
                <a:solidFill>
                  <a:srgbClr val="000099"/>
                </a:solidFill>
                <a:latin typeface="Montserrat"/>
                <a:ea typeface="Montserrat"/>
                <a:cs typeface="Montserrat"/>
                <a:sym typeface="Montserrat"/>
              </a:rPr>
              <a:t>Program Execution Committee</a:t>
            </a:r>
            <a:endParaRPr sz="1200" b="1">
              <a:solidFill>
                <a:srgbClr val="000099"/>
              </a:solidFill>
              <a:latin typeface="Montserrat"/>
              <a:ea typeface="Montserrat"/>
              <a:cs typeface="Montserrat"/>
              <a:sym typeface="Montserrat"/>
            </a:endParaRPr>
          </a:p>
          <a:p>
            <a:pPr marL="0" lvl="0" indent="0" algn="ctr" rtl="0">
              <a:spcBef>
                <a:spcPts val="0"/>
              </a:spcBef>
              <a:spcAft>
                <a:spcPts val="0"/>
              </a:spcAft>
              <a:buNone/>
            </a:pPr>
            <a:r>
              <a:rPr lang="en" sz="1000">
                <a:solidFill>
                  <a:schemeClr val="dk1"/>
                </a:solidFill>
                <a:latin typeface="Montserrat"/>
                <a:ea typeface="Montserrat"/>
                <a:cs typeface="Montserrat"/>
                <a:sym typeface="Montserrat"/>
              </a:rPr>
              <a:t>SVPs - Information Technology, Player Health and Safety, Football Operations, </a:t>
            </a: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NFL Media, Data &amp; Analytics, Finance, and Sponsorship</a:t>
            </a:r>
            <a:endParaRPr sz="1200" b="1">
              <a:solidFill>
                <a:srgbClr val="000099"/>
              </a:solidFill>
              <a:latin typeface="Montserrat"/>
              <a:ea typeface="Montserrat"/>
              <a:cs typeface="Montserrat"/>
              <a:sym typeface="Montserrat"/>
            </a:endParaRPr>
          </a:p>
        </p:txBody>
      </p:sp>
      <p:sp>
        <p:nvSpPr>
          <p:cNvPr id="194" name="Google Shape;194;p21"/>
          <p:cNvSpPr/>
          <p:nvPr/>
        </p:nvSpPr>
        <p:spPr>
          <a:xfrm>
            <a:off x="579060" y="4044287"/>
            <a:ext cx="7879200" cy="669300"/>
          </a:xfrm>
          <a:prstGeom prst="rect">
            <a:avLst/>
          </a:prstGeom>
          <a:solidFill>
            <a:schemeClr val="lt1"/>
          </a:solidFill>
          <a:ln w="9525" cap="flat" cmpd="sng">
            <a:solidFill>
              <a:srgbClr val="EF4138"/>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1200" b="1">
                <a:solidFill>
                  <a:srgbClr val="EF4138"/>
                </a:solidFill>
                <a:latin typeface="Montserrat"/>
                <a:ea typeface="Montserrat"/>
                <a:cs typeface="Montserrat"/>
                <a:sym typeface="Montserrat"/>
              </a:rPr>
              <a:t>Innovation HUB PMO </a:t>
            </a:r>
            <a:endParaRPr sz="1100">
              <a:solidFill>
                <a:srgbClr val="EF4138"/>
              </a:solidFill>
              <a:latin typeface="Montserrat"/>
              <a:ea typeface="Montserrat"/>
              <a:cs typeface="Montserrat"/>
              <a:sym typeface="Montserrat"/>
            </a:endParaRPr>
          </a:p>
          <a:p>
            <a:pPr marL="0" marR="0" lvl="0" indent="0" algn="ctr" rtl="0">
              <a:spcBef>
                <a:spcPts val="0"/>
              </a:spcBef>
              <a:spcAft>
                <a:spcPts val="0"/>
              </a:spcAft>
              <a:buNone/>
            </a:pPr>
            <a:r>
              <a:rPr lang="en" sz="1000">
                <a:solidFill>
                  <a:srgbClr val="000000"/>
                </a:solidFill>
                <a:latin typeface="Montserrat"/>
                <a:ea typeface="Montserrat"/>
                <a:cs typeface="Montserrat"/>
                <a:sym typeface="Montserrat"/>
              </a:rPr>
              <a:t>Intake</a:t>
            </a:r>
            <a:r>
              <a:rPr lang="en" sz="1000">
                <a:latin typeface="Montserrat"/>
                <a:ea typeface="Montserrat"/>
                <a:cs typeface="Montserrat"/>
                <a:sym typeface="Montserrat"/>
              </a:rPr>
              <a:t>, </a:t>
            </a:r>
            <a:r>
              <a:rPr lang="en" sz="1000">
                <a:solidFill>
                  <a:srgbClr val="000000"/>
                </a:solidFill>
                <a:latin typeface="Montserrat"/>
                <a:ea typeface="Montserrat"/>
                <a:cs typeface="Montserrat"/>
                <a:sym typeface="Montserrat"/>
              </a:rPr>
              <a:t>Prioritization</a:t>
            </a:r>
            <a:r>
              <a:rPr lang="en" sz="1000">
                <a:latin typeface="Montserrat"/>
                <a:ea typeface="Montserrat"/>
                <a:cs typeface="Montserrat"/>
                <a:sym typeface="Montserrat"/>
              </a:rPr>
              <a:t>, &amp; </a:t>
            </a:r>
            <a:r>
              <a:rPr lang="en" sz="1000">
                <a:solidFill>
                  <a:srgbClr val="000000"/>
                </a:solidFill>
                <a:latin typeface="Montserrat"/>
                <a:ea typeface="Montserrat"/>
                <a:cs typeface="Montserrat"/>
                <a:sym typeface="Montserrat"/>
              </a:rPr>
              <a:t>Program Management</a:t>
            </a:r>
            <a:endParaRPr sz="1000">
              <a:solidFill>
                <a:srgbClr val="000000"/>
              </a:solidFill>
              <a:latin typeface="Montserrat"/>
              <a:ea typeface="Montserrat"/>
              <a:cs typeface="Montserrat"/>
              <a:sym typeface="Montserrat"/>
            </a:endParaRPr>
          </a:p>
        </p:txBody>
      </p:sp>
      <p:sp>
        <p:nvSpPr>
          <p:cNvPr id="195" name="Google Shape;195;p21"/>
          <p:cNvSpPr/>
          <p:nvPr/>
        </p:nvSpPr>
        <p:spPr>
          <a:xfrm>
            <a:off x="579049" y="429794"/>
            <a:ext cx="772176" cy="912829"/>
          </a:xfrm>
          <a:custGeom>
            <a:avLst/>
            <a:gdLst/>
            <a:ahLst/>
            <a:cxnLst/>
            <a:rect l="l" t="t" r="r" b="b"/>
            <a:pathLst>
              <a:path w="12869601" h="6638759" extrusionOk="0">
                <a:moveTo>
                  <a:pt x="0" y="0"/>
                </a:moveTo>
                <a:lnTo>
                  <a:pt x="12869601" y="0"/>
                </a:lnTo>
                <a:lnTo>
                  <a:pt x="12869601" y="6638759"/>
                </a:lnTo>
                <a:lnTo>
                  <a:pt x="0" y="6638759"/>
                </a:lnTo>
                <a:lnTo>
                  <a:pt x="0" y="0"/>
                </a:lnTo>
                <a:close/>
              </a:path>
            </a:pathLst>
          </a:custGeom>
          <a:blipFill rotWithShape="1">
            <a:blip r:embed="rId3">
              <a:alphaModFix/>
            </a:blip>
            <a:stretch>
              <a:fillRect l="-102802" t="-28588" r="-109932" b="-27147"/>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b="0" i="0" u="none" strike="noStrike" cap="none">
              <a:solidFill>
                <a:srgbClr val="000000"/>
              </a:solidFill>
              <a:latin typeface="Calibri"/>
              <a:ea typeface="Calibri"/>
              <a:cs typeface="Calibri"/>
              <a:sym typeface="Calibri"/>
            </a:endParaRPr>
          </a:p>
        </p:txBody>
      </p:sp>
      <p:grpSp>
        <p:nvGrpSpPr>
          <p:cNvPr id="196" name="Google Shape;196;p21"/>
          <p:cNvGrpSpPr/>
          <p:nvPr/>
        </p:nvGrpSpPr>
        <p:grpSpPr>
          <a:xfrm>
            <a:off x="1628775" y="493663"/>
            <a:ext cx="6864600" cy="985763"/>
            <a:chOff x="1628775" y="493663"/>
            <a:chExt cx="6864600" cy="985763"/>
          </a:xfrm>
        </p:grpSpPr>
        <p:sp>
          <p:nvSpPr>
            <p:cNvPr id="197" name="Google Shape;197;p21"/>
            <p:cNvSpPr txBox="1"/>
            <p:nvPr/>
          </p:nvSpPr>
          <p:spPr>
            <a:xfrm>
              <a:off x="1674675" y="493663"/>
              <a:ext cx="6818700" cy="785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3000" b="1">
                  <a:solidFill>
                    <a:srgbClr val="000099"/>
                  </a:solidFill>
                  <a:latin typeface="Montserrat"/>
                  <a:ea typeface="Montserrat"/>
                  <a:cs typeface="Montserrat"/>
                  <a:sym typeface="Montserrat"/>
                </a:rPr>
                <a:t>Governance Structure</a:t>
              </a:r>
              <a:endParaRPr sz="3000" b="1">
                <a:solidFill>
                  <a:srgbClr val="000099"/>
                </a:solidFill>
                <a:latin typeface="Montserrat"/>
                <a:ea typeface="Montserrat"/>
                <a:cs typeface="Montserrat"/>
                <a:sym typeface="Montserrat"/>
              </a:endParaRPr>
            </a:p>
            <a:p>
              <a:pPr marL="0" marR="0" lvl="0" indent="0" algn="l" rtl="0">
                <a:lnSpc>
                  <a:spcPct val="100000"/>
                </a:lnSpc>
                <a:spcBef>
                  <a:spcPts val="0"/>
                </a:spcBef>
                <a:spcAft>
                  <a:spcPts val="0"/>
                </a:spcAft>
                <a:buNone/>
              </a:pPr>
              <a:endParaRPr sz="2100" b="1">
                <a:solidFill>
                  <a:srgbClr val="EF4138"/>
                </a:solidFill>
                <a:latin typeface="Montserrat"/>
                <a:ea typeface="Montserrat"/>
                <a:cs typeface="Montserrat"/>
                <a:sym typeface="Montserrat"/>
              </a:endParaRPr>
            </a:p>
          </p:txBody>
        </p:sp>
        <p:sp>
          <p:nvSpPr>
            <p:cNvPr id="198" name="Google Shape;198;p21"/>
            <p:cNvSpPr txBox="1"/>
            <p:nvPr/>
          </p:nvSpPr>
          <p:spPr>
            <a:xfrm>
              <a:off x="1628775" y="897725"/>
              <a:ext cx="6818700" cy="58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a:solidFill>
                    <a:schemeClr val="dk1"/>
                  </a:solidFill>
                  <a:latin typeface="Montserrat"/>
                  <a:ea typeface="Montserrat"/>
                  <a:cs typeface="Montserrat"/>
                  <a:sym typeface="Montserrat"/>
                </a:rPr>
                <a:t>The Governance Committee's mission is to steer the Innovation Hub program through collaborative design, guiding league-wide decisions for maximum impact.</a:t>
              </a:r>
              <a:endParaRPr sz="1200">
                <a:solidFill>
                  <a:schemeClr val="dk1"/>
                </a:solidFill>
                <a:latin typeface="Montserrat"/>
                <a:ea typeface="Montserrat"/>
                <a:cs typeface="Montserrat"/>
                <a:sym typeface="Montserrat"/>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grpSp>
        <p:nvGrpSpPr>
          <p:cNvPr id="203" name="Google Shape;203;p22"/>
          <p:cNvGrpSpPr/>
          <p:nvPr/>
        </p:nvGrpSpPr>
        <p:grpSpPr>
          <a:xfrm>
            <a:off x="206834" y="2018919"/>
            <a:ext cx="8730331" cy="3000577"/>
            <a:chOff x="281988" y="2597971"/>
            <a:chExt cx="11640442" cy="4000769"/>
          </a:xfrm>
        </p:grpSpPr>
        <p:grpSp>
          <p:nvGrpSpPr>
            <p:cNvPr id="204" name="Google Shape;204;p22"/>
            <p:cNvGrpSpPr/>
            <p:nvPr/>
          </p:nvGrpSpPr>
          <p:grpSpPr>
            <a:xfrm>
              <a:off x="281988" y="2597971"/>
              <a:ext cx="11640442" cy="2491150"/>
              <a:chOff x="281988" y="2597971"/>
              <a:chExt cx="11640442" cy="2491150"/>
            </a:xfrm>
          </p:grpSpPr>
          <p:grpSp>
            <p:nvGrpSpPr>
              <p:cNvPr id="205" name="Google Shape;205;p22"/>
              <p:cNvGrpSpPr/>
              <p:nvPr/>
            </p:nvGrpSpPr>
            <p:grpSpPr>
              <a:xfrm>
                <a:off x="281988" y="2597971"/>
                <a:ext cx="1660864" cy="2491150"/>
                <a:chOff x="332788" y="1996881"/>
                <a:chExt cx="1660864" cy="2491150"/>
              </a:xfrm>
            </p:grpSpPr>
            <p:grpSp>
              <p:nvGrpSpPr>
                <p:cNvPr id="206" name="Google Shape;206;p22"/>
                <p:cNvGrpSpPr/>
                <p:nvPr/>
              </p:nvGrpSpPr>
              <p:grpSpPr>
                <a:xfrm>
                  <a:off x="332788" y="2733701"/>
                  <a:ext cx="1660864" cy="1754330"/>
                  <a:chOff x="6218991" y="2771801"/>
                  <a:chExt cx="1660864" cy="1754330"/>
                </a:xfrm>
              </p:grpSpPr>
              <p:sp>
                <p:nvSpPr>
                  <p:cNvPr id="207" name="Google Shape;207;p22"/>
                  <p:cNvSpPr/>
                  <p:nvPr/>
                </p:nvSpPr>
                <p:spPr>
                  <a:xfrm>
                    <a:off x="6218991" y="2771801"/>
                    <a:ext cx="1660864" cy="1754330"/>
                  </a:xfrm>
                  <a:prstGeom prst="roundRect">
                    <a:avLst>
                      <a:gd name="adj" fmla="val 6344"/>
                    </a:avLst>
                  </a:prstGeom>
                  <a:noFill/>
                  <a:ln w="9525"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08" name="Google Shape;208;p22"/>
                  <p:cNvSpPr txBox="1"/>
                  <p:nvPr/>
                </p:nvSpPr>
                <p:spPr>
                  <a:xfrm>
                    <a:off x="6290555" y="3169154"/>
                    <a:ext cx="1517700" cy="749100"/>
                  </a:xfrm>
                  <a:prstGeom prst="rect">
                    <a:avLst/>
                  </a:prstGeom>
                  <a:noFill/>
                  <a:ln>
                    <a:noFill/>
                  </a:ln>
                </p:spPr>
                <p:txBody>
                  <a:bodyPr spcFirstLastPara="1" wrap="square" lIns="68575" tIns="34275" rIns="68575" bIns="34275" anchor="t" anchorCtr="0">
                    <a:spAutoFit/>
                  </a:bodyPr>
                  <a:lstStyle/>
                  <a:p>
                    <a:pPr marL="127000" marR="0" lvl="0" indent="-127000" algn="l" rtl="0">
                      <a:spcBef>
                        <a:spcPts val="0"/>
                      </a:spcBef>
                      <a:spcAft>
                        <a:spcPts val="0"/>
                      </a:spcAft>
                      <a:buClr>
                        <a:srgbClr val="3F3F3F"/>
                      </a:buClr>
                      <a:buSzPts val="800"/>
                      <a:buFont typeface="Courier New"/>
                      <a:buChar char="o"/>
                    </a:pPr>
                    <a:r>
                      <a:rPr lang="en" sz="800" b="0" i="0" u="none" strike="noStrike" cap="none">
                        <a:solidFill>
                          <a:srgbClr val="3F3F3F"/>
                        </a:solidFill>
                        <a:latin typeface="Arial"/>
                        <a:ea typeface="Arial"/>
                        <a:cs typeface="Arial"/>
                        <a:sym typeface="Arial"/>
                      </a:rPr>
                      <a:t>Internal/External Idea Submission</a:t>
                    </a:r>
                    <a:endParaRPr sz="1100"/>
                  </a:p>
                  <a:p>
                    <a:pPr marL="127000" marR="0" lvl="0" indent="-127000" algn="l" rtl="0">
                      <a:spcBef>
                        <a:spcPts val="0"/>
                      </a:spcBef>
                      <a:spcAft>
                        <a:spcPts val="0"/>
                      </a:spcAft>
                      <a:buClr>
                        <a:srgbClr val="3F3F3F"/>
                      </a:buClr>
                      <a:buSzPts val="800"/>
                      <a:buFont typeface="Courier New"/>
                      <a:buChar char="o"/>
                    </a:pPr>
                    <a:r>
                      <a:rPr lang="en" sz="800" b="1" i="0" u="none" strike="noStrike" cap="none">
                        <a:solidFill>
                          <a:srgbClr val="3F3F3F"/>
                        </a:solidFill>
                      </a:rPr>
                      <a:t>NFL Business Value</a:t>
                    </a:r>
                    <a:endParaRPr sz="1100" b="1"/>
                  </a:p>
                </p:txBody>
              </p:sp>
            </p:grpSp>
            <p:grpSp>
              <p:nvGrpSpPr>
                <p:cNvPr id="209" name="Google Shape;209;p22"/>
                <p:cNvGrpSpPr/>
                <p:nvPr/>
              </p:nvGrpSpPr>
              <p:grpSpPr>
                <a:xfrm>
                  <a:off x="380875" y="1996881"/>
                  <a:ext cx="1564690" cy="502881"/>
                  <a:chOff x="299295" y="1879784"/>
                  <a:chExt cx="2741432" cy="881078"/>
                </a:xfrm>
              </p:grpSpPr>
              <p:grpSp>
                <p:nvGrpSpPr>
                  <p:cNvPr id="210" name="Google Shape;210;p22"/>
                  <p:cNvGrpSpPr/>
                  <p:nvPr/>
                </p:nvGrpSpPr>
                <p:grpSpPr>
                  <a:xfrm>
                    <a:off x="512415" y="1879784"/>
                    <a:ext cx="2528312" cy="881078"/>
                    <a:chOff x="579820" y="1879784"/>
                    <a:chExt cx="2528312" cy="881078"/>
                  </a:xfrm>
                </p:grpSpPr>
                <p:sp>
                  <p:nvSpPr>
                    <p:cNvPr id="211" name="Google Shape;211;p22"/>
                    <p:cNvSpPr/>
                    <p:nvPr/>
                  </p:nvSpPr>
                  <p:spPr>
                    <a:xfrm>
                      <a:off x="579820" y="1879784"/>
                      <a:ext cx="90958" cy="90958"/>
                    </a:xfrm>
                    <a:prstGeom prst="ellipse">
                      <a:avLst/>
                    </a:prstGeom>
                    <a:solidFill>
                      <a:schemeClr val="lt2"/>
                    </a:solidFill>
                    <a:ln w="1270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212" name="Google Shape;212;p22"/>
                    <p:cNvSpPr/>
                    <p:nvPr/>
                  </p:nvSpPr>
                  <p:spPr>
                    <a:xfrm>
                      <a:off x="673208" y="1926171"/>
                      <a:ext cx="2434924" cy="834691"/>
                    </a:xfrm>
                    <a:custGeom>
                      <a:avLst/>
                      <a:gdLst/>
                      <a:ahLst/>
                      <a:cxnLst/>
                      <a:rect l="l" t="t" r="r" b="b"/>
                      <a:pathLst>
                        <a:path w="2434925" h="834690" extrusionOk="0">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w="1270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grpSp>
              <p:grpSp>
                <p:nvGrpSpPr>
                  <p:cNvPr id="213" name="Google Shape;213;p22"/>
                  <p:cNvGrpSpPr/>
                  <p:nvPr/>
                </p:nvGrpSpPr>
                <p:grpSpPr>
                  <a:xfrm>
                    <a:off x="299295" y="2006438"/>
                    <a:ext cx="2659166" cy="674157"/>
                    <a:chOff x="299295" y="2006438"/>
                    <a:chExt cx="2659166" cy="674157"/>
                  </a:xfrm>
                </p:grpSpPr>
                <p:sp>
                  <p:nvSpPr>
                    <p:cNvPr id="214" name="Google Shape;214;p22"/>
                    <p:cNvSpPr/>
                    <p:nvPr/>
                  </p:nvSpPr>
                  <p:spPr>
                    <a:xfrm>
                      <a:off x="299295" y="2006438"/>
                      <a:ext cx="2659166" cy="674157"/>
                    </a:xfrm>
                    <a:prstGeom prst="roundRect">
                      <a:avLst>
                        <a:gd name="adj" fmla="val 50000"/>
                      </a:avLst>
                    </a:prstGeom>
                    <a:solidFill>
                      <a:srgbClr val="00009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rgbClr val="000099"/>
                        </a:solidFill>
                        <a:latin typeface="Calibri"/>
                        <a:ea typeface="Calibri"/>
                        <a:cs typeface="Calibri"/>
                        <a:sym typeface="Calibri"/>
                      </a:endParaRPr>
                    </a:p>
                  </p:txBody>
                </p:sp>
                <p:sp>
                  <p:nvSpPr>
                    <p:cNvPr id="215" name="Google Shape;215;p22"/>
                    <p:cNvSpPr/>
                    <p:nvPr/>
                  </p:nvSpPr>
                  <p:spPr>
                    <a:xfrm>
                      <a:off x="702809" y="2100853"/>
                      <a:ext cx="1852135" cy="485319"/>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b="1" i="0" u="none" strike="noStrike" cap="none">
                          <a:solidFill>
                            <a:schemeClr val="lt2"/>
                          </a:solidFill>
                          <a:latin typeface="Century Gothic"/>
                          <a:ea typeface="Century Gothic"/>
                          <a:cs typeface="Century Gothic"/>
                          <a:sym typeface="Century Gothic"/>
                        </a:rPr>
                        <a:t>Intake</a:t>
                      </a:r>
                      <a:endParaRPr sz="900" b="1" i="0" u="none" strike="noStrike" cap="none">
                        <a:solidFill>
                          <a:schemeClr val="lt2"/>
                        </a:solidFill>
                        <a:latin typeface="Century Gothic"/>
                        <a:ea typeface="Century Gothic"/>
                        <a:cs typeface="Century Gothic"/>
                        <a:sym typeface="Century Gothic"/>
                      </a:endParaRPr>
                    </a:p>
                  </p:txBody>
                </p:sp>
              </p:grpSp>
            </p:grpSp>
          </p:grpSp>
          <p:grpSp>
            <p:nvGrpSpPr>
              <p:cNvPr id="216" name="Google Shape;216;p22"/>
              <p:cNvGrpSpPr/>
              <p:nvPr/>
            </p:nvGrpSpPr>
            <p:grpSpPr>
              <a:xfrm>
                <a:off x="2277904" y="2597971"/>
                <a:ext cx="1660864" cy="2491150"/>
                <a:chOff x="332788" y="1996881"/>
                <a:chExt cx="1660864" cy="2491150"/>
              </a:xfrm>
            </p:grpSpPr>
            <p:grpSp>
              <p:nvGrpSpPr>
                <p:cNvPr id="217" name="Google Shape;217;p22"/>
                <p:cNvGrpSpPr/>
                <p:nvPr/>
              </p:nvGrpSpPr>
              <p:grpSpPr>
                <a:xfrm>
                  <a:off x="332788" y="2733701"/>
                  <a:ext cx="1660864" cy="1754330"/>
                  <a:chOff x="6218991" y="2771801"/>
                  <a:chExt cx="1660864" cy="1754330"/>
                </a:xfrm>
              </p:grpSpPr>
              <p:sp>
                <p:nvSpPr>
                  <p:cNvPr id="218" name="Google Shape;218;p22"/>
                  <p:cNvSpPr/>
                  <p:nvPr/>
                </p:nvSpPr>
                <p:spPr>
                  <a:xfrm>
                    <a:off x="6218991" y="2771801"/>
                    <a:ext cx="1660864" cy="1754330"/>
                  </a:xfrm>
                  <a:prstGeom prst="roundRect">
                    <a:avLst>
                      <a:gd name="adj" fmla="val 6344"/>
                    </a:avLst>
                  </a:prstGeom>
                  <a:noFill/>
                  <a:ln w="9525" cap="flat" cmpd="sng">
                    <a:solidFill>
                      <a:schemeClr val="accent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19" name="Google Shape;219;p22"/>
                  <p:cNvSpPr txBox="1"/>
                  <p:nvPr/>
                </p:nvSpPr>
                <p:spPr>
                  <a:xfrm>
                    <a:off x="6290555" y="3164612"/>
                    <a:ext cx="1517700" cy="749100"/>
                  </a:xfrm>
                  <a:prstGeom prst="rect">
                    <a:avLst/>
                  </a:prstGeom>
                  <a:noFill/>
                  <a:ln>
                    <a:noFill/>
                  </a:ln>
                </p:spPr>
                <p:txBody>
                  <a:bodyPr spcFirstLastPara="1" wrap="square" lIns="68575" tIns="34275" rIns="68575" bIns="34275" anchor="t" anchorCtr="0">
                    <a:spAutoFit/>
                  </a:bodyPr>
                  <a:lstStyle/>
                  <a:p>
                    <a:pPr marL="127000" marR="0" lvl="0" indent="-127000" algn="l" rtl="0">
                      <a:spcBef>
                        <a:spcPts val="0"/>
                      </a:spcBef>
                      <a:spcAft>
                        <a:spcPts val="0"/>
                      </a:spcAft>
                      <a:buClr>
                        <a:srgbClr val="3F3F3F"/>
                      </a:buClr>
                      <a:buSzPts val="800"/>
                      <a:buFont typeface="Courier New"/>
                      <a:buChar char="o"/>
                    </a:pPr>
                    <a:r>
                      <a:rPr lang="en" sz="800" b="1" i="0" u="none" strike="noStrike" cap="none">
                        <a:solidFill>
                          <a:srgbClr val="3F3F3F"/>
                        </a:solidFill>
                      </a:rPr>
                      <a:t>Zone Placement</a:t>
                    </a:r>
                    <a:endParaRPr sz="800" b="1" i="0" u="none" strike="noStrike" cap="none">
                      <a:solidFill>
                        <a:srgbClr val="3F3F3F"/>
                      </a:solidFill>
                    </a:endParaRPr>
                  </a:p>
                  <a:p>
                    <a:pPr marL="127000" marR="0" lvl="0" indent="-127000" algn="l" rtl="0">
                      <a:spcBef>
                        <a:spcPts val="0"/>
                      </a:spcBef>
                      <a:spcAft>
                        <a:spcPts val="0"/>
                      </a:spcAft>
                      <a:buClr>
                        <a:srgbClr val="3F3F3F"/>
                      </a:buClr>
                      <a:buSzPts val="800"/>
                      <a:buFont typeface="Courier New"/>
                      <a:buChar char="o"/>
                    </a:pPr>
                    <a:r>
                      <a:rPr lang="en" sz="800" b="0" i="0" u="none" strike="noStrike" cap="none">
                        <a:solidFill>
                          <a:srgbClr val="3F3F3F"/>
                        </a:solidFill>
                        <a:latin typeface="Arial"/>
                        <a:ea typeface="Arial"/>
                        <a:cs typeface="Arial"/>
                        <a:sym typeface="Arial"/>
                      </a:rPr>
                      <a:t>Depth Evaluation</a:t>
                    </a:r>
                    <a:endParaRPr sz="800" b="0" i="0" u="none" strike="noStrike" cap="none">
                      <a:solidFill>
                        <a:srgbClr val="3F3F3F"/>
                      </a:solidFill>
                      <a:latin typeface="Arial"/>
                      <a:ea typeface="Arial"/>
                      <a:cs typeface="Arial"/>
                      <a:sym typeface="Arial"/>
                    </a:endParaRPr>
                  </a:p>
                  <a:p>
                    <a:pPr marL="127000" marR="0" lvl="0" indent="-127000" algn="l" rtl="0">
                      <a:spcBef>
                        <a:spcPts val="0"/>
                      </a:spcBef>
                      <a:spcAft>
                        <a:spcPts val="0"/>
                      </a:spcAft>
                      <a:buClr>
                        <a:srgbClr val="3F3F3F"/>
                      </a:buClr>
                      <a:buSzPts val="800"/>
                      <a:buFont typeface="Courier New"/>
                      <a:buChar char="o"/>
                    </a:pPr>
                    <a:r>
                      <a:rPr lang="en" sz="800" b="0" i="0" u="none" strike="noStrike" cap="none">
                        <a:solidFill>
                          <a:srgbClr val="3F3F3F"/>
                        </a:solidFill>
                        <a:latin typeface="Arial"/>
                        <a:ea typeface="Arial"/>
                        <a:cs typeface="Arial"/>
                        <a:sym typeface="Arial"/>
                      </a:rPr>
                      <a:t>Technical  Feasibility</a:t>
                    </a:r>
                    <a:endParaRPr sz="800" b="0" i="0" u="none" strike="noStrike" cap="none">
                      <a:solidFill>
                        <a:srgbClr val="3F3F3F"/>
                      </a:solidFill>
                      <a:latin typeface="Arial"/>
                      <a:ea typeface="Arial"/>
                      <a:cs typeface="Arial"/>
                      <a:sym typeface="Arial"/>
                    </a:endParaRPr>
                  </a:p>
                </p:txBody>
              </p:sp>
            </p:grpSp>
            <p:grpSp>
              <p:nvGrpSpPr>
                <p:cNvPr id="220" name="Google Shape;220;p22"/>
                <p:cNvGrpSpPr/>
                <p:nvPr/>
              </p:nvGrpSpPr>
              <p:grpSpPr>
                <a:xfrm>
                  <a:off x="380875" y="1996881"/>
                  <a:ext cx="1564690" cy="502881"/>
                  <a:chOff x="299295" y="1879784"/>
                  <a:chExt cx="2741432" cy="881078"/>
                </a:xfrm>
              </p:grpSpPr>
              <p:grpSp>
                <p:nvGrpSpPr>
                  <p:cNvPr id="221" name="Google Shape;221;p22"/>
                  <p:cNvGrpSpPr/>
                  <p:nvPr/>
                </p:nvGrpSpPr>
                <p:grpSpPr>
                  <a:xfrm>
                    <a:off x="512415" y="1879784"/>
                    <a:ext cx="2528312" cy="881078"/>
                    <a:chOff x="579820" y="1879784"/>
                    <a:chExt cx="2528312" cy="881078"/>
                  </a:xfrm>
                </p:grpSpPr>
                <p:sp>
                  <p:nvSpPr>
                    <p:cNvPr id="222" name="Google Shape;222;p22"/>
                    <p:cNvSpPr/>
                    <p:nvPr/>
                  </p:nvSpPr>
                  <p:spPr>
                    <a:xfrm>
                      <a:off x="579820" y="1879784"/>
                      <a:ext cx="90958" cy="90958"/>
                    </a:xfrm>
                    <a:prstGeom prst="ellipse">
                      <a:avLst/>
                    </a:prstGeom>
                    <a:solidFill>
                      <a:schemeClr val="lt2"/>
                    </a:solidFill>
                    <a:ln w="12700" cap="flat" cmpd="sng">
                      <a:solidFill>
                        <a:schemeClr val="accent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223" name="Google Shape;223;p22"/>
                    <p:cNvSpPr/>
                    <p:nvPr/>
                  </p:nvSpPr>
                  <p:spPr>
                    <a:xfrm>
                      <a:off x="673208" y="1926171"/>
                      <a:ext cx="2434924" cy="834691"/>
                    </a:xfrm>
                    <a:custGeom>
                      <a:avLst/>
                      <a:gdLst/>
                      <a:ahLst/>
                      <a:cxnLst/>
                      <a:rect l="l" t="t" r="r" b="b"/>
                      <a:pathLst>
                        <a:path w="2434925" h="834690" extrusionOk="0">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w="12700" cap="flat" cmpd="sng">
                      <a:solidFill>
                        <a:schemeClr val="accent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grpSp>
              <p:grpSp>
                <p:nvGrpSpPr>
                  <p:cNvPr id="224" name="Google Shape;224;p22"/>
                  <p:cNvGrpSpPr/>
                  <p:nvPr/>
                </p:nvGrpSpPr>
                <p:grpSpPr>
                  <a:xfrm>
                    <a:off x="299295" y="2006438"/>
                    <a:ext cx="2659166" cy="674157"/>
                    <a:chOff x="299295" y="2006438"/>
                    <a:chExt cx="2659166" cy="674157"/>
                  </a:xfrm>
                </p:grpSpPr>
                <p:sp>
                  <p:nvSpPr>
                    <p:cNvPr id="225" name="Google Shape;225;p22"/>
                    <p:cNvSpPr/>
                    <p:nvPr/>
                  </p:nvSpPr>
                  <p:spPr>
                    <a:xfrm>
                      <a:off x="299295" y="2006438"/>
                      <a:ext cx="2659166" cy="674157"/>
                    </a:xfrm>
                    <a:prstGeom prst="roundRect">
                      <a:avLst>
                        <a:gd name="adj" fmla="val 50000"/>
                      </a:avLst>
                    </a:prstGeom>
                    <a:solidFill>
                      <a:srgbClr val="EF413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sp>
                  <p:nvSpPr>
                    <p:cNvPr id="226" name="Google Shape;226;p22"/>
                    <p:cNvSpPr/>
                    <p:nvPr/>
                  </p:nvSpPr>
                  <p:spPr>
                    <a:xfrm>
                      <a:off x="702809" y="2100853"/>
                      <a:ext cx="1852135" cy="485319"/>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b="1" i="0" u="none" strike="noStrike" cap="none">
                          <a:solidFill>
                            <a:schemeClr val="lt2"/>
                          </a:solidFill>
                          <a:latin typeface="Century Gothic"/>
                          <a:ea typeface="Century Gothic"/>
                          <a:cs typeface="Century Gothic"/>
                          <a:sym typeface="Century Gothic"/>
                        </a:rPr>
                        <a:t>Concept </a:t>
                      </a:r>
                      <a:endParaRPr sz="900" b="1" i="0" u="none" strike="noStrike" cap="none">
                        <a:solidFill>
                          <a:schemeClr val="lt2"/>
                        </a:solidFill>
                        <a:latin typeface="Century Gothic"/>
                        <a:ea typeface="Century Gothic"/>
                        <a:cs typeface="Century Gothic"/>
                        <a:sym typeface="Century Gothic"/>
                      </a:endParaRPr>
                    </a:p>
                  </p:txBody>
                </p:sp>
              </p:grpSp>
            </p:grpSp>
          </p:grpSp>
          <p:grpSp>
            <p:nvGrpSpPr>
              <p:cNvPr id="227" name="Google Shape;227;p22"/>
              <p:cNvGrpSpPr/>
              <p:nvPr/>
            </p:nvGrpSpPr>
            <p:grpSpPr>
              <a:xfrm>
                <a:off x="4273820" y="2597972"/>
                <a:ext cx="1660864" cy="2491149"/>
                <a:chOff x="332788" y="1996882"/>
                <a:chExt cx="1660864" cy="2491149"/>
              </a:xfrm>
            </p:grpSpPr>
            <p:grpSp>
              <p:nvGrpSpPr>
                <p:cNvPr id="228" name="Google Shape;228;p22"/>
                <p:cNvGrpSpPr/>
                <p:nvPr/>
              </p:nvGrpSpPr>
              <p:grpSpPr>
                <a:xfrm>
                  <a:off x="332788" y="2733701"/>
                  <a:ext cx="1660864" cy="1754330"/>
                  <a:chOff x="6218991" y="2771801"/>
                  <a:chExt cx="1660864" cy="1754330"/>
                </a:xfrm>
              </p:grpSpPr>
              <p:sp>
                <p:nvSpPr>
                  <p:cNvPr id="229" name="Google Shape;229;p22"/>
                  <p:cNvSpPr/>
                  <p:nvPr/>
                </p:nvSpPr>
                <p:spPr>
                  <a:xfrm>
                    <a:off x="6218991" y="2771801"/>
                    <a:ext cx="1660864" cy="1754330"/>
                  </a:xfrm>
                  <a:prstGeom prst="roundRect">
                    <a:avLst>
                      <a:gd name="adj" fmla="val 6344"/>
                    </a:avLst>
                  </a:prstGeom>
                  <a:noFill/>
                  <a:ln w="9525" cap="flat" cmpd="sng">
                    <a:solidFill>
                      <a:srgbClr val="FFCC2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30" name="Google Shape;230;p22"/>
                  <p:cNvSpPr txBox="1"/>
                  <p:nvPr/>
                </p:nvSpPr>
                <p:spPr>
                  <a:xfrm>
                    <a:off x="6290555" y="3164616"/>
                    <a:ext cx="1517700" cy="913200"/>
                  </a:xfrm>
                  <a:prstGeom prst="rect">
                    <a:avLst/>
                  </a:prstGeom>
                  <a:noFill/>
                  <a:ln>
                    <a:noFill/>
                  </a:ln>
                </p:spPr>
                <p:txBody>
                  <a:bodyPr spcFirstLastPara="1" wrap="square" lIns="68575" tIns="34275" rIns="68575" bIns="34275" anchor="t" anchorCtr="0">
                    <a:spAutoFit/>
                  </a:bodyPr>
                  <a:lstStyle/>
                  <a:p>
                    <a:pPr marL="127000" marR="0" lvl="0" indent="-127000" algn="l" rtl="0">
                      <a:spcBef>
                        <a:spcPts val="0"/>
                      </a:spcBef>
                      <a:spcAft>
                        <a:spcPts val="0"/>
                      </a:spcAft>
                      <a:buClr>
                        <a:srgbClr val="3F3F3F"/>
                      </a:buClr>
                      <a:buSzPts val="800"/>
                      <a:buFont typeface="Courier New"/>
                      <a:buChar char="o"/>
                    </a:pPr>
                    <a:r>
                      <a:rPr lang="en" sz="800" b="0" i="0" u="none" strike="noStrike" cap="none">
                        <a:solidFill>
                          <a:srgbClr val="3F3F3F"/>
                        </a:solidFill>
                        <a:latin typeface="Arial"/>
                        <a:ea typeface="Arial"/>
                        <a:cs typeface="Arial"/>
                        <a:sym typeface="Arial"/>
                      </a:rPr>
                      <a:t>Product/Service definition</a:t>
                    </a:r>
                    <a:endParaRPr sz="800" b="0" i="0" u="none" strike="noStrike" cap="none">
                      <a:solidFill>
                        <a:srgbClr val="3F3F3F"/>
                      </a:solidFill>
                      <a:latin typeface="Arial"/>
                      <a:ea typeface="Arial"/>
                      <a:cs typeface="Arial"/>
                      <a:sym typeface="Arial"/>
                    </a:endParaRPr>
                  </a:p>
                  <a:p>
                    <a:pPr marL="127000" marR="0" lvl="0" indent="-127000" algn="l" rtl="0">
                      <a:spcBef>
                        <a:spcPts val="0"/>
                      </a:spcBef>
                      <a:spcAft>
                        <a:spcPts val="0"/>
                      </a:spcAft>
                      <a:buClr>
                        <a:srgbClr val="3F3F3F"/>
                      </a:buClr>
                      <a:buSzPts val="800"/>
                      <a:buFont typeface="Courier New"/>
                      <a:buChar char="o"/>
                    </a:pPr>
                    <a:r>
                      <a:rPr lang="en" sz="800" b="1" i="0" u="none" strike="noStrike" cap="none">
                        <a:solidFill>
                          <a:srgbClr val="3F3F3F"/>
                        </a:solidFill>
                      </a:rPr>
                      <a:t>Business Justification</a:t>
                    </a:r>
                    <a:endParaRPr sz="800" b="1" i="0" u="none" strike="noStrike" cap="none">
                      <a:solidFill>
                        <a:srgbClr val="3F3F3F"/>
                      </a:solidFill>
                    </a:endParaRPr>
                  </a:p>
                  <a:p>
                    <a:pPr marL="127000" marR="0" lvl="0" indent="-127000" algn="l" rtl="0">
                      <a:spcBef>
                        <a:spcPts val="0"/>
                      </a:spcBef>
                      <a:spcAft>
                        <a:spcPts val="0"/>
                      </a:spcAft>
                      <a:buClr>
                        <a:srgbClr val="3F3F3F"/>
                      </a:buClr>
                      <a:buSzPts val="800"/>
                      <a:buFont typeface="Courier New"/>
                      <a:buChar char="o"/>
                    </a:pPr>
                    <a:r>
                      <a:rPr lang="en" sz="800" b="0" i="0" u="none" strike="noStrike" cap="none">
                        <a:solidFill>
                          <a:srgbClr val="3F3F3F"/>
                        </a:solidFill>
                        <a:latin typeface="Arial"/>
                        <a:ea typeface="Arial"/>
                        <a:cs typeface="Arial"/>
                        <a:sym typeface="Arial"/>
                      </a:rPr>
                      <a:t>Development Plan</a:t>
                    </a:r>
                    <a:endParaRPr sz="800" b="0" i="0" u="none" strike="noStrike" cap="none">
                      <a:solidFill>
                        <a:srgbClr val="3F3F3F"/>
                      </a:solidFill>
                      <a:latin typeface="Arial"/>
                      <a:ea typeface="Arial"/>
                      <a:cs typeface="Arial"/>
                      <a:sym typeface="Arial"/>
                    </a:endParaRPr>
                  </a:p>
                </p:txBody>
              </p:sp>
            </p:grpSp>
            <p:grpSp>
              <p:nvGrpSpPr>
                <p:cNvPr id="231" name="Google Shape;231;p22"/>
                <p:cNvGrpSpPr/>
                <p:nvPr/>
              </p:nvGrpSpPr>
              <p:grpSpPr>
                <a:xfrm>
                  <a:off x="380875" y="1996882"/>
                  <a:ext cx="1564690" cy="502881"/>
                  <a:chOff x="299295" y="1879784"/>
                  <a:chExt cx="2741432" cy="881078"/>
                </a:xfrm>
              </p:grpSpPr>
              <p:grpSp>
                <p:nvGrpSpPr>
                  <p:cNvPr id="232" name="Google Shape;232;p22"/>
                  <p:cNvGrpSpPr/>
                  <p:nvPr/>
                </p:nvGrpSpPr>
                <p:grpSpPr>
                  <a:xfrm>
                    <a:off x="512415" y="1879784"/>
                    <a:ext cx="2528312" cy="881078"/>
                    <a:chOff x="579820" y="1879784"/>
                    <a:chExt cx="2528312" cy="881078"/>
                  </a:xfrm>
                </p:grpSpPr>
                <p:sp>
                  <p:nvSpPr>
                    <p:cNvPr id="233" name="Google Shape;233;p22"/>
                    <p:cNvSpPr/>
                    <p:nvPr/>
                  </p:nvSpPr>
                  <p:spPr>
                    <a:xfrm>
                      <a:off x="579820" y="1879784"/>
                      <a:ext cx="90958" cy="90958"/>
                    </a:xfrm>
                    <a:prstGeom prst="ellipse">
                      <a:avLst/>
                    </a:prstGeom>
                    <a:solidFill>
                      <a:schemeClr val="lt2"/>
                    </a:solidFill>
                    <a:ln w="12700" cap="flat" cmpd="sng">
                      <a:solidFill>
                        <a:schemeClr val="accent3"/>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234" name="Google Shape;234;p22"/>
                    <p:cNvSpPr/>
                    <p:nvPr/>
                  </p:nvSpPr>
                  <p:spPr>
                    <a:xfrm>
                      <a:off x="673208" y="1926171"/>
                      <a:ext cx="2434924" cy="834691"/>
                    </a:xfrm>
                    <a:custGeom>
                      <a:avLst/>
                      <a:gdLst/>
                      <a:ahLst/>
                      <a:cxnLst/>
                      <a:rect l="l" t="t" r="r" b="b"/>
                      <a:pathLst>
                        <a:path w="2434925" h="834690" extrusionOk="0">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w="12700" cap="flat" cmpd="sng">
                      <a:solidFill>
                        <a:schemeClr val="accent3"/>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grpSp>
              <p:grpSp>
                <p:nvGrpSpPr>
                  <p:cNvPr id="235" name="Google Shape;235;p22"/>
                  <p:cNvGrpSpPr/>
                  <p:nvPr/>
                </p:nvGrpSpPr>
                <p:grpSpPr>
                  <a:xfrm>
                    <a:off x="299295" y="2006438"/>
                    <a:ext cx="2659166" cy="674157"/>
                    <a:chOff x="299295" y="2006438"/>
                    <a:chExt cx="2659166" cy="674157"/>
                  </a:xfrm>
                </p:grpSpPr>
                <p:sp>
                  <p:nvSpPr>
                    <p:cNvPr id="236" name="Google Shape;236;p22"/>
                    <p:cNvSpPr/>
                    <p:nvPr/>
                  </p:nvSpPr>
                  <p:spPr>
                    <a:xfrm>
                      <a:off x="299295" y="2006438"/>
                      <a:ext cx="2659166" cy="674157"/>
                    </a:xfrm>
                    <a:prstGeom prst="roundRect">
                      <a:avLst>
                        <a:gd name="adj" fmla="val 50000"/>
                      </a:avLst>
                    </a:prstGeom>
                    <a:solidFill>
                      <a:schemeClr val="dk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sp>
                  <p:nvSpPr>
                    <p:cNvPr id="237" name="Google Shape;237;p22"/>
                    <p:cNvSpPr/>
                    <p:nvPr/>
                  </p:nvSpPr>
                  <p:spPr>
                    <a:xfrm>
                      <a:off x="550758" y="2100853"/>
                      <a:ext cx="2183460" cy="485319"/>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b="1" i="0" u="none" strike="noStrike" cap="none">
                          <a:solidFill>
                            <a:schemeClr val="lt1"/>
                          </a:solidFill>
                          <a:latin typeface="Century Gothic"/>
                          <a:ea typeface="Century Gothic"/>
                          <a:cs typeface="Century Gothic"/>
                          <a:sym typeface="Century Gothic"/>
                        </a:rPr>
                        <a:t>Business Case</a:t>
                      </a:r>
                      <a:endParaRPr sz="900" b="1" i="0" u="none" strike="noStrike" cap="none">
                        <a:solidFill>
                          <a:schemeClr val="lt1"/>
                        </a:solidFill>
                        <a:latin typeface="Century Gothic"/>
                        <a:ea typeface="Century Gothic"/>
                        <a:cs typeface="Century Gothic"/>
                        <a:sym typeface="Century Gothic"/>
                      </a:endParaRPr>
                    </a:p>
                  </p:txBody>
                </p:sp>
              </p:grpSp>
            </p:grpSp>
          </p:grpSp>
          <p:grpSp>
            <p:nvGrpSpPr>
              <p:cNvPr id="238" name="Google Shape;238;p22"/>
              <p:cNvGrpSpPr/>
              <p:nvPr/>
            </p:nvGrpSpPr>
            <p:grpSpPr>
              <a:xfrm>
                <a:off x="6269736" y="2597971"/>
                <a:ext cx="1660864" cy="2491150"/>
                <a:chOff x="332788" y="1996881"/>
                <a:chExt cx="1660864" cy="2491150"/>
              </a:xfrm>
            </p:grpSpPr>
            <p:grpSp>
              <p:nvGrpSpPr>
                <p:cNvPr id="239" name="Google Shape;239;p22"/>
                <p:cNvGrpSpPr/>
                <p:nvPr/>
              </p:nvGrpSpPr>
              <p:grpSpPr>
                <a:xfrm>
                  <a:off x="332788" y="2733701"/>
                  <a:ext cx="1660864" cy="1754330"/>
                  <a:chOff x="6218991" y="2771801"/>
                  <a:chExt cx="1660864" cy="1754330"/>
                </a:xfrm>
              </p:grpSpPr>
              <p:sp>
                <p:nvSpPr>
                  <p:cNvPr id="240" name="Google Shape;240;p22"/>
                  <p:cNvSpPr/>
                  <p:nvPr/>
                </p:nvSpPr>
                <p:spPr>
                  <a:xfrm>
                    <a:off x="6218991" y="2771801"/>
                    <a:ext cx="1660864" cy="1754330"/>
                  </a:xfrm>
                  <a:prstGeom prst="roundRect">
                    <a:avLst>
                      <a:gd name="adj" fmla="val 6344"/>
                    </a:avLst>
                  </a:prstGeom>
                  <a:noFill/>
                  <a:ln w="9525"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41" name="Google Shape;241;p22"/>
                  <p:cNvSpPr txBox="1"/>
                  <p:nvPr/>
                </p:nvSpPr>
                <p:spPr>
                  <a:xfrm>
                    <a:off x="6290555" y="3159845"/>
                    <a:ext cx="1517700" cy="913200"/>
                  </a:xfrm>
                  <a:prstGeom prst="rect">
                    <a:avLst/>
                  </a:prstGeom>
                  <a:noFill/>
                  <a:ln>
                    <a:noFill/>
                  </a:ln>
                </p:spPr>
                <p:txBody>
                  <a:bodyPr spcFirstLastPara="1" wrap="square" lIns="68575" tIns="34275" rIns="68575" bIns="34275" anchor="t" anchorCtr="0">
                    <a:spAutoFit/>
                  </a:bodyPr>
                  <a:lstStyle/>
                  <a:p>
                    <a:pPr marL="127000" marR="0" lvl="0" indent="-127000" algn="l" rtl="0">
                      <a:spcBef>
                        <a:spcPts val="0"/>
                      </a:spcBef>
                      <a:spcAft>
                        <a:spcPts val="0"/>
                      </a:spcAft>
                      <a:buClr>
                        <a:srgbClr val="3F3F3F"/>
                      </a:buClr>
                      <a:buSzPts val="800"/>
                      <a:buFont typeface="Courier New"/>
                      <a:buChar char="o"/>
                    </a:pPr>
                    <a:r>
                      <a:rPr lang="en" sz="800" b="0" i="0" u="none" strike="noStrike" cap="none">
                        <a:solidFill>
                          <a:srgbClr val="3F3F3F"/>
                        </a:solidFill>
                        <a:latin typeface="Arial"/>
                        <a:ea typeface="Arial"/>
                        <a:cs typeface="Arial"/>
                        <a:sym typeface="Arial"/>
                      </a:rPr>
                      <a:t>Develop prototype to verify and validate</a:t>
                    </a:r>
                    <a:endParaRPr sz="800" b="0" i="0" u="none" strike="noStrike" cap="none">
                      <a:solidFill>
                        <a:srgbClr val="3F3F3F"/>
                      </a:solidFill>
                      <a:latin typeface="Arial"/>
                      <a:ea typeface="Arial"/>
                      <a:cs typeface="Arial"/>
                      <a:sym typeface="Arial"/>
                    </a:endParaRPr>
                  </a:p>
                  <a:p>
                    <a:pPr marL="127000" marR="0" lvl="0" indent="-127000" algn="l" rtl="0">
                      <a:spcBef>
                        <a:spcPts val="0"/>
                      </a:spcBef>
                      <a:spcAft>
                        <a:spcPts val="0"/>
                      </a:spcAft>
                      <a:buClr>
                        <a:srgbClr val="3F3F3F"/>
                      </a:buClr>
                      <a:buSzPts val="800"/>
                      <a:buFont typeface="Courier New"/>
                      <a:buChar char="o"/>
                    </a:pPr>
                    <a:r>
                      <a:rPr lang="en" sz="800" b="1" i="0" u="none" strike="noStrike" cap="none">
                        <a:solidFill>
                          <a:srgbClr val="3F3F3F"/>
                        </a:solidFill>
                      </a:rPr>
                      <a:t>Test market fit</a:t>
                    </a:r>
                    <a:endParaRPr sz="1100" b="1"/>
                  </a:p>
                  <a:p>
                    <a:pPr marL="127000" marR="0" lvl="0" indent="-127000" algn="l" rtl="0">
                      <a:spcBef>
                        <a:spcPts val="0"/>
                      </a:spcBef>
                      <a:spcAft>
                        <a:spcPts val="0"/>
                      </a:spcAft>
                      <a:buClr>
                        <a:srgbClr val="3F3F3F"/>
                      </a:buClr>
                      <a:buSzPts val="800"/>
                      <a:buFont typeface="Courier New"/>
                      <a:buChar char="o"/>
                    </a:pPr>
                    <a:r>
                      <a:rPr lang="en" sz="800" b="0" i="0" u="none" strike="noStrike" cap="none">
                        <a:solidFill>
                          <a:srgbClr val="3F3F3F"/>
                        </a:solidFill>
                        <a:latin typeface="Arial"/>
                        <a:ea typeface="Arial"/>
                        <a:cs typeface="Arial"/>
                        <a:sym typeface="Arial"/>
                      </a:rPr>
                      <a:t>Several iterations</a:t>
                    </a:r>
                    <a:endParaRPr sz="1100"/>
                  </a:p>
                </p:txBody>
              </p:sp>
            </p:grpSp>
            <p:grpSp>
              <p:nvGrpSpPr>
                <p:cNvPr id="242" name="Google Shape;242;p22"/>
                <p:cNvGrpSpPr/>
                <p:nvPr/>
              </p:nvGrpSpPr>
              <p:grpSpPr>
                <a:xfrm>
                  <a:off x="380875" y="1996881"/>
                  <a:ext cx="1564690" cy="502881"/>
                  <a:chOff x="299295" y="1879784"/>
                  <a:chExt cx="2741432" cy="881078"/>
                </a:xfrm>
              </p:grpSpPr>
              <p:grpSp>
                <p:nvGrpSpPr>
                  <p:cNvPr id="243" name="Google Shape;243;p22"/>
                  <p:cNvGrpSpPr/>
                  <p:nvPr/>
                </p:nvGrpSpPr>
                <p:grpSpPr>
                  <a:xfrm>
                    <a:off x="512415" y="1879784"/>
                    <a:ext cx="2528312" cy="881078"/>
                    <a:chOff x="579820" y="1879784"/>
                    <a:chExt cx="2528312" cy="881078"/>
                  </a:xfrm>
                </p:grpSpPr>
                <p:sp>
                  <p:nvSpPr>
                    <p:cNvPr id="244" name="Google Shape;244;p22"/>
                    <p:cNvSpPr/>
                    <p:nvPr/>
                  </p:nvSpPr>
                  <p:spPr>
                    <a:xfrm>
                      <a:off x="579820" y="1879784"/>
                      <a:ext cx="90958" cy="90958"/>
                    </a:xfrm>
                    <a:prstGeom prst="ellipse">
                      <a:avLst/>
                    </a:prstGeom>
                    <a:solidFill>
                      <a:schemeClr val="lt2"/>
                    </a:solidFill>
                    <a:ln w="1270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245" name="Google Shape;245;p22"/>
                    <p:cNvSpPr/>
                    <p:nvPr/>
                  </p:nvSpPr>
                  <p:spPr>
                    <a:xfrm>
                      <a:off x="673208" y="1926171"/>
                      <a:ext cx="2434924" cy="834691"/>
                    </a:xfrm>
                    <a:custGeom>
                      <a:avLst/>
                      <a:gdLst/>
                      <a:ahLst/>
                      <a:cxnLst/>
                      <a:rect l="l" t="t" r="r" b="b"/>
                      <a:pathLst>
                        <a:path w="2434925" h="834690" extrusionOk="0">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w="1270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grpSp>
              <p:grpSp>
                <p:nvGrpSpPr>
                  <p:cNvPr id="246" name="Google Shape;246;p22"/>
                  <p:cNvGrpSpPr/>
                  <p:nvPr/>
                </p:nvGrpSpPr>
                <p:grpSpPr>
                  <a:xfrm>
                    <a:off x="299295" y="2006438"/>
                    <a:ext cx="2659166" cy="674157"/>
                    <a:chOff x="299295" y="2006438"/>
                    <a:chExt cx="2659166" cy="674157"/>
                  </a:xfrm>
                </p:grpSpPr>
                <p:sp>
                  <p:nvSpPr>
                    <p:cNvPr id="247" name="Google Shape;247;p22"/>
                    <p:cNvSpPr/>
                    <p:nvPr/>
                  </p:nvSpPr>
                  <p:spPr>
                    <a:xfrm>
                      <a:off x="299295" y="2006438"/>
                      <a:ext cx="2659166" cy="674157"/>
                    </a:xfrm>
                    <a:prstGeom prst="roundRect">
                      <a:avLst>
                        <a:gd name="adj" fmla="val 50000"/>
                      </a:avLst>
                    </a:prstGeom>
                    <a:solidFill>
                      <a:srgbClr val="00009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rgbClr val="000099"/>
                        </a:solidFill>
                        <a:latin typeface="Calibri"/>
                        <a:ea typeface="Calibri"/>
                        <a:cs typeface="Calibri"/>
                        <a:sym typeface="Calibri"/>
                      </a:endParaRPr>
                    </a:p>
                  </p:txBody>
                </p:sp>
                <p:sp>
                  <p:nvSpPr>
                    <p:cNvPr id="248" name="Google Shape;248;p22"/>
                    <p:cNvSpPr/>
                    <p:nvPr/>
                  </p:nvSpPr>
                  <p:spPr>
                    <a:xfrm>
                      <a:off x="624930" y="2100853"/>
                      <a:ext cx="2124801" cy="48532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b="1" i="0" u="none" strike="noStrike" cap="none">
                          <a:solidFill>
                            <a:schemeClr val="lt2"/>
                          </a:solidFill>
                          <a:latin typeface="Century Gothic"/>
                          <a:ea typeface="Century Gothic"/>
                          <a:cs typeface="Century Gothic"/>
                          <a:sym typeface="Century Gothic"/>
                        </a:rPr>
                        <a:t>MVP</a:t>
                      </a:r>
                      <a:endParaRPr sz="900" b="1" i="0" u="none" strike="noStrike" cap="none">
                        <a:solidFill>
                          <a:schemeClr val="lt2"/>
                        </a:solidFill>
                        <a:latin typeface="Century Gothic"/>
                        <a:ea typeface="Century Gothic"/>
                        <a:cs typeface="Century Gothic"/>
                        <a:sym typeface="Century Gothic"/>
                      </a:endParaRPr>
                    </a:p>
                  </p:txBody>
                </p:sp>
              </p:grpSp>
            </p:grpSp>
          </p:grpSp>
          <p:grpSp>
            <p:nvGrpSpPr>
              <p:cNvPr id="249" name="Google Shape;249;p22"/>
              <p:cNvGrpSpPr/>
              <p:nvPr/>
            </p:nvGrpSpPr>
            <p:grpSpPr>
              <a:xfrm>
                <a:off x="8265652" y="2597971"/>
                <a:ext cx="1660864" cy="2491150"/>
                <a:chOff x="332788" y="1996881"/>
                <a:chExt cx="1660864" cy="2491150"/>
              </a:xfrm>
            </p:grpSpPr>
            <p:grpSp>
              <p:nvGrpSpPr>
                <p:cNvPr id="250" name="Google Shape;250;p22"/>
                <p:cNvGrpSpPr/>
                <p:nvPr/>
              </p:nvGrpSpPr>
              <p:grpSpPr>
                <a:xfrm>
                  <a:off x="332788" y="2733701"/>
                  <a:ext cx="1660864" cy="1754330"/>
                  <a:chOff x="6218991" y="2771801"/>
                  <a:chExt cx="1660864" cy="1754330"/>
                </a:xfrm>
              </p:grpSpPr>
              <p:sp>
                <p:nvSpPr>
                  <p:cNvPr id="251" name="Google Shape;251;p22"/>
                  <p:cNvSpPr/>
                  <p:nvPr/>
                </p:nvSpPr>
                <p:spPr>
                  <a:xfrm>
                    <a:off x="6218991" y="2771801"/>
                    <a:ext cx="1660864" cy="1754330"/>
                  </a:xfrm>
                  <a:prstGeom prst="roundRect">
                    <a:avLst>
                      <a:gd name="adj" fmla="val 6344"/>
                    </a:avLst>
                  </a:prstGeom>
                  <a:noFill/>
                  <a:ln w="9525" cap="flat" cmpd="sng">
                    <a:solidFill>
                      <a:schemeClr val="accent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52" name="Google Shape;252;p22"/>
                  <p:cNvSpPr txBox="1"/>
                  <p:nvPr/>
                </p:nvSpPr>
                <p:spPr>
                  <a:xfrm>
                    <a:off x="6290555" y="3152205"/>
                    <a:ext cx="1517700" cy="913200"/>
                  </a:xfrm>
                  <a:prstGeom prst="rect">
                    <a:avLst/>
                  </a:prstGeom>
                  <a:noFill/>
                  <a:ln>
                    <a:noFill/>
                  </a:ln>
                </p:spPr>
                <p:txBody>
                  <a:bodyPr spcFirstLastPara="1" wrap="square" lIns="68575" tIns="34275" rIns="68575" bIns="34275" anchor="t" anchorCtr="0">
                    <a:spAutoFit/>
                  </a:bodyPr>
                  <a:lstStyle/>
                  <a:p>
                    <a:pPr marL="127000" marR="0" lvl="0" indent="-127000" algn="l" rtl="0">
                      <a:spcBef>
                        <a:spcPts val="0"/>
                      </a:spcBef>
                      <a:spcAft>
                        <a:spcPts val="0"/>
                      </a:spcAft>
                      <a:buClr>
                        <a:srgbClr val="3F3F3F"/>
                      </a:buClr>
                      <a:buSzPts val="800"/>
                      <a:buFont typeface="Courier New"/>
                      <a:buChar char="o"/>
                    </a:pPr>
                    <a:r>
                      <a:rPr lang="en" sz="800" b="0" i="0" u="none" strike="noStrike" cap="none">
                        <a:solidFill>
                          <a:srgbClr val="3F3F3F"/>
                        </a:solidFill>
                        <a:latin typeface="Arial"/>
                        <a:ea typeface="Arial"/>
                        <a:cs typeface="Arial"/>
                        <a:sym typeface="Arial"/>
                      </a:rPr>
                      <a:t>Financial viability</a:t>
                    </a:r>
                    <a:endParaRPr sz="800" b="0" i="0" u="none" strike="noStrike" cap="none">
                      <a:solidFill>
                        <a:srgbClr val="3F3F3F"/>
                      </a:solidFill>
                      <a:latin typeface="Arial"/>
                      <a:ea typeface="Arial"/>
                      <a:cs typeface="Arial"/>
                      <a:sym typeface="Arial"/>
                    </a:endParaRPr>
                  </a:p>
                  <a:p>
                    <a:pPr marL="127000" marR="0" lvl="0" indent="-127000" algn="l" rtl="0">
                      <a:spcBef>
                        <a:spcPts val="0"/>
                      </a:spcBef>
                      <a:spcAft>
                        <a:spcPts val="0"/>
                      </a:spcAft>
                      <a:buClr>
                        <a:srgbClr val="3F3F3F"/>
                      </a:buClr>
                      <a:buSzPts val="800"/>
                      <a:buFont typeface="Courier New"/>
                      <a:buChar char="o"/>
                    </a:pPr>
                    <a:r>
                      <a:rPr lang="en" sz="800" b="1" i="0" u="none" strike="noStrike" cap="none">
                        <a:solidFill>
                          <a:srgbClr val="3F3F3F"/>
                        </a:solidFill>
                      </a:rPr>
                      <a:t>Implementation strategy</a:t>
                    </a:r>
                    <a:endParaRPr sz="800" b="1" i="0" u="none" strike="noStrike" cap="none">
                      <a:solidFill>
                        <a:srgbClr val="3F3F3F"/>
                      </a:solidFill>
                    </a:endParaRPr>
                  </a:p>
                  <a:p>
                    <a:pPr marL="127000" marR="0" lvl="0" indent="-127000" algn="l" rtl="0">
                      <a:spcBef>
                        <a:spcPts val="0"/>
                      </a:spcBef>
                      <a:spcAft>
                        <a:spcPts val="0"/>
                      </a:spcAft>
                      <a:buClr>
                        <a:srgbClr val="3F3F3F"/>
                      </a:buClr>
                      <a:buSzPts val="800"/>
                      <a:buFont typeface="Courier New"/>
                      <a:buChar char="o"/>
                    </a:pPr>
                    <a:r>
                      <a:rPr lang="en" sz="800" b="0" i="0" u="none" strike="noStrike" cap="none">
                        <a:solidFill>
                          <a:srgbClr val="3F3F3F"/>
                        </a:solidFill>
                        <a:latin typeface="Arial"/>
                        <a:ea typeface="Arial"/>
                        <a:cs typeface="Arial"/>
                        <a:sym typeface="Arial"/>
                      </a:rPr>
                      <a:t>Total Cost of Ownership</a:t>
                    </a:r>
                    <a:endParaRPr sz="800" b="0" i="0" u="none" strike="noStrike" cap="none">
                      <a:solidFill>
                        <a:srgbClr val="3F3F3F"/>
                      </a:solidFill>
                      <a:latin typeface="Arial"/>
                      <a:ea typeface="Arial"/>
                      <a:cs typeface="Arial"/>
                      <a:sym typeface="Arial"/>
                    </a:endParaRPr>
                  </a:p>
                </p:txBody>
              </p:sp>
            </p:grpSp>
            <p:grpSp>
              <p:nvGrpSpPr>
                <p:cNvPr id="253" name="Google Shape;253;p22"/>
                <p:cNvGrpSpPr/>
                <p:nvPr/>
              </p:nvGrpSpPr>
              <p:grpSpPr>
                <a:xfrm>
                  <a:off x="380875" y="1996881"/>
                  <a:ext cx="1564690" cy="502881"/>
                  <a:chOff x="299295" y="1879784"/>
                  <a:chExt cx="2741432" cy="881078"/>
                </a:xfrm>
              </p:grpSpPr>
              <p:grpSp>
                <p:nvGrpSpPr>
                  <p:cNvPr id="254" name="Google Shape;254;p22"/>
                  <p:cNvGrpSpPr/>
                  <p:nvPr/>
                </p:nvGrpSpPr>
                <p:grpSpPr>
                  <a:xfrm>
                    <a:off x="512415" y="1879784"/>
                    <a:ext cx="2528312" cy="881078"/>
                    <a:chOff x="579820" y="1879784"/>
                    <a:chExt cx="2528312" cy="881078"/>
                  </a:xfrm>
                </p:grpSpPr>
                <p:sp>
                  <p:nvSpPr>
                    <p:cNvPr id="255" name="Google Shape;255;p22"/>
                    <p:cNvSpPr/>
                    <p:nvPr/>
                  </p:nvSpPr>
                  <p:spPr>
                    <a:xfrm>
                      <a:off x="579820" y="1879784"/>
                      <a:ext cx="90958" cy="90958"/>
                    </a:xfrm>
                    <a:prstGeom prst="ellipse">
                      <a:avLst/>
                    </a:prstGeom>
                    <a:solidFill>
                      <a:schemeClr val="lt2"/>
                    </a:solidFill>
                    <a:ln w="12700" cap="flat" cmpd="sng">
                      <a:solidFill>
                        <a:schemeClr val="accent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256" name="Google Shape;256;p22"/>
                    <p:cNvSpPr/>
                    <p:nvPr/>
                  </p:nvSpPr>
                  <p:spPr>
                    <a:xfrm>
                      <a:off x="673208" y="1926171"/>
                      <a:ext cx="2434924" cy="834691"/>
                    </a:xfrm>
                    <a:custGeom>
                      <a:avLst/>
                      <a:gdLst/>
                      <a:ahLst/>
                      <a:cxnLst/>
                      <a:rect l="l" t="t" r="r" b="b"/>
                      <a:pathLst>
                        <a:path w="2434925" h="834690" extrusionOk="0">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w="12700" cap="flat" cmpd="sng">
                      <a:solidFill>
                        <a:schemeClr val="accent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grpSp>
              <p:grpSp>
                <p:nvGrpSpPr>
                  <p:cNvPr id="257" name="Google Shape;257;p22"/>
                  <p:cNvGrpSpPr/>
                  <p:nvPr/>
                </p:nvGrpSpPr>
                <p:grpSpPr>
                  <a:xfrm>
                    <a:off x="299295" y="2006438"/>
                    <a:ext cx="2659166" cy="674157"/>
                    <a:chOff x="299295" y="2006438"/>
                    <a:chExt cx="2659166" cy="674157"/>
                  </a:xfrm>
                </p:grpSpPr>
                <p:sp>
                  <p:nvSpPr>
                    <p:cNvPr id="258" name="Google Shape;258;p22"/>
                    <p:cNvSpPr/>
                    <p:nvPr/>
                  </p:nvSpPr>
                  <p:spPr>
                    <a:xfrm>
                      <a:off x="299295" y="2006438"/>
                      <a:ext cx="2659166" cy="674157"/>
                    </a:xfrm>
                    <a:prstGeom prst="roundRect">
                      <a:avLst>
                        <a:gd name="adj" fmla="val 50000"/>
                      </a:avLst>
                    </a:prstGeom>
                    <a:solidFill>
                      <a:schemeClr val="accent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sp>
                  <p:nvSpPr>
                    <p:cNvPr id="259" name="Google Shape;259;p22"/>
                    <p:cNvSpPr/>
                    <p:nvPr/>
                  </p:nvSpPr>
                  <p:spPr>
                    <a:xfrm>
                      <a:off x="702809" y="2100854"/>
                      <a:ext cx="1852135" cy="485319"/>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b="1" i="0" u="none" strike="noStrike" cap="none">
                          <a:solidFill>
                            <a:schemeClr val="lt2"/>
                          </a:solidFill>
                          <a:latin typeface="Century Gothic"/>
                          <a:ea typeface="Century Gothic"/>
                          <a:cs typeface="Century Gothic"/>
                          <a:sym typeface="Century Gothic"/>
                        </a:rPr>
                        <a:t>ROI</a:t>
                      </a:r>
                      <a:endParaRPr sz="900" b="1" i="0" u="none" strike="noStrike" cap="none">
                        <a:solidFill>
                          <a:schemeClr val="lt2"/>
                        </a:solidFill>
                        <a:latin typeface="Century Gothic"/>
                        <a:ea typeface="Century Gothic"/>
                        <a:cs typeface="Century Gothic"/>
                        <a:sym typeface="Century Gothic"/>
                      </a:endParaRPr>
                    </a:p>
                  </p:txBody>
                </p:sp>
              </p:grpSp>
            </p:grpSp>
          </p:grpSp>
          <p:grpSp>
            <p:nvGrpSpPr>
              <p:cNvPr id="260" name="Google Shape;260;p22"/>
              <p:cNvGrpSpPr/>
              <p:nvPr/>
            </p:nvGrpSpPr>
            <p:grpSpPr>
              <a:xfrm>
                <a:off x="10261566" y="2597971"/>
                <a:ext cx="1660864" cy="2491150"/>
                <a:chOff x="332788" y="1996881"/>
                <a:chExt cx="1660864" cy="2491150"/>
              </a:xfrm>
            </p:grpSpPr>
            <p:grpSp>
              <p:nvGrpSpPr>
                <p:cNvPr id="261" name="Google Shape;261;p22"/>
                <p:cNvGrpSpPr/>
                <p:nvPr/>
              </p:nvGrpSpPr>
              <p:grpSpPr>
                <a:xfrm>
                  <a:off x="332788" y="2733701"/>
                  <a:ext cx="1660864" cy="1754330"/>
                  <a:chOff x="6218991" y="2771801"/>
                  <a:chExt cx="1660864" cy="1754330"/>
                </a:xfrm>
              </p:grpSpPr>
              <p:sp>
                <p:nvSpPr>
                  <p:cNvPr id="262" name="Google Shape;262;p22"/>
                  <p:cNvSpPr/>
                  <p:nvPr/>
                </p:nvSpPr>
                <p:spPr>
                  <a:xfrm>
                    <a:off x="6218991" y="2771801"/>
                    <a:ext cx="1660864" cy="1754330"/>
                  </a:xfrm>
                  <a:prstGeom prst="roundRect">
                    <a:avLst>
                      <a:gd name="adj" fmla="val 6344"/>
                    </a:avLst>
                  </a:prstGeom>
                  <a:noFill/>
                  <a:ln w="9525" cap="flat" cmpd="sng">
                    <a:solidFill>
                      <a:srgbClr val="FFCC2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63" name="Google Shape;263;p22"/>
                  <p:cNvSpPr txBox="1"/>
                  <p:nvPr/>
                </p:nvSpPr>
                <p:spPr>
                  <a:xfrm>
                    <a:off x="6290555" y="3181413"/>
                    <a:ext cx="1517700" cy="749100"/>
                  </a:xfrm>
                  <a:prstGeom prst="rect">
                    <a:avLst/>
                  </a:prstGeom>
                  <a:noFill/>
                  <a:ln>
                    <a:noFill/>
                  </a:ln>
                </p:spPr>
                <p:txBody>
                  <a:bodyPr spcFirstLastPara="1" wrap="square" lIns="68575" tIns="34275" rIns="68575" bIns="34275" anchor="t" anchorCtr="0">
                    <a:spAutoFit/>
                  </a:bodyPr>
                  <a:lstStyle/>
                  <a:p>
                    <a:pPr marL="127000" marR="0" lvl="0" indent="-127000" algn="l" rtl="0">
                      <a:spcBef>
                        <a:spcPts val="0"/>
                      </a:spcBef>
                      <a:spcAft>
                        <a:spcPts val="0"/>
                      </a:spcAft>
                      <a:buClr>
                        <a:srgbClr val="3F3F3F"/>
                      </a:buClr>
                      <a:buSzPts val="800"/>
                      <a:buFont typeface="Courier New"/>
                      <a:buChar char="o"/>
                    </a:pPr>
                    <a:r>
                      <a:rPr lang="en" sz="800" b="1" i="0" u="none" strike="noStrike" cap="none">
                        <a:solidFill>
                          <a:srgbClr val="3F3F3F"/>
                        </a:solidFill>
                      </a:rPr>
                      <a:t>Transition to funded operational project</a:t>
                    </a:r>
                    <a:endParaRPr sz="800" b="1" i="0" u="none" strike="noStrike" cap="none">
                      <a:solidFill>
                        <a:srgbClr val="3F3F3F"/>
                      </a:solidFill>
                    </a:endParaRPr>
                  </a:p>
                </p:txBody>
              </p:sp>
            </p:grpSp>
            <p:grpSp>
              <p:nvGrpSpPr>
                <p:cNvPr id="264" name="Google Shape;264;p22"/>
                <p:cNvGrpSpPr/>
                <p:nvPr/>
              </p:nvGrpSpPr>
              <p:grpSpPr>
                <a:xfrm>
                  <a:off x="380875" y="1996881"/>
                  <a:ext cx="1564690" cy="502881"/>
                  <a:chOff x="299295" y="1879784"/>
                  <a:chExt cx="2741432" cy="881078"/>
                </a:xfrm>
              </p:grpSpPr>
              <p:grpSp>
                <p:nvGrpSpPr>
                  <p:cNvPr id="265" name="Google Shape;265;p22"/>
                  <p:cNvGrpSpPr/>
                  <p:nvPr/>
                </p:nvGrpSpPr>
                <p:grpSpPr>
                  <a:xfrm>
                    <a:off x="512415" y="1879784"/>
                    <a:ext cx="2528312" cy="881078"/>
                    <a:chOff x="579820" y="1879784"/>
                    <a:chExt cx="2528312" cy="881078"/>
                  </a:xfrm>
                </p:grpSpPr>
                <p:sp>
                  <p:nvSpPr>
                    <p:cNvPr id="266" name="Google Shape;266;p22"/>
                    <p:cNvSpPr/>
                    <p:nvPr/>
                  </p:nvSpPr>
                  <p:spPr>
                    <a:xfrm>
                      <a:off x="579820" y="1879784"/>
                      <a:ext cx="90958" cy="90958"/>
                    </a:xfrm>
                    <a:prstGeom prst="ellipse">
                      <a:avLst/>
                    </a:prstGeom>
                    <a:solidFill>
                      <a:schemeClr val="lt2"/>
                    </a:solidFill>
                    <a:ln w="12700" cap="flat" cmpd="sng">
                      <a:solidFill>
                        <a:schemeClr val="accent3"/>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267" name="Google Shape;267;p22"/>
                    <p:cNvSpPr/>
                    <p:nvPr/>
                  </p:nvSpPr>
                  <p:spPr>
                    <a:xfrm>
                      <a:off x="673208" y="1926171"/>
                      <a:ext cx="2434924" cy="834691"/>
                    </a:xfrm>
                    <a:custGeom>
                      <a:avLst/>
                      <a:gdLst/>
                      <a:ahLst/>
                      <a:cxnLst/>
                      <a:rect l="l" t="t" r="r" b="b"/>
                      <a:pathLst>
                        <a:path w="2434925" h="834690" extrusionOk="0">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w="12700" cap="flat" cmpd="sng">
                      <a:solidFill>
                        <a:schemeClr val="accent3"/>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grpSp>
              <p:grpSp>
                <p:nvGrpSpPr>
                  <p:cNvPr id="268" name="Google Shape;268;p22"/>
                  <p:cNvGrpSpPr/>
                  <p:nvPr/>
                </p:nvGrpSpPr>
                <p:grpSpPr>
                  <a:xfrm>
                    <a:off x="299295" y="2006438"/>
                    <a:ext cx="2659166" cy="674157"/>
                    <a:chOff x="299295" y="2006438"/>
                    <a:chExt cx="2659166" cy="674157"/>
                  </a:xfrm>
                </p:grpSpPr>
                <p:sp>
                  <p:nvSpPr>
                    <p:cNvPr id="269" name="Google Shape;269;p22"/>
                    <p:cNvSpPr/>
                    <p:nvPr/>
                  </p:nvSpPr>
                  <p:spPr>
                    <a:xfrm>
                      <a:off x="299295" y="2006438"/>
                      <a:ext cx="2659166" cy="674157"/>
                    </a:xfrm>
                    <a:prstGeom prst="roundRect">
                      <a:avLst>
                        <a:gd name="adj" fmla="val 50000"/>
                      </a:avLst>
                    </a:prstGeom>
                    <a:solidFill>
                      <a:srgbClr val="EF413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sp>
                  <p:nvSpPr>
                    <p:cNvPr id="270" name="Google Shape;270;p22"/>
                    <p:cNvSpPr/>
                    <p:nvPr/>
                  </p:nvSpPr>
                  <p:spPr>
                    <a:xfrm>
                      <a:off x="702809" y="2100853"/>
                      <a:ext cx="1852135" cy="485319"/>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b="1" i="0" u="none" strike="noStrike" cap="none">
                          <a:solidFill>
                            <a:schemeClr val="lt1"/>
                          </a:solidFill>
                          <a:latin typeface="Century Gothic"/>
                          <a:ea typeface="Century Gothic"/>
                          <a:cs typeface="Century Gothic"/>
                          <a:sym typeface="Century Gothic"/>
                        </a:rPr>
                        <a:t>Grow</a:t>
                      </a:r>
                      <a:endParaRPr sz="900" b="1" i="0" u="none" strike="noStrike" cap="none">
                        <a:solidFill>
                          <a:schemeClr val="lt1"/>
                        </a:solidFill>
                        <a:latin typeface="Century Gothic"/>
                        <a:ea typeface="Century Gothic"/>
                        <a:cs typeface="Century Gothic"/>
                        <a:sym typeface="Century Gothic"/>
                      </a:endParaRPr>
                    </a:p>
                  </p:txBody>
                </p:sp>
              </p:grpSp>
            </p:grpSp>
          </p:grpSp>
        </p:grpSp>
        <p:grpSp>
          <p:nvGrpSpPr>
            <p:cNvPr id="271" name="Google Shape;271;p22"/>
            <p:cNvGrpSpPr/>
            <p:nvPr/>
          </p:nvGrpSpPr>
          <p:grpSpPr>
            <a:xfrm>
              <a:off x="335320" y="5855997"/>
              <a:ext cx="11533424" cy="742743"/>
              <a:chOff x="-129941" y="6182361"/>
              <a:chExt cx="11093400" cy="576169"/>
            </a:xfrm>
          </p:grpSpPr>
          <p:sp>
            <p:nvSpPr>
              <p:cNvPr id="272" name="Google Shape;272;p22"/>
              <p:cNvSpPr/>
              <p:nvPr/>
            </p:nvSpPr>
            <p:spPr>
              <a:xfrm rot="-5400000">
                <a:off x="5270059" y="782361"/>
                <a:ext cx="293400" cy="11093400"/>
              </a:xfrm>
              <a:prstGeom prst="leftBrace">
                <a:avLst>
                  <a:gd name="adj1" fmla="val 50000"/>
                  <a:gd name="adj2" fmla="val 50000"/>
                </a:avLst>
              </a:prstGeom>
              <a:noFill/>
              <a:ln w="9525" cap="flat" cmpd="sng">
                <a:solidFill>
                  <a:srgbClr val="7F7F7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273" name="Google Shape;273;p22"/>
              <p:cNvSpPr/>
              <p:nvPr/>
            </p:nvSpPr>
            <p:spPr>
              <a:xfrm>
                <a:off x="3588268" y="6350531"/>
                <a:ext cx="3486900" cy="408000"/>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262626"/>
                  </a:buClr>
                  <a:buSzPts val="1100"/>
                  <a:buFont typeface="Century Gothic"/>
                  <a:buNone/>
                </a:pPr>
                <a:r>
                  <a:rPr lang="en" sz="1100" b="1">
                    <a:solidFill>
                      <a:srgbClr val="262626"/>
                    </a:solidFill>
                    <a:latin typeface="Montserrat"/>
                    <a:ea typeface="Montserrat"/>
                    <a:cs typeface="Montserrat"/>
                    <a:sym typeface="Montserrat"/>
                  </a:rPr>
                  <a:t>HUB Funded Projects</a:t>
                </a:r>
                <a:endParaRPr sz="1100" b="1">
                  <a:solidFill>
                    <a:srgbClr val="262626"/>
                  </a:solidFill>
                  <a:latin typeface="Montserrat"/>
                  <a:ea typeface="Montserrat"/>
                  <a:cs typeface="Montserrat"/>
                  <a:sym typeface="Montserrat"/>
                </a:endParaRPr>
              </a:p>
            </p:txBody>
          </p:sp>
        </p:grpSp>
      </p:grpSp>
      <p:grpSp>
        <p:nvGrpSpPr>
          <p:cNvPr id="274" name="Google Shape;274;p22"/>
          <p:cNvGrpSpPr/>
          <p:nvPr/>
        </p:nvGrpSpPr>
        <p:grpSpPr>
          <a:xfrm>
            <a:off x="1365452" y="3968603"/>
            <a:ext cx="6362131" cy="200430"/>
            <a:chOff x="1826812" y="5582366"/>
            <a:chExt cx="8482841" cy="267240"/>
          </a:xfrm>
        </p:grpSpPr>
        <p:sp>
          <p:nvSpPr>
            <p:cNvPr id="275" name="Google Shape;275;p22"/>
            <p:cNvSpPr/>
            <p:nvPr/>
          </p:nvSpPr>
          <p:spPr>
            <a:xfrm rot="10800000" flipH="1">
              <a:off x="1826812" y="5582366"/>
              <a:ext cx="593914" cy="267240"/>
            </a:xfrm>
            <a:prstGeom prst="curvedDownArrow">
              <a:avLst>
                <a:gd name="adj1" fmla="val 25000"/>
                <a:gd name="adj2" fmla="val 50000"/>
                <a:gd name="adj3" fmla="val 25000"/>
              </a:avLst>
            </a:prstGeom>
            <a:solidFill>
              <a:srgbClr val="D8D8D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276" name="Google Shape;276;p22"/>
            <p:cNvSpPr/>
            <p:nvPr/>
          </p:nvSpPr>
          <p:spPr>
            <a:xfrm rot="10800000" flipH="1">
              <a:off x="5884732" y="5582366"/>
              <a:ext cx="593914" cy="267240"/>
            </a:xfrm>
            <a:prstGeom prst="curvedDownArrow">
              <a:avLst>
                <a:gd name="adj1" fmla="val 25000"/>
                <a:gd name="adj2" fmla="val 50000"/>
                <a:gd name="adj3" fmla="val 25000"/>
              </a:avLst>
            </a:prstGeom>
            <a:solidFill>
              <a:srgbClr val="D8D8D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277" name="Google Shape;277;p22"/>
            <p:cNvSpPr/>
            <p:nvPr/>
          </p:nvSpPr>
          <p:spPr>
            <a:xfrm rot="10800000" flipH="1">
              <a:off x="9715739" y="5582366"/>
              <a:ext cx="593914" cy="267240"/>
            </a:xfrm>
            <a:prstGeom prst="curvedDownArrow">
              <a:avLst>
                <a:gd name="adj1" fmla="val 25000"/>
                <a:gd name="adj2" fmla="val 50000"/>
                <a:gd name="adj3" fmla="val 25000"/>
              </a:avLst>
            </a:prstGeom>
            <a:solidFill>
              <a:srgbClr val="D8D8D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grpSp>
      <p:sp>
        <p:nvSpPr>
          <p:cNvPr id="278" name="Google Shape;278;p22"/>
          <p:cNvSpPr txBox="1"/>
          <p:nvPr/>
        </p:nvSpPr>
        <p:spPr>
          <a:xfrm>
            <a:off x="1269450" y="4258800"/>
            <a:ext cx="7038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rgbClr val="3F3F3F"/>
                </a:solidFill>
              </a:rPr>
              <a:t>Stage 1</a:t>
            </a:r>
            <a:endParaRPr sz="900" b="1">
              <a:solidFill>
                <a:srgbClr val="3F3F3F"/>
              </a:solidFill>
            </a:endParaRPr>
          </a:p>
        </p:txBody>
      </p:sp>
      <p:sp>
        <p:nvSpPr>
          <p:cNvPr id="279" name="Google Shape;279;p22"/>
          <p:cNvSpPr txBox="1"/>
          <p:nvPr/>
        </p:nvSpPr>
        <p:spPr>
          <a:xfrm>
            <a:off x="2716275" y="4258800"/>
            <a:ext cx="7038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rgbClr val="3F3F3F"/>
                </a:solidFill>
              </a:rPr>
              <a:t>Stage 2</a:t>
            </a:r>
            <a:endParaRPr sz="900" b="1">
              <a:solidFill>
                <a:srgbClr val="3F3F3F"/>
              </a:solidFill>
            </a:endParaRPr>
          </a:p>
        </p:txBody>
      </p:sp>
      <p:sp>
        <p:nvSpPr>
          <p:cNvPr id="280" name="Google Shape;280;p22"/>
          <p:cNvSpPr txBox="1"/>
          <p:nvPr/>
        </p:nvSpPr>
        <p:spPr>
          <a:xfrm>
            <a:off x="4314725" y="4258800"/>
            <a:ext cx="7038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rgbClr val="3F3F3F"/>
                </a:solidFill>
              </a:rPr>
              <a:t>Stage 3</a:t>
            </a:r>
            <a:endParaRPr sz="900" b="1">
              <a:solidFill>
                <a:srgbClr val="3F3F3F"/>
              </a:solidFill>
            </a:endParaRPr>
          </a:p>
        </p:txBody>
      </p:sp>
      <p:sp>
        <p:nvSpPr>
          <p:cNvPr id="281" name="Google Shape;281;p22"/>
          <p:cNvSpPr txBox="1"/>
          <p:nvPr/>
        </p:nvSpPr>
        <p:spPr>
          <a:xfrm>
            <a:off x="5793625" y="4258800"/>
            <a:ext cx="7038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rgbClr val="3F3F3F"/>
                </a:solidFill>
              </a:rPr>
              <a:t>Stage 4</a:t>
            </a:r>
            <a:endParaRPr sz="900" b="1">
              <a:solidFill>
                <a:srgbClr val="3F3F3F"/>
              </a:solidFill>
            </a:endParaRPr>
          </a:p>
        </p:txBody>
      </p:sp>
      <p:sp>
        <p:nvSpPr>
          <p:cNvPr id="282" name="Google Shape;282;p22"/>
          <p:cNvSpPr/>
          <p:nvPr/>
        </p:nvSpPr>
        <p:spPr>
          <a:xfrm rot="10800000" flipH="1">
            <a:off x="2811252" y="3968608"/>
            <a:ext cx="445500" cy="200400"/>
          </a:xfrm>
          <a:prstGeom prst="curvedDownArrow">
            <a:avLst>
              <a:gd name="adj1" fmla="val 25000"/>
              <a:gd name="adj2" fmla="val 50000"/>
              <a:gd name="adj3" fmla="val 25000"/>
            </a:avLst>
          </a:prstGeom>
          <a:solidFill>
            <a:srgbClr val="D8D8D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283" name="Google Shape;283;p22"/>
          <p:cNvSpPr/>
          <p:nvPr/>
        </p:nvSpPr>
        <p:spPr>
          <a:xfrm rot="10800000" flipH="1">
            <a:off x="5861252" y="3968633"/>
            <a:ext cx="445500" cy="200400"/>
          </a:xfrm>
          <a:prstGeom prst="curvedDownArrow">
            <a:avLst>
              <a:gd name="adj1" fmla="val 25000"/>
              <a:gd name="adj2" fmla="val 50000"/>
              <a:gd name="adj3" fmla="val 25000"/>
            </a:avLst>
          </a:prstGeom>
          <a:solidFill>
            <a:srgbClr val="D8D8D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284" name="Google Shape;284;p22"/>
          <p:cNvSpPr txBox="1"/>
          <p:nvPr/>
        </p:nvSpPr>
        <p:spPr>
          <a:xfrm>
            <a:off x="7217175" y="4258800"/>
            <a:ext cx="7038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rgbClr val="3F3F3F"/>
                </a:solidFill>
              </a:rPr>
              <a:t>Stage 5</a:t>
            </a:r>
            <a:endParaRPr sz="900" b="1">
              <a:solidFill>
                <a:srgbClr val="3F3F3F"/>
              </a:solidFill>
            </a:endParaRPr>
          </a:p>
        </p:txBody>
      </p:sp>
      <p:sp>
        <p:nvSpPr>
          <p:cNvPr id="285" name="Google Shape;285;p22"/>
          <p:cNvSpPr txBox="1"/>
          <p:nvPr/>
        </p:nvSpPr>
        <p:spPr>
          <a:xfrm>
            <a:off x="1674675" y="493675"/>
            <a:ext cx="5987400" cy="1246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000" b="1">
                <a:solidFill>
                  <a:srgbClr val="000099"/>
                </a:solidFill>
                <a:latin typeface="Montserrat"/>
                <a:ea typeface="Montserrat"/>
                <a:cs typeface="Montserrat"/>
                <a:sym typeface="Montserrat"/>
              </a:rPr>
              <a:t>HUB Execution Gates or Operation Model</a:t>
            </a:r>
            <a:endParaRPr sz="3000" b="1">
              <a:solidFill>
                <a:srgbClr val="000099"/>
              </a:solidFill>
              <a:latin typeface="Montserrat"/>
              <a:ea typeface="Montserrat"/>
              <a:cs typeface="Montserrat"/>
              <a:sym typeface="Montserrat"/>
            </a:endParaRPr>
          </a:p>
          <a:p>
            <a:pPr marL="0" marR="0" lvl="0" indent="0" algn="l" rtl="0">
              <a:lnSpc>
                <a:spcPct val="100000"/>
              </a:lnSpc>
              <a:spcBef>
                <a:spcPts val="0"/>
              </a:spcBef>
              <a:spcAft>
                <a:spcPts val="0"/>
              </a:spcAft>
              <a:buNone/>
            </a:pPr>
            <a:endParaRPr sz="2100" b="1">
              <a:solidFill>
                <a:srgbClr val="EF4138"/>
              </a:solidFill>
              <a:latin typeface="Montserrat"/>
              <a:ea typeface="Montserrat"/>
              <a:cs typeface="Montserrat"/>
              <a:sym typeface="Montserrat"/>
            </a:endParaRPr>
          </a:p>
        </p:txBody>
      </p:sp>
      <p:sp>
        <p:nvSpPr>
          <p:cNvPr id="286" name="Google Shape;286;p22"/>
          <p:cNvSpPr/>
          <p:nvPr/>
        </p:nvSpPr>
        <p:spPr>
          <a:xfrm>
            <a:off x="579049" y="429794"/>
            <a:ext cx="772176" cy="912829"/>
          </a:xfrm>
          <a:custGeom>
            <a:avLst/>
            <a:gdLst/>
            <a:ahLst/>
            <a:cxnLst/>
            <a:rect l="l" t="t" r="r" b="b"/>
            <a:pathLst>
              <a:path w="12869601" h="6638759" extrusionOk="0">
                <a:moveTo>
                  <a:pt x="0" y="0"/>
                </a:moveTo>
                <a:lnTo>
                  <a:pt x="12869601" y="0"/>
                </a:lnTo>
                <a:lnTo>
                  <a:pt x="12869601" y="6638759"/>
                </a:lnTo>
                <a:lnTo>
                  <a:pt x="0" y="6638759"/>
                </a:lnTo>
                <a:lnTo>
                  <a:pt x="0" y="0"/>
                </a:lnTo>
                <a:close/>
              </a:path>
            </a:pathLst>
          </a:custGeom>
          <a:blipFill rotWithShape="1">
            <a:blip r:embed="rId3">
              <a:alphaModFix/>
            </a:blip>
            <a:stretch>
              <a:fillRect l="-102802" t="-28588" r="-109932" b="-27147"/>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b="0" i="0" u="none" strike="noStrike" cap="non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3"/>
          <p:cNvSpPr txBox="1"/>
          <p:nvPr/>
        </p:nvSpPr>
        <p:spPr>
          <a:xfrm>
            <a:off x="2216475" y="1961000"/>
            <a:ext cx="4220100" cy="1970100"/>
          </a:xfrm>
          <a:prstGeom prst="rect">
            <a:avLst/>
          </a:prstGeom>
          <a:noFill/>
          <a:ln>
            <a:noFill/>
          </a:ln>
        </p:spPr>
        <p:txBody>
          <a:bodyPr spcFirstLastPara="1" wrap="square" lIns="68575" tIns="68575" rIns="68575" bIns="68575" anchor="t" anchorCtr="0">
            <a:spAutoFit/>
          </a:bodyPr>
          <a:lstStyle/>
          <a:p>
            <a:pPr marL="0" lvl="0" indent="0" algn="l" rtl="0">
              <a:lnSpc>
                <a:spcPct val="150000"/>
              </a:lnSpc>
              <a:spcBef>
                <a:spcPts val="0"/>
              </a:spcBef>
              <a:spcAft>
                <a:spcPts val="0"/>
              </a:spcAft>
              <a:buNone/>
            </a:pPr>
            <a:r>
              <a:rPr lang="en" b="1">
                <a:solidFill>
                  <a:srgbClr val="EF4138"/>
                </a:solidFill>
                <a:latin typeface="Montserrat"/>
                <a:ea typeface="Montserrat"/>
                <a:cs typeface="Montserrat"/>
                <a:sym typeface="Montserrat"/>
              </a:rPr>
              <a:t>Optical Tracking</a:t>
            </a:r>
            <a:endParaRPr b="1">
              <a:solidFill>
                <a:srgbClr val="000099"/>
              </a:solidFill>
              <a:latin typeface="Montserrat"/>
              <a:ea typeface="Montserrat"/>
              <a:cs typeface="Montserrat"/>
              <a:sym typeface="Montserrat"/>
            </a:endParaRPr>
          </a:p>
          <a:p>
            <a:pPr marL="0" lvl="0" indent="0" algn="l" rtl="0">
              <a:lnSpc>
                <a:spcPct val="150000"/>
              </a:lnSpc>
              <a:spcBef>
                <a:spcPts val="0"/>
              </a:spcBef>
              <a:spcAft>
                <a:spcPts val="0"/>
              </a:spcAft>
              <a:buNone/>
            </a:pPr>
            <a:endParaRPr b="1">
              <a:solidFill>
                <a:srgbClr val="EF4138"/>
              </a:solidFill>
              <a:latin typeface="Montserrat"/>
              <a:ea typeface="Montserrat"/>
              <a:cs typeface="Montserrat"/>
              <a:sym typeface="Montserrat"/>
            </a:endParaRPr>
          </a:p>
          <a:p>
            <a:pPr marL="0" lvl="0" indent="0" algn="l" rtl="0">
              <a:lnSpc>
                <a:spcPct val="150000"/>
              </a:lnSpc>
              <a:spcBef>
                <a:spcPts val="0"/>
              </a:spcBef>
              <a:spcAft>
                <a:spcPts val="0"/>
              </a:spcAft>
              <a:buNone/>
            </a:pPr>
            <a:r>
              <a:rPr lang="en" b="1">
                <a:solidFill>
                  <a:srgbClr val="EF4138"/>
                </a:solidFill>
                <a:latin typeface="Montserrat"/>
                <a:ea typeface="Montserrat"/>
                <a:cs typeface="Montserrat"/>
                <a:sym typeface="Montserrat"/>
              </a:rPr>
              <a:t>NFL Player View</a:t>
            </a:r>
            <a:endParaRPr>
              <a:solidFill>
                <a:schemeClr val="dk1"/>
              </a:solidFill>
              <a:latin typeface="Montserrat"/>
              <a:ea typeface="Montserrat"/>
              <a:cs typeface="Montserrat"/>
              <a:sym typeface="Montserrat"/>
            </a:endParaRPr>
          </a:p>
          <a:p>
            <a:pPr marL="0" lvl="0" indent="0" algn="l" rtl="0">
              <a:lnSpc>
                <a:spcPct val="150000"/>
              </a:lnSpc>
              <a:spcBef>
                <a:spcPts val="0"/>
              </a:spcBef>
              <a:spcAft>
                <a:spcPts val="0"/>
              </a:spcAft>
              <a:buNone/>
            </a:pPr>
            <a:endParaRPr b="1">
              <a:solidFill>
                <a:srgbClr val="EF4138"/>
              </a:solidFill>
              <a:latin typeface="Montserrat"/>
              <a:ea typeface="Montserrat"/>
              <a:cs typeface="Montserrat"/>
              <a:sym typeface="Montserrat"/>
            </a:endParaRPr>
          </a:p>
          <a:p>
            <a:pPr marL="0" lvl="0" indent="0" algn="l" rtl="0">
              <a:lnSpc>
                <a:spcPct val="150000"/>
              </a:lnSpc>
              <a:spcBef>
                <a:spcPts val="0"/>
              </a:spcBef>
              <a:spcAft>
                <a:spcPts val="0"/>
              </a:spcAft>
              <a:buClr>
                <a:schemeClr val="dk1"/>
              </a:buClr>
              <a:buSzPts val="1100"/>
              <a:buFont typeface="Arial"/>
              <a:buNone/>
            </a:pPr>
            <a:r>
              <a:rPr lang="en" b="1">
                <a:solidFill>
                  <a:srgbClr val="EF4138"/>
                </a:solidFill>
                <a:latin typeface="Montserrat"/>
                <a:ea typeface="Montserrat"/>
                <a:cs typeface="Montserrat"/>
                <a:sym typeface="Montserrat"/>
              </a:rPr>
              <a:t>Multi-Modal AI</a:t>
            </a:r>
            <a:endParaRPr>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None/>
            </a:pPr>
            <a:endParaRPr>
              <a:solidFill>
                <a:schemeClr val="dk1"/>
              </a:solidFill>
              <a:latin typeface="Montserrat"/>
              <a:ea typeface="Montserrat"/>
              <a:cs typeface="Montserrat"/>
              <a:sym typeface="Montserrat"/>
            </a:endParaRPr>
          </a:p>
        </p:txBody>
      </p:sp>
      <p:sp>
        <p:nvSpPr>
          <p:cNvPr id="292" name="Google Shape;292;p23"/>
          <p:cNvSpPr txBox="1"/>
          <p:nvPr/>
        </p:nvSpPr>
        <p:spPr>
          <a:xfrm>
            <a:off x="1674675" y="493663"/>
            <a:ext cx="6818700" cy="785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3000" b="1">
                <a:solidFill>
                  <a:srgbClr val="000099"/>
                </a:solidFill>
                <a:latin typeface="Montserrat"/>
                <a:ea typeface="Montserrat"/>
                <a:cs typeface="Montserrat"/>
                <a:sym typeface="Montserrat"/>
              </a:rPr>
              <a:t>POC Projects</a:t>
            </a:r>
            <a:endParaRPr sz="3000" b="1">
              <a:solidFill>
                <a:srgbClr val="000099"/>
              </a:solidFill>
              <a:latin typeface="Montserrat"/>
              <a:ea typeface="Montserrat"/>
              <a:cs typeface="Montserrat"/>
              <a:sym typeface="Montserrat"/>
            </a:endParaRPr>
          </a:p>
          <a:p>
            <a:pPr marL="0" marR="0" lvl="0" indent="0" algn="l" rtl="0">
              <a:lnSpc>
                <a:spcPct val="100000"/>
              </a:lnSpc>
              <a:spcBef>
                <a:spcPts val="0"/>
              </a:spcBef>
              <a:spcAft>
                <a:spcPts val="0"/>
              </a:spcAft>
              <a:buNone/>
            </a:pPr>
            <a:endParaRPr sz="2100" b="1">
              <a:solidFill>
                <a:srgbClr val="EF4138"/>
              </a:solidFill>
              <a:latin typeface="Montserrat"/>
              <a:ea typeface="Montserrat"/>
              <a:cs typeface="Montserrat"/>
              <a:sym typeface="Montserrat"/>
            </a:endParaRPr>
          </a:p>
        </p:txBody>
      </p:sp>
      <p:sp>
        <p:nvSpPr>
          <p:cNvPr id="293" name="Google Shape;293;p23"/>
          <p:cNvSpPr/>
          <p:nvPr/>
        </p:nvSpPr>
        <p:spPr>
          <a:xfrm>
            <a:off x="579049" y="429794"/>
            <a:ext cx="772176" cy="912829"/>
          </a:xfrm>
          <a:custGeom>
            <a:avLst/>
            <a:gdLst/>
            <a:ahLst/>
            <a:cxnLst/>
            <a:rect l="l" t="t" r="r" b="b"/>
            <a:pathLst>
              <a:path w="12869601" h="6638759" extrusionOk="0">
                <a:moveTo>
                  <a:pt x="0" y="0"/>
                </a:moveTo>
                <a:lnTo>
                  <a:pt x="12869601" y="0"/>
                </a:lnTo>
                <a:lnTo>
                  <a:pt x="12869601" y="6638759"/>
                </a:lnTo>
                <a:lnTo>
                  <a:pt x="0" y="6638759"/>
                </a:lnTo>
                <a:lnTo>
                  <a:pt x="0" y="0"/>
                </a:lnTo>
                <a:close/>
              </a:path>
            </a:pathLst>
          </a:custGeom>
          <a:blipFill rotWithShape="1">
            <a:blip r:embed="rId3">
              <a:alphaModFix/>
            </a:blip>
            <a:stretch>
              <a:fillRect l="-102802" t="-28588" r="-109932" b="-27147"/>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b="0" i="0" u="none" strike="noStrike" cap="none">
              <a:solidFill>
                <a:srgbClr val="000000"/>
              </a:solidFill>
              <a:latin typeface="Calibri"/>
              <a:ea typeface="Calibri"/>
              <a:cs typeface="Calibri"/>
              <a:sym typeface="Calibri"/>
            </a:endParaRPr>
          </a:p>
        </p:txBody>
      </p:sp>
      <p:sp>
        <p:nvSpPr>
          <p:cNvPr id="294" name="Google Shape;294;p23"/>
          <p:cNvSpPr/>
          <p:nvPr/>
        </p:nvSpPr>
        <p:spPr>
          <a:xfrm>
            <a:off x="1674675" y="1986000"/>
            <a:ext cx="402000" cy="393600"/>
          </a:xfrm>
          <a:prstGeom prst="ellipse">
            <a:avLst/>
          </a:prstGeom>
          <a:solidFill>
            <a:srgbClr val="00009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b="1">
                <a:solidFill>
                  <a:srgbClr val="FFFFFF"/>
                </a:solidFill>
                <a:latin typeface="Open Sans"/>
                <a:ea typeface="Open Sans"/>
                <a:cs typeface="Open Sans"/>
                <a:sym typeface="Open Sans"/>
              </a:rPr>
              <a:t>1</a:t>
            </a:r>
            <a:endParaRPr sz="1400" b="1" i="0" u="none" strike="noStrike" cap="none">
              <a:solidFill>
                <a:srgbClr val="FFFFFF"/>
              </a:solidFill>
              <a:latin typeface="Open Sans"/>
              <a:ea typeface="Open Sans"/>
              <a:cs typeface="Open Sans"/>
              <a:sym typeface="Open Sans"/>
            </a:endParaRPr>
          </a:p>
        </p:txBody>
      </p:sp>
      <p:sp>
        <p:nvSpPr>
          <p:cNvPr id="295" name="Google Shape;295;p23"/>
          <p:cNvSpPr/>
          <p:nvPr/>
        </p:nvSpPr>
        <p:spPr>
          <a:xfrm>
            <a:off x="1674675" y="2586300"/>
            <a:ext cx="402000" cy="393600"/>
          </a:xfrm>
          <a:prstGeom prst="ellipse">
            <a:avLst/>
          </a:prstGeom>
          <a:solidFill>
            <a:srgbClr val="00009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b="1">
                <a:solidFill>
                  <a:srgbClr val="FFFFFF"/>
                </a:solidFill>
                <a:latin typeface="Open Sans"/>
                <a:ea typeface="Open Sans"/>
                <a:cs typeface="Open Sans"/>
                <a:sym typeface="Open Sans"/>
              </a:rPr>
              <a:t>2</a:t>
            </a:r>
            <a:endParaRPr sz="1400" b="1" i="0" u="none" strike="noStrike" cap="none">
              <a:solidFill>
                <a:srgbClr val="FFFFFF"/>
              </a:solidFill>
              <a:latin typeface="Open Sans"/>
              <a:ea typeface="Open Sans"/>
              <a:cs typeface="Open Sans"/>
              <a:sym typeface="Open Sans"/>
            </a:endParaRPr>
          </a:p>
        </p:txBody>
      </p:sp>
      <p:sp>
        <p:nvSpPr>
          <p:cNvPr id="296" name="Google Shape;296;p23"/>
          <p:cNvSpPr/>
          <p:nvPr/>
        </p:nvSpPr>
        <p:spPr>
          <a:xfrm>
            <a:off x="1674675" y="3239375"/>
            <a:ext cx="402000" cy="393600"/>
          </a:xfrm>
          <a:prstGeom prst="ellipse">
            <a:avLst/>
          </a:prstGeom>
          <a:solidFill>
            <a:srgbClr val="00009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b="1">
                <a:solidFill>
                  <a:srgbClr val="FFFFFF"/>
                </a:solidFill>
                <a:latin typeface="Open Sans"/>
                <a:ea typeface="Open Sans"/>
                <a:cs typeface="Open Sans"/>
                <a:sym typeface="Open Sans"/>
              </a:rPr>
              <a:t>3</a:t>
            </a:r>
            <a:endParaRPr sz="1400" b="1" i="0" u="none" strike="noStrike" cap="none">
              <a:solidFill>
                <a:srgbClr val="FFFFFF"/>
              </a:solidFill>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grpSp>
        <p:nvGrpSpPr>
          <p:cNvPr id="301" name="Google Shape;301;p24"/>
          <p:cNvGrpSpPr/>
          <p:nvPr/>
        </p:nvGrpSpPr>
        <p:grpSpPr>
          <a:xfrm>
            <a:off x="206834" y="2018980"/>
            <a:ext cx="8730284" cy="3000483"/>
            <a:chOff x="281988" y="2598053"/>
            <a:chExt cx="11640378" cy="4000644"/>
          </a:xfrm>
        </p:grpSpPr>
        <p:grpSp>
          <p:nvGrpSpPr>
            <p:cNvPr id="302" name="Google Shape;302;p24"/>
            <p:cNvGrpSpPr/>
            <p:nvPr/>
          </p:nvGrpSpPr>
          <p:grpSpPr>
            <a:xfrm>
              <a:off x="281988" y="2598053"/>
              <a:ext cx="11640378" cy="2491138"/>
              <a:chOff x="281988" y="2598053"/>
              <a:chExt cx="11640378" cy="2491138"/>
            </a:xfrm>
          </p:grpSpPr>
          <p:grpSp>
            <p:nvGrpSpPr>
              <p:cNvPr id="303" name="Google Shape;303;p24"/>
              <p:cNvGrpSpPr/>
              <p:nvPr/>
            </p:nvGrpSpPr>
            <p:grpSpPr>
              <a:xfrm>
                <a:off x="281988" y="2598053"/>
                <a:ext cx="1660800" cy="2491138"/>
                <a:chOff x="332788" y="1996963"/>
                <a:chExt cx="1660800" cy="2491138"/>
              </a:xfrm>
            </p:grpSpPr>
            <p:grpSp>
              <p:nvGrpSpPr>
                <p:cNvPr id="304" name="Google Shape;304;p24"/>
                <p:cNvGrpSpPr/>
                <p:nvPr/>
              </p:nvGrpSpPr>
              <p:grpSpPr>
                <a:xfrm>
                  <a:off x="332788" y="2733701"/>
                  <a:ext cx="1660800" cy="1754400"/>
                  <a:chOff x="6218991" y="2771801"/>
                  <a:chExt cx="1660800" cy="1754400"/>
                </a:xfrm>
              </p:grpSpPr>
              <p:sp>
                <p:nvSpPr>
                  <p:cNvPr id="305" name="Google Shape;305;p24"/>
                  <p:cNvSpPr/>
                  <p:nvPr/>
                </p:nvSpPr>
                <p:spPr>
                  <a:xfrm>
                    <a:off x="6218991" y="2771801"/>
                    <a:ext cx="1660800" cy="1754400"/>
                  </a:xfrm>
                  <a:prstGeom prst="roundRect">
                    <a:avLst>
                      <a:gd name="adj" fmla="val 6344"/>
                    </a:avLst>
                  </a:prstGeom>
                  <a:noFill/>
                  <a:ln w="9525"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306" name="Google Shape;306;p24"/>
                  <p:cNvSpPr txBox="1"/>
                  <p:nvPr/>
                </p:nvSpPr>
                <p:spPr>
                  <a:xfrm>
                    <a:off x="6290555" y="3169154"/>
                    <a:ext cx="1517700" cy="4413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900" b="1">
                        <a:solidFill>
                          <a:srgbClr val="3F3F3F"/>
                        </a:solidFill>
                      </a:rPr>
                      <a:t>Multi-modal AI </a:t>
                    </a:r>
                    <a:r>
                      <a:rPr lang="en" sz="800">
                        <a:solidFill>
                          <a:srgbClr val="3F3F3F"/>
                        </a:solidFill>
                      </a:rPr>
                      <a:t> </a:t>
                    </a:r>
                    <a:endParaRPr sz="800">
                      <a:solidFill>
                        <a:srgbClr val="3F3F3F"/>
                      </a:solidFill>
                    </a:endParaRPr>
                  </a:p>
                  <a:p>
                    <a:pPr marL="0" marR="0" lvl="0" indent="0" algn="ctr" rtl="0">
                      <a:spcBef>
                        <a:spcPts val="0"/>
                      </a:spcBef>
                      <a:spcAft>
                        <a:spcPts val="0"/>
                      </a:spcAft>
                      <a:buNone/>
                    </a:pPr>
                    <a:r>
                      <a:rPr lang="en" sz="800">
                        <a:solidFill>
                          <a:srgbClr val="3F3F3F"/>
                        </a:solidFill>
                      </a:rPr>
                      <a:t>Brad Boim </a:t>
                    </a:r>
                    <a:endParaRPr sz="1100" b="1"/>
                  </a:p>
                </p:txBody>
              </p:sp>
            </p:grpSp>
            <p:grpSp>
              <p:nvGrpSpPr>
                <p:cNvPr id="307" name="Google Shape;307;p24"/>
                <p:cNvGrpSpPr/>
                <p:nvPr/>
              </p:nvGrpSpPr>
              <p:grpSpPr>
                <a:xfrm>
                  <a:off x="380888" y="1996963"/>
                  <a:ext cx="1564810" cy="502919"/>
                  <a:chOff x="299295" y="1879784"/>
                  <a:chExt cx="2741433" cy="881077"/>
                </a:xfrm>
              </p:grpSpPr>
              <p:grpSp>
                <p:nvGrpSpPr>
                  <p:cNvPr id="308" name="Google Shape;308;p24"/>
                  <p:cNvGrpSpPr/>
                  <p:nvPr/>
                </p:nvGrpSpPr>
                <p:grpSpPr>
                  <a:xfrm>
                    <a:off x="512415" y="1879784"/>
                    <a:ext cx="2528313" cy="881077"/>
                    <a:chOff x="579820" y="1879784"/>
                    <a:chExt cx="2528313" cy="881077"/>
                  </a:xfrm>
                </p:grpSpPr>
                <p:sp>
                  <p:nvSpPr>
                    <p:cNvPr id="309" name="Google Shape;309;p24"/>
                    <p:cNvSpPr/>
                    <p:nvPr/>
                  </p:nvSpPr>
                  <p:spPr>
                    <a:xfrm>
                      <a:off x="579820" y="1879784"/>
                      <a:ext cx="90900" cy="90900"/>
                    </a:xfrm>
                    <a:prstGeom prst="ellipse">
                      <a:avLst/>
                    </a:prstGeom>
                    <a:solidFill>
                      <a:schemeClr val="lt2"/>
                    </a:solidFill>
                    <a:ln w="1270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310" name="Google Shape;310;p24"/>
                    <p:cNvSpPr/>
                    <p:nvPr/>
                  </p:nvSpPr>
                  <p:spPr>
                    <a:xfrm>
                      <a:off x="673208" y="1926171"/>
                      <a:ext cx="2434925" cy="834690"/>
                    </a:xfrm>
                    <a:custGeom>
                      <a:avLst/>
                      <a:gdLst/>
                      <a:ahLst/>
                      <a:cxnLst/>
                      <a:rect l="l" t="t" r="r" b="b"/>
                      <a:pathLst>
                        <a:path w="2434925" h="834690" extrusionOk="0">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w="1270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grpSp>
              <p:grpSp>
                <p:nvGrpSpPr>
                  <p:cNvPr id="311" name="Google Shape;311;p24"/>
                  <p:cNvGrpSpPr/>
                  <p:nvPr/>
                </p:nvGrpSpPr>
                <p:grpSpPr>
                  <a:xfrm>
                    <a:off x="299295" y="2006438"/>
                    <a:ext cx="2659200" cy="674100"/>
                    <a:chOff x="299295" y="2006438"/>
                    <a:chExt cx="2659200" cy="674100"/>
                  </a:xfrm>
                </p:grpSpPr>
                <p:sp>
                  <p:nvSpPr>
                    <p:cNvPr id="312" name="Google Shape;312;p24"/>
                    <p:cNvSpPr/>
                    <p:nvPr/>
                  </p:nvSpPr>
                  <p:spPr>
                    <a:xfrm>
                      <a:off x="299295" y="2006438"/>
                      <a:ext cx="2659200" cy="674100"/>
                    </a:xfrm>
                    <a:prstGeom prst="roundRect">
                      <a:avLst>
                        <a:gd name="adj" fmla="val 50000"/>
                      </a:avLst>
                    </a:prstGeom>
                    <a:solidFill>
                      <a:srgbClr val="00009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rgbClr val="000099"/>
                        </a:solidFill>
                        <a:latin typeface="Calibri"/>
                        <a:ea typeface="Calibri"/>
                        <a:cs typeface="Calibri"/>
                        <a:sym typeface="Calibri"/>
                      </a:endParaRPr>
                    </a:p>
                  </p:txBody>
                </p:sp>
                <p:sp>
                  <p:nvSpPr>
                    <p:cNvPr id="313" name="Google Shape;313;p24"/>
                    <p:cNvSpPr/>
                    <p:nvPr/>
                  </p:nvSpPr>
                  <p:spPr>
                    <a:xfrm>
                      <a:off x="702809" y="2100853"/>
                      <a:ext cx="1852200" cy="4854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b="1" i="0" u="none" strike="noStrike" cap="none">
                          <a:solidFill>
                            <a:schemeClr val="lt2"/>
                          </a:solidFill>
                          <a:latin typeface="Century Gothic"/>
                          <a:ea typeface="Century Gothic"/>
                          <a:cs typeface="Century Gothic"/>
                          <a:sym typeface="Century Gothic"/>
                        </a:rPr>
                        <a:t>Intake</a:t>
                      </a:r>
                      <a:endParaRPr sz="900" b="1" i="0" u="none" strike="noStrike" cap="none">
                        <a:solidFill>
                          <a:schemeClr val="lt2"/>
                        </a:solidFill>
                        <a:latin typeface="Century Gothic"/>
                        <a:ea typeface="Century Gothic"/>
                        <a:cs typeface="Century Gothic"/>
                        <a:sym typeface="Century Gothic"/>
                      </a:endParaRPr>
                    </a:p>
                  </p:txBody>
                </p:sp>
              </p:grpSp>
            </p:grpSp>
          </p:grpSp>
          <p:grpSp>
            <p:nvGrpSpPr>
              <p:cNvPr id="314" name="Google Shape;314;p24"/>
              <p:cNvGrpSpPr/>
              <p:nvPr/>
            </p:nvGrpSpPr>
            <p:grpSpPr>
              <a:xfrm>
                <a:off x="2277904" y="2598053"/>
                <a:ext cx="1660800" cy="2491138"/>
                <a:chOff x="332788" y="1996963"/>
                <a:chExt cx="1660800" cy="2491138"/>
              </a:xfrm>
            </p:grpSpPr>
            <p:grpSp>
              <p:nvGrpSpPr>
                <p:cNvPr id="315" name="Google Shape;315;p24"/>
                <p:cNvGrpSpPr/>
                <p:nvPr/>
              </p:nvGrpSpPr>
              <p:grpSpPr>
                <a:xfrm>
                  <a:off x="332788" y="2733701"/>
                  <a:ext cx="1660800" cy="1754400"/>
                  <a:chOff x="6218991" y="2771801"/>
                  <a:chExt cx="1660800" cy="1754400"/>
                </a:xfrm>
              </p:grpSpPr>
              <p:sp>
                <p:nvSpPr>
                  <p:cNvPr id="316" name="Google Shape;316;p24"/>
                  <p:cNvSpPr/>
                  <p:nvPr/>
                </p:nvSpPr>
                <p:spPr>
                  <a:xfrm>
                    <a:off x="6218991" y="2771801"/>
                    <a:ext cx="1660800" cy="1754400"/>
                  </a:xfrm>
                  <a:prstGeom prst="roundRect">
                    <a:avLst>
                      <a:gd name="adj" fmla="val 6344"/>
                    </a:avLst>
                  </a:prstGeom>
                  <a:noFill/>
                  <a:ln w="9525" cap="flat" cmpd="sng">
                    <a:solidFill>
                      <a:schemeClr val="accent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317" name="Google Shape;317;p24"/>
                  <p:cNvSpPr txBox="1"/>
                  <p:nvPr/>
                </p:nvSpPr>
                <p:spPr>
                  <a:xfrm>
                    <a:off x="6290555" y="3164612"/>
                    <a:ext cx="1517700" cy="4413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900" b="1">
                        <a:solidFill>
                          <a:srgbClr val="3F3F3F"/>
                        </a:solidFill>
                      </a:rPr>
                      <a:t>NFL VIEW</a:t>
                    </a:r>
                    <a:endParaRPr sz="900" b="1">
                      <a:solidFill>
                        <a:srgbClr val="3F3F3F"/>
                      </a:solidFill>
                    </a:endParaRPr>
                  </a:p>
                  <a:p>
                    <a:pPr marL="0" marR="0" lvl="0" indent="0" algn="ctr" rtl="0">
                      <a:spcBef>
                        <a:spcPts val="0"/>
                      </a:spcBef>
                      <a:spcAft>
                        <a:spcPts val="0"/>
                      </a:spcAft>
                      <a:buNone/>
                    </a:pPr>
                    <a:r>
                      <a:rPr lang="en" sz="800">
                        <a:solidFill>
                          <a:srgbClr val="3F3F3F"/>
                        </a:solidFill>
                      </a:rPr>
                      <a:t>Marc Hodakowski</a:t>
                    </a:r>
                    <a:endParaRPr sz="800">
                      <a:solidFill>
                        <a:srgbClr val="3F3F3F"/>
                      </a:solidFill>
                    </a:endParaRPr>
                  </a:p>
                </p:txBody>
              </p:sp>
            </p:grpSp>
            <p:grpSp>
              <p:nvGrpSpPr>
                <p:cNvPr id="318" name="Google Shape;318;p24"/>
                <p:cNvGrpSpPr/>
                <p:nvPr/>
              </p:nvGrpSpPr>
              <p:grpSpPr>
                <a:xfrm>
                  <a:off x="380888" y="1996963"/>
                  <a:ext cx="1564810" cy="502919"/>
                  <a:chOff x="299295" y="1879784"/>
                  <a:chExt cx="2741433" cy="881077"/>
                </a:xfrm>
              </p:grpSpPr>
              <p:grpSp>
                <p:nvGrpSpPr>
                  <p:cNvPr id="319" name="Google Shape;319;p24"/>
                  <p:cNvGrpSpPr/>
                  <p:nvPr/>
                </p:nvGrpSpPr>
                <p:grpSpPr>
                  <a:xfrm>
                    <a:off x="512415" y="1879784"/>
                    <a:ext cx="2528313" cy="881077"/>
                    <a:chOff x="579820" y="1879784"/>
                    <a:chExt cx="2528313" cy="881077"/>
                  </a:xfrm>
                </p:grpSpPr>
                <p:sp>
                  <p:nvSpPr>
                    <p:cNvPr id="320" name="Google Shape;320;p24"/>
                    <p:cNvSpPr/>
                    <p:nvPr/>
                  </p:nvSpPr>
                  <p:spPr>
                    <a:xfrm>
                      <a:off x="579820" y="1879784"/>
                      <a:ext cx="90900" cy="90900"/>
                    </a:xfrm>
                    <a:prstGeom prst="ellipse">
                      <a:avLst/>
                    </a:prstGeom>
                    <a:solidFill>
                      <a:schemeClr val="lt2"/>
                    </a:solidFill>
                    <a:ln w="12700" cap="flat" cmpd="sng">
                      <a:solidFill>
                        <a:schemeClr val="accent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321" name="Google Shape;321;p24"/>
                    <p:cNvSpPr/>
                    <p:nvPr/>
                  </p:nvSpPr>
                  <p:spPr>
                    <a:xfrm>
                      <a:off x="673208" y="1926171"/>
                      <a:ext cx="2434925" cy="834690"/>
                    </a:xfrm>
                    <a:custGeom>
                      <a:avLst/>
                      <a:gdLst/>
                      <a:ahLst/>
                      <a:cxnLst/>
                      <a:rect l="l" t="t" r="r" b="b"/>
                      <a:pathLst>
                        <a:path w="2434925" h="834690" extrusionOk="0">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w="12700" cap="flat" cmpd="sng">
                      <a:solidFill>
                        <a:schemeClr val="accent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grpSp>
              <p:grpSp>
                <p:nvGrpSpPr>
                  <p:cNvPr id="322" name="Google Shape;322;p24"/>
                  <p:cNvGrpSpPr/>
                  <p:nvPr/>
                </p:nvGrpSpPr>
                <p:grpSpPr>
                  <a:xfrm>
                    <a:off x="299295" y="2006438"/>
                    <a:ext cx="2659200" cy="674100"/>
                    <a:chOff x="299295" y="2006438"/>
                    <a:chExt cx="2659200" cy="674100"/>
                  </a:xfrm>
                </p:grpSpPr>
                <p:sp>
                  <p:nvSpPr>
                    <p:cNvPr id="323" name="Google Shape;323;p24"/>
                    <p:cNvSpPr/>
                    <p:nvPr/>
                  </p:nvSpPr>
                  <p:spPr>
                    <a:xfrm>
                      <a:off x="299295" y="2006438"/>
                      <a:ext cx="2659200" cy="674100"/>
                    </a:xfrm>
                    <a:prstGeom prst="roundRect">
                      <a:avLst>
                        <a:gd name="adj" fmla="val 50000"/>
                      </a:avLst>
                    </a:prstGeom>
                    <a:solidFill>
                      <a:srgbClr val="EF413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sp>
                  <p:nvSpPr>
                    <p:cNvPr id="324" name="Google Shape;324;p24"/>
                    <p:cNvSpPr/>
                    <p:nvPr/>
                  </p:nvSpPr>
                  <p:spPr>
                    <a:xfrm>
                      <a:off x="702809" y="2100853"/>
                      <a:ext cx="1852200" cy="4854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b="1" i="0" u="none" strike="noStrike" cap="none">
                          <a:solidFill>
                            <a:schemeClr val="lt2"/>
                          </a:solidFill>
                          <a:latin typeface="Century Gothic"/>
                          <a:ea typeface="Century Gothic"/>
                          <a:cs typeface="Century Gothic"/>
                          <a:sym typeface="Century Gothic"/>
                        </a:rPr>
                        <a:t>Concept </a:t>
                      </a:r>
                      <a:endParaRPr sz="900" b="1" i="0" u="none" strike="noStrike" cap="none">
                        <a:solidFill>
                          <a:schemeClr val="lt2"/>
                        </a:solidFill>
                        <a:latin typeface="Century Gothic"/>
                        <a:ea typeface="Century Gothic"/>
                        <a:cs typeface="Century Gothic"/>
                        <a:sym typeface="Century Gothic"/>
                      </a:endParaRPr>
                    </a:p>
                  </p:txBody>
                </p:sp>
              </p:grpSp>
            </p:grpSp>
          </p:grpSp>
          <p:grpSp>
            <p:nvGrpSpPr>
              <p:cNvPr id="325" name="Google Shape;325;p24"/>
              <p:cNvGrpSpPr/>
              <p:nvPr/>
            </p:nvGrpSpPr>
            <p:grpSpPr>
              <a:xfrm>
                <a:off x="4273820" y="2598054"/>
                <a:ext cx="1660800" cy="2491137"/>
                <a:chOff x="332788" y="1996964"/>
                <a:chExt cx="1660800" cy="2491137"/>
              </a:xfrm>
            </p:grpSpPr>
            <p:sp>
              <p:nvSpPr>
                <p:cNvPr id="326" name="Google Shape;326;p24"/>
                <p:cNvSpPr/>
                <p:nvPr/>
              </p:nvSpPr>
              <p:spPr>
                <a:xfrm>
                  <a:off x="332788" y="2733701"/>
                  <a:ext cx="1660800" cy="1754400"/>
                </a:xfrm>
                <a:prstGeom prst="roundRect">
                  <a:avLst>
                    <a:gd name="adj" fmla="val 6344"/>
                  </a:avLst>
                </a:prstGeom>
                <a:noFill/>
                <a:ln w="9525" cap="flat" cmpd="sng">
                  <a:solidFill>
                    <a:srgbClr val="FFCC2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nvGrpSpPr>
                <p:cNvPr id="327" name="Google Shape;327;p24"/>
                <p:cNvGrpSpPr/>
                <p:nvPr/>
              </p:nvGrpSpPr>
              <p:grpSpPr>
                <a:xfrm>
                  <a:off x="380888" y="1996964"/>
                  <a:ext cx="1564810" cy="502919"/>
                  <a:chOff x="299295" y="1879784"/>
                  <a:chExt cx="2741433" cy="881077"/>
                </a:xfrm>
              </p:grpSpPr>
              <p:grpSp>
                <p:nvGrpSpPr>
                  <p:cNvPr id="328" name="Google Shape;328;p24"/>
                  <p:cNvGrpSpPr/>
                  <p:nvPr/>
                </p:nvGrpSpPr>
                <p:grpSpPr>
                  <a:xfrm>
                    <a:off x="512415" y="1879784"/>
                    <a:ext cx="2528313" cy="881077"/>
                    <a:chOff x="579820" y="1879784"/>
                    <a:chExt cx="2528313" cy="881077"/>
                  </a:xfrm>
                </p:grpSpPr>
                <p:sp>
                  <p:nvSpPr>
                    <p:cNvPr id="329" name="Google Shape;329;p24"/>
                    <p:cNvSpPr/>
                    <p:nvPr/>
                  </p:nvSpPr>
                  <p:spPr>
                    <a:xfrm>
                      <a:off x="579820" y="1879784"/>
                      <a:ext cx="90900" cy="90900"/>
                    </a:xfrm>
                    <a:prstGeom prst="ellipse">
                      <a:avLst/>
                    </a:prstGeom>
                    <a:solidFill>
                      <a:schemeClr val="lt2"/>
                    </a:solidFill>
                    <a:ln w="12700" cap="flat" cmpd="sng">
                      <a:solidFill>
                        <a:schemeClr val="accent3"/>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330" name="Google Shape;330;p24"/>
                    <p:cNvSpPr/>
                    <p:nvPr/>
                  </p:nvSpPr>
                  <p:spPr>
                    <a:xfrm>
                      <a:off x="673208" y="1926171"/>
                      <a:ext cx="2434925" cy="834690"/>
                    </a:xfrm>
                    <a:custGeom>
                      <a:avLst/>
                      <a:gdLst/>
                      <a:ahLst/>
                      <a:cxnLst/>
                      <a:rect l="l" t="t" r="r" b="b"/>
                      <a:pathLst>
                        <a:path w="2434925" h="834690" extrusionOk="0">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w="12700" cap="flat" cmpd="sng">
                      <a:solidFill>
                        <a:schemeClr val="accent3"/>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grpSp>
              <p:grpSp>
                <p:nvGrpSpPr>
                  <p:cNvPr id="331" name="Google Shape;331;p24"/>
                  <p:cNvGrpSpPr/>
                  <p:nvPr/>
                </p:nvGrpSpPr>
                <p:grpSpPr>
                  <a:xfrm>
                    <a:off x="299295" y="2006438"/>
                    <a:ext cx="2659200" cy="674100"/>
                    <a:chOff x="299295" y="2006438"/>
                    <a:chExt cx="2659200" cy="674100"/>
                  </a:xfrm>
                </p:grpSpPr>
                <p:sp>
                  <p:nvSpPr>
                    <p:cNvPr id="332" name="Google Shape;332;p24"/>
                    <p:cNvSpPr/>
                    <p:nvPr/>
                  </p:nvSpPr>
                  <p:spPr>
                    <a:xfrm>
                      <a:off x="299295" y="2006438"/>
                      <a:ext cx="2659200" cy="674100"/>
                    </a:xfrm>
                    <a:prstGeom prst="roundRect">
                      <a:avLst>
                        <a:gd name="adj" fmla="val 50000"/>
                      </a:avLst>
                    </a:prstGeom>
                    <a:solidFill>
                      <a:schemeClr val="dk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sp>
                  <p:nvSpPr>
                    <p:cNvPr id="333" name="Google Shape;333;p24"/>
                    <p:cNvSpPr/>
                    <p:nvPr/>
                  </p:nvSpPr>
                  <p:spPr>
                    <a:xfrm>
                      <a:off x="550758" y="2100853"/>
                      <a:ext cx="2183400" cy="4854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b="1" i="0" u="none" strike="noStrike" cap="none">
                          <a:solidFill>
                            <a:schemeClr val="lt1"/>
                          </a:solidFill>
                          <a:latin typeface="Century Gothic"/>
                          <a:ea typeface="Century Gothic"/>
                          <a:cs typeface="Century Gothic"/>
                          <a:sym typeface="Century Gothic"/>
                        </a:rPr>
                        <a:t>Business Case</a:t>
                      </a:r>
                      <a:endParaRPr sz="900" b="1" i="0" u="none" strike="noStrike" cap="none">
                        <a:solidFill>
                          <a:schemeClr val="lt1"/>
                        </a:solidFill>
                        <a:latin typeface="Century Gothic"/>
                        <a:ea typeface="Century Gothic"/>
                        <a:cs typeface="Century Gothic"/>
                        <a:sym typeface="Century Gothic"/>
                      </a:endParaRPr>
                    </a:p>
                  </p:txBody>
                </p:sp>
              </p:grpSp>
            </p:grpSp>
          </p:grpSp>
          <p:grpSp>
            <p:nvGrpSpPr>
              <p:cNvPr id="334" name="Google Shape;334;p24"/>
              <p:cNvGrpSpPr/>
              <p:nvPr/>
            </p:nvGrpSpPr>
            <p:grpSpPr>
              <a:xfrm>
                <a:off x="6269736" y="2598053"/>
                <a:ext cx="1660800" cy="2491138"/>
                <a:chOff x="332788" y="1996963"/>
                <a:chExt cx="1660800" cy="2491138"/>
              </a:xfrm>
            </p:grpSpPr>
            <p:sp>
              <p:nvSpPr>
                <p:cNvPr id="335" name="Google Shape;335;p24"/>
                <p:cNvSpPr/>
                <p:nvPr/>
              </p:nvSpPr>
              <p:spPr>
                <a:xfrm>
                  <a:off x="332788" y="2733701"/>
                  <a:ext cx="1660800" cy="1754400"/>
                </a:xfrm>
                <a:prstGeom prst="roundRect">
                  <a:avLst>
                    <a:gd name="adj" fmla="val 6344"/>
                  </a:avLst>
                </a:prstGeom>
                <a:noFill/>
                <a:ln w="9525"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nvGrpSpPr>
                <p:cNvPr id="336" name="Google Shape;336;p24"/>
                <p:cNvGrpSpPr/>
                <p:nvPr/>
              </p:nvGrpSpPr>
              <p:grpSpPr>
                <a:xfrm>
                  <a:off x="380888" y="1996963"/>
                  <a:ext cx="1564810" cy="502919"/>
                  <a:chOff x="299295" y="1879784"/>
                  <a:chExt cx="2741433" cy="881077"/>
                </a:xfrm>
              </p:grpSpPr>
              <p:grpSp>
                <p:nvGrpSpPr>
                  <p:cNvPr id="337" name="Google Shape;337;p24"/>
                  <p:cNvGrpSpPr/>
                  <p:nvPr/>
                </p:nvGrpSpPr>
                <p:grpSpPr>
                  <a:xfrm>
                    <a:off x="512415" y="1879784"/>
                    <a:ext cx="2528313" cy="881077"/>
                    <a:chOff x="579820" y="1879784"/>
                    <a:chExt cx="2528313" cy="881077"/>
                  </a:xfrm>
                </p:grpSpPr>
                <p:sp>
                  <p:nvSpPr>
                    <p:cNvPr id="338" name="Google Shape;338;p24"/>
                    <p:cNvSpPr/>
                    <p:nvPr/>
                  </p:nvSpPr>
                  <p:spPr>
                    <a:xfrm>
                      <a:off x="579820" y="1879784"/>
                      <a:ext cx="90900" cy="90900"/>
                    </a:xfrm>
                    <a:prstGeom prst="ellipse">
                      <a:avLst/>
                    </a:prstGeom>
                    <a:solidFill>
                      <a:schemeClr val="lt2"/>
                    </a:solidFill>
                    <a:ln w="1270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339" name="Google Shape;339;p24"/>
                    <p:cNvSpPr/>
                    <p:nvPr/>
                  </p:nvSpPr>
                  <p:spPr>
                    <a:xfrm>
                      <a:off x="673208" y="1926171"/>
                      <a:ext cx="2434925" cy="834690"/>
                    </a:xfrm>
                    <a:custGeom>
                      <a:avLst/>
                      <a:gdLst/>
                      <a:ahLst/>
                      <a:cxnLst/>
                      <a:rect l="l" t="t" r="r" b="b"/>
                      <a:pathLst>
                        <a:path w="2434925" h="834690" extrusionOk="0">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w="1270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grpSp>
              <p:grpSp>
                <p:nvGrpSpPr>
                  <p:cNvPr id="340" name="Google Shape;340;p24"/>
                  <p:cNvGrpSpPr/>
                  <p:nvPr/>
                </p:nvGrpSpPr>
                <p:grpSpPr>
                  <a:xfrm>
                    <a:off x="299295" y="2006438"/>
                    <a:ext cx="2659200" cy="674100"/>
                    <a:chOff x="299295" y="2006438"/>
                    <a:chExt cx="2659200" cy="674100"/>
                  </a:xfrm>
                </p:grpSpPr>
                <p:sp>
                  <p:nvSpPr>
                    <p:cNvPr id="341" name="Google Shape;341;p24"/>
                    <p:cNvSpPr/>
                    <p:nvPr/>
                  </p:nvSpPr>
                  <p:spPr>
                    <a:xfrm>
                      <a:off x="299295" y="2006438"/>
                      <a:ext cx="2659200" cy="674100"/>
                    </a:xfrm>
                    <a:prstGeom prst="roundRect">
                      <a:avLst>
                        <a:gd name="adj" fmla="val 50000"/>
                      </a:avLst>
                    </a:prstGeom>
                    <a:solidFill>
                      <a:srgbClr val="00009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rgbClr val="000099"/>
                        </a:solidFill>
                        <a:latin typeface="Calibri"/>
                        <a:ea typeface="Calibri"/>
                        <a:cs typeface="Calibri"/>
                        <a:sym typeface="Calibri"/>
                      </a:endParaRPr>
                    </a:p>
                  </p:txBody>
                </p:sp>
                <p:sp>
                  <p:nvSpPr>
                    <p:cNvPr id="342" name="Google Shape;342;p24"/>
                    <p:cNvSpPr/>
                    <p:nvPr/>
                  </p:nvSpPr>
                  <p:spPr>
                    <a:xfrm>
                      <a:off x="624930" y="2100853"/>
                      <a:ext cx="2124900" cy="4854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b="1" i="0" u="none" strike="noStrike" cap="none">
                          <a:solidFill>
                            <a:schemeClr val="lt2"/>
                          </a:solidFill>
                          <a:latin typeface="Century Gothic"/>
                          <a:ea typeface="Century Gothic"/>
                          <a:cs typeface="Century Gothic"/>
                          <a:sym typeface="Century Gothic"/>
                        </a:rPr>
                        <a:t>MVP</a:t>
                      </a:r>
                      <a:endParaRPr sz="900" b="1" i="0" u="none" strike="noStrike" cap="none">
                        <a:solidFill>
                          <a:schemeClr val="lt2"/>
                        </a:solidFill>
                        <a:latin typeface="Century Gothic"/>
                        <a:ea typeface="Century Gothic"/>
                        <a:cs typeface="Century Gothic"/>
                        <a:sym typeface="Century Gothic"/>
                      </a:endParaRPr>
                    </a:p>
                  </p:txBody>
                </p:sp>
              </p:grpSp>
            </p:grpSp>
          </p:grpSp>
          <p:grpSp>
            <p:nvGrpSpPr>
              <p:cNvPr id="343" name="Google Shape;343;p24"/>
              <p:cNvGrpSpPr/>
              <p:nvPr/>
            </p:nvGrpSpPr>
            <p:grpSpPr>
              <a:xfrm>
                <a:off x="8265652" y="2598053"/>
                <a:ext cx="1660800" cy="2491138"/>
                <a:chOff x="332788" y="1996963"/>
                <a:chExt cx="1660800" cy="2491138"/>
              </a:xfrm>
            </p:grpSpPr>
            <p:grpSp>
              <p:nvGrpSpPr>
                <p:cNvPr id="344" name="Google Shape;344;p24"/>
                <p:cNvGrpSpPr/>
                <p:nvPr/>
              </p:nvGrpSpPr>
              <p:grpSpPr>
                <a:xfrm>
                  <a:off x="332788" y="2733701"/>
                  <a:ext cx="1660800" cy="1754400"/>
                  <a:chOff x="6218991" y="2771801"/>
                  <a:chExt cx="1660800" cy="1754400"/>
                </a:xfrm>
              </p:grpSpPr>
              <p:sp>
                <p:nvSpPr>
                  <p:cNvPr id="345" name="Google Shape;345;p24"/>
                  <p:cNvSpPr/>
                  <p:nvPr/>
                </p:nvSpPr>
                <p:spPr>
                  <a:xfrm>
                    <a:off x="6218991" y="2771801"/>
                    <a:ext cx="1660800" cy="1754400"/>
                  </a:xfrm>
                  <a:prstGeom prst="roundRect">
                    <a:avLst>
                      <a:gd name="adj" fmla="val 6344"/>
                    </a:avLst>
                  </a:prstGeom>
                  <a:noFill/>
                  <a:ln w="9525" cap="flat" cmpd="sng">
                    <a:solidFill>
                      <a:schemeClr val="accent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346" name="Google Shape;346;p24"/>
                  <p:cNvSpPr txBox="1"/>
                  <p:nvPr/>
                </p:nvSpPr>
                <p:spPr>
                  <a:xfrm>
                    <a:off x="6290555" y="3152205"/>
                    <a:ext cx="1517700" cy="4617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900" b="1">
                        <a:solidFill>
                          <a:srgbClr val="3F3F3F"/>
                        </a:solidFill>
                      </a:rPr>
                      <a:t>Optical Tracking</a:t>
                    </a:r>
                    <a:endParaRPr sz="900" b="1">
                      <a:solidFill>
                        <a:srgbClr val="3F3F3F"/>
                      </a:solidFill>
                    </a:endParaRPr>
                  </a:p>
                  <a:p>
                    <a:pPr marL="0" marR="0" lvl="0" indent="0" algn="ctr" rtl="0">
                      <a:spcBef>
                        <a:spcPts val="0"/>
                      </a:spcBef>
                      <a:spcAft>
                        <a:spcPts val="0"/>
                      </a:spcAft>
                      <a:buNone/>
                    </a:pPr>
                    <a:r>
                      <a:rPr lang="en" sz="900">
                        <a:solidFill>
                          <a:srgbClr val="3F3F3F"/>
                        </a:solidFill>
                      </a:rPr>
                      <a:t>Aaron Amendola</a:t>
                    </a:r>
                    <a:endParaRPr sz="900">
                      <a:solidFill>
                        <a:srgbClr val="3F3F3F"/>
                      </a:solidFill>
                    </a:endParaRPr>
                  </a:p>
                </p:txBody>
              </p:sp>
            </p:grpSp>
            <p:grpSp>
              <p:nvGrpSpPr>
                <p:cNvPr id="347" name="Google Shape;347;p24"/>
                <p:cNvGrpSpPr/>
                <p:nvPr/>
              </p:nvGrpSpPr>
              <p:grpSpPr>
                <a:xfrm>
                  <a:off x="380888" y="1996963"/>
                  <a:ext cx="1564810" cy="502919"/>
                  <a:chOff x="299295" y="1879784"/>
                  <a:chExt cx="2741433" cy="881077"/>
                </a:xfrm>
              </p:grpSpPr>
              <p:grpSp>
                <p:nvGrpSpPr>
                  <p:cNvPr id="348" name="Google Shape;348;p24"/>
                  <p:cNvGrpSpPr/>
                  <p:nvPr/>
                </p:nvGrpSpPr>
                <p:grpSpPr>
                  <a:xfrm>
                    <a:off x="512415" y="1879784"/>
                    <a:ext cx="2528313" cy="881077"/>
                    <a:chOff x="579820" y="1879784"/>
                    <a:chExt cx="2528313" cy="881077"/>
                  </a:xfrm>
                </p:grpSpPr>
                <p:sp>
                  <p:nvSpPr>
                    <p:cNvPr id="349" name="Google Shape;349;p24"/>
                    <p:cNvSpPr/>
                    <p:nvPr/>
                  </p:nvSpPr>
                  <p:spPr>
                    <a:xfrm>
                      <a:off x="579820" y="1879784"/>
                      <a:ext cx="90900" cy="90900"/>
                    </a:xfrm>
                    <a:prstGeom prst="ellipse">
                      <a:avLst/>
                    </a:prstGeom>
                    <a:solidFill>
                      <a:schemeClr val="lt2"/>
                    </a:solidFill>
                    <a:ln w="12700" cap="flat" cmpd="sng">
                      <a:solidFill>
                        <a:schemeClr val="accent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350" name="Google Shape;350;p24"/>
                    <p:cNvSpPr/>
                    <p:nvPr/>
                  </p:nvSpPr>
                  <p:spPr>
                    <a:xfrm>
                      <a:off x="673208" y="1926171"/>
                      <a:ext cx="2434925" cy="834690"/>
                    </a:xfrm>
                    <a:custGeom>
                      <a:avLst/>
                      <a:gdLst/>
                      <a:ahLst/>
                      <a:cxnLst/>
                      <a:rect l="l" t="t" r="r" b="b"/>
                      <a:pathLst>
                        <a:path w="2434925" h="834690" extrusionOk="0">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w="12700" cap="flat" cmpd="sng">
                      <a:solidFill>
                        <a:schemeClr val="accent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grpSp>
              <p:grpSp>
                <p:nvGrpSpPr>
                  <p:cNvPr id="351" name="Google Shape;351;p24"/>
                  <p:cNvGrpSpPr/>
                  <p:nvPr/>
                </p:nvGrpSpPr>
                <p:grpSpPr>
                  <a:xfrm>
                    <a:off x="299295" y="2006438"/>
                    <a:ext cx="2659200" cy="674100"/>
                    <a:chOff x="299295" y="2006438"/>
                    <a:chExt cx="2659200" cy="674100"/>
                  </a:xfrm>
                </p:grpSpPr>
                <p:sp>
                  <p:nvSpPr>
                    <p:cNvPr id="352" name="Google Shape;352;p24"/>
                    <p:cNvSpPr/>
                    <p:nvPr/>
                  </p:nvSpPr>
                  <p:spPr>
                    <a:xfrm>
                      <a:off x="299295" y="2006438"/>
                      <a:ext cx="2659200" cy="674100"/>
                    </a:xfrm>
                    <a:prstGeom prst="roundRect">
                      <a:avLst>
                        <a:gd name="adj" fmla="val 50000"/>
                      </a:avLst>
                    </a:prstGeom>
                    <a:solidFill>
                      <a:schemeClr val="accent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sp>
                  <p:nvSpPr>
                    <p:cNvPr id="353" name="Google Shape;353;p24"/>
                    <p:cNvSpPr/>
                    <p:nvPr/>
                  </p:nvSpPr>
                  <p:spPr>
                    <a:xfrm>
                      <a:off x="702809" y="2100854"/>
                      <a:ext cx="1852200" cy="4854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b="1" i="0" u="none" strike="noStrike" cap="none">
                          <a:solidFill>
                            <a:schemeClr val="lt2"/>
                          </a:solidFill>
                          <a:latin typeface="Century Gothic"/>
                          <a:ea typeface="Century Gothic"/>
                          <a:cs typeface="Century Gothic"/>
                          <a:sym typeface="Century Gothic"/>
                        </a:rPr>
                        <a:t>ROI</a:t>
                      </a:r>
                      <a:endParaRPr sz="900" b="1" i="0" u="none" strike="noStrike" cap="none">
                        <a:solidFill>
                          <a:schemeClr val="lt2"/>
                        </a:solidFill>
                        <a:latin typeface="Century Gothic"/>
                        <a:ea typeface="Century Gothic"/>
                        <a:cs typeface="Century Gothic"/>
                        <a:sym typeface="Century Gothic"/>
                      </a:endParaRPr>
                    </a:p>
                  </p:txBody>
                </p:sp>
              </p:grpSp>
            </p:grpSp>
          </p:grpSp>
          <p:grpSp>
            <p:nvGrpSpPr>
              <p:cNvPr id="354" name="Google Shape;354;p24"/>
              <p:cNvGrpSpPr/>
              <p:nvPr/>
            </p:nvGrpSpPr>
            <p:grpSpPr>
              <a:xfrm>
                <a:off x="10261566" y="2598053"/>
                <a:ext cx="1660800" cy="2491138"/>
                <a:chOff x="332788" y="1996963"/>
                <a:chExt cx="1660800" cy="2491138"/>
              </a:xfrm>
            </p:grpSpPr>
            <p:sp>
              <p:nvSpPr>
                <p:cNvPr id="355" name="Google Shape;355;p24"/>
                <p:cNvSpPr/>
                <p:nvPr/>
              </p:nvSpPr>
              <p:spPr>
                <a:xfrm>
                  <a:off x="332788" y="2733701"/>
                  <a:ext cx="1660800" cy="1754400"/>
                </a:xfrm>
                <a:prstGeom prst="roundRect">
                  <a:avLst>
                    <a:gd name="adj" fmla="val 6344"/>
                  </a:avLst>
                </a:prstGeom>
                <a:noFill/>
                <a:ln w="9525" cap="flat" cmpd="sng">
                  <a:solidFill>
                    <a:srgbClr val="FFCC2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nvGrpSpPr>
                <p:cNvPr id="356" name="Google Shape;356;p24"/>
                <p:cNvGrpSpPr/>
                <p:nvPr/>
              </p:nvGrpSpPr>
              <p:grpSpPr>
                <a:xfrm>
                  <a:off x="380888" y="1996963"/>
                  <a:ext cx="1564810" cy="502919"/>
                  <a:chOff x="299295" y="1879784"/>
                  <a:chExt cx="2741433" cy="881077"/>
                </a:xfrm>
              </p:grpSpPr>
              <p:grpSp>
                <p:nvGrpSpPr>
                  <p:cNvPr id="357" name="Google Shape;357;p24"/>
                  <p:cNvGrpSpPr/>
                  <p:nvPr/>
                </p:nvGrpSpPr>
                <p:grpSpPr>
                  <a:xfrm>
                    <a:off x="512415" y="1879784"/>
                    <a:ext cx="2528313" cy="881077"/>
                    <a:chOff x="579820" y="1879784"/>
                    <a:chExt cx="2528313" cy="881077"/>
                  </a:xfrm>
                </p:grpSpPr>
                <p:sp>
                  <p:nvSpPr>
                    <p:cNvPr id="358" name="Google Shape;358;p24"/>
                    <p:cNvSpPr/>
                    <p:nvPr/>
                  </p:nvSpPr>
                  <p:spPr>
                    <a:xfrm>
                      <a:off x="579820" y="1879784"/>
                      <a:ext cx="90900" cy="90900"/>
                    </a:xfrm>
                    <a:prstGeom prst="ellipse">
                      <a:avLst/>
                    </a:prstGeom>
                    <a:solidFill>
                      <a:schemeClr val="lt2"/>
                    </a:solidFill>
                    <a:ln w="12700" cap="flat" cmpd="sng">
                      <a:solidFill>
                        <a:schemeClr val="accent3"/>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359" name="Google Shape;359;p24"/>
                    <p:cNvSpPr/>
                    <p:nvPr/>
                  </p:nvSpPr>
                  <p:spPr>
                    <a:xfrm>
                      <a:off x="673208" y="1926171"/>
                      <a:ext cx="2434925" cy="834690"/>
                    </a:xfrm>
                    <a:custGeom>
                      <a:avLst/>
                      <a:gdLst/>
                      <a:ahLst/>
                      <a:cxnLst/>
                      <a:rect l="l" t="t" r="r" b="b"/>
                      <a:pathLst>
                        <a:path w="2434925" h="834690" extrusionOk="0">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w="12700" cap="flat" cmpd="sng">
                      <a:solidFill>
                        <a:schemeClr val="accent3"/>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grpSp>
              <p:grpSp>
                <p:nvGrpSpPr>
                  <p:cNvPr id="360" name="Google Shape;360;p24"/>
                  <p:cNvGrpSpPr/>
                  <p:nvPr/>
                </p:nvGrpSpPr>
                <p:grpSpPr>
                  <a:xfrm>
                    <a:off x="299295" y="2006438"/>
                    <a:ext cx="2659200" cy="674100"/>
                    <a:chOff x="299295" y="2006438"/>
                    <a:chExt cx="2659200" cy="674100"/>
                  </a:xfrm>
                </p:grpSpPr>
                <p:sp>
                  <p:nvSpPr>
                    <p:cNvPr id="361" name="Google Shape;361;p24"/>
                    <p:cNvSpPr/>
                    <p:nvPr/>
                  </p:nvSpPr>
                  <p:spPr>
                    <a:xfrm>
                      <a:off x="299295" y="2006438"/>
                      <a:ext cx="2659200" cy="674100"/>
                    </a:xfrm>
                    <a:prstGeom prst="roundRect">
                      <a:avLst>
                        <a:gd name="adj" fmla="val 50000"/>
                      </a:avLst>
                    </a:prstGeom>
                    <a:solidFill>
                      <a:srgbClr val="EF413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sp>
                  <p:nvSpPr>
                    <p:cNvPr id="362" name="Google Shape;362;p24"/>
                    <p:cNvSpPr/>
                    <p:nvPr/>
                  </p:nvSpPr>
                  <p:spPr>
                    <a:xfrm>
                      <a:off x="702809" y="2100853"/>
                      <a:ext cx="1852200" cy="4854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b="1" i="0" u="none" strike="noStrike" cap="none">
                          <a:solidFill>
                            <a:schemeClr val="lt1"/>
                          </a:solidFill>
                          <a:latin typeface="Century Gothic"/>
                          <a:ea typeface="Century Gothic"/>
                          <a:cs typeface="Century Gothic"/>
                          <a:sym typeface="Century Gothic"/>
                        </a:rPr>
                        <a:t>Grow</a:t>
                      </a:r>
                      <a:endParaRPr sz="900" b="1" i="0" u="none" strike="noStrike" cap="none">
                        <a:solidFill>
                          <a:schemeClr val="lt1"/>
                        </a:solidFill>
                        <a:latin typeface="Century Gothic"/>
                        <a:ea typeface="Century Gothic"/>
                        <a:cs typeface="Century Gothic"/>
                        <a:sym typeface="Century Gothic"/>
                      </a:endParaRPr>
                    </a:p>
                  </p:txBody>
                </p:sp>
              </p:grpSp>
            </p:grpSp>
          </p:grpSp>
        </p:grpSp>
        <p:grpSp>
          <p:nvGrpSpPr>
            <p:cNvPr id="363" name="Google Shape;363;p24"/>
            <p:cNvGrpSpPr/>
            <p:nvPr/>
          </p:nvGrpSpPr>
          <p:grpSpPr>
            <a:xfrm>
              <a:off x="335315" y="5855957"/>
              <a:ext cx="11533808" cy="742740"/>
              <a:chOff x="-129941" y="6182361"/>
              <a:chExt cx="11093400" cy="576169"/>
            </a:xfrm>
          </p:grpSpPr>
          <p:sp>
            <p:nvSpPr>
              <p:cNvPr id="364" name="Google Shape;364;p24"/>
              <p:cNvSpPr/>
              <p:nvPr/>
            </p:nvSpPr>
            <p:spPr>
              <a:xfrm rot="-5400000">
                <a:off x="5270059" y="782361"/>
                <a:ext cx="293400" cy="11093400"/>
              </a:xfrm>
              <a:prstGeom prst="leftBrace">
                <a:avLst>
                  <a:gd name="adj1" fmla="val 50000"/>
                  <a:gd name="adj2" fmla="val 50000"/>
                </a:avLst>
              </a:prstGeom>
              <a:noFill/>
              <a:ln w="9525" cap="flat" cmpd="sng">
                <a:solidFill>
                  <a:srgbClr val="7F7F7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365" name="Google Shape;365;p24"/>
              <p:cNvSpPr/>
              <p:nvPr/>
            </p:nvSpPr>
            <p:spPr>
              <a:xfrm>
                <a:off x="3588268" y="6350531"/>
                <a:ext cx="3486900" cy="408000"/>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262626"/>
                  </a:buClr>
                  <a:buSzPts val="1100"/>
                  <a:buFont typeface="Century Gothic"/>
                  <a:buNone/>
                </a:pPr>
                <a:r>
                  <a:rPr lang="en" sz="1100" b="1">
                    <a:solidFill>
                      <a:srgbClr val="262626"/>
                    </a:solidFill>
                    <a:latin typeface="Montserrat"/>
                    <a:ea typeface="Montserrat"/>
                    <a:cs typeface="Montserrat"/>
                    <a:sym typeface="Montserrat"/>
                  </a:rPr>
                  <a:t>HUB Funded Projects</a:t>
                </a:r>
                <a:endParaRPr sz="1100" b="1">
                  <a:solidFill>
                    <a:srgbClr val="262626"/>
                  </a:solidFill>
                  <a:latin typeface="Montserrat"/>
                  <a:ea typeface="Montserrat"/>
                  <a:cs typeface="Montserrat"/>
                  <a:sym typeface="Montserrat"/>
                </a:endParaRPr>
              </a:p>
            </p:txBody>
          </p:sp>
        </p:grpSp>
      </p:grpSp>
      <p:grpSp>
        <p:nvGrpSpPr>
          <p:cNvPr id="366" name="Google Shape;366;p24"/>
          <p:cNvGrpSpPr/>
          <p:nvPr/>
        </p:nvGrpSpPr>
        <p:grpSpPr>
          <a:xfrm>
            <a:off x="1365452" y="3968558"/>
            <a:ext cx="6362195" cy="200475"/>
            <a:chOff x="1826812" y="5582306"/>
            <a:chExt cx="8482927" cy="267300"/>
          </a:xfrm>
        </p:grpSpPr>
        <p:sp>
          <p:nvSpPr>
            <p:cNvPr id="367" name="Google Shape;367;p24"/>
            <p:cNvSpPr/>
            <p:nvPr/>
          </p:nvSpPr>
          <p:spPr>
            <a:xfrm rot="10800000" flipH="1">
              <a:off x="1826812" y="5582306"/>
              <a:ext cx="594000" cy="267300"/>
            </a:xfrm>
            <a:prstGeom prst="curvedDownArrow">
              <a:avLst>
                <a:gd name="adj1" fmla="val 25000"/>
                <a:gd name="adj2" fmla="val 50000"/>
                <a:gd name="adj3" fmla="val 25000"/>
              </a:avLst>
            </a:prstGeom>
            <a:solidFill>
              <a:srgbClr val="D8D8D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368" name="Google Shape;368;p24"/>
            <p:cNvSpPr/>
            <p:nvPr/>
          </p:nvSpPr>
          <p:spPr>
            <a:xfrm rot="10800000" flipH="1">
              <a:off x="5884732" y="5582306"/>
              <a:ext cx="594000" cy="267300"/>
            </a:xfrm>
            <a:prstGeom prst="curvedDownArrow">
              <a:avLst>
                <a:gd name="adj1" fmla="val 25000"/>
                <a:gd name="adj2" fmla="val 50000"/>
                <a:gd name="adj3" fmla="val 25000"/>
              </a:avLst>
            </a:prstGeom>
            <a:solidFill>
              <a:srgbClr val="D8D8D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369" name="Google Shape;369;p24"/>
            <p:cNvSpPr/>
            <p:nvPr/>
          </p:nvSpPr>
          <p:spPr>
            <a:xfrm rot="10800000" flipH="1">
              <a:off x="9715739" y="5582306"/>
              <a:ext cx="594000" cy="267300"/>
            </a:xfrm>
            <a:prstGeom prst="curvedDownArrow">
              <a:avLst>
                <a:gd name="adj1" fmla="val 25000"/>
                <a:gd name="adj2" fmla="val 50000"/>
                <a:gd name="adj3" fmla="val 25000"/>
              </a:avLst>
            </a:prstGeom>
            <a:solidFill>
              <a:srgbClr val="D8D8D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grpSp>
      <p:sp>
        <p:nvSpPr>
          <p:cNvPr id="370" name="Google Shape;370;p24"/>
          <p:cNvSpPr txBox="1"/>
          <p:nvPr/>
        </p:nvSpPr>
        <p:spPr>
          <a:xfrm>
            <a:off x="1269450" y="4258800"/>
            <a:ext cx="7038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rgbClr val="3F3F3F"/>
                </a:solidFill>
              </a:rPr>
              <a:t>Stage 1</a:t>
            </a:r>
            <a:endParaRPr sz="900" b="1">
              <a:solidFill>
                <a:srgbClr val="3F3F3F"/>
              </a:solidFill>
            </a:endParaRPr>
          </a:p>
        </p:txBody>
      </p:sp>
      <p:sp>
        <p:nvSpPr>
          <p:cNvPr id="371" name="Google Shape;371;p24"/>
          <p:cNvSpPr txBox="1"/>
          <p:nvPr/>
        </p:nvSpPr>
        <p:spPr>
          <a:xfrm>
            <a:off x="2716275" y="4258800"/>
            <a:ext cx="7038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rgbClr val="3F3F3F"/>
                </a:solidFill>
              </a:rPr>
              <a:t>Stage 2</a:t>
            </a:r>
            <a:endParaRPr sz="900" b="1">
              <a:solidFill>
                <a:srgbClr val="3F3F3F"/>
              </a:solidFill>
            </a:endParaRPr>
          </a:p>
        </p:txBody>
      </p:sp>
      <p:sp>
        <p:nvSpPr>
          <p:cNvPr id="372" name="Google Shape;372;p24"/>
          <p:cNvSpPr txBox="1"/>
          <p:nvPr/>
        </p:nvSpPr>
        <p:spPr>
          <a:xfrm>
            <a:off x="4314725" y="4258800"/>
            <a:ext cx="7038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rgbClr val="3F3F3F"/>
                </a:solidFill>
              </a:rPr>
              <a:t>Stage 3</a:t>
            </a:r>
            <a:endParaRPr sz="900" b="1">
              <a:solidFill>
                <a:srgbClr val="3F3F3F"/>
              </a:solidFill>
            </a:endParaRPr>
          </a:p>
        </p:txBody>
      </p:sp>
      <p:sp>
        <p:nvSpPr>
          <p:cNvPr id="373" name="Google Shape;373;p24"/>
          <p:cNvSpPr txBox="1"/>
          <p:nvPr/>
        </p:nvSpPr>
        <p:spPr>
          <a:xfrm>
            <a:off x="5793625" y="4258800"/>
            <a:ext cx="7038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rgbClr val="3F3F3F"/>
                </a:solidFill>
              </a:rPr>
              <a:t>Stage 4</a:t>
            </a:r>
            <a:endParaRPr sz="900" b="1">
              <a:solidFill>
                <a:srgbClr val="3F3F3F"/>
              </a:solidFill>
            </a:endParaRPr>
          </a:p>
        </p:txBody>
      </p:sp>
      <p:sp>
        <p:nvSpPr>
          <p:cNvPr id="374" name="Google Shape;374;p24"/>
          <p:cNvSpPr/>
          <p:nvPr/>
        </p:nvSpPr>
        <p:spPr>
          <a:xfrm rot="10800000" flipH="1">
            <a:off x="2811252" y="3968608"/>
            <a:ext cx="445500" cy="200400"/>
          </a:xfrm>
          <a:prstGeom prst="curvedDownArrow">
            <a:avLst>
              <a:gd name="adj1" fmla="val 25000"/>
              <a:gd name="adj2" fmla="val 50000"/>
              <a:gd name="adj3" fmla="val 25000"/>
            </a:avLst>
          </a:prstGeom>
          <a:solidFill>
            <a:srgbClr val="D8D8D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375" name="Google Shape;375;p24"/>
          <p:cNvSpPr/>
          <p:nvPr/>
        </p:nvSpPr>
        <p:spPr>
          <a:xfrm rot="10800000" flipH="1">
            <a:off x="5861252" y="3968633"/>
            <a:ext cx="445500" cy="200400"/>
          </a:xfrm>
          <a:prstGeom prst="curvedDownArrow">
            <a:avLst>
              <a:gd name="adj1" fmla="val 25000"/>
              <a:gd name="adj2" fmla="val 50000"/>
              <a:gd name="adj3" fmla="val 25000"/>
            </a:avLst>
          </a:prstGeom>
          <a:solidFill>
            <a:srgbClr val="D8D8D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376" name="Google Shape;376;p24"/>
          <p:cNvSpPr txBox="1"/>
          <p:nvPr/>
        </p:nvSpPr>
        <p:spPr>
          <a:xfrm>
            <a:off x="7217175" y="4258800"/>
            <a:ext cx="7038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rgbClr val="3F3F3F"/>
                </a:solidFill>
              </a:rPr>
              <a:t>Stage 5</a:t>
            </a:r>
            <a:endParaRPr sz="900" b="1">
              <a:solidFill>
                <a:srgbClr val="3F3F3F"/>
              </a:solidFill>
            </a:endParaRPr>
          </a:p>
        </p:txBody>
      </p:sp>
      <p:sp>
        <p:nvSpPr>
          <p:cNvPr id="377" name="Google Shape;377;p24"/>
          <p:cNvSpPr txBox="1"/>
          <p:nvPr/>
        </p:nvSpPr>
        <p:spPr>
          <a:xfrm>
            <a:off x="1674675" y="493675"/>
            <a:ext cx="5987400" cy="7890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000" b="1">
                <a:solidFill>
                  <a:srgbClr val="000099"/>
                </a:solidFill>
                <a:latin typeface="Montserrat"/>
                <a:ea typeface="Montserrat"/>
                <a:cs typeface="Montserrat"/>
                <a:sym typeface="Montserrat"/>
              </a:rPr>
              <a:t>Project Stage Placements</a:t>
            </a:r>
            <a:endParaRPr sz="3000" b="1">
              <a:solidFill>
                <a:srgbClr val="000099"/>
              </a:solidFill>
              <a:latin typeface="Montserrat"/>
              <a:ea typeface="Montserrat"/>
              <a:cs typeface="Montserrat"/>
              <a:sym typeface="Montserrat"/>
            </a:endParaRPr>
          </a:p>
          <a:p>
            <a:pPr marL="0" marR="0" lvl="0" indent="0" algn="l" rtl="0">
              <a:lnSpc>
                <a:spcPct val="100000"/>
              </a:lnSpc>
              <a:spcBef>
                <a:spcPts val="0"/>
              </a:spcBef>
              <a:spcAft>
                <a:spcPts val="0"/>
              </a:spcAft>
              <a:buNone/>
            </a:pPr>
            <a:endParaRPr sz="2100" b="1">
              <a:solidFill>
                <a:srgbClr val="EF4138"/>
              </a:solidFill>
              <a:latin typeface="Montserrat"/>
              <a:ea typeface="Montserrat"/>
              <a:cs typeface="Montserrat"/>
              <a:sym typeface="Montserrat"/>
            </a:endParaRPr>
          </a:p>
        </p:txBody>
      </p:sp>
      <p:sp>
        <p:nvSpPr>
          <p:cNvPr id="378" name="Google Shape;378;p24"/>
          <p:cNvSpPr/>
          <p:nvPr/>
        </p:nvSpPr>
        <p:spPr>
          <a:xfrm>
            <a:off x="579049" y="429794"/>
            <a:ext cx="772176" cy="912829"/>
          </a:xfrm>
          <a:custGeom>
            <a:avLst/>
            <a:gdLst/>
            <a:ahLst/>
            <a:cxnLst/>
            <a:rect l="l" t="t" r="r" b="b"/>
            <a:pathLst>
              <a:path w="12869601" h="6638759" extrusionOk="0">
                <a:moveTo>
                  <a:pt x="0" y="0"/>
                </a:moveTo>
                <a:lnTo>
                  <a:pt x="12869601" y="0"/>
                </a:lnTo>
                <a:lnTo>
                  <a:pt x="12869601" y="6638759"/>
                </a:lnTo>
                <a:lnTo>
                  <a:pt x="0" y="6638759"/>
                </a:lnTo>
                <a:lnTo>
                  <a:pt x="0" y="0"/>
                </a:lnTo>
                <a:close/>
              </a:path>
            </a:pathLst>
          </a:custGeom>
          <a:blipFill rotWithShape="1">
            <a:blip r:embed="rId3">
              <a:alphaModFix/>
            </a:blip>
            <a:stretch>
              <a:fillRect l="-102802" t="-28588" r="-109932" b="-27147"/>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b="0" i="0" u="none" strike="noStrike" cap="non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25"/>
          <p:cNvSpPr txBox="1">
            <a:spLocks noGrp="1"/>
          </p:cNvSpPr>
          <p:nvPr>
            <p:ph type="title" idx="4294967295"/>
          </p:nvPr>
        </p:nvSpPr>
        <p:spPr>
          <a:xfrm>
            <a:off x="693900" y="327700"/>
            <a:ext cx="7756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EF4138"/>
              </a:buClr>
              <a:buSzPts val="1400"/>
              <a:buFont typeface="Montserrat"/>
              <a:buNone/>
            </a:pPr>
            <a:r>
              <a:rPr lang="en" sz="3300" b="1">
                <a:solidFill>
                  <a:srgbClr val="EF4138"/>
                </a:solidFill>
                <a:latin typeface="Montserrat"/>
                <a:ea typeface="Montserrat"/>
                <a:cs typeface="Montserrat"/>
                <a:sym typeface="Montserrat"/>
              </a:rPr>
              <a:t>Optical Tracking                             </a:t>
            </a:r>
            <a:endParaRPr sz="3300" b="1">
              <a:solidFill>
                <a:srgbClr val="EF4138"/>
              </a:solidFill>
              <a:latin typeface="Montserrat"/>
              <a:ea typeface="Montserrat"/>
              <a:cs typeface="Montserrat"/>
              <a:sym typeface="Montserrat"/>
            </a:endParaRPr>
          </a:p>
        </p:txBody>
      </p:sp>
      <p:sp>
        <p:nvSpPr>
          <p:cNvPr id="384" name="Google Shape;384;p25"/>
          <p:cNvSpPr txBox="1"/>
          <p:nvPr/>
        </p:nvSpPr>
        <p:spPr>
          <a:xfrm>
            <a:off x="1268400" y="1163138"/>
            <a:ext cx="6670500" cy="785100"/>
          </a:xfrm>
          <a:prstGeom prst="rect">
            <a:avLst/>
          </a:prstGeom>
          <a:noFill/>
          <a:ln>
            <a:noFill/>
          </a:ln>
        </p:spPr>
        <p:txBody>
          <a:bodyPr spcFirstLastPara="1" wrap="square" lIns="68575" tIns="68575" rIns="68575" bIns="68575" anchor="t" anchorCtr="0">
            <a:spAutoFit/>
          </a:bodyPr>
          <a:lstStyle/>
          <a:p>
            <a:pPr marL="0" marR="0" lvl="0" indent="0" algn="l" rtl="0">
              <a:spcBef>
                <a:spcPts val="0"/>
              </a:spcBef>
              <a:spcAft>
                <a:spcPts val="0"/>
              </a:spcAft>
              <a:buNone/>
            </a:pPr>
            <a:r>
              <a:rPr lang="en" sz="1400" b="1">
                <a:solidFill>
                  <a:srgbClr val="000099"/>
                </a:solidFill>
                <a:latin typeface="Montserrat"/>
                <a:ea typeface="Montserrat"/>
                <a:cs typeface="Montserrat"/>
                <a:sym typeface="Montserrat"/>
              </a:rPr>
              <a:t>Overall Scope</a:t>
            </a:r>
            <a:r>
              <a:rPr lang="en" b="1">
                <a:solidFill>
                  <a:schemeClr val="dk1"/>
                </a:solidFill>
                <a:latin typeface="Montserrat"/>
                <a:ea typeface="Montserrat"/>
                <a:cs typeface="Montserrat"/>
                <a:sym typeface="Montserrat"/>
              </a:rPr>
              <a:t>:  </a:t>
            </a:r>
            <a:r>
              <a:rPr lang="en" sz="1400">
                <a:solidFill>
                  <a:schemeClr val="dk1"/>
                </a:solidFill>
                <a:latin typeface="Montserrat"/>
                <a:ea typeface="Montserrat"/>
                <a:cs typeface="Montserrat"/>
                <a:sym typeface="Montserrat"/>
              </a:rPr>
              <a:t>The optical tracking scope aims to identify an innovative </a:t>
            </a:r>
            <a:r>
              <a:rPr lang="en">
                <a:solidFill>
                  <a:schemeClr val="dk1"/>
                </a:solidFill>
                <a:latin typeface="Montserrat"/>
                <a:ea typeface="Montserrat"/>
                <a:cs typeface="Montserrat"/>
                <a:sym typeface="Montserrat"/>
              </a:rPr>
              <a:t>solution for line-to-gain detection and other officiating use cases. Optical tracking will be able to inform </a:t>
            </a:r>
            <a:r>
              <a:rPr lang="en" sz="1400">
                <a:solidFill>
                  <a:schemeClr val="dk1"/>
                </a:solidFill>
                <a:latin typeface="Montserrat"/>
                <a:ea typeface="Montserrat"/>
                <a:cs typeface="Montserrat"/>
                <a:sym typeface="Montserrat"/>
              </a:rPr>
              <a:t>re</a:t>
            </a:r>
            <a:r>
              <a:rPr lang="en">
                <a:solidFill>
                  <a:schemeClr val="dk1"/>
                </a:solidFill>
                <a:latin typeface="Montserrat"/>
                <a:ea typeface="Montserrat"/>
                <a:cs typeface="Montserrat"/>
                <a:sym typeface="Montserrat"/>
              </a:rPr>
              <a:t>al-time </a:t>
            </a:r>
            <a:r>
              <a:rPr lang="en" sz="1400">
                <a:solidFill>
                  <a:schemeClr val="dk1"/>
                </a:solidFill>
                <a:latin typeface="Montserrat"/>
                <a:ea typeface="Montserrat"/>
                <a:cs typeface="Montserrat"/>
                <a:sym typeface="Montserrat"/>
              </a:rPr>
              <a:t>officiating</a:t>
            </a:r>
            <a:r>
              <a:rPr lang="en">
                <a:solidFill>
                  <a:schemeClr val="dk1"/>
                </a:solidFill>
                <a:latin typeface="Montserrat"/>
                <a:ea typeface="Montserrat"/>
                <a:cs typeface="Montserrat"/>
                <a:sym typeface="Montserrat"/>
              </a:rPr>
              <a:t>.</a:t>
            </a:r>
            <a:endParaRPr sz="1400">
              <a:solidFill>
                <a:schemeClr val="dk1"/>
              </a:solidFill>
              <a:highlight>
                <a:srgbClr val="FFFF00"/>
              </a:highlight>
              <a:latin typeface="Montserrat"/>
              <a:ea typeface="Montserrat"/>
              <a:cs typeface="Montserrat"/>
              <a:sym typeface="Montserrat"/>
            </a:endParaRPr>
          </a:p>
        </p:txBody>
      </p:sp>
      <p:sp>
        <p:nvSpPr>
          <p:cNvPr id="385" name="Google Shape;385;p25"/>
          <p:cNvSpPr/>
          <p:nvPr/>
        </p:nvSpPr>
        <p:spPr>
          <a:xfrm>
            <a:off x="8188099" y="4031069"/>
            <a:ext cx="772176" cy="912829"/>
          </a:xfrm>
          <a:custGeom>
            <a:avLst/>
            <a:gdLst/>
            <a:ahLst/>
            <a:cxnLst/>
            <a:rect l="l" t="t" r="r" b="b"/>
            <a:pathLst>
              <a:path w="12869601" h="6638759" extrusionOk="0">
                <a:moveTo>
                  <a:pt x="0" y="0"/>
                </a:moveTo>
                <a:lnTo>
                  <a:pt x="12869601" y="0"/>
                </a:lnTo>
                <a:lnTo>
                  <a:pt x="12869601" y="6638759"/>
                </a:lnTo>
                <a:lnTo>
                  <a:pt x="0" y="6638759"/>
                </a:lnTo>
                <a:lnTo>
                  <a:pt x="0" y="0"/>
                </a:lnTo>
                <a:close/>
              </a:path>
            </a:pathLst>
          </a:custGeom>
          <a:blipFill rotWithShape="1">
            <a:blip r:embed="rId3">
              <a:alphaModFix/>
            </a:blip>
            <a:stretch>
              <a:fillRect l="-102802" t="-28588" r="-109932" b="-27147"/>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b="0" i="0" u="none" strike="noStrike" cap="none">
              <a:solidFill>
                <a:srgbClr val="000000"/>
              </a:solidFill>
              <a:latin typeface="Calibri"/>
              <a:ea typeface="Calibri"/>
              <a:cs typeface="Calibri"/>
              <a:sym typeface="Calibri"/>
            </a:endParaRPr>
          </a:p>
        </p:txBody>
      </p:sp>
      <p:pic>
        <p:nvPicPr>
          <p:cNvPr id="386" name="Google Shape;386;p25"/>
          <p:cNvPicPr preferRelativeResize="0"/>
          <p:nvPr/>
        </p:nvPicPr>
        <p:blipFill>
          <a:blip r:embed="rId4">
            <a:alphaModFix/>
          </a:blip>
          <a:stretch>
            <a:fillRect/>
          </a:stretch>
        </p:blipFill>
        <p:spPr>
          <a:xfrm>
            <a:off x="865225" y="1185014"/>
            <a:ext cx="392750" cy="392750"/>
          </a:xfrm>
          <a:prstGeom prst="rect">
            <a:avLst/>
          </a:prstGeom>
          <a:noFill/>
          <a:ln>
            <a:noFill/>
          </a:ln>
        </p:spPr>
      </p:pic>
      <p:sp>
        <p:nvSpPr>
          <p:cNvPr id="387" name="Google Shape;387;p25"/>
          <p:cNvSpPr txBox="1"/>
          <p:nvPr/>
        </p:nvSpPr>
        <p:spPr>
          <a:xfrm>
            <a:off x="693900" y="2305900"/>
            <a:ext cx="7213200" cy="250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000099"/>
                </a:solidFill>
                <a:latin typeface="Montserrat"/>
                <a:ea typeface="Montserrat"/>
                <a:cs typeface="Montserrat"/>
                <a:sym typeface="Montserrat"/>
              </a:rPr>
              <a:t>Current State:</a:t>
            </a:r>
            <a:endParaRPr b="1">
              <a:solidFill>
                <a:srgbClr val="000099"/>
              </a:solidFill>
              <a:latin typeface="Montserrat"/>
              <a:ea typeface="Montserrat"/>
              <a:cs typeface="Montserrat"/>
              <a:sym typeface="Montserrat"/>
            </a:endParaRPr>
          </a:p>
          <a:p>
            <a:pPr marL="0" lvl="0" indent="0" algn="l" rtl="0">
              <a:spcBef>
                <a:spcPts val="0"/>
              </a:spcBef>
              <a:spcAft>
                <a:spcPts val="0"/>
              </a:spcAft>
              <a:buNone/>
            </a:pPr>
            <a:endParaRPr b="1">
              <a:solidFill>
                <a:srgbClr val="000099"/>
              </a:solidFill>
              <a:latin typeface="Montserrat"/>
              <a:ea typeface="Montserrat"/>
              <a:cs typeface="Montserrat"/>
              <a:sym typeface="Montserrat"/>
            </a:endParaRPr>
          </a:p>
          <a:p>
            <a:pPr marL="457200" lvl="0" indent="-317500" algn="l" rtl="0">
              <a:spcBef>
                <a:spcPts val="0"/>
              </a:spcBef>
              <a:spcAft>
                <a:spcPts val="0"/>
              </a:spcAft>
              <a:buClr>
                <a:srgbClr val="EF4138"/>
              </a:buClr>
              <a:buSzPts val="1400"/>
              <a:buFont typeface="Montserrat"/>
              <a:buChar char="➔"/>
            </a:pPr>
            <a:r>
              <a:rPr lang="en" b="1">
                <a:solidFill>
                  <a:schemeClr val="dk1"/>
                </a:solidFill>
                <a:latin typeface="Montserrat"/>
                <a:ea typeface="Montserrat"/>
                <a:cs typeface="Montserrat"/>
                <a:sym typeface="Montserrat"/>
              </a:rPr>
              <a:t>Conducting 3 POCs to determine the accuracy of each demo. Vendors:</a:t>
            </a:r>
            <a:r>
              <a:rPr lang="en">
                <a:solidFill>
                  <a:schemeClr val="dk1"/>
                </a:solidFill>
                <a:latin typeface="Montserrat"/>
                <a:ea typeface="Montserrat"/>
                <a:cs typeface="Montserrat"/>
                <a:sym typeface="Montserrat"/>
              </a:rPr>
              <a:t> HawkEye, ChyronHego, Genius/Second Spectrum.</a:t>
            </a: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rgbClr val="EF4138"/>
              </a:buClr>
              <a:buSzPts val="1400"/>
              <a:buFont typeface="Montserrat"/>
              <a:buChar char="➔"/>
            </a:pPr>
            <a:r>
              <a:rPr lang="en" b="1">
                <a:solidFill>
                  <a:schemeClr val="dk1"/>
                </a:solidFill>
                <a:latin typeface="Montserrat"/>
                <a:ea typeface="Montserrat"/>
                <a:cs typeface="Montserrat"/>
                <a:sym typeface="Montserrat"/>
              </a:rPr>
              <a:t>Stadium Evaluations</a:t>
            </a:r>
            <a:r>
              <a:rPr lang="en">
                <a:solidFill>
                  <a:schemeClr val="dk1"/>
                </a:solidFill>
                <a:latin typeface="Montserrat"/>
                <a:ea typeface="Montserrat"/>
                <a:cs typeface="Montserrat"/>
                <a:sym typeface="Montserrat"/>
              </a:rPr>
              <a:t>: Each vendor is undergoing evaluations and testing in stadiums upon approval</a:t>
            </a: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rgbClr val="EF4138"/>
              </a:buClr>
              <a:buSzPts val="1400"/>
              <a:buFont typeface="Montserrat"/>
              <a:buChar char="➔"/>
            </a:pPr>
            <a:r>
              <a:rPr lang="en" b="1">
                <a:solidFill>
                  <a:schemeClr val="dk1"/>
                </a:solidFill>
                <a:latin typeface="Montserrat"/>
                <a:ea typeface="Montserrat"/>
                <a:cs typeface="Montserrat"/>
                <a:sym typeface="Montserrat"/>
              </a:rPr>
              <a:t>Vendor Scorecard &amp; Partner Screening</a:t>
            </a:r>
            <a:r>
              <a:rPr lang="en">
                <a:solidFill>
                  <a:schemeClr val="dk1"/>
                </a:solidFill>
                <a:latin typeface="Montserrat"/>
                <a:ea typeface="Montserrat"/>
                <a:cs typeface="Montserrat"/>
                <a:sym typeface="Montserrat"/>
              </a:rPr>
              <a:t>: A vendor scorecard has been developed  to assess compatibility and are actively screening potential partners during the Proof of Concept (POC) phase.</a:t>
            </a:r>
            <a:endParaRPr sz="1100">
              <a:solidFill>
                <a:schemeClr val="dk1"/>
              </a:solidFill>
            </a:endParaRPr>
          </a:p>
          <a:p>
            <a:pPr marL="45720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endParaRPr>
              <a:solidFill>
                <a:schemeClr val="dk1"/>
              </a:solidFill>
              <a:latin typeface="Montserrat"/>
              <a:ea typeface="Montserrat"/>
              <a:cs typeface="Montserrat"/>
              <a:sym typeface="Montserrat"/>
            </a:endParaRPr>
          </a:p>
        </p:txBody>
      </p:sp>
      <p:grpSp>
        <p:nvGrpSpPr>
          <p:cNvPr id="388" name="Google Shape;388;p25"/>
          <p:cNvGrpSpPr/>
          <p:nvPr/>
        </p:nvGrpSpPr>
        <p:grpSpPr>
          <a:xfrm>
            <a:off x="7559482" y="469763"/>
            <a:ext cx="1138404" cy="288582"/>
            <a:chOff x="299295" y="2006438"/>
            <a:chExt cx="2659200" cy="674100"/>
          </a:xfrm>
        </p:grpSpPr>
        <p:sp>
          <p:nvSpPr>
            <p:cNvPr id="389" name="Google Shape;389;p25"/>
            <p:cNvSpPr/>
            <p:nvPr/>
          </p:nvSpPr>
          <p:spPr>
            <a:xfrm>
              <a:off x="299295" y="2006438"/>
              <a:ext cx="2659200" cy="674100"/>
            </a:xfrm>
            <a:prstGeom prst="roundRect">
              <a:avLst>
                <a:gd name="adj" fmla="val 50000"/>
              </a:avLst>
            </a:prstGeom>
            <a:solidFill>
              <a:schemeClr val="accent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sp>
          <p:nvSpPr>
            <p:cNvPr id="390" name="Google Shape;390;p25"/>
            <p:cNvSpPr/>
            <p:nvPr/>
          </p:nvSpPr>
          <p:spPr>
            <a:xfrm>
              <a:off x="702809" y="2100854"/>
              <a:ext cx="1852200" cy="4854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b="1" i="0" u="none" strike="noStrike" cap="none">
                  <a:solidFill>
                    <a:schemeClr val="lt2"/>
                  </a:solidFill>
                  <a:latin typeface="Century Gothic"/>
                  <a:ea typeface="Century Gothic"/>
                  <a:cs typeface="Century Gothic"/>
                  <a:sym typeface="Century Gothic"/>
                </a:rPr>
                <a:t>ROI</a:t>
              </a:r>
              <a:endParaRPr sz="900" b="1" i="0" u="none" strike="noStrike" cap="none">
                <a:solidFill>
                  <a:schemeClr val="lt2"/>
                </a:solidFill>
                <a:latin typeface="Century Gothic"/>
                <a:ea typeface="Century Gothic"/>
                <a:cs typeface="Century Gothic"/>
                <a:sym typeface="Century Gothic"/>
              </a:endParaRPr>
            </a:p>
          </p:txBody>
        </p:sp>
      </p:grpSp>
      <p:sp>
        <p:nvSpPr>
          <p:cNvPr id="391" name="Google Shape;391;p25"/>
          <p:cNvSpPr/>
          <p:nvPr/>
        </p:nvSpPr>
        <p:spPr>
          <a:xfrm>
            <a:off x="7699723" y="435626"/>
            <a:ext cx="1040930" cy="356830"/>
          </a:xfrm>
          <a:custGeom>
            <a:avLst/>
            <a:gdLst/>
            <a:ahLst/>
            <a:cxnLst/>
            <a:rect l="l" t="t" r="r" b="b"/>
            <a:pathLst>
              <a:path w="2434925" h="834690" extrusionOk="0">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w="12700" cap="flat" cmpd="sng">
            <a:solidFill>
              <a:schemeClr val="accent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26"/>
          <p:cNvSpPr txBox="1">
            <a:spLocks noGrp="1"/>
          </p:cNvSpPr>
          <p:nvPr>
            <p:ph type="title" idx="4294967295"/>
          </p:nvPr>
        </p:nvSpPr>
        <p:spPr>
          <a:xfrm>
            <a:off x="725550" y="365275"/>
            <a:ext cx="7756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EF4138"/>
              </a:buClr>
              <a:buSzPts val="1400"/>
              <a:buFont typeface="Montserrat"/>
              <a:buNone/>
            </a:pPr>
            <a:r>
              <a:rPr lang="en" sz="3300" b="1">
                <a:solidFill>
                  <a:srgbClr val="EF4138"/>
                </a:solidFill>
              </a:rPr>
              <a:t>Optical Tracking, Cont. </a:t>
            </a:r>
            <a:endParaRPr sz="3300" b="1">
              <a:solidFill>
                <a:srgbClr val="EF4138"/>
              </a:solidFill>
              <a:latin typeface="Montserrat"/>
              <a:ea typeface="Montserrat"/>
              <a:cs typeface="Montserrat"/>
              <a:sym typeface="Montserrat"/>
            </a:endParaRPr>
          </a:p>
        </p:txBody>
      </p:sp>
      <p:sp>
        <p:nvSpPr>
          <p:cNvPr id="397" name="Google Shape;397;p26"/>
          <p:cNvSpPr txBox="1"/>
          <p:nvPr/>
        </p:nvSpPr>
        <p:spPr>
          <a:xfrm>
            <a:off x="725550" y="1439963"/>
            <a:ext cx="6670500" cy="1431600"/>
          </a:xfrm>
          <a:prstGeom prst="rect">
            <a:avLst/>
          </a:prstGeom>
          <a:noFill/>
          <a:ln>
            <a:noFill/>
          </a:ln>
        </p:spPr>
        <p:txBody>
          <a:bodyPr spcFirstLastPara="1" wrap="square" lIns="68575" tIns="68575" rIns="68575" bIns="68575" anchor="t" anchorCtr="0">
            <a:spAutoFit/>
          </a:bodyPr>
          <a:lstStyle/>
          <a:p>
            <a:pPr marL="0" marR="0" lvl="0" indent="0" algn="l" rtl="0">
              <a:spcBef>
                <a:spcPts val="0"/>
              </a:spcBef>
              <a:spcAft>
                <a:spcPts val="0"/>
              </a:spcAft>
              <a:buNone/>
            </a:pPr>
            <a:r>
              <a:rPr lang="en" b="1">
                <a:solidFill>
                  <a:srgbClr val="000099"/>
                </a:solidFill>
                <a:latin typeface="Montserrat"/>
                <a:ea typeface="Montserrat"/>
                <a:cs typeface="Montserrat"/>
                <a:sym typeface="Montserrat"/>
              </a:rPr>
              <a:t>Use Case</a:t>
            </a:r>
            <a:endParaRPr b="1">
              <a:solidFill>
                <a:srgbClr val="000099"/>
              </a:solidFill>
              <a:latin typeface="Montserrat"/>
              <a:ea typeface="Montserrat"/>
              <a:cs typeface="Montserrat"/>
              <a:sym typeface="Montserrat"/>
            </a:endParaRPr>
          </a:p>
          <a:p>
            <a:pPr marL="457200" marR="0" lvl="0" indent="-317500" algn="l" rtl="0">
              <a:lnSpc>
                <a:spcPct val="100000"/>
              </a:lnSpc>
              <a:spcBef>
                <a:spcPts val="0"/>
              </a:spcBef>
              <a:spcAft>
                <a:spcPts val="0"/>
              </a:spcAft>
              <a:buClr>
                <a:srgbClr val="EF4138"/>
              </a:buClr>
              <a:buSzPts val="1400"/>
              <a:buFont typeface="Montserrat"/>
              <a:buChar char="➔"/>
            </a:pPr>
            <a:r>
              <a:rPr lang="en" b="1">
                <a:solidFill>
                  <a:schemeClr val="dk1"/>
                </a:solidFill>
                <a:latin typeface="Montserrat"/>
                <a:ea typeface="Montserrat"/>
                <a:cs typeface="Montserrat"/>
                <a:sym typeface="Montserrat"/>
              </a:rPr>
              <a:t>Line-to-Gain</a:t>
            </a:r>
            <a:r>
              <a:rPr lang="en">
                <a:solidFill>
                  <a:schemeClr val="dk1"/>
                </a:solidFill>
                <a:latin typeface="Montserrat"/>
                <a:ea typeface="Montserrat"/>
                <a:cs typeface="Montserrat"/>
                <a:sym typeface="Montserrat"/>
              </a:rPr>
              <a:t>: Utilize optical tracking technology to improve the accuracy of line-to-gain detection.</a:t>
            </a:r>
            <a:endParaRPr>
              <a:solidFill>
                <a:schemeClr val="dk1"/>
              </a:solidFill>
              <a:latin typeface="Montserrat"/>
              <a:ea typeface="Montserrat"/>
              <a:cs typeface="Montserrat"/>
              <a:sym typeface="Montserrat"/>
            </a:endParaRPr>
          </a:p>
          <a:p>
            <a:pPr marL="457200" marR="0" lvl="0" indent="-317500" algn="l" rtl="0">
              <a:lnSpc>
                <a:spcPct val="100000"/>
              </a:lnSpc>
              <a:spcBef>
                <a:spcPts val="0"/>
              </a:spcBef>
              <a:spcAft>
                <a:spcPts val="0"/>
              </a:spcAft>
              <a:buClr>
                <a:srgbClr val="EF4138"/>
              </a:buClr>
              <a:buSzPts val="1400"/>
              <a:buFont typeface="Montserrat"/>
              <a:buChar char="➔"/>
            </a:pPr>
            <a:r>
              <a:rPr lang="en" b="1">
                <a:solidFill>
                  <a:schemeClr val="dk1"/>
                </a:solidFill>
                <a:latin typeface="Montserrat"/>
                <a:ea typeface="Montserrat"/>
                <a:cs typeface="Montserrat"/>
                <a:sym typeface="Montserrat"/>
              </a:rPr>
              <a:t>Game Presentation:</a:t>
            </a:r>
            <a:r>
              <a:rPr lang="en">
                <a:solidFill>
                  <a:schemeClr val="dk1"/>
                </a:solidFill>
                <a:latin typeface="Montserrat"/>
                <a:ea typeface="Montserrat"/>
                <a:cs typeface="Montserrat"/>
                <a:sym typeface="Montserrat"/>
              </a:rPr>
              <a:t> Optimized data utilization for all games (Including in-stadium and broadcast executions).</a:t>
            </a:r>
            <a:endParaRPr>
              <a:solidFill>
                <a:schemeClr val="dk1"/>
              </a:solidFill>
              <a:latin typeface="Montserrat"/>
              <a:ea typeface="Montserrat"/>
              <a:cs typeface="Montserrat"/>
              <a:sym typeface="Montserrat"/>
            </a:endParaRPr>
          </a:p>
          <a:p>
            <a:pPr marL="914400" marR="0" lvl="0" indent="0" algn="l" rtl="0">
              <a:lnSpc>
                <a:spcPct val="100000"/>
              </a:lnSpc>
              <a:spcBef>
                <a:spcPts val="0"/>
              </a:spcBef>
              <a:spcAft>
                <a:spcPts val="0"/>
              </a:spcAft>
              <a:buNone/>
            </a:pPr>
            <a:endParaRPr>
              <a:solidFill>
                <a:schemeClr val="dk1"/>
              </a:solidFill>
              <a:latin typeface="Montserrat"/>
              <a:ea typeface="Montserrat"/>
              <a:cs typeface="Montserrat"/>
              <a:sym typeface="Montserrat"/>
            </a:endParaRPr>
          </a:p>
        </p:txBody>
      </p:sp>
      <p:sp>
        <p:nvSpPr>
          <p:cNvPr id="398" name="Google Shape;398;p26"/>
          <p:cNvSpPr/>
          <p:nvPr/>
        </p:nvSpPr>
        <p:spPr>
          <a:xfrm>
            <a:off x="8188099" y="4031069"/>
            <a:ext cx="772176" cy="912829"/>
          </a:xfrm>
          <a:custGeom>
            <a:avLst/>
            <a:gdLst/>
            <a:ahLst/>
            <a:cxnLst/>
            <a:rect l="l" t="t" r="r" b="b"/>
            <a:pathLst>
              <a:path w="12869601" h="6638759" extrusionOk="0">
                <a:moveTo>
                  <a:pt x="0" y="0"/>
                </a:moveTo>
                <a:lnTo>
                  <a:pt x="12869601" y="0"/>
                </a:lnTo>
                <a:lnTo>
                  <a:pt x="12869601" y="6638759"/>
                </a:lnTo>
                <a:lnTo>
                  <a:pt x="0" y="6638759"/>
                </a:lnTo>
                <a:lnTo>
                  <a:pt x="0" y="0"/>
                </a:lnTo>
                <a:close/>
              </a:path>
            </a:pathLst>
          </a:custGeom>
          <a:blipFill rotWithShape="1">
            <a:blip r:embed="rId3">
              <a:alphaModFix/>
            </a:blip>
            <a:stretch>
              <a:fillRect l="-102802" t="-28588" r="-109932" b="-27147"/>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b="0" i="0" u="none" strike="noStrike" cap="none">
              <a:solidFill>
                <a:srgbClr val="000000"/>
              </a:solidFill>
              <a:latin typeface="Calibri"/>
              <a:ea typeface="Calibri"/>
              <a:cs typeface="Calibri"/>
              <a:sym typeface="Calibri"/>
            </a:endParaRPr>
          </a:p>
        </p:txBody>
      </p:sp>
      <p:sp>
        <p:nvSpPr>
          <p:cNvPr id="399" name="Google Shape;399;p26"/>
          <p:cNvSpPr txBox="1"/>
          <p:nvPr/>
        </p:nvSpPr>
        <p:spPr>
          <a:xfrm>
            <a:off x="725550" y="2730750"/>
            <a:ext cx="7213200" cy="2121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dirty="0">
                <a:solidFill>
                  <a:srgbClr val="000099"/>
                </a:solidFill>
                <a:latin typeface="Montserrat"/>
                <a:ea typeface="Montserrat"/>
                <a:cs typeface="Montserrat"/>
                <a:sym typeface="Montserrat"/>
              </a:rPr>
              <a:t>Next Steps </a:t>
            </a:r>
            <a:endParaRPr b="1" dirty="0">
              <a:solidFill>
                <a:srgbClr val="000099"/>
              </a:solidFill>
              <a:latin typeface="Montserrat"/>
              <a:ea typeface="Montserrat"/>
              <a:cs typeface="Montserrat"/>
              <a:sym typeface="Montserrat"/>
            </a:endParaRPr>
          </a:p>
          <a:p>
            <a:pPr marL="0" marR="0" lvl="0" indent="0" algn="l" rtl="0">
              <a:lnSpc>
                <a:spcPct val="100000"/>
              </a:lnSpc>
              <a:spcBef>
                <a:spcPts val="0"/>
              </a:spcBef>
              <a:spcAft>
                <a:spcPts val="0"/>
              </a:spcAft>
              <a:buNone/>
            </a:pPr>
            <a:endParaRPr dirty="0">
              <a:solidFill>
                <a:schemeClr val="dk1"/>
              </a:solidFill>
              <a:latin typeface="Montserrat"/>
              <a:ea typeface="Montserrat"/>
              <a:cs typeface="Montserrat"/>
              <a:sym typeface="Montserrat"/>
            </a:endParaRPr>
          </a:p>
          <a:p>
            <a:pPr marL="457200" marR="0" lvl="0" indent="-317500" algn="l" rtl="0">
              <a:lnSpc>
                <a:spcPct val="100000"/>
              </a:lnSpc>
              <a:spcBef>
                <a:spcPts val="0"/>
              </a:spcBef>
              <a:spcAft>
                <a:spcPts val="0"/>
              </a:spcAft>
              <a:buClr>
                <a:srgbClr val="EF4138"/>
              </a:buClr>
              <a:buSzPts val="1400"/>
              <a:buChar char="➔"/>
            </a:pPr>
            <a:r>
              <a:rPr lang="en" dirty="0">
                <a:solidFill>
                  <a:schemeClr val="dk1"/>
                </a:solidFill>
                <a:latin typeface="Montserrat"/>
                <a:ea typeface="Montserrat"/>
                <a:cs typeface="Montserrat"/>
                <a:sym typeface="Montserrat"/>
              </a:rPr>
              <a:t>Data accuracy comparison among vendors, aiming for consistently achieving ½ inch accuracy or better ( ½ or less).</a:t>
            </a:r>
            <a:endParaRPr dirty="0">
              <a:solidFill>
                <a:schemeClr val="dk1"/>
              </a:solidFill>
              <a:latin typeface="Montserrat"/>
              <a:ea typeface="Montserrat"/>
              <a:cs typeface="Montserrat"/>
              <a:sym typeface="Montserrat"/>
            </a:endParaRPr>
          </a:p>
          <a:p>
            <a:pPr marL="457200" marR="0" lvl="0" indent="-317500" algn="l" rtl="0">
              <a:lnSpc>
                <a:spcPct val="100000"/>
              </a:lnSpc>
              <a:spcBef>
                <a:spcPts val="0"/>
              </a:spcBef>
              <a:spcAft>
                <a:spcPts val="0"/>
              </a:spcAft>
              <a:buClr>
                <a:srgbClr val="EF4138"/>
              </a:buClr>
              <a:buSzPts val="1400"/>
              <a:buChar char="➔"/>
            </a:pPr>
            <a:r>
              <a:rPr lang="en" dirty="0">
                <a:solidFill>
                  <a:schemeClr val="dk1"/>
                </a:solidFill>
                <a:latin typeface="Montserrat"/>
                <a:ea typeface="Montserrat"/>
                <a:cs typeface="Montserrat"/>
                <a:sym typeface="Montserrat"/>
              </a:rPr>
              <a:t>Identify the vendor that best aligns with the goals identified through </a:t>
            </a:r>
            <a:r>
              <a:rPr lang="en" b="1" dirty="0">
                <a:solidFill>
                  <a:schemeClr val="dk1"/>
                </a:solidFill>
                <a:latin typeface="Montserrat"/>
                <a:ea typeface="Montserrat"/>
                <a:cs typeface="Montserrat"/>
                <a:sym typeface="Montserrat"/>
              </a:rPr>
              <a:t>RFI Vendor Evaluation Scorecard</a:t>
            </a:r>
            <a:r>
              <a:rPr lang="en" dirty="0">
                <a:solidFill>
                  <a:schemeClr val="dk1"/>
                </a:solidFill>
                <a:latin typeface="Montserrat"/>
                <a:ea typeface="Montserrat"/>
                <a:cs typeface="Montserrat"/>
                <a:sym typeface="Montserrat"/>
              </a:rPr>
              <a:t>.</a:t>
            </a:r>
            <a:endParaRPr sz="1200" dirty="0">
              <a:solidFill>
                <a:srgbClr val="374151"/>
              </a:solidFill>
              <a:latin typeface="Roboto"/>
              <a:ea typeface="Roboto"/>
              <a:cs typeface="Roboto"/>
              <a:sym typeface="Roboto"/>
            </a:endParaRPr>
          </a:p>
          <a:p>
            <a:pPr marL="457200" lvl="0" indent="0" algn="l" rtl="0">
              <a:lnSpc>
                <a:spcPct val="115000"/>
              </a:lnSpc>
              <a:spcBef>
                <a:spcPts val="0"/>
              </a:spcBef>
              <a:spcAft>
                <a:spcPts val="0"/>
              </a:spcAft>
              <a:buNone/>
            </a:pPr>
            <a:endParaRPr sz="1200" dirty="0">
              <a:solidFill>
                <a:srgbClr val="374151"/>
              </a:solidFill>
              <a:latin typeface="Roboto"/>
              <a:ea typeface="Roboto"/>
              <a:cs typeface="Roboto"/>
              <a:sym typeface="Roboto"/>
            </a:endParaRPr>
          </a:p>
          <a:p>
            <a:pPr marL="457200" lvl="0" indent="0" algn="l" rtl="0">
              <a:spcBef>
                <a:spcPts val="0"/>
              </a:spcBef>
              <a:spcAft>
                <a:spcPts val="0"/>
              </a:spcAft>
              <a:buNone/>
            </a:pPr>
            <a:endParaRPr b="1" dirty="0">
              <a:solidFill>
                <a:schemeClr val="dk1"/>
              </a:solidFill>
              <a:latin typeface="Montserrat"/>
              <a:ea typeface="Montserrat"/>
              <a:cs typeface="Montserrat"/>
              <a:sym typeface="Montserrat"/>
            </a:endParaRPr>
          </a:p>
          <a:p>
            <a:pPr marL="0" lvl="0" indent="0" algn="l" rtl="0">
              <a:spcBef>
                <a:spcPts val="0"/>
              </a:spcBef>
              <a:spcAft>
                <a:spcPts val="0"/>
              </a:spcAft>
              <a:buNone/>
            </a:pPr>
            <a:endParaRPr dirty="0">
              <a:solidFill>
                <a:schemeClr val="dk1"/>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graphicFrame>
        <p:nvGraphicFramePr>
          <p:cNvPr id="404" name="Google Shape;404;p27"/>
          <p:cNvGraphicFramePr/>
          <p:nvPr>
            <p:extLst>
              <p:ext uri="{D42A27DB-BD31-4B8C-83A1-F6EECF244321}">
                <p14:modId xmlns:p14="http://schemas.microsoft.com/office/powerpoint/2010/main" val="3760019408"/>
              </p:ext>
            </p:extLst>
          </p:nvPr>
        </p:nvGraphicFramePr>
        <p:xfrm>
          <a:off x="510775" y="1550400"/>
          <a:ext cx="8185750" cy="3240539"/>
        </p:xfrm>
        <a:graphic>
          <a:graphicData uri="http://schemas.openxmlformats.org/drawingml/2006/table">
            <a:tbl>
              <a:tblPr>
                <a:noFill/>
                <a:tableStyleId>{E71CDCBF-DB96-496A-9D63-6544212617A7}</a:tableStyleId>
              </a:tblPr>
              <a:tblGrid>
                <a:gridCol w="1306950">
                  <a:extLst>
                    <a:ext uri="{9D8B030D-6E8A-4147-A177-3AD203B41FA5}">
                      <a16:colId xmlns:a16="http://schemas.microsoft.com/office/drawing/2014/main" val="20000"/>
                    </a:ext>
                  </a:extLst>
                </a:gridCol>
                <a:gridCol w="2385400">
                  <a:extLst>
                    <a:ext uri="{9D8B030D-6E8A-4147-A177-3AD203B41FA5}">
                      <a16:colId xmlns:a16="http://schemas.microsoft.com/office/drawing/2014/main" val="20001"/>
                    </a:ext>
                  </a:extLst>
                </a:gridCol>
                <a:gridCol w="2288550">
                  <a:extLst>
                    <a:ext uri="{9D8B030D-6E8A-4147-A177-3AD203B41FA5}">
                      <a16:colId xmlns:a16="http://schemas.microsoft.com/office/drawing/2014/main" val="20002"/>
                    </a:ext>
                  </a:extLst>
                </a:gridCol>
                <a:gridCol w="2204850">
                  <a:extLst>
                    <a:ext uri="{9D8B030D-6E8A-4147-A177-3AD203B41FA5}">
                      <a16:colId xmlns:a16="http://schemas.microsoft.com/office/drawing/2014/main" val="20003"/>
                    </a:ext>
                  </a:extLst>
                </a:gridCol>
              </a:tblGrid>
              <a:tr h="665313">
                <a:tc>
                  <a:txBody>
                    <a:bodyPr/>
                    <a:lstStyle/>
                    <a:p>
                      <a:pPr marL="0" lvl="0" indent="0" algn="ctr" rtl="0">
                        <a:spcBef>
                          <a:spcPts val="0"/>
                        </a:spcBef>
                        <a:spcAft>
                          <a:spcPts val="0"/>
                        </a:spcAft>
                        <a:buNone/>
                      </a:pPr>
                      <a:endParaRPr sz="1200" b="1">
                        <a:solidFill>
                          <a:srgbClr val="000099"/>
                        </a:solidFill>
                        <a:latin typeface="Montserrat"/>
                        <a:ea typeface="Montserrat"/>
                        <a:cs typeface="Montserrat"/>
                        <a:sym typeface="Montserrat"/>
                      </a:endParaRPr>
                    </a:p>
                  </a:txBody>
                  <a:tcPr marL="91425" marR="91425" marT="91425" marB="91425" anchor="ctr">
                    <a:lnL w="9525" cap="flat" cmpd="sng">
                      <a:solidFill>
                        <a:srgbClr val="D8D8D8"/>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200" b="1">
                          <a:solidFill>
                            <a:srgbClr val="000099"/>
                          </a:solidFill>
                          <a:latin typeface="Montserrat"/>
                          <a:ea typeface="Montserrat"/>
                          <a:cs typeface="Montserrat"/>
                          <a:sym typeface="Montserrat"/>
                        </a:rPr>
                        <a:t>HawkEye</a:t>
                      </a:r>
                      <a:endParaRPr sz="1200">
                        <a:solidFill>
                          <a:schemeClr val="dk1"/>
                        </a:solidFill>
                        <a:highlight>
                          <a:srgbClr val="FFFF00"/>
                        </a:highlight>
                        <a:latin typeface="Montserrat"/>
                        <a:ea typeface="Montserrat"/>
                        <a:cs typeface="Montserrat"/>
                        <a:sym typeface="Montserrat"/>
                      </a:endParaRPr>
                    </a:p>
                    <a:p>
                      <a:pPr marL="0" lvl="0" indent="0" algn="ctr" rtl="0">
                        <a:spcBef>
                          <a:spcPts val="0"/>
                        </a:spcBef>
                        <a:spcAft>
                          <a:spcPts val="0"/>
                        </a:spcAft>
                        <a:buNone/>
                      </a:pPr>
                      <a:r>
                        <a:rPr lang="en" sz="1200" i="1">
                          <a:latin typeface="Montserrat"/>
                          <a:ea typeface="Montserrat"/>
                          <a:cs typeface="Montserrat"/>
                          <a:sym typeface="Montserrat"/>
                        </a:rPr>
                        <a:t>Current Vendor</a:t>
                      </a:r>
                      <a:endParaRPr sz="1200" i="1">
                        <a:latin typeface="Montserrat"/>
                        <a:ea typeface="Montserrat"/>
                        <a:cs typeface="Montserrat"/>
                        <a:sym typeface="Montserrat"/>
                      </a:endParaRPr>
                    </a:p>
                  </a:txBody>
                  <a:tcPr marL="91425" marR="91425" marT="91425" marB="91425" anchor="ctr">
                    <a:lnL w="9525" cap="flat" cmpd="sng">
                      <a:solidFill>
                        <a:srgbClr val="D8D8D8"/>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200" b="1">
                          <a:solidFill>
                            <a:srgbClr val="000099"/>
                          </a:solidFill>
                          <a:latin typeface="Montserrat"/>
                          <a:ea typeface="Montserrat"/>
                          <a:cs typeface="Montserrat"/>
                          <a:sym typeface="Montserrat"/>
                        </a:rPr>
                        <a:t>Genius/Second Spectrum</a:t>
                      </a:r>
                      <a:endParaRPr sz="1200" b="1">
                        <a:solidFill>
                          <a:srgbClr val="000099"/>
                        </a:solidFill>
                        <a:latin typeface="Montserrat"/>
                        <a:ea typeface="Montserrat"/>
                        <a:cs typeface="Montserrat"/>
                        <a:sym typeface="Montserrat"/>
                      </a:endParaRPr>
                    </a:p>
                    <a:p>
                      <a:pPr marL="0" lvl="0" indent="0" algn="ctr" rtl="0">
                        <a:spcBef>
                          <a:spcPts val="0"/>
                        </a:spcBef>
                        <a:spcAft>
                          <a:spcPts val="0"/>
                        </a:spcAft>
                        <a:buClr>
                          <a:schemeClr val="dk1"/>
                        </a:buClr>
                        <a:buSzPts val="1100"/>
                        <a:buFont typeface="Arial"/>
                        <a:buNone/>
                      </a:pPr>
                      <a:r>
                        <a:rPr lang="en" sz="1200" i="1">
                          <a:solidFill>
                            <a:schemeClr val="dk1"/>
                          </a:solidFill>
                          <a:latin typeface="Montserrat"/>
                          <a:ea typeface="Montserrat"/>
                          <a:cs typeface="Montserrat"/>
                          <a:sym typeface="Montserrat"/>
                        </a:rPr>
                        <a:t>Current Vendor</a:t>
                      </a:r>
                      <a:endParaRPr sz="1200" i="1">
                        <a:solidFill>
                          <a:srgbClr val="000099"/>
                        </a:solidFill>
                        <a:latin typeface="Montserrat"/>
                        <a:ea typeface="Montserrat"/>
                        <a:cs typeface="Montserrat"/>
                        <a:sym typeface="Montserrat"/>
                      </a:endParaRPr>
                    </a:p>
                  </a:txBody>
                  <a:tcPr marL="91425" marR="91425" marT="91425" marB="91425" anchor="ctr">
                    <a:lnL w="9525" cap="flat" cmpd="sng">
                      <a:solidFill>
                        <a:srgbClr val="D8D8D8"/>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200" b="1">
                          <a:solidFill>
                            <a:srgbClr val="000099"/>
                          </a:solidFill>
                          <a:latin typeface="Montserrat"/>
                          <a:ea typeface="Montserrat"/>
                          <a:cs typeface="Montserrat"/>
                          <a:sym typeface="Montserrat"/>
                        </a:rPr>
                        <a:t>ChyronHego</a:t>
                      </a:r>
                      <a:endParaRPr sz="1200" b="1">
                        <a:solidFill>
                          <a:srgbClr val="000099"/>
                        </a:solidFill>
                        <a:latin typeface="Montserrat"/>
                        <a:ea typeface="Montserrat"/>
                        <a:cs typeface="Montserrat"/>
                        <a:sym typeface="Montserrat"/>
                      </a:endParaRPr>
                    </a:p>
                    <a:p>
                      <a:pPr marL="0" lvl="0" indent="0" algn="ctr" rtl="0">
                        <a:spcBef>
                          <a:spcPts val="0"/>
                        </a:spcBef>
                        <a:spcAft>
                          <a:spcPts val="0"/>
                        </a:spcAft>
                        <a:buClr>
                          <a:schemeClr val="dk1"/>
                        </a:buClr>
                        <a:buSzPts val="1100"/>
                        <a:buFont typeface="Arial"/>
                        <a:buNone/>
                      </a:pPr>
                      <a:r>
                        <a:rPr lang="en" sz="1200" i="1">
                          <a:solidFill>
                            <a:schemeClr val="dk1"/>
                          </a:solidFill>
                          <a:latin typeface="Montserrat"/>
                          <a:ea typeface="Montserrat"/>
                          <a:cs typeface="Montserrat"/>
                          <a:sym typeface="Montserrat"/>
                        </a:rPr>
                        <a:t>New Vendor</a:t>
                      </a:r>
                      <a:endParaRPr sz="1200" i="1">
                        <a:solidFill>
                          <a:srgbClr val="000099"/>
                        </a:solidFill>
                        <a:latin typeface="Montserrat"/>
                        <a:ea typeface="Montserrat"/>
                        <a:cs typeface="Montserrat"/>
                        <a:sym typeface="Montserrat"/>
                      </a:endParaRPr>
                    </a:p>
                  </a:txBody>
                  <a:tcPr marL="91425" marR="91425" marT="91425" marB="91425" anchor="ctr">
                    <a:lnL w="9525" cap="flat" cmpd="sng">
                      <a:solidFill>
                        <a:srgbClr val="D8D8D8"/>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extLst>
                  <a:ext uri="{0D108BD9-81ED-4DB2-BD59-A6C34878D82A}">
                    <a16:rowId xmlns:a16="http://schemas.microsoft.com/office/drawing/2014/main" val="10000"/>
                  </a:ext>
                </a:extLst>
              </a:tr>
              <a:tr h="850721">
                <a:tc>
                  <a:txBody>
                    <a:bodyPr/>
                    <a:lstStyle/>
                    <a:p>
                      <a:pPr marL="0" lvl="0" indent="0" algn="l" rtl="0">
                        <a:spcBef>
                          <a:spcPts val="0"/>
                        </a:spcBef>
                        <a:spcAft>
                          <a:spcPts val="0"/>
                        </a:spcAft>
                        <a:buNone/>
                      </a:pPr>
                      <a:r>
                        <a:rPr lang="en" sz="1300" b="1">
                          <a:solidFill>
                            <a:srgbClr val="000099"/>
                          </a:solidFill>
                          <a:latin typeface="Montserrat"/>
                          <a:ea typeface="Montserrat"/>
                          <a:cs typeface="Montserrat"/>
                          <a:sym typeface="Montserrat"/>
                        </a:rPr>
                        <a:t>Overview</a:t>
                      </a:r>
                      <a:r>
                        <a:rPr lang="en" sz="1300">
                          <a:latin typeface="Montserrat"/>
                          <a:ea typeface="Montserrat"/>
                          <a:cs typeface="Montserrat"/>
                          <a:sym typeface="Montserrat"/>
                        </a:rPr>
                        <a:t> </a:t>
                      </a:r>
                      <a:endParaRPr sz="1300">
                        <a:latin typeface="Montserrat"/>
                        <a:ea typeface="Montserrat"/>
                        <a:cs typeface="Montserrat"/>
                        <a:sym typeface="Montserrat"/>
                      </a:endParaRPr>
                    </a:p>
                  </a:txBody>
                  <a:tcPr marL="91425" marR="91425" marT="91425" marB="91425">
                    <a:lnL w="9525" cap="flat" cmpd="sng">
                      <a:solidFill>
                        <a:srgbClr val="D8D8D8"/>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a:txBody>
                    <a:bodyPr/>
                    <a:lstStyle/>
                    <a:p>
                      <a:pPr marL="0" lvl="0" indent="0" algn="l" rtl="0">
                        <a:spcBef>
                          <a:spcPts val="0"/>
                        </a:spcBef>
                        <a:spcAft>
                          <a:spcPts val="0"/>
                        </a:spcAft>
                        <a:buNone/>
                      </a:pPr>
                      <a:r>
                        <a:rPr lang="en" sz="1100" dirty="0">
                          <a:latin typeface="Montserrat"/>
                          <a:ea typeface="Montserrat"/>
                          <a:cs typeface="Montserrat"/>
                          <a:sym typeface="Montserrat"/>
                        </a:rPr>
                        <a:t>Technology is currently deployed in 3 stadiums (LV, MIA, NY)</a:t>
                      </a:r>
                      <a:endParaRPr sz="1100" dirty="0">
                        <a:latin typeface="Montserrat"/>
                        <a:ea typeface="Montserrat"/>
                        <a:cs typeface="Montserrat"/>
                        <a:sym typeface="Montserrat"/>
                      </a:endParaRPr>
                    </a:p>
                  </a:txBody>
                  <a:tcPr marL="91425" marR="91425" marT="91425" marB="91425">
                    <a:lnL w="9525" cap="flat" cmpd="sng">
                      <a:solidFill>
                        <a:srgbClr val="D8D8D8"/>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Montserrat"/>
                          <a:ea typeface="Montserrat"/>
                          <a:cs typeface="Montserrat"/>
                          <a:sym typeface="Montserrat"/>
                        </a:rPr>
                        <a:t>SoFi Stadium (LA)</a:t>
                      </a:r>
                      <a:endParaRPr sz="1100">
                        <a:latin typeface="Montserrat"/>
                        <a:ea typeface="Montserrat"/>
                        <a:cs typeface="Montserrat"/>
                        <a:sym typeface="Montserrat"/>
                      </a:endParaRPr>
                    </a:p>
                  </a:txBody>
                  <a:tcPr marL="91425" marR="91425" marT="91425" marB="91425">
                    <a:lnL w="9525" cap="flat" cmpd="sng">
                      <a:solidFill>
                        <a:srgbClr val="D8D8D8"/>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Montserrat"/>
                          <a:ea typeface="Montserrat"/>
                          <a:cs typeface="Montserrat"/>
                          <a:sym typeface="Montserrat"/>
                        </a:rPr>
                        <a:t>Technology has been deployed at 5 stadiums for MLS soccer (ATL, CAR, CHI, NE, SEA)</a:t>
                      </a:r>
                      <a:endParaRPr sz="1100">
                        <a:latin typeface="Montserrat"/>
                        <a:ea typeface="Montserrat"/>
                        <a:cs typeface="Montserrat"/>
                        <a:sym typeface="Montserrat"/>
                      </a:endParaRPr>
                    </a:p>
                  </a:txBody>
                  <a:tcPr marL="91425" marR="91425" marT="91425" marB="91425">
                    <a:lnL w="9525" cap="flat" cmpd="sng">
                      <a:solidFill>
                        <a:srgbClr val="D8D8D8"/>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extLst>
                  <a:ext uri="{0D108BD9-81ED-4DB2-BD59-A6C34878D82A}">
                    <a16:rowId xmlns:a16="http://schemas.microsoft.com/office/drawing/2014/main" val="10001"/>
                  </a:ext>
                </a:extLst>
              </a:tr>
              <a:tr h="700766">
                <a:tc>
                  <a:txBody>
                    <a:bodyPr/>
                    <a:lstStyle/>
                    <a:p>
                      <a:pPr marL="0" lvl="0" indent="0" algn="l" rtl="0">
                        <a:spcBef>
                          <a:spcPts val="0"/>
                        </a:spcBef>
                        <a:spcAft>
                          <a:spcPts val="0"/>
                        </a:spcAft>
                        <a:buNone/>
                      </a:pPr>
                      <a:r>
                        <a:rPr lang="en" sz="1300" b="1">
                          <a:solidFill>
                            <a:srgbClr val="000099"/>
                          </a:solidFill>
                          <a:latin typeface="Montserrat"/>
                          <a:ea typeface="Montserrat"/>
                          <a:cs typeface="Montserrat"/>
                          <a:sym typeface="Montserrat"/>
                        </a:rPr>
                        <a:t>Update</a:t>
                      </a:r>
                      <a:endParaRPr sz="1300">
                        <a:latin typeface="Montserrat"/>
                        <a:ea typeface="Montserrat"/>
                        <a:cs typeface="Montserrat"/>
                        <a:sym typeface="Montserrat"/>
                      </a:endParaRPr>
                    </a:p>
                  </a:txBody>
                  <a:tcPr marL="91425" marR="91425" marT="91425" marB="91425">
                    <a:lnL w="9525" cap="flat" cmpd="sng">
                      <a:solidFill>
                        <a:srgbClr val="D8D8D8"/>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Montserrat"/>
                          <a:ea typeface="Montserrat"/>
                          <a:cs typeface="Montserrat"/>
                          <a:sym typeface="Montserrat"/>
                        </a:rPr>
                        <a:t>Data from testing has been analyzed </a:t>
                      </a:r>
                      <a:endParaRPr sz="1100">
                        <a:latin typeface="Montserrat"/>
                        <a:ea typeface="Montserrat"/>
                        <a:cs typeface="Montserrat"/>
                        <a:sym typeface="Montserrat"/>
                      </a:endParaRPr>
                    </a:p>
                  </a:txBody>
                  <a:tcPr marL="91425" marR="91425" marT="91425" marB="91425">
                    <a:lnL w="9525" cap="flat" cmpd="sng">
                      <a:solidFill>
                        <a:srgbClr val="D8D8D8"/>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sz="1100">
                          <a:solidFill>
                            <a:schemeClr val="dk1"/>
                          </a:solidFill>
                          <a:latin typeface="Montserrat"/>
                          <a:ea typeface="Montserrat"/>
                          <a:cs typeface="Montserrat"/>
                          <a:sym typeface="Montserrat"/>
                        </a:rPr>
                        <a:t>Installation has been completed in SoFi Stadium (LA)</a:t>
                      </a:r>
                      <a:endParaRPr sz="1100">
                        <a:latin typeface="Montserrat"/>
                        <a:ea typeface="Montserrat"/>
                        <a:cs typeface="Montserrat"/>
                        <a:sym typeface="Montserrat"/>
                      </a:endParaRPr>
                    </a:p>
                  </a:txBody>
                  <a:tcPr marL="91425" marR="91425" marT="91425" marB="91425">
                    <a:lnL w="9525" cap="flat" cmpd="sng">
                      <a:solidFill>
                        <a:srgbClr val="D8D8D8"/>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Montserrat"/>
                          <a:ea typeface="Montserrat"/>
                          <a:cs typeface="Montserrat"/>
                          <a:sym typeface="Montserrat"/>
                        </a:rPr>
                        <a:t>NDA has been signed </a:t>
                      </a:r>
                      <a:endParaRPr sz="1100">
                        <a:latin typeface="Montserrat"/>
                        <a:ea typeface="Montserrat"/>
                        <a:cs typeface="Montserrat"/>
                        <a:sym typeface="Montserrat"/>
                      </a:endParaRPr>
                    </a:p>
                  </a:txBody>
                  <a:tcPr marL="91425" marR="91425" marT="91425" marB="91425">
                    <a:lnL w="9525" cap="flat" cmpd="sng">
                      <a:solidFill>
                        <a:srgbClr val="D8D8D8"/>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extLst>
                  <a:ext uri="{0D108BD9-81ED-4DB2-BD59-A6C34878D82A}">
                    <a16:rowId xmlns:a16="http://schemas.microsoft.com/office/drawing/2014/main" val="10002"/>
                  </a:ext>
                </a:extLst>
              </a:tr>
              <a:tr h="1011025">
                <a:tc>
                  <a:txBody>
                    <a:bodyPr/>
                    <a:lstStyle/>
                    <a:p>
                      <a:pPr marL="0" lvl="0" indent="0" algn="l" rtl="0">
                        <a:spcBef>
                          <a:spcPts val="0"/>
                        </a:spcBef>
                        <a:spcAft>
                          <a:spcPts val="0"/>
                        </a:spcAft>
                        <a:buNone/>
                      </a:pPr>
                      <a:r>
                        <a:rPr lang="en" sz="1300" b="1">
                          <a:solidFill>
                            <a:srgbClr val="000099"/>
                          </a:solidFill>
                          <a:latin typeface="Montserrat"/>
                          <a:ea typeface="Montserrat"/>
                          <a:cs typeface="Montserrat"/>
                          <a:sym typeface="Montserrat"/>
                        </a:rPr>
                        <a:t>Next Steps </a:t>
                      </a:r>
                      <a:endParaRPr sz="1300">
                        <a:latin typeface="Montserrat"/>
                        <a:ea typeface="Montserrat"/>
                        <a:cs typeface="Montserrat"/>
                        <a:sym typeface="Montserrat"/>
                      </a:endParaRPr>
                    </a:p>
                  </a:txBody>
                  <a:tcPr marL="91425" marR="91425" marT="91425" marB="91425">
                    <a:lnL w="9525" cap="flat" cmpd="sng">
                      <a:solidFill>
                        <a:srgbClr val="D8D8D8"/>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a:txBody>
                    <a:bodyPr/>
                    <a:lstStyle/>
                    <a:p>
                      <a:pPr marL="0" lvl="0" indent="0" algn="l" rtl="0">
                        <a:spcBef>
                          <a:spcPts val="0"/>
                        </a:spcBef>
                        <a:spcAft>
                          <a:spcPts val="0"/>
                        </a:spcAft>
                        <a:buNone/>
                      </a:pPr>
                      <a:r>
                        <a:rPr lang="en" sz="1100" dirty="0">
                          <a:latin typeface="Montserrat"/>
                          <a:ea typeface="Montserrat"/>
                          <a:cs typeface="Montserrat"/>
                          <a:sym typeface="Montserrat"/>
                        </a:rPr>
                        <a:t>A review with the </a:t>
                      </a:r>
                      <a:r>
                        <a:rPr lang="en" sz="1100" b="1" dirty="0">
                          <a:latin typeface="Montserrat"/>
                          <a:ea typeface="Montserrat"/>
                          <a:cs typeface="Montserrat"/>
                          <a:sym typeface="Montserrat"/>
                        </a:rPr>
                        <a:t>Competition Committee</a:t>
                      </a:r>
                      <a:r>
                        <a:rPr lang="en" sz="1100" dirty="0">
                          <a:latin typeface="Montserrat"/>
                          <a:ea typeface="Montserrat"/>
                          <a:cs typeface="Montserrat"/>
                          <a:sym typeface="Montserrat"/>
                        </a:rPr>
                        <a:t>  and the </a:t>
                      </a:r>
                      <a:r>
                        <a:rPr lang="en" sz="1100" b="1" dirty="0">
                          <a:latin typeface="Montserrat"/>
                          <a:ea typeface="Montserrat"/>
                          <a:cs typeface="Montserrat"/>
                          <a:sym typeface="Montserrat"/>
                        </a:rPr>
                        <a:t>Future of Football Committee </a:t>
                      </a:r>
                      <a:r>
                        <a:rPr lang="en" sz="1100" dirty="0">
                          <a:latin typeface="Montserrat"/>
                          <a:ea typeface="Montserrat"/>
                          <a:cs typeface="Montserrat"/>
                          <a:sym typeface="Montserrat"/>
                        </a:rPr>
                        <a:t>scheduled during Combine (Feb 27-Mar 1)</a:t>
                      </a:r>
                      <a:endParaRPr sz="1100" dirty="0">
                        <a:latin typeface="Montserrat"/>
                        <a:ea typeface="Montserrat"/>
                        <a:cs typeface="Montserrat"/>
                        <a:sym typeface="Montserrat"/>
                      </a:endParaRPr>
                    </a:p>
                  </a:txBody>
                  <a:tcPr marL="91425" marR="91425" marT="91425" marB="91425">
                    <a:lnL w="9525" cap="flat" cmpd="sng">
                      <a:solidFill>
                        <a:srgbClr val="D8D8D8"/>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Montserrat"/>
                          <a:ea typeface="Montserrat"/>
                          <a:cs typeface="Montserrat"/>
                          <a:sym typeface="Montserrat"/>
                        </a:rPr>
                        <a:t>Tech evaluation scheduled for the January 7th game</a:t>
                      </a:r>
                      <a:endParaRPr sz="1100">
                        <a:latin typeface="Montserrat"/>
                        <a:ea typeface="Montserrat"/>
                        <a:cs typeface="Montserrat"/>
                        <a:sym typeface="Montserrat"/>
                      </a:endParaRPr>
                    </a:p>
                  </a:txBody>
                  <a:tcPr marL="91425" marR="91425" marT="91425" marB="91425">
                    <a:lnL w="9525" cap="flat" cmpd="sng">
                      <a:solidFill>
                        <a:srgbClr val="D8D8D8"/>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a:txBody>
                    <a:bodyPr/>
                    <a:lstStyle/>
                    <a:p>
                      <a:pPr marL="0" lvl="0" indent="0" algn="l" rtl="0">
                        <a:spcBef>
                          <a:spcPts val="0"/>
                        </a:spcBef>
                        <a:spcAft>
                          <a:spcPts val="0"/>
                        </a:spcAft>
                        <a:buNone/>
                      </a:pPr>
                      <a:r>
                        <a:rPr lang="en" sz="1100" dirty="0">
                          <a:latin typeface="Montserrat"/>
                          <a:ea typeface="Montserrat"/>
                          <a:cs typeface="Montserrat"/>
                          <a:sym typeface="Montserrat"/>
                        </a:rPr>
                        <a:t>Validating solution internally before enabling system for January 7th</a:t>
                      </a:r>
                      <a:endParaRPr sz="1100" dirty="0">
                        <a:latin typeface="Montserrat"/>
                        <a:ea typeface="Montserrat"/>
                        <a:cs typeface="Montserrat"/>
                        <a:sym typeface="Montserrat"/>
                      </a:endParaRPr>
                    </a:p>
                  </a:txBody>
                  <a:tcPr marL="91425" marR="91425" marT="91425" marB="91425">
                    <a:lnL w="9525" cap="flat" cmpd="sng">
                      <a:solidFill>
                        <a:srgbClr val="D8D8D8"/>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405" name="Google Shape;405;p27"/>
          <p:cNvSpPr txBox="1">
            <a:spLocks noGrp="1"/>
          </p:cNvSpPr>
          <p:nvPr>
            <p:ph type="title" idx="4294967295"/>
          </p:nvPr>
        </p:nvSpPr>
        <p:spPr>
          <a:xfrm>
            <a:off x="725550" y="365275"/>
            <a:ext cx="7756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EF4138"/>
              </a:buClr>
              <a:buSzPts val="1400"/>
              <a:buFont typeface="Montserrat"/>
              <a:buNone/>
            </a:pPr>
            <a:r>
              <a:rPr lang="en" sz="3300" b="1">
                <a:solidFill>
                  <a:srgbClr val="EF4138"/>
                </a:solidFill>
              </a:rPr>
              <a:t>Optical Tracking </a:t>
            </a:r>
            <a:endParaRPr sz="3300" b="1">
              <a:solidFill>
                <a:srgbClr val="EF4138"/>
              </a:solidFill>
            </a:endParaRPr>
          </a:p>
          <a:p>
            <a:pPr marL="0" lvl="0" indent="0" algn="l" rtl="0">
              <a:spcBef>
                <a:spcPts val="0"/>
              </a:spcBef>
              <a:spcAft>
                <a:spcPts val="0"/>
              </a:spcAft>
              <a:buClr>
                <a:srgbClr val="EF4138"/>
              </a:buClr>
              <a:buSzPts val="1400"/>
              <a:buFont typeface="Montserrat"/>
              <a:buNone/>
            </a:pPr>
            <a:r>
              <a:rPr lang="en" sz="2000" b="1">
                <a:solidFill>
                  <a:srgbClr val="000099"/>
                </a:solidFill>
              </a:rPr>
              <a:t>Vendor Assessment</a:t>
            </a:r>
            <a:endParaRPr sz="2000" b="1">
              <a:solidFill>
                <a:srgbClr val="000099"/>
              </a:solidFill>
            </a:endParaRPr>
          </a:p>
          <a:p>
            <a:pPr marL="0" lvl="0" indent="0" algn="l" rtl="0">
              <a:spcBef>
                <a:spcPts val="0"/>
              </a:spcBef>
              <a:spcAft>
                <a:spcPts val="0"/>
              </a:spcAft>
              <a:buClr>
                <a:srgbClr val="EF4138"/>
              </a:buClr>
              <a:buSzPts val="1400"/>
              <a:buFont typeface="Montserrat"/>
              <a:buNone/>
            </a:pPr>
            <a:endParaRPr sz="3300" b="1">
              <a:solidFill>
                <a:srgbClr val="EF4138"/>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28"/>
          <p:cNvSpPr txBox="1">
            <a:spLocks noGrp="1"/>
          </p:cNvSpPr>
          <p:nvPr>
            <p:ph type="title" idx="4294967295"/>
          </p:nvPr>
        </p:nvSpPr>
        <p:spPr>
          <a:xfrm>
            <a:off x="693900" y="327700"/>
            <a:ext cx="7756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EF4138"/>
              </a:buClr>
              <a:buSzPts val="1400"/>
              <a:buFont typeface="Montserrat"/>
              <a:buNone/>
            </a:pPr>
            <a:r>
              <a:rPr lang="en" sz="3300" b="1">
                <a:solidFill>
                  <a:srgbClr val="EF4138"/>
                </a:solidFill>
                <a:latin typeface="Montserrat"/>
                <a:ea typeface="Montserrat"/>
                <a:cs typeface="Montserrat"/>
                <a:sym typeface="Montserrat"/>
              </a:rPr>
              <a:t>Optical Tracking                             </a:t>
            </a:r>
            <a:endParaRPr sz="3300" b="1">
              <a:solidFill>
                <a:srgbClr val="EF4138"/>
              </a:solidFill>
              <a:latin typeface="Montserrat"/>
              <a:ea typeface="Montserrat"/>
              <a:cs typeface="Montserrat"/>
              <a:sym typeface="Montserrat"/>
            </a:endParaRPr>
          </a:p>
        </p:txBody>
      </p:sp>
      <p:sp>
        <p:nvSpPr>
          <p:cNvPr id="411" name="Google Shape;411;p28"/>
          <p:cNvSpPr txBox="1"/>
          <p:nvPr/>
        </p:nvSpPr>
        <p:spPr>
          <a:xfrm>
            <a:off x="1268400" y="1163138"/>
            <a:ext cx="6670500" cy="785100"/>
          </a:xfrm>
          <a:prstGeom prst="rect">
            <a:avLst/>
          </a:prstGeom>
          <a:noFill/>
          <a:ln>
            <a:noFill/>
          </a:ln>
        </p:spPr>
        <p:txBody>
          <a:bodyPr spcFirstLastPara="1" wrap="square" lIns="68575" tIns="68575" rIns="68575" bIns="68575" anchor="t" anchorCtr="0">
            <a:spAutoFit/>
          </a:bodyPr>
          <a:lstStyle/>
          <a:p>
            <a:pPr marL="0" marR="0" lvl="0" indent="0" algn="l" rtl="0">
              <a:spcBef>
                <a:spcPts val="0"/>
              </a:spcBef>
              <a:spcAft>
                <a:spcPts val="0"/>
              </a:spcAft>
              <a:buNone/>
            </a:pPr>
            <a:r>
              <a:rPr lang="en" sz="1400" b="1">
                <a:solidFill>
                  <a:srgbClr val="000099"/>
                </a:solidFill>
                <a:latin typeface="Montserrat"/>
                <a:ea typeface="Montserrat"/>
                <a:cs typeface="Montserrat"/>
                <a:sym typeface="Montserrat"/>
              </a:rPr>
              <a:t>Overall Scope</a:t>
            </a:r>
            <a:r>
              <a:rPr lang="en" b="1">
                <a:solidFill>
                  <a:schemeClr val="dk1"/>
                </a:solidFill>
                <a:latin typeface="Montserrat"/>
                <a:ea typeface="Montserrat"/>
                <a:cs typeface="Montserrat"/>
                <a:sym typeface="Montserrat"/>
              </a:rPr>
              <a:t>:  </a:t>
            </a:r>
            <a:r>
              <a:rPr lang="en" sz="1400">
                <a:solidFill>
                  <a:schemeClr val="dk1"/>
                </a:solidFill>
                <a:latin typeface="Montserrat"/>
                <a:ea typeface="Montserrat"/>
                <a:cs typeface="Montserrat"/>
                <a:sym typeface="Montserrat"/>
              </a:rPr>
              <a:t>The optical tracking scope aims to identify an innovative </a:t>
            </a:r>
            <a:r>
              <a:rPr lang="en">
                <a:solidFill>
                  <a:schemeClr val="dk1"/>
                </a:solidFill>
                <a:latin typeface="Montserrat"/>
                <a:ea typeface="Montserrat"/>
                <a:cs typeface="Montserrat"/>
                <a:sym typeface="Montserrat"/>
              </a:rPr>
              <a:t>solution for line-to-gain detection and other officiating use cases. Optical tracking will be able to inform </a:t>
            </a:r>
            <a:r>
              <a:rPr lang="en" sz="1400">
                <a:solidFill>
                  <a:schemeClr val="dk1"/>
                </a:solidFill>
                <a:latin typeface="Montserrat"/>
                <a:ea typeface="Montserrat"/>
                <a:cs typeface="Montserrat"/>
                <a:sym typeface="Montserrat"/>
              </a:rPr>
              <a:t>re</a:t>
            </a:r>
            <a:r>
              <a:rPr lang="en">
                <a:solidFill>
                  <a:schemeClr val="dk1"/>
                </a:solidFill>
                <a:latin typeface="Montserrat"/>
                <a:ea typeface="Montserrat"/>
                <a:cs typeface="Montserrat"/>
                <a:sym typeface="Montserrat"/>
              </a:rPr>
              <a:t>al-time </a:t>
            </a:r>
            <a:r>
              <a:rPr lang="en" sz="1400">
                <a:solidFill>
                  <a:schemeClr val="dk1"/>
                </a:solidFill>
                <a:latin typeface="Montserrat"/>
                <a:ea typeface="Montserrat"/>
                <a:cs typeface="Montserrat"/>
                <a:sym typeface="Montserrat"/>
              </a:rPr>
              <a:t>officiating</a:t>
            </a:r>
            <a:r>
              <a:rPr lang="en">
                <a:solidFill>
                  <a:schemeClr val="dk1"/>
                </a:solidFill>
                <a:latin typeface="Montserrat"/>
                <a:ea typeface="Montserrat"/>
                <a:cs typeface="Montserrat"/>
                <a:sym typeface="Montserrat"/>
              </a:rPr>
              <a:t>.</a:t>
            </a:r>
            <a:endParaRPr sz="1400">
              <a:solidFill>
                <a:schemeClr val="dk1"/>
              </a:solidFill>
              <a:highlight>
                <a:srgbClr val="FFFF00"/>
              </a:highlight>
              <a:latin typeface="Montserrat"/>
              <a:ea typeface="Montserrat"/>
              <a:cs typeface="Montserrat"/>
              <a:sym typeface="Montserrat"/>
            </a:endParaRPr>
          </a:p>
        </p:txBody>
      </p:sp>
      <p:sp>
        <p:nvSpPr>
          <p:cNvPr id="412" name="Google Shape;412;p28"/>
          <p:cNvSpPr/>
          <p:nvPr/>
        </p:nvSpPr>
        <p:spPr>
          <a:xfrm>
            <a:off x="8188099" y="4031069"/>
            <a:ext cx="772176" cy="912829"/>
          </a:xfrm>
          <a:custGeom>
            <a:avLst/>
            <a:gdLst/>
            <a:ahLst/>
            <a:cxnLst/>
            <a:rect l="l" t="t" r="r" b="b"/>
            <a:pathLst>
              <a:path w="12869601" h="6638759" extrusionOk="0">
                <a:moveTo>
                  <a:pt x="0" y="0"/>
                </a:moveTo>
                <a:lnTo>
                  <a:pt x="12869601" y="0"/>
                </a:lnTo>
                <a:lnTo>
                  <a:pt x="12869601" y="6638759"/>
                </a:lnTo>
                <a:lnTo>
                  <a:pt x="0" y="6638759"/>
                </a:lnTo>
                <a:lnTo>
                  <a:pt x="0" y="0"/>
                </a:lnTo>
                <a:close/>
              </a:path>
            </a:pathLst>
          </a:custGeom>
          <a:blipFill rotWithShape="1">
            <a:blip r:embed="rId3">
              <a:alphaModFix/>
            </a:blip>
            <a:stretch>
              <a:fillRect l="-102802" t="-28588" r="-109932" b="-27147"/>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b="0" i="0" u="none" strike="noStrike" cap="none">
              <a:solidFill>
                <a:srgbClr val="000000"/>
              </a:solidFill>
              <a:latin typeface="Calibri"/>
              <a:ea typeface="Calibri"/>
              <a:cs typeface="Calibri"/>
              <a:sym typeface="Calibri"/>
            </a:endParaRPr>
          </a:p>
        </p:txBody>
      </p:sp>
      <p:pic>
        <p:nvPicPr>
          <p:cNvPr id="413" name="Google Shape;413;p28"/>
          <p:cNvPicPr preferRelativeResize="0"/>
          <p:nvPr/>
        </p:nvPicPr>
        <p:blipFill>
          <a:blip r:embed="rId4">
            <a:alphaModFix/>
          </a:blip>
          <a:stretch>
            <a:fillRect/>
          </a:stretch>
        </p:blipFill>
        <p:spPr>
          <a:xfrm>
            <a:off x="865225" y="1185014"/>
            <a:ext cx="392750" cy="392750"/>
          </a:xfrm>
          <a:prstGeom prst="rect">
            <a:avLst/>
          </a:prstGeom>
          <a:noFill/>
          <a:ln>
            <a:noFill/>
          </a:ln>
        </p:spPr>
      </p:pic>
      <p:sp>
        <p:nvSpPr>
          <p:cNvPr id="414" name="Google Shape;414;p28"/>
          <p:cNvSpPr txBox="1"/>
          <p:nvPr/>
        </p:nvSpPr>
        <p:spPr>
          <a:xfrm>
            <a:off x="693900" y="2305900"/>
            <a:ext cx="7213200" cy="250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dirty="0">
                <a:solidFill>
                  <a:srgbClr val="000099"/>
                </a:solidFill>
                <a:latin typeface="Montserrat"/>
                <a:ea typeface="Montserrat"/>
                <a:cs typeface="Montserrat"/>
                <a:sym typeface="Montserrat"/>
              </a:rPr>
              <a:t>Current State</a:t>
            </a:r>
            <a:endParaRPr b="1" dirty="0">
              <a:solidFill>
                <a:srgbClr val="000099"/>
              </a:solidFill>
              <a:latin typeface="Montserrat"/>
              <a:ea typeface="Montserrat"/>
              <a:cs typeface="Montserrat"/>
              <a:sym typeface="Montserrat"/>
            </a:endParaRPr>
          </a:p>
          <a:p>
            <a:pPr marL="0" lvl="0" indent="0" algn="l" rtl="0">
              <a:spcBef>
                <a:spcPts val="0"/>
              </a:spcBef>
              <a:spcAft>
                <a:spcPts val="0"/>
              </a:spcAft>
              <a:buNone/>
            </a:pPr>
            <a:endParaRPr b="1" dirty="0">
              <a:solidFill>
                <a:srgbClr val="000099"/>
              </a:solidFill>
              <a:latin typeface="Montserrat"/>
              <a:ea typeface="Montserrat"/>
              <a:cs typeface="Montserrat"/>
              <a:sym typeface="Montserrat"/>
            </a:endParaRPr>
          </a:p>
          <a:p>
            <a:pPr marL="457200" lvl="0" indent="-317500" algn="l" rtl="0">
              <a:spcBef>
                <a:spcPts val="0"/>
              </a:spcBef>
              <a:spcAft>
                <a:spcPts val="0"/>
              </a:spcAft>
              <a:buClr>
                <a:srgbClr val="EF4138"/>
              </a:buClr>
              <a:buSzPts val="1400"/>
              <a:buFont typeface="Montserrat"/>
              <a:buChar char="➔"/>
            </a:pPr>
            <a:r>
              <a:rPr lang="en" b="1" dirty="0">
                <a:solidFill>
                  <a:schemeClr val="dk1"/>
                </a:solidFill>
                <a:latin typeface="Montserrat"/>
                <a:ea typeface="Montserrat"/>
                <a:cs typeface="Montserrat"/>
                <a:sym typeface="Montserrat"/>
              </a:rPr>
              <a:t>Conducting 3 POCs to determine the accuracy of each demo.</a:t>
            </a:r>
          </a:p>
          <a:p>
            <a:pPr marL="457200" lvl="0" indent="-317500" algn="l" rtl="0">
              <a:spcBef>
                <a:spcPts val="0"/>
              </a:spcBef>
              <a:spcAft>
                <a:spcPts val="0"/>
              </a:spcAft>
              <a:buClr>
                <a:srgbClr val="EF4138"/>
              </a:buClr>
              <a:buSzPts val="1400"/>
              <a:buFont typeface="Montserrat"/>
              <a:buChar char="➔"/>
            </a:pPr>
            <a:r>
              <a:rPr lang="en" b="1" dirty="0">
                <a:solidFill>
                  <a:schemeClr val="dk1"/>
                </a:solidFill>
                <a:latin typeface="Montserrat"/>
                <a:ea typeface="Montserrat"/>
                <a:cs typeface="Montserrat"/>
                <a:sym typeface="Montserrat"/>
              </a:rPr>
              <a:t>Vendors:</a:t>
            </a:r>
            <a:r>
              <a:rPr lang="en" dirty="0">
                <a:solidFill>
                  <a:schemeClr val="dk1"/>
                </a:solidFill>
                <a:latin typeface="Montserrat"/>
                <a:ea typeface="Montserrat"/>
                <a:cs typeface="Montserrat"/>
                <a:sym typeface="Montserrat"/>
              </a:rPr>
              <a:t> </a:t>
            </a:r>
            <a:r>
              <a:rPr lang="en" dirty="0" err="1">
                <a:solidFill>
                  <a:schemeClr val="dk1"/>
                </a:solidFill>
                <a:latin typeface="Montserrat"/>
                <a:ea typeface="Montserrat"/>
                <a:cs typeface="Montserrat"/>
                <a:sym typeface="Montserrat"/>
              </a:rPr>
              <a:t>HawkEye</a:t>
            </a:r>
            <a:r>
              <a:rPr lang="en" dirty="0">
                <a:solidFill>
                  <a:schemeClr val="dk1"/>
                </a:solidFill>
                <a:latin typeface="Montserrat"/>
                <a:ea typeface="Montserrat"/>
                <a:cs typeface="Montserrat"/>
                <a:sym typeface="Montserrat"/>
              </a:rPr>
              <a:t>, </a:t>
            </a:r>
            <a:r>
              <a:rPr lang="en" dirty="0" err="1">
                <a:solidFill>
                  <a:schemeClr val="dk1"/>
                </a:solidFill>
                <a:latin typeface="Montserrat"/>
                <a:ea typeface="Montserrat"/>
                <a:cs typeface="Montserrat"/>
                <a:sym typeface="Montserrat"/>
              </a:rPr>
              <a:t>ChyronHego</a:t>
            </a:r>
            <a:r>
              <a:rPr lang="en" dirty="0">
                <a:solidFill>
                  <a:schemeClr val="dk1"/>
                </a:solidFill>
                <a:latin typeface="Montserrat"/>
                <a:ea typeface="Montserrat"/>
                <a:cs typeface="Montserrat"/>
                <a:sym typeface="Montserrat"/>
              </a:rPr>
              <a:t>, Genius/Second Spectrum.</a:t>
            </a:r>
            <a:endParaRPr dirty="0">
              <a:solidFill>
                <a:schemeClr val="dk1"/>
              </a:solidFill>
              <a:latin typeface="Montserrat"/>
              <a:ea typeface="Montserrat"/>
              <a:cs typeface="Montserrat"/>
              <a:sym typeface="Montserrat"/>
            </a:endParaRPr>
          </a:p>
          <a:p>
            <a:pPr marL="457200" lvl="0" indent="-317500" algn="l" rtl="0">
              <a:spcBef>
                <a:spcPts val="0"/>
              </a:spcBef>
              <a:spcAft>
                <a:spcPts val="0"/>
              </a:spcAft>
              <a:buClr>
                <a:srgbClr val="EF4138"/>
              </a:buClr>
              <a:buSzPts val="1400"/>
              <a:buFont typeface="Montserrat"/>
              <a:buChar char="➔"/>
            </a:pPr>
            <a:r>
              <a:rPr lang="en" b="1" dirty="0">
                <a:solidFill>
                  <a:schemeClr val="dk1"/>
                </a:solidFill>
                <a:latin typeface="Montserrat"/>
                <a:ea typeface="Montserrat"/>
                <a:cs typeface="Montserrat"/>
                <a:sym typeface="Montserrat"/>
              </a:rPr>
              <a:t>Stadium Evaluations</a:t>
            </a:r>
            <a:r>
              <a:rPr lang="en" dirty="0">
                <a:solidFill>
                  <a:schemeClr val="dk1"/>
                </a:solidFill>
                <a:latin typeface="Montserrat"/>
                <a:ea typeface="Montserrat"/>
                <a:cs typeface="Montserrat"/>
                <a:sym typeface="Montserrat"/>
              </a:rPr>
              <a:t>: Each vendor is undergoing evaluations and testing in stadiums upon approval</a:t>
            </a:r>
            <a:endParaRPr dirty="0">
              <a:solidFill>
                <a:schemeClr val="dk1"/>
              </a:solidFill>
              <a:latin typeface="Montserrat"/>
              <a:ea typeface="Montserrat"/>
              <a:cs typeface="Montserrat"/>
              <a:sym typeface="Montserrat"/>
            </a:endParaRPr>
          </a:p>
          <a:p>
            <a:pPr marL="457200" lvl="0" indent="-317500" algn="l" rtl="0">
              <a:spcBef>
                <a:spcPts val="0"/>
              </a:spcBef>
              <a:spcAft>
                <a:spcPts val="0"/>
              </a:spcAft>
              <a:buClr>
                <a:srgbClr val="EF4138"/>
              </a:buClr>
              <a:buSzPts val="1400"/>
              <a:buFont typeface="Montserrat"/>
              <a:buChar char="➔"/>
            </a:pPr>
            <a:r>
              <a:rPr lang="en" b="1" dirty="0">
                <a:solidFill>
                  <a:schemeClr val="dk1"/>
                </a:solidFill>
                <a:latin typeface="Montserrat"/>
                <a:ea typeface="Montserrat"/>
                <a:cs typeface="Montserrat"/>
                <a:sym typeface="Montserrat"/>
              </a:rPr>
              <a:t>Vendor Scorecard &amp; Partner Screening</a:t>
            </a:r>
            <a:r>
              <a:rPr lang="en" dirty="0">
                <a:solidFill>
                  <a:schemeClr val="dk1"/>
                </a:solidFill>
                <a:latin typeface="Montserrat"/>
                <a:ea typeface="Montserrat"/>
                <a:cs typeface="Montserrat"/>
                <a:sym typeface="Montserrat"/>
              </a:rPr>
              <a:t>: A vendor scorecard has been developed  to assess compatibility and are actively screening potential partners during the Proof of Concept (POC) phase.</a:t>
            </a:r>
            <a:endParaRPr sz="1100" dirty="0">
              <a:solidFill>
                <a:schemeClr val="dk1"/>
              </a:solidFill>
            </a:endParaRPr>
          </a:p>
          <a:p>
            <a:pPr marL="457200" lvl="0" indent="0" algn="l" rtl="0">
              <a:spcBef>
                <a:spcPts val="0"/>
              </a:spcBef>
              <a:spcAft>
                <a:spcPts val="0"/>
              </a:spcAft>
              <a:buNone/>
            </a:pPr>
            <a:endParaRPr sz="1100" dirty="0">
              <a:solidFill>
                <a:schemeClr val="dk1"/>
              </a:solidFill>
            </a:endParaRPr>
          </a:p>
          <a:p>
            <a:pPr marL="0" lvl="0" indent="0" algn="l" rtl="0">
              <a:spcBef>
                <a:spcPts val="0"/>
              </a:spcBef>
              <a:spcAft>
                <a:spcPts val="0"/>
              </a:spcAft>
              <a:buNone/>
            </a:pPr>
            <a:endParaRPr dirty="0">
              <a:solidFill>
                <a:schemeClr val="dk1"/>
              </a:solidFill>
              <a:latin typeface="Montserrat"/>
              <a:ea typeface="Montserrat"/>
              <a:cs typeface="Montserrat"/>
              <a:sym typeface="Montserrat"/>
            </a:endParaRPr>
          </a:p>
        </p:txBody>
      </p:sp>
      <p:grpSp>
        <p:nvGrpSpPr>
          <p:cNvPr id="415" name="Google Shape;415;p28"/>
          <p:cNvGrpSpPr/>
          <p:nvPr/>
        </p:nvGrpSpPr>
        <p:grpSpPr>
          <a:xfrm>
            <a:off x="7559482" y="469763"/>
            <a:ext cx="1138404" cy="288582"/>
            <a:chOff x="299295" y="2006438"/>
            <a:chExt cx="2659200" cy="674100"/>
          </a:xfrm>
        </p:grpSpPr>
        <p:sp>
          <p:nvSpPr>
            <p:cNvPr id="416" name="Google Shape;416;p28"/>
            <p:cNvSpPr/>
            <p:nvPr/>
          </p:nvSpPr>
          <p:spPr>
            <a:xfrm>
              <a:off x="299295" y="2006438"/>
              <a:ext cx="2659200" cy="674100"/>
            </a:xfrm>
            <a:prstGeom prst="roundRect">
              <a:avLst>
                <a:gd name="adj" fmla="val 50000"/>
              </a:avLst>
            </a:prstGeom>
            <a:solidFill>
              <a:schemeClr val="accent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sp>
          <p:nvSpPr>
            <p:cNvPr id="417" name="Google Shape;417;p28"/>
            <p:cNvSpPr/>
            <p:nvPr/>
          </p:nvSpPr>
          <p:spPr>
            <a:xfrm>
              <a:off x="702809" y="2100854"/>
              <a:ext cx="1852200" cy="4854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b="1" i="0" u="none" strike="noStrike" cap="none">
                  <a:solidFill>
                    <a:schemeClr val="lt2"/>
                  </a:solidFill>
                  <a:latin typeface="Century Gothic"/>
                  <a:ea typeface="Century Gothic"/>
                  <a:cs typeface="Century Gothic"/>
                  <a:sym typeface="Century Gothic"/>
                </a:rPr>
                <a:t>ROI</a:t>
              </a:r>
              <a:endParaRPr sz="900" b="1" i="0" u="none" strike="noStrike" cap="none">
                <a:solidFill>
                  <a:schemeClr val="lt2"/>
                </a:solidFill>
                <a:latin typeface="Century Gothic"/>
                <a:ea typeface="Century Gothic"/>
                <a:cs typeface="Century Gothic"/>
                <a:sym typeface="Century Gothic"/>
              </a:endParaRPr>
            </a:p>
          </p:txBody>
        </p:sp>
      </p:grpSp>
      <p:sp>
        <p:nvSpPr>
          <p:cNvPr id="418" name="Google Shape;418;p28"/>
          <p:cNvSpPr/>
          <p:nvPr/>
        </p:nvSpPr>
        <p:spPr>
          <a:xfrm>
            <a:off x="7699723" y="435626"/>
            <a:ext cx="1040930" cy="356830"/>
          </a:xfrm>
          <a:custGeom>
            <a:avLst/>
            <a:gdLst/>
            <a:ahLst/>
            <a:cxnLst/>
            <a:rect l="l" t="t" r="r" b="b"/>
            <a:pathLst>
              <a:path w="2434925" h="834690" extrusionOk="0">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w="12700" cap="flat" cmpd="sng">
            <a:solidFill>
              <a:schemeClr val="accent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29"/>
          <p:cNvSpPr txBox="1"/>
          <p:nvPr/>
        </p:nvSpPr>
        <p:spPr>
          <a:xfrm>
            <a:off x="1268400" y="1163138"/>
            <a:ext cx="6670500" cy="7851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b="1">
                <a:solidFill>
                  <a:srgbClr val="000099"/>
                </a:solidFill>
                <a:latin typeface="Montserrat"/>
                <a:ea typeface="Montserrat"/>
                <a:cs typeface="Montserrat"/>
                <a:sym typeface="Montserrat"/>
              </a:rPr>
              <a:t>Overall Scope</a:t>
            </a:r>
            <a:r>
              <a:rPr lang="en" b="1">
                <a:solidFill>
                  <a:schemeClr val="dk1"/>
                </a:solidFill>
                <a:latin typeface="Montserrat"/>
                <a:ea typeface="Montserrat"/>
                <a:cs typeface="Montserrat"/>
                <a:sym typeface="Montserrat"/>
              </a:rPr>
              <a:t>: </a:t>
            </a:r>
            <a:r>
              <a:rPr lang="en">
                <a:solidFill>
                  <a:schemeClr val="dk1"/>
                </a:solidFill>
                <a:latin typeface="Montserrat"/>
                <a:ea typeface="Montserrat"/>
                <a:cs typeface="Montserrat"/>
                <a:sym typeface="Montserrat"/>
              </a:rPr>
              <a:t>NFL View's primary emphasis is player health and safety. Their concentration encompasses player-related elements such as player speed, impact force and injury prevention.</a:t>
            </a:r>
            <a:endParaRPr b="1">
              <a:solidFill>
                <a:srgbClr val="000099"/>
              </a:solidFill>
              <a:latin typeface="Montserrat"/>
              <a:ea typeface="Montserrat"/>
              <a:cs typeface="Montserrat"/>
              <a:sym typeface="Montserrat"/>
            </a:endParaRPr>
          </a:p>
        </p:txBody>
      </p:sp>
      <p:sp>
        <p:nvSpPr>
          <p:cNvPr id="424" name="Google Shape;424;p29"/>
          <p:cNvSpPr/>
          <p:nvPr/>
        </p:nvSpPr>
        <p:spPr>
          <a:xfrm>
            <a:off x="8188099" y="4031069"/>
            <a:ext cx="772176" cy="912829"/>
          </a:xfrm>
          <a:custGeom>
            <a:avLst/>
            <a:gdLst/>
            <a:ahLst/>
            <a:cxnLst/>
            <a:rect l="l" t="t" r="r" b="b"/>
            <a:pathLst>
              <a:path w="12869601" h="6638759" extrusionOk="0">
                <a:moveTo>
                  <a:pt x="0" y="0"/>
                </a:moveTo>
                <a:lnTo>
                  <a:pt x="12869601" y="0"/>
                </a:lnTo>
                <a:lnTo>
                  <a:pt x="12869601" y="6638759"/>
                </a:lnTo>
                <a:lnTo>
                  <a:pt x="0" y="6638759"/>
                </a:lnTo>
                <a:lnTo>
                  <a:pt x="0" y="0"/>
                </a:lnTo>
                <a:close/>
              </a:path>
            </a:pathLst>
          </a:custGeom>
          <a:blipFill rotWithShape="1">
            <a:blip r:embed="rId3">
              <a:alphaModFix/>
            </a:blip>
            <a:stretch>
              <a:fillRect l="-102802" t="-28588" r="-109932" b="-27147"/>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b="0" i="0" u="none" strike="noStrike" cap="none">
              <a:solidFill>
                <a:srgbClr val="000000"/>
              </a:solidFill>
              <a:latin typeface="Calibri"/>
              <a:ea typeface="Calibri"/>
              <a:cs typeface="Calibri"/>
              <a:sym typeface="Calibri"/>
            </a:endParaRPr>
          </a:p>
        </p:txBody>
      </p:sp>
      <p:sp>
        <p:nvSpPr>
          <p:cNvPr id="425" name="Google Shape;425;p29"/>
          <p:cNvSpPr txBox="1">
            <a:spLocks noGrp="1"/>
          </p:cNvSpPr>
          <p:nvPr>
            <p:ph type="title" idx="4294967295"/>
          </p:nvPr>
        </p:nvSpPr>
        <p:spPr>
          <a:xfrm>
            <a:off x="693900" y="327700"/>
            <a:ext cx="61788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EF4138"/>
              </a:buClr>
              <a:buSzPts val="1400"/>
              <a:buFont typeface="Montserrat"/>
              <a:buNone/>
            </a:pPr>
            <a:r>
              <a:rPr lang="en" sz="3300" b="1">
                <a:solidFill>
                  <a:srgbClr val="EF4138"/>
                </a:solidFill>
              </a:rPr>
              <a:t>NFL View</a:t>
            </a:r>
            <a:endParaRPr sz="3300" b="1">
              <a:solidFill>
                <a:srgbClr val="EF4138"/>
              </a:solidFill>
              <a:latin typeface="Montserrat"/>
              <a:ea typeface="Montserrat"/>
              <a:cs typeface="Montserrat"/>
              <a:sym typeface="Montserrat"/>
            </a:endParaRPr>
          </a:p>
        </p:txBody>
      </p:sp>
      <p:pic>
        <p:nvPicPr>
          <p:cNvPr id="426" name="Google Shape;426;p29"/>
          <p:cNvPicPr preferRelativeResize="0"/>
          <p:nvPr/>
        </p:nvPicPr>
        <p:blipFill>
          <a:blip r:embed="rId4">
            <a:alphaModFix/>
          </a:blip>
          <a:stretch>
            <a:fillRect/>
          </a:stretch>
        </p:blipFill>
        <p:spPr>
          <a:xfrm>
            <a:off x="865225" y="1185014"/>
            <a:ext cx="392750" cy="392750"/>
          </a:xfrm>
          <a:prstGeom prst="rect">
            <a:avLst/>
          </a:prstGeom>
          <a:noFill/>
          <a:ln>
            <a:noFill/>
          </a:ln>
        </p:spPr>
      </p:pic>
      <p:sp>
        <p:nvSpPr>
          <p:cNvPr id="427" name="Google Shape;427;p29"/>
          <p:cNvSpPr txBox="1"/>
          <p:nvPr/>
        </p:nvSpPr>
        <p:spPr>
          <a:xfrm>
            <a:off x="725550" y="2604200"/>
            <a:ext cx="7213200" cy="169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b="1" dirty="0">
                <a:solidFill>
                  <a:srgbClr val="000099"/>
                </a:solidFill>
                <a:latin typeface="Montserrat"/>
                <a:ea typeface="Montserrat"/>
                <a:cs typeface="Montserrat"/>
                <a:sym typeface="Montserrat"/>
              </a:rPr>
              <a:t>Current State</a:t>
            </a:r>
            <a:endParaRPr b="1" dirty="0">
              <a:solidFill>
                <a:srgbClr val="000099"/>
              </a:solidFill>
              <a:latin typeface="Montserrat"/>
              <a:ea typeface="Montserrat"/>
              <a:cs typeface="Montserrat"/>
              <a:sym typeface="Montserrat"/>
            </a:endParaRPr>
          </a:p>
          <a:p>
            <a:pPr marL="0" lvl="0" indent="0" algn="l" rtl="0">
              <a:spcBef>
                <a:spcPts val="0"/>
              </a:spcBef>
              <a:spcAft>
                <a:spcPts val="0"/>
              </a:spcAft>
              <a:buNone/>
            </a:pPr>
            <a:endParaRPr b="1" dirty="0">
              <a:solidFill>
                <a:srgbClr val="000099"/>
              </a:solidFill>
              <a:latin typeface="Montserrat"/>
              <a:ea typeface="Montserrat"/>
              <a:cs typeface="Montserrat"/>
              <a:sym typeface="Montserrat"/>
            </a:endParaRPr>
          </a:p>
          <a:p>
            <a:pPr marL="457200" lvl="0" indent="-317500" algn="l" rtl="0">
              <a:spcBef>
                <a:spcPts val="0"/>
              </a:spcBef>
              <a:spcAft>
                <a:spcPts val="0"/>
              </a:spcAft>
              <a:buClr>
                <a:srgbClr val="EF4138"/>
              </a:buClr>
              <a:buSzPts val="1400"/>
              <a:buChar char="➔"/>
            </a:pPr>
            <a:r>
              <a:rPr lang="en" dirty="0">
                <a:solidFill>
                  <a:schemeClr val="dk1"/>
                </a:solidFill>
                <a:latin typeface="Montserrat"/>
                <a:ea typeface="Montserrat"/>
                <a:cs typeface="Montserrat"/>
                <a:sym typeface="Montserrat"/>
              </a:rPr>
              <a:t>Enhance data collection for player health and safety.</a:t>
            </a:r>
            <a:endParaRPr dirty="0">
              <a:solidFill>
                <a:schemeClr val="dk1"/>
              </a:solidFill>
              <a:latin typeface="Montserrat"/>
              <a:ea typeface="Montserrat"/>
              <a:cs typeface="Montserrat"/>
              <a:sym typeface="Montserrat"/>
            </a:endParaRPr>
          </a:p>
          <a:p>
            <a:pPr marL="457200" lvl="0" indent="-317500" algn="l" rtl="0">
              <a:spcBef>
                <a:spcPts val="0"/>
              </a:spcBef>
              <a:spcAft>
                <a:spcPts val="0"/>
              </a:spcAft>
              <a:buClr>
                <a:srgbClr val="EF4138"/>
              </a:buClr>
              <a:buSzPts val="1400"/>
              <a:buChar char="➔"/>
            </a:pPr>
            <a:r>
              <a:rPr lang="en" dirty="0">
                <a:solidFill>
                  <a:schemeClr val="dk1"/>
                </a:solidFill>
                <a:latin typeface="Montserrat"/>
                <a:ea typeface="Montserrat"/>
                <a:cs typeface="Montserrat"/>
                <a:sym typeface="Montserrat"/>
              </a:rPr>
              <a:t>Three years of testing and utilizing original Intel cameras for player movement tracking.</a:t>
            </a:r>
            <a:endParaRPr sz="1100" dirty="0">
              <a:solidFill>
                <a:schemeClr val="dk1"/>
              </a:solidFill>
            </a:endParaRPr>
          </a:p>
          <a:p>
            <a:pPr marL="457200" lvl="0" indent="0" algn="l" rtl="0">
              <a:spcBef>
                <a:spcPts val="0"/>
              </a:spcBef>
              <a:spcAft>
                <a:spcPts val="0"/>
              </a:spcAft>
              <a:buNone/>
            </a:pPr>
            <a:endParaRPr b="1" dirty="0">
              <a:solidFill>
                <a:schemeClr val="dk1"/>
              </a:solidFill>
              <a:latin typeface="Montserrat"/>
              <a:ea typeface="Montserrat"/>
              <a:cs typeface="Montserrat"/>
              <a:sym typeface="Montserrat"/>
            </a:endParaRPr>
          </a:p>
          <a:p>
            <a:pPr marL="0" lvl="0" indent="0" algn="l" rtl="0">
              <a:spcBef>
                <a:spcPts val="0"/>
              </a:spcBef>
              <a:spcAft>
                <a:spcPts val="0"/>
              </a:spcAft>
              <a:buNone/>
            </a:pPr>
            <a:endParaRPr dirty="0">
              <a:solidFill>
                <a:schemeClr val="dk1"/>
              </a:solidFill>
              <a:latin typeface="Montserrat"/>
              <a:ea typeface="Montserrat"/>
              <a:cs typeface="Montserrat"/>
              <a:sym typeface="Montserrat"/>
            </a:endParaRPr>
          </a:p>
        </p:txBody>
      </p:sp>
      <p:grpSp>
        <p:nvGrpSpPr>
          <p:cNvPr id="428" name="Google Shape;428;p29"/>
          <p:cNvGrpSpPr/>
          <p:nvPr/>
        </p:nvGrpSpPr>
        <p:grpSpPr>
          <a:xfrm>
            <a:off x="7343346" y="521001"/>
            <a:ext cx="1138404" cy="288582"/>
            <a:chOff x="299295" y="2006438"/>
            <a:chExt cx="2659200" cy="674100"/>
          </a:xfrm>
        </p:grpSpPr>
        <p:sp>
          <p:nvSpPr>
            <p:cNvPr id="429" name="Google Shape;429;p29"/>
            <p:cNvSpPr/>
            <p:nvPr/>
          </p:nvSpPr>
          <p:spPr>
            <a:xfrm>
              <a:off x="299295" y="2006438"/>
              <a:ext cx="2659200" cy="674100"/>
            </a:xfrm>
            <a:prstGeom prst="roundRect">
              <a:avLst>
                <a:gd name="adj" fmla="val 50000"/>
              </a:avLst>
            </a:prstGeom>
            <a:solidFill>
              <a:srgbClr val="EF413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sp>
          <p:nvSpPr>
            <p:cNvPr id="430" name="Google Shape;430;p29"/>
            <p:cNvSpPr/>
            <p:nvPr/>
          </p:nvSpPr>
          <p:spPr>
            <a:xfrm>
              <a:off x="702809" y="2100853"/>
              <a:ext cx="1852200" cy="4854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b="1" i="0" u="none" strike="noStrike" cap="none">
                  <a:solidFill>
                    <a:schemeClr val="lt2"/>
                  </a:solidFill>
                  <a:latin typeface="Century Gothic"/>
                  <a:ea typeface="Century Gothic"/>
                  <a:cs typeface="Century Gothic"/>
                  <a:sym typeface="Century Gothic"/>
                </a:rPr>
                <a:t>Concept </a:t>
              </a:r>
              <a:endParaRPr sz="900" b="1" i="0" u="none" strike="noStrike" cap="none">
                <a:solidFill>
                  <a:schemeClr val="lt2"/>
                </a:solidFill>
                <a:latin typeface="Century Gothic"/>
                <a:ea typeface="Century Gothic"/>
                <a:cs typeface="Century Gothic"/>
                <a:sym typeface="Century Gothic"/>
              </a:endParaRPr>
            </a:p>
          </p:txBody>
        </p:sp>
      </p:grpSp>
      <p:sp>
        <p:nvSpPr>
          <p:cNvPr id="431" name="Google Shape;431;p29"/>
          <p:cNvSpPr/>
          <p:nvPr/>
        </p:nvSpPr>
        <p:spPr>
          <a:xfrm>
            <a:off x="7504637" y="486864"/>
            <a:ext cx="1040930" cy="356830"/>
          </a:xfrm>
          <a:custGeom>
            <a:avLst/>
            <a:gdLst/>
            <a:ahLst/>
            <a:cxnLst/>
            <a:rect l="l" t="t" r="r" b="b"/>
            <a:pathLst>
              <a:path w="2434925" h="834690" extrusionOk="0">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w="12700" cap="flat" cmpd="sng">
            <a:solidFill>
              <a:schemeClr val="accent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30"/>
          <p:cNvSpPr txBox="1">
            <a:spLocks noGrp="1"/>
          </p:cNvSpPr>
          <p:nvPr>
            <p:ph type="title" idx="4294967295"/>
          </p:nvPr>
        </p:nvSpPr>
        <p:spPr>
          <a:xfrm>
            <a:off x="725550" y="365275"/>
            <a:ext cx="7756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EF4138"/>
              </a:buClr>
              <a:buSzPts val="1400"/>
              <a:buFont typeface="Montserrat"/>
              <a:buNone/>
            </a:pPr>
            <a:r>
              <a:rPr lang="en" sz="3300" b="1">
                <a:solidFill>
                  <a:srgbClr val="EF4138"/>
                </a:solidFill>
              </a:rPr>
              <a:t>NFL View</a:t>
            </a:r>
            <a:endParaRPr sz="3300" b="1">
              <a:solidFill>
                <a:srgbClr val="EF4138"/>
              </a:solidFill>
              <a:latin typeface="Montserrat"/>
              <a:ea typeface="Montserrat"/>
              <a:cs typeface="Montserrat"/>
              <a:sym typeface="Montserrat"/>
            </a:endParaRPr>
          </a:p>
        </p:txBody>
      </p:sp>
      <p:sp>
        <p:nvSpPr>
          <p:cNvPr id="437" name="Google Shape;437;p30"/>
          <p:cNvSpPr txBox="1"/>
          <p:nvPr/>
        </p:nvSpPr>
        <p:spPr>
          <a:xfrm>
            <a:off x="725550" y="1013113"/>
            <a:ext cx="6670500" cy="2519700"/>
          </a:xfrm>
          <a:prstGeom prst="rect">
            <a:avLst/>
          </a:prstGeom>
          <a:noFill/>
          <a:ln>
            <a:noFill/>
          </a:ln>
        </p:spPr>
        <p:txBody>
          <a:bodyPr spcFirstLastPara="1" wrap="square" lIns="68575" tIns="68575" rIns="68575" bIns="68575" anchor="t" anchorCtr="0">
            <a:spAutoFit/>
          </a:bodyPr>
          <a:lstStyle/>
          <a:p>
            <a:pPr marL="0" marR="0" lvl="0" indent="0" algn="l" rtl="0">
              <a:spcBef>
                <a:spcPts val="0"/>
              </a:spcBef>
              <a:spcAft>
                <a:spcPts val="0"/>
              </a:spcAft>
              <a:buNone/>
            </a:pPr>
            <a:r>
              <a:rPr lang="en" b="1">
                <a:solidFill>
                  <a:srgbClr val="000099"/>
                </a:solidFill>
                <a:latin typeface="Montserrat"/>
                <a:ea typeface="Montserrat"/>
                <a:cs typeface="Montserrat"/>
                <a:sym typeface="Montserrat"/>
              </a:rPr>
              <a:t>Use Case </a:t>
            </a:r>
            <a:endParaRPr b="1">
              <a:solidFill>
                <a:srgbClr val="000099"/>
              </a:solidFill>
              <a:latin typeface="Montserrat"/>
              <a:ea typeface="Montserrat"/>
              <a:cs typeface="Montserrat"/>
              <a:sym typeface="Montserrat"/>
            </a:endParaRPr>
          </a:p>
          <a:p>
            <a:pPr marL="0" marR="0" lvl="0" indent="0" algn="l" rtl="0">
              <a:spcBef>
                <a:spcPts val="0"/>
              </a:spcBef>
              <a:spcAft>
                <a:spcPts val="0"/>
              </a:spcAft>
              <a:buNone/>
            </a:pPr>
            <a:endParaRPr b="1">
              <a:solidFill>
                <a:srgbClr val="000099"/>
              </a:solidFill>
              <a:latin typeface="Montserrat"/>
              <a:ea typeface="Montserrat"/>
              <a:cs typeface="Montserrat"/>
              <a:sym typeface="Montserrat"/>
            </a:endParaRPr>
          </a:p>
          <a:p>
            <a:pPr marL="457200" lvl="0" indent="-317500" algn="l" rtl="0">
              <a:lnSpc>
                <a:spcPct val="115000"/>
              </a:lnSpc>
              <a:spcBef>
                <a:spcPts val="0"/>
              </a:spcBef>
              <a:spcAft>
                <a:spcPts val="0"/>
              </a:spcAft>
              <a:buClr>
                <a:srgbClr val="EF4138"/>
              </a:buClr>
              <a:buSzPts val="1400"/>
              <a:buFont typeface="Montserrat"/>
              <a:buChar char="➔"/>
            </a:pPr>
            <a:r>
              <a:rPr lang="en" b="1">
                <a:solidFill>
                  <a:schemeClr val="dk1"/>
                </a:solidFill>
                <a:latin typeface="Montserrat"/>
                <a:ea typeface="Montserrat"/>
                <a:cs typeface="Montserrat"/>
                <a:sym typeface="Montserrat"/>
              </a:rPr>
              <a:t>Player Health and Safety</a:t>
            </a:r>
            <a:r>
              <a:rPr lang="en">
                <a:solidFill>
                  <a:schemeClr val="dk1"/>
                </a:solidFill>
                <a:latin typeface="Montserrat"/>
                <a:ea typeface="Montserrat"/>
                <a:cs typeface="Montserrat"/>
                <a:sym typeface="Montserrat"/>
              </a:rPr>
              <a:t>: Proactively preventing injuries by identifying game events that enhance player safety.</a:t>
            </a:r>
            <a:endParaRPr>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rgbClr val="EF4138"/>
              </a:buClr>
              <a:buSzPts val="1400"/>
              <a:buFont typeface="Montserrat"/>
              <a:buChar char="➔"/>
            </a:pPr>
            <a:r>
              <a:rPr lang="en" b="1">
                <a:solidFill>
                  <a:schemeClr val="dk1"/>
                </a:solidFill>
                <a:latin typeface="Montserrat"/>
                <a:ea typeface="Montserrat"/>
                <a:cs typeface="Montserrat"/>
                <a:sym typeface="Montserrat"/>
              </a:rPr>
              <a:t>Identifying Game events:</a:t>
            </a:r>
            <a:r>
              <a:rPr lang="en">
                <a:solidFill>
                  <a:schemeClr val="dk1"/>
                </a:solidFill>
                <a:latin typeface="Montserrat"/>
                <a:ea typeface="Montserrat"/>
                <a:cs typeface="Montserrat"/>
                <a:sym typeface="Montserrat"/>
              </a:rPr>
              <a:t> Identifying game events can help improve player engagement and enhance the overall gaming experience.</a:t>
            </a:r>
            <a:endParaRPr>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rgbClr val="EF4138"/>
              </a:buClr>
              <a:buSzPts val="1400"/>
              <a:buFont typeface="Montserrat"/>
              <a:buChar char="➔"/>
            </a:pPr>
            <a:r>
              <a:rPr lang="en" b="1">
                <a:solidFill>
                  <a:schemeClr val="dk1"/>
                </a:solidFill>
                <a:latin typeface="Montserrat"/>
                <a:ea typeface="Montserrat"/>
                <a:cs typeface="Montserrat"/>
                <a:sym typeface="Montserrat"/>
              </a:rPr>
              <a:t>Skeletal tracking</a:t>
            </a:r>
            <a:r>
              <a:rPr lang="en" sz="1200">
                <a:solidFill>
                  <a:srgbClr val="374151"/>
                </a:solidFill>
                <a:latin typeface="Roboto"/>
                <a:ea typeface="Roboto"/>
                <a:cs typeface="Roboto"/>
                <a:sym typeface="Roboto"/>
              </a:rPr>
              <a:t>: </a:t>
            </a:r>
            <a:r>
              <a:rPr lang="en">
                <a:solidFill>
                  <a:schemeClr val="dk1"/>
                </a:solidFill>
                <a:latin typeface="Montserrat"/>
                <a:ea typeface="Montserrat"/>
                <a:cs typeface="Montserrat"/>
                <a:sym typeface="Montserrat"/>
              </a:rPr>
              <a:t>This is implemented to proactively enhance player safety and performance.</a:t>
            </a:r>
            <a:endParaRPr>
              <a:solidFill>
                <a:schemeClr val="dk1"/>
              </a:solidFill>
              <a:latin typeface="Montserrat"/>
              <a:ea typeface="Montserrat"/>
              <a:cs typeface="Montserrat"/>
              <a:sym typeface="Montserrat"/>
            </a:endParaRPr>
          </a:p>
          <a:p>
            <a:pPr marL="0" marR="0" lvl="0" indent="0" algn="l" rtl="0">
              <a:spcBef>
                <a:spcPts val="0"/>
              </a:spcBef>
              <a:spcAft>
                <a:spcPts val="0"/>
              </a:spcAft>
              <a:buNone/>
            </a:pPr>
            <a:endParaRPr b="1">
              <a:solidFill>
                <a:srgbClr val="000099"/>
              </a:solidFill>
              <a:latin typeface="Montserrat"/>
              <a:ea typeface="Montserrat"/>
              <a:cs typeface="Montserrat"/>
              <a:sym typeface="Montserrat"/>
            </a:endParaRPr>
          </a:p>
        </p:txBody>
      </p:sp>
      <p:sp>
        <p:nvSpPr>
          <p:cNvPr id="438" name="Google Shape;438;p30"/>
          <p:cNvSpPr/>
          <p:nvPr/>
        </p:nvSpPr>
        <p:spPr>
          <a:xfrm>
            <a:off x="8188099" y="4031069"/>
            <a:ext cx="772176" cy="912829"/>
          </a:xfrm>
          <a:custGeom>
            <a:avLst/>
            <a:gdLst/>
            <a:ahLst/>
            <a:cxnLst/>
            <a:rect l="l" t="t" r="r" b="b"/>
            <a:pathLst>
              <a:path w="12869601" h="6638759" extrusionOk="0">
                <a:moveTo>
                  <a:pt x="0" y="0"/>
                </a:moveTo>
                <a:lnTo>
                  <a:pt x="12869601" y="0"/>
                </a:lnTo>
                <a:lnTo>
                  <a:pt x="12869601" y="6638759"/>
                </a:lnTo>
                <a:lnTo>
                  <a:pt x="0" y="6638759"/>
                </a:lnTo>
                <a:lnTo>
                  <a:pt x="0" y="0"/>
                </a:lnTo>
                <a:close/>
              </a:path>
            </a:pathLst>
          </a:custGeom>
          <a:blipFill rotWithShape="1">
            <a:blip r:embed="rId3">
              <a:alphaModFix/>
            </a:blip>
            <a:stretch>
              <a:fillRect l="-102802" t="-28588" r="-109932" b="-27147"/>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b="0" i="0" u="none" strike="noStrike" cap="none">
              <a:solidFill>
                <a:srgbClr val="000000"/>
              </a:solidFill>
              <a:latin typeface="Calibri"/>
              <a:ea typeface="Calibri"/>
              <a:cs typeface="Calibri"/>
              <a:sym typeface="Calibri"/>
            </a:endParaRPr>
          </a:p>
        </p:txBody>
      </p:sp>
      <p:sp>
        <p:nvSpPr>
          <p:cNvPr id="439" name="Google Shape;439;p30"/>
          <p:cNvSpPr txBox="1"/>
          <p:nvPr/>
        </p:nvSpPr>
        <p:spPr>
          <a:xfrm>
            <a:off x="781875" y="3337650"/>
            <a:ext cx="7213200" cy="1262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000099"/>
                </a:solidFill>
                <a:latin typeface="Montserrat"/>
                <a:ea typeface="Montserrat"/>
                <a:cs typeface="Montserrat"/>
                <a:sym typeface="Montserrat"/>
              </a:rPr>
              <a:t>Next Steps </a:t>
            </a:r>
            <a:endParaRPr b="1">
              <a:solidFill>
                <a:srgbClr val="000099"/>
              </a:solidFill>
              <a:latin typeface="Montserrat"/>
              <a:ea typeface="Montserrat"/>
              <a:cs typeface="Montserrat"/>
              <a:sym typeface="Montserrat"/>
            </a:endParaRPr>
          </a:p>
          <a:p>
            <a:pPr marL="0" lvl="0" indent="0" algn="l" rtl="0">
              <a:spcBef>
                <a:spcPts val="0"/>
              </a:spcBef>
              <a:spcAft>
                <a:spcPts val="0"/>
              </a:spcAft>
              <a:buNone/>
            </a:pPr>
            <a:endParaRPr b="1">
              <a:solidFill>
                <a:srgbClr val="000099"/>
              </a:solidFill>
              <a:latin typeface="Montserrat"/>
              <a:ea typeface="Montserrat"/>
              <a:cs typeface="Montserrat"/>
              <a:sym typeface="Montserrat"/>
            </a:endParaRPr>
          </a:p>
          <a:p>
            <a:pPr marL="457200" lvl="0" indent="-317500" algn="l" rtl="0">
              <a:spcBef>
                <a:spcPts val="0"/>
              </a:spcBef>
              <a:spcAft>
                <a:spcPts val="0"/>
              </a:spcAft>
              <a:buClr>
                <a:srgbClr val="EF4138"/>
              </a:buClr>
              <a:buSzPts val="1400"/>
              <a:buFont typeface="Montserrat"/>
              <a:buChar char="➔"/>
            </a:pPr>
            <a:r>
              <a:rPr lang="en">
                <a:solidFill>
                  <a:schemeClr val="dk1"/>
                </a:solidFill>
                <a:latin typeface="Montserrat"/>
                <a:ea typeface="Montserrat"/>
                <a:cs typeface="Montserrat"/>
                <a:sym typeface="Montserrat"/>
              </a:rPr>
              <a:t>Collaborating with the PHS team to create a comprehensive plan for business testing, cost analysis, and project timeline development.</a:t>
            </a:r>
            <a:endParaRPr b="1">
              <a:solidFill>
                <a:schemeClr val="dk1"/>
              </a:solidFill>
              <a:latin typeface="Montserrat"/>
              <a:ea typeface="Montserrat"/>
              <a:cs typeface="Montserrat"/>
              <a:sym typeface="Montserrat"/>
            </a:endParaRPr>
          </a:p>
          <a:p>
            <a:pPr marL="0" lvl="0" indent="0" algn="l" rtl="0">
              <a:spcBef>
                <a:spcPts val="0"/>
              </a:spcBef>
              <a:spcAft>
                <a:spcPts val="0"/>
              </a:spcAft>
              <a:buNone/>
            </a:pPr>
            <a:endParaRPr>
              <a:solidFill>
                <a:schemeClr val="dk1"/>
              </a:solidFill>
              <a:latin typeface="Montserrat"/>
              <a:ea typeface="Montserrat"/>
              <a:cs typeface="Montserrat"/>
              <a:sym typeface="Montserrat"/>
            </a:endParaRPr>
          </a:p>
        </p:txBody>
      </p:sp>
      <p:grpSp>
        <p:nvGrpSpPr>
          <p:cNvPr id="440" name="Google Shape;440;p30"/>
          <p:cNvGrpSpPr/>
          <p:nvPr/>
        </p:nvGrpSpPr>
        <p:grpSpPr>
          <a:xfrm>
            <a:off x="7343346" y="521001"/>
            <a:ext cx="1138404" cy="288582"/>
            <a:chOff x="299295" y="2006438"/>
            <a:chExt cx="2659200" cy="674100"/>
          </a:xfrm>
        </p:grpSpPr>
        <p:sp>
          <p:nvSpPr>
            <p:cNvPr id="441" name="Google Shape;441;p30"/>
            <p:cNvSpPr/>
            <p:nvPr/>
          </p:nvSpPr>
          <p:spPr>
            <a:xfrm>
              <a:off x="299295" y="2006438"/>
              <a:ext cx="2659200" cy="674100"/>
            </a:xfrm>
            <a:prstGeom prst="roundRect">
              <a:avLst>
                <a:gd name="adj" fmla="val 50000"/>
              </a:avLst>
            </a:prstGeom>
            <a:solidFill>
              <a:srgbClr val="EF4138"/>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sp>
          <p:nvSpPr>
            <p:cNvPr id="442" name="Google Shape;442;p30"/>
            <p:cNvSpPr/>
            <p:nvPr/>
          </p:nvSpPr>
          <p:spPr>
            <a:xfrm>
              <a:off x="702809" y="2100853"/>
              <a:ext cx="1852200" cy="4854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b="1" i="0" u="none" strike="noStrike" cap="none">
                  <a:solidFill>
                    <a:schemeClr val="lt2"/>
                  </a:solidFill>
                  <a:latin typeface="Century Gothic"/>
                  <a:ea typeface="Century Gothic"/>
                  <a:cs typeface="Century Gothic"/>
                  <a:sym typeface="Century Gothic"/>
                </a:rPr>
                <a:t>Concept </a:t>
              </a:r>
              <a:endParaRPr sz="900" b="1" i="0" u="none" strike="noStrike" cap="none">
                <a:solidFill>
                  <a:schemeClr val="lt2"/>
                </a:solidFill>
                <a:latin typeface="Century Gothic"/>
                <a:ea typeface="Century Gothic"/>
                <a:cs typeface="Century Gothic"/>
                <a:sym typeface="Century Gothic"/>
              </a:endParaRPr>
            </a:p>
          </p:txBody>
        </p:sp>
      </p:grpSp>
      <p:sp>
        <p:nvSpPr>
          <p:cNvPr id="443" name="Google Shape;443;p30"/>
          <p:cNvSpPr/>
          <p:nvPr/>
        </p:nvSpPr>
        <p:spPr>
          <a:xfrm>
            <a:off x="7504637" y="486864"/>
            <a:ext cx="1040930" cy="356830"/>
          </a:xfrm>
          <a:custGeom>
            <a:avLst/>
            <a:gdLst/>
            <a:ahLst/>
            <a:cxnLst/>
            <a:rect l="l" t="t" r="r" b="b"/>
            <a:pathLst>
              <a:path w="2434925" h="834690" extrusionOk="0">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w="12700" cap="flat" cmpd="sng">
            <a:solidFill>
              <a:schemeClr val="accent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accen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31"/>
          <p:cNvSpPr txBox="1"/>
          <p:nvPr/>
        </p:nvSpPr>
        <p:spPr>
          <a:xfrm>
            <a:off x="1268400" y="1163138"/>
            <a:ext cx="6670500" cy="7851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b="1">
                <a:solidFill>
                  <a:srgbClr val="000099"/>
                </a:solidFill>
                <a:latin typeface="Montserrat"/>
                <a:ea typeface="Montserrat"/>
                <a:cs typeface="Montserrat"/>
                <a:sym typeface="Montserrat"/>
              </a:rPr>
              <a:t>Overall Scope</a:t>
            </a:r>
            <a:r>
              <a:rPr lang="en" b="1">
                <a:solidFill>
                  <a:schemeClr val="dk1"/>
                </a:solidFill>
                <a:latin typeface="Montserrat"/>
                <a:ea typeface="Montserrat"/>
                <a:cs typeface="Montserrat"/>
                <a:sym typeface="Montserrat"/>
              </a:rPr>
              <a:t>: </a:t>
            </a:r>
            <a:r>
              <a:rPr lang="en">
                <a:solidFill>
                  <a:schemeClr val="dk1"/>
                </a:solidFill>
                <a:latin typeface="Montserrat"/>
                <a:ea typeface="Montserrat"/>
                <a:cs typeface="Montserrat"/>
                <a:sym typeface="Montserrat"/>
              </a:rPr>
              <a:t>NFL View's primary emphasis is player health and safety. Their concentration encompasses player-related elements such as player speed, impact force and injury prevention.</a:t>
            </a:r>
            <a:endParaRPr b="1">
              <a:solidFill>
                <a:srgbClr val="000099"/>
              </a:solidFill>
              <a:latin typeface="Montserrat"/>
              <a:ea typeface="Montserrat"/>
              <a:cs typeface="Montserrat"/>
              <a:sym typeface="Montserrat"/>
            </a:endParaRPr>
          </a:p>
        </p:txBody>
      </p:sp>
      <p:sp>
        <p:nvSpPr>
          <p:cNvPr id="449" name="Google Shape;449;p31"/>
          <p:cNvSpPr txBox="1">
            <a:spLocks noGrp="1"/>
          </p:cNvSpPr>
          <p:nvPr>
            <p:ph type="title" idx="4294967295"/>
          </p:nvPr>
        </p:nvSpPr>
        <p:spPr>
          <a:xfrm>
            <a:off x="693900" y="327700"/>
            <a:ext cx="61788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EF4138"/>
              </a:buClr>
              <a:buSzPts val="1400"/>
              <a:buFont typeface="Montserrat"/>
              <a:buNone/>
            </a:pPr>
            <a:r>
              <a:rPr lang="en" sz="3300" b="1">
                <a:solidFill>
                  <a:srgbClr val="EF4138"/>
                </a:solidFill>
              </a:rPr>
              <a:t>NFL View</a:t>
            </a:r>
            <a:endParaRPr sz="3300" b="1">
              <a:solidFill>
                <a:srgbClr val="EF4138"/>
              </a:solidFill>
              <a:latin typeface="Montserrat"/>
              <a:ea typeface="Montserrat"/>
              <a:cs typeface="Montserrat"/>
              <a:sym typeface="Montserrat"/>
            </a:endParaRPr>
          </a:p>
        </p:txBody>
      </p:sp>
      <p:pic>
        <p:nvPicPr>
          <p:cNvPr id="450" name="Google Shape;450;p31"/>
          <p:cNvPicPr preferRelativeResize="0"/>
          <p:nvPr/>
        </p:nvPicPr>
        <p:blipFill>
          <a:blip r:embed="rId3">
            <a:alphaModFix/>
          </a:blip>
          <a:stretch>
            <a:fillRect/>
          </a:stretch>
        </p:blipFill>
        <p:spPr>
          <a:xfrm>
            <a:off x="865225" y="1185014"/>
            <a:ext cx="392750" cy="392750"/>
          </a:xfrm>
          <a:prstGeom prst="rect">
            <a:avLst/>
          </a:prstGeom>
          <a:noFill/>
          <a:ln>
            <a:noFill/>
          </a:ln>
        </p:spPr>
      </p:pic>
      <p:sp>
        <p:nvSpPr>
          <p:cNvPr id="451" name="Google Shape;451;p31"/>
          <p:cNvSpPr txBox="1"/>
          <p:nvPr/>
        </p:nvSpPr>
        <p:spPr>
          <a:xfrm>
            <a:off x="865225" y="2097786"/>
            <a:ext cx="7890900" cy="246526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dirty="0">
                <a:solidFill>
                  <a:srgbClr val="000099"/>
                </a:solidFill>
                <a:latin typeface="Montserrat"/>
                <a:ea typeface="Montserrat"/>
                <a:cs typeface="Montserrat"/>
                <a:sym typeface="Montserrat"/>
              </a:rPr>
              <a:t>Strategic Alignment</a:t>
            </a:r>
          </a:p>
          <a:p>
            <a:pPr marL="457200" lvl="0" indent="-317500" algn="l" rtl="0">
              <a:lnSpc>
                <a:spcPct val="115000"/>
              </a:lnSpc>
              <a:spcBef>
                <a:spcPts val="0"/>
              </a:spcBef>
              <a:spcAft>
                <a:spcPts val="0"/>
              </a:spcAft>
              <a:buClr>
                <a:srgbClr val="EF4138"/>
              </a:buClr>
              <a:buSzPts val="1400"/>
              <a:buFont typeface="Montserrat"/>
              <a:buChar char="➔"/>
            </a:pPr>
            <a:r>
              <a:rPr lang="en-US" dirty="0">
                <a:solidFill>
                  <a:schemeClr val="dk1"/>
                </a:solidFill>
                <a:latin typeface="Montserrat"/>
                <a:ea typeface="Montserrat"/>
                <a:cs typeface="Montserrat"/>
                <a:sym typeface="Montserrat"/>
              </a:rPr>
              <a:t>New Technology</a:t>
            </a:r>
          </a:p>
          <a:p>
            <a:pPr marL="457200" lvl="0" indent="-317500" algn="l" rtl="0">
              <a:lnSpc>
                <a:spcPct val="115000"/>
              </a:lnSpc>
              <a:spcBef>
                <a:spcPts val="0"/>
              </a:spcBef>
              <a:spcAft>
                <a:spcPts val="0"/>
              </a:spcAft>
              <a:buClr>
                <a:srgbClr val="EF4138"/>
              </a:buClr>
              <a:buSzPts val="1400"/>
              <a:buFont typeface="Montserrat"/>
              <a:buChar char="➔"/>
            </a:pPr>
            <a:r>
              <a:rPr lang="en-US" dirty="0">
                <a:solidFill>
                  <a:schemeClr val="dk1"/>
                </a:solidFill>
                <a:latin typeface="Montserrat"/>
                <a:ea typeface="Montserrat"/>
                <a:cs typeface="Montserrat"/>
                <a:sym typeface="Montserrat"/>
              </a:rPr>
              <a:t>Non-Game Media</a:t>
            </a:r>
          </a:p>
          <a:p>
            <a:pPr marL="457200" lvl="0" indent="-317500" algn="l" rtl="0">
              <a:lnSpc>
                <a:spcPct val="115000"/>
              </a:lnSpc>
              <a:spcBef>
                <a:spcPts val="0"/>
              </a:spcBef>
              <a:spcAft>
                <a:spcPts val="0"/>
              </a:spcAft>
              <a:buClr>
                <a:srgbClr val="EF4138"/>
              </a:buClr>
              <a:buSzPts val="1400"/>
              <a:buFont typeface="Montserrat"/>
              <a:buChar char="➔"/>
            </a:pPr>
            <a:r>
              <a:rPr lang="en-US" dirty="0">
                <a:solidFill>
                  <a:schemeClr val="dk1"/>
                </a:solidFill>
                <a:latin typeface="Montserrat"/>
                <a:ea typeface="Montserrat"/>
                <a:cs typeface="Montserrat"/>
                <a:sym typeface="Montserrat"/>
              </a:rPr>
              <a:t>International Expansion</a:t>
            </a:r>
          </a:p>
          <a:p>
            <a:pPr marL="0" lvl="0" indent="0" algn="l" rtl="0">
              <a:spcBef>
                <a:spcPts val="0"/>
              </a:spcBef>
              <a:spcAft>
                <a:spcPts val="0"/>
              </a:spcAft>
              <a:buNone/>
            </a:pPr>
            <a:endParaRPr sz="1000" dirty="0">
              <a:solidFill>
                <a:schemeClr val="dk1"/>
              </a:solidFill>
            </a:endParaRPr>
          </a:p>
          <a:p>
            <a:pPr marL="0" lvl="0" indent="0" algn="l" rtl="0">
              <a:lnSpc>
                <a:spcPct val="115000"/>
              </a:lnSpc>
              <a:spcBef>
                <a:spcPts val="0"/>
              </a:spcBef>
              <a:spcAft>
                <a:spcPts val="0"/>
              </a:spcAft>
              <a:buNone/>
            </a:pPr>
            <a:endParaRPr sz="1000" dirty="0">
              <a:solidFill>
                <a:schemeClr val="dk1"/>
              </a:solidFill>
              <a:highlight>
                <a:srgbClr val="F5F5F5"/>
              </a:highlight>
              <a:latin typeface="Montserrat"/>
              <a:ea typeface="Montserrat"/>
              <a:cs typeface="Montserrat"/>
              <a:sym typeface="Montserrat"/>
            </a:endParaRPr>
          </a:p>
          <a:p>
            <a:pPr marL="0" lvl="0" indent="0" algn="l" rtl="0">
              <a:lnSpc>
                <a:spcPct val="115000"/>
              </a:lnSpc>
              <a:spcBef>
                <a:spcPts val="0"/>
              </a:spcBef>
              <a:spcAft>
                <a:spcPts val="0"/>
              </a:spcAft>
              <a:buNone/>
            </a:pPr>
            <a:r>
              <a:rPr lang="en" b="1" dirty="0">
                <a:solidFill>
                  <a:srgbClr val="000099"/>
                </a:solidFill>
                <a:latin typeface="Montserrat"/>
                <a:ea typeface="Montserrat"/>
                <a:cs typeface="Montserrat"/>
                <a:sym typeface="Montserrat"/>
              </a:rPr>
              <a:t>Phase One Goals – </a:t>
            </a:r>
            <a:r>
              <a:rPr lang="en" b="1" i="1" dirty="0">
                <a:solidFill>
                  <a:srgbClr val="000099"/>
                </a:solidFill>
                <a:latin typeface="Montserrat"/>
                <a:ea typeface="Montserrat"/>
                <a:cs typeface="Montserrat"/>
                <a:sym typeface="Montserrat"/>
              </a:rPr>
              <a:t>April 2024​</a:t>
            </a:r>
            <a:endParaRPr sz="1800" i="1" dirty="0">
              <a:solidFill>
                <a:schemeClr val="dk1"/>
              </a:solidFill>
              <a:highlight>
                <a:srgbClr val="F5F5F5"/>
              </a:highlight>
              <a:latin typeface="Montserrat"/>
              <a:ea typeface="Montserrat"/>
              <a:cs typeface="Montserrat"/>
              <a:sym typeface="Montserrat"/>
            </a:endParaRPr>
          </a:p>
          <a:p>
            <a:pPr marL="457200" lvl="0" indent="-317500" algn="l" rtl="0">
              <a:lnSpc>
                <a:spcPct val="115000"/>
              </a:lnSpc>
              <a:spcBef>
                <a:spcPts val="0"/>
              </a:spcBef>
              <a:spcAft>
                <a:spcPts val="0"/>
              </a:spcAft>
              <a:buClr>
                <a:srgbClr val="EF4138"/>
              </a:buClr>
              <a:buSzPts val="1400"/>
              <a:buFont typeface="Montserrat"/>
              <a:buChar char="➔"/>
            </a:pPr>
            <a:r>
              <a:rPr lang="en" dirty="0">
                <a:solidFill>
                  <a:schemeClr val="dk1"/>
                </a:solidFill>
                <a:latin typeface="Montserrat"/>
                <a:ea typeface="Montserrat"/>
                <a:cs typeface="Montserrat"/>
                <a:sym typeface="Montserrat"/>
              </a:rPr>
              <a:t>Direct integration of </a:t>
            </a:r>
            <a:r>
              <a:rPr lang="en" dirty="0" err="1">
                <a:solidFill>
                  <a:schemeClr val="dk1"/>
                </a:solidFill>
                <a:latin typeface="Montserrat"/>
                <a:ea typeface="Montserrat"/>
                <a:cs typeface="Montserrat"/>
                <a:sym typeface="Montserrat"/>
              </a:rPr>
              <a:t>TwelveLabs</a:t>
            </a:r>
            <a:r>
              <a:rPr lang="en" dirty="0">
                <a:solidFill>
                  <a:schemeClr val="dk1"/>
                </a:solidFill>
                <a:latin typeface="Montserrat"/>
                <a:ea typeface="Montserrat"/>
                <a:cs typeface="Montserrat"/>
                <a:sym typeface="Montserrat"/>
              </a:rPr>
              <a:t> API with </a:t>
            </a:r>
            <a:r>
              <a:rPr lang="en" dirty="0" err="1">
                <a:solidFill>
                  <a:schemeClr val="dk1"/>
                </a:solidFill>
                <a:latin typeface="Montserrat"/>
                <a:ea typeface="Montserrat"/>
                <a:cs typeface="Montserrat"/>
                <a:sym typeface="Montserrat"/>
              </a:rPr>
              <a:t>Vidispine</a:t>
            </a:r>
            <a:r>
              <a:rPr lang="en" dirty="0">
                <a:solidFill>
                  <a:schemeClr val="dk1"/>
                </a:solidFill>
                <a:latin typeface="Montserrat"/>
                <a:ea typeface="Montserrat"/>
                <a:cs typeface="Montserrat"/>
                <a:sym typeface="Montserrat"/>
              </a:rPr>
              <a:t> Media Asset Management ​</a:t>
            </a:r>
            <a:endParaRPr dirty="0">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rgbClr val="EF4138"/>
              </a:buClr>
              <a:buSzPts val="1400"/>
              <a:buFont typeface="Montserrat"/>
              <a:buChar char="➔"/>
            </a:pPr>
            <a:r>
              <a:rPr lang="en" dirty="0">
                <a:solidFill>
                  <a:schemeClr val="dk1"/>
                </a:solidFill>
                <a:latin typeface="Montserrat"/>
                <a:ea typeface="Montserrat"/>
                <a:cs typeface="Montserrat"/>
                <a:sym typeface="Montserrat"/>
              </a:rPr>
              <a:t>Build, test and refine integration and validate results​</a:t>
            </a:r>
            <a:endParaRPr dirty="0">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rgbClr val="EF4138"/>
              </a:buClr>
              <a:buSzPts val="1400"/>
              <a:buFont typeface="Montserrat"/>
              <a:buChar char="➔"/>
            </a:pPr>
            <a:r>
              <a:rPr lang="en" dirty="0">
                <a:solidFill>
                  <a:schemeClr val="dk1"/>
                </a:solidFill>
                <a:latin typeface="Montserrat"/>
                <a:ea typeface="Montserrat"/>
                <a:cs typeface="Montserrat"/>
                <a:sym typeface="Montserrat"/>
              </a:rPr>
              <a:t>Identify and engage power users to test and provide feedback​</a:t>
            </a:r>
            <a:endParaRPr dirty="0">
              <a:solidFill>
                <a:schemeClr val="dk1"/>
              </a:solidFill>
              <a:latin typeface="Montserrat"/>
              <a:ea typeface="Montserrat"/>
              <a:cs typeface="Montserrat"/>
              <a:sym typeface="Montserrat"/>
            </a:endParaRPr>
          </a:p>
        </p:txBody>
      </p:sp>
      <p:sp>
        <p:nvSpPr>
          <p:cNvPr id="3" name="TextBox 2">
            <a:extLst>
              <a:ext uri="{FF2B5EF4-FFF2-40B4-BE49-F238E27FC236}">
                <a16:creationId xmlns:a16="http://schemas.microsoft.com/office/drawing/2014/main" id="{5DA3CC28-CE70-1CC4-527E-191761CCF42F}"/>
              </a:ext>
            </a:extLst>
          </p:cNvPr>
          <p:cNvSpPr txBox="1"/>
          <p:nvPr/>
        </p:nvSpPr>
        <p:spPr>
          <a:xfrm>
            <a:off x="4381168" y="2097786"/>
            <a:ext cx="3706775" cy="954107"/>
          </a:xfrm>
          <a:prstGeom prst="rect">
            <a:avLst/>
          </a:prstGeom>
          <a:noFill/>
        </p:spPr>
        <p:txBody>
          <a:bodyPr wrap="square">
            <a:spAutoFit/>
          </a:bodyPr>
          <a:lstStyle/>
          <a:p>
            <a:pPr marL="0" lvl="0" indent="0" algn="l" rtl="0">
              <a:spcBef>
                <a:spcPts val="0"/>
              </a:spcBef>
              <a:spcAft>
                <a:spcPts val="0"/>
              </a:spcAft>
              <a:buNone/>
            </a:pPr>
            <a:r>
              <a:rPr lang="en-US" b="1" dirty="0">
                <a:solidFill>
                  <a:srgbClr val="000099"/>
                </a:solidFill>
                <a:latin typeface="Montserrat"/>
                <a:ea typeface="Montserrat"/>
                <a:cs typeface="Montserrat"/>
                <a:sym typeface="Montserrat"/>
              </a:rPr>
              <a:t>POC Completed </a:t>
            </a:r>
          </a:p>
          <a:p>
            <a:pPr marL="0" lvl="0" indent="0" algn="l" rtl="0">
              <a:spcBef>
                <a:spcPts val="0"/>
              </a:spcBef>
              <a:spcAft>
                <a:spcPts val="0"/>
              </a:spcAft>
              <a:buNone/>
            </a:pPr>
            <a:r>
              <a:rPr lang="en-US" b="1" i="1" dirty="0">
                <a:solidFill>
                  <a:srgbClr val="000099"/>
                </a:solidFill>
                <a:latin typeface="Montserrat"/>
                <a:ea typeface="Montserrat"/>
                <a:cs typeface="Montserrat"/>
                <a:sym typeface="Montserrat"/>
              </a:rPr>
              <a:t>June - October​</a:t>
            </a:r>
            <a:endParaRPr lang="en-US" sz="2800" b="1" i="1" dirty="0">
              <a:solidFill>
                <a:schemeClr val="dk1"/>
              </a:solidFill>
              <a:highlight>
                <a:srgbClr val="F5F5F5"/>
              </a:highlight>
              <a:latin typeface="Montserrat"/>
              <a:ea typeface="Montserrat"/>
              <a:cs typeface="Montserrat"/>
              <a:sym typeface="Montserrat"/>
            </a:endParaRPr>
          </a:p>
          <a:p>
            <a:pPr marL="0" lvl="0" indent="0" algn="l" rtl="0">
              <a:spcBef>
                <a:spcPts val="0"/>
              </a:spcBef>
              <a:spcAft>
                <a:spcPts val="0"/>
              </a:spcAft>
              <a:buNone/>
            </a:pPr>
            <a:r>
              <a:rPr lang="en-US" sz="1400" dirty="0">
                <a:solidFill>
                  <a:schemeClr val="dk1"/>
                </a:solidFill>
                <a:latin typeface="Montserrat"/>
                <a:ea typeface="Montserrat"/>
                <a:cs typeface="Montserrat"/>
                <a:sym typeface="Montserrat"/>
              </a:rPr>
              <a:t>100 hours of NFL content indexed, 10 taxonomies fine-tuned​]</a:t>
            </a:r>
            <a:endParaRPr lang="en-US" sz="1400" dirty="0">
              <a:solidFill>
                <a:schemeClr val="dk1"/>
              </a:solidFill>
              <a:highlight>
                <a:srgbClr val="F5F5F5"/>
              </a:highlight>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32"/>
          <p:cNvSpPr txBox="1">
            <a:spLocks noGrp="1"/>
          </p:cNvSpPr>
          <p:nvPr>
            <p:ph type="body" idx="1"/>
          </p:nvPr>
        </p:nvSpPr>
        <p:spPr>
          <a:xfrm>
            <a:off x="383136" y="752475"/>
            <a:ext cx="1316700" cy="1195500"/>
          </a:xfrm>
          <a:prstGeom prst="rect">
            <a:avLst/>
          </a:prstGeom>
          <a:solidFill>
            <a:srgbClr val="FFFFFF"/>
          </a:solidFill>
          <a:ln>
            <a:noFill/>
          </a:ln>
        </p:spPr>
        <p:txBody>
          <a:bodyPr spcFirstLastPara="1" wrap="square" lIns="68575" tIns="34275" rIns="68575" bIns="34275" anchor="ctr" anchorCtr="0">
            <a:noAutofit/>
          </a:bodyPr>
          <a:lstStyle/>
          <a:p>
            <a:pPr marL="127000" lvl="0" indent="-133350" algn="l" rtl="0">
              <a:spcBef>
                <a:spcPts val="0"/>
              </a:spcBef>
              <a:spcAft>
                <a:spcPts val="0"/>
              </a:spcAft>
              <a:buClr>
                <a:schemeClr val="dk2"/>
              </a:buClr>
              <a:buSzPts val="700"/>
              <a:buFont typeface="Arial"/>
              <a:buChar char="•"/>
            </a:pPr>
            <a:r>
              <a:rPr lang="en">
                <a:solidFill>
                  <a:schemeClr val="dk2"/>
                </a:solidFill>
              </a:rPr>
              <a:t>Current media search process is inefficient and time consuming</a:t>
            </a:r>
            <a:endParaRPr/>
          </a:p>
          <a:p>
            <a:pPr marL="127000" lvl="0" indent="-133350" algn="l" rtl="0">
              <a:spcBef>
                <a:spcPts val="100"/>
              </a:spcBef>
              <a:spcAft>
                <a:spcPts val="0"/>
              </a:spcAft>
              <a:buClr>
                <a:schemeClr val="dk2"/>
              </a:buClr>
              <a:buSzPts val="700"/>
              <a:buFont typeface="Arial"/>
              <a:buChar char="•"/>
            </a:pPr>
            <a:r>
              <a:rPr lang="en">
                <a:solidFill>
                  <a:schemeClr val="dk2"/>
                </a:solidFill>
              </a:rPr>
              <a:t>Most content is not logged, buried deep in the archive, and impossible to find.</a:t>
            </a:r>
            <a:endParaRPr/>
          </a:p>
          <a:p>
            <a:pPr marL="127000" lvl="0" indent="-133350" algn="l" rtl="0">
              <a:spcBef>
                <a:spcPts val="100"/>
              </a:spcBef>
              <a:spcAft>
                <a:spcPts val="0"/>
              </a:spcAft>
              <a:buClr>
                <a:schemeClr val="dk2"/>
              </a:buClr>
              <a:buSzPts val="700"/>
              <a:buFont typeface="Arial"/>
              <a:buChar char="•"/>
            </a:pPr>
            <a:r>
              <a:rPr lang="en">
                <a:solidFill>
                  <a:schemeClr val="dk2"/>
                </a:solidFill>
              </a:rPr>
              <a:t>Human logging process is antiquated, costly and error prone ($25K / year)</a:t>
            </a:r>
            <a:endParaRPr>
              <a:solidFill>
                <a:schemeClr val="dk2"/>
              </a:solidFill>
              <a:latin typeface="Arial"/>
              <a:ea typeface="Arial"/>
              <a:cs typeface="Arial"/>
              <a:sym typeface="Arial"/>
            </a:endParaRPr>
          </a:p>
        </p:txBody>
      </p:sp>
      <p:sp>
        <p:nvSpPr>
          <p:cNvPr id="457" name="Google Shape;457;p32"/>
          <p:cNvSpPr txBox="1">
            <a:spLocks noGrp="1"/>
          </p:cNvSpPr>
          <p:nvPr>
            <p:ph type="body" idx="2"/>
          </p:nvPr>
        </p:nvSpPr>
        <p:spPr>
          <a:xfrm>
            <a:off x="2047125" y="798425"/>
            <a:ext cx="1513200" cy="1147800"/>
          </a:xfrm>
          <a:prstGeom prst="rect">
            <a:avLst/>
          </a:prstGeom>
          <a:solidFill>
            <a:srgbClr val="FFFFFF"/>
          </a:solidFill>
          <a:ln>
            <a:noFill/>
          </a:ln>
        </p:spPr>
        <p:txBody>
          <a:bodyPr spcFirstLastPara="1" wrap="square" lIns="68575" tIns="34275" rIns="68575" bIns="34275" anchor="ctr" anchorCtr="0">
            <a:noAutofit/>
          </a:bodyPr>
          <a:lstStyle/>
          <a:p>
            <a:pPr marL="0" lvl="0" indent="0" algn="ctr" rtl="0">
              <a:spcBef>
                <a:spcPts val="0"/>
              </a:spcBef>
              <a:spcAft>
                <a:spcPts val="0"/>
              </a:spcAft>
              <a:buClr>
                <a:schemeClr val="dk1"/>
              </a:buClr>
              <a:buSzPts val="700"/>
              <a:buNone/>
            </a:pPr>
            <a:r>
              <a:rPr lang="en" sz="800" b="1" i="1">
                <a:solidFill>
                  <a:schemeClr val="dk2"/>
                </a:solidFill>
              </a:rPr>
              <a:t>Develop an automated solution leveraging Multi-Modal AI via the TwelveLabs API to allow Natural Language search across our content library at a scale</a:t>
            </a:r>
            <a:r>
              <a:rPr lang="en" sz="800" b="1" i="1">
                <a:solidFill>
                  <a:schemeClr val="dk2"/>
                </a:solidFill>
                <a:highlight>
                  <a:srgbClr val="F5F5F5"/>
                </a:highlight>
              </a:rPr>
              <a:t>.</a:t>
            </a:r>
            <a:endParaRPr sz="800" b="1" i="1">
              <a:solidFill>
                <a:schemeClr val="dk2"/>
              </a:solidFill>
            </a:endParaRPr>
          </a:p>
        </p:txBody>
      </p:sp>
      <p:sp>
        <p:nvSpPr>
          <p:cNvPr id="458" name="Google Shape;458;p32"/>
          <p:cNvSpPr txBox="1">
            <a:spLocks noGrp="1"/>
          </p:cNvSpPr>
          <p:nvPr>
            <p:ph type="body" idx="3"/>
          </p:nvPr>
        </p:nvSpPr>
        <p:spPr>
          <a:xfrm>
            <a:off x="3907631" y="800100"/>
            <a:ext cx="1315500" cy="1147800"/>
          </a:xfrm>
          <a:prstGeom prst="rect">
            <a:avLst/>
          </a:prstGeom>
          <a:solidFill>
            <a:srgbClr val="FFFFFF"/>
          </a:solidFill>
          <a:ln>
            <a:noFill/>
          </a:ln>
        </p:spPr>
        <p:txBody>
          <a:bodyPr spcFirstLastPara="1" wrap="square" lIns="68575" tIns="34275" rIns="68575" bIns="34275" anchor="t" anchorCtr="0">
            <a:noAutofit/>
          </a:bodyPr>
          <a:lstStyle/>
          <a:p>
            <a:pPr marL="127000" lvl="0" indent="-133350" algn="l" rtl="0">
              <a:spcBef>
                <a:spcPts val="0"/>
              </a:spcBef>
              <a:spcAft>
                <a:spcPts val="0"/>
              </a:spcAft>
              <a:buClr>
                <a:srgbClr val="222222"/>
              </a:buClr>
              <a:buSzPts val="700"/>
              <a:buFont typeface="Arial"/>
              <a:buChar char="•"/>
            </a:pPr>
            <a:r>
              <a:rPr lang="en">
                <a:solidFill>
                  <a:srgbClr val="222222"/>
                </a:solidFill>
              </a:rPr>
              <a:t>Develop a natural language (AI/ML) search tool for media assets within the NFL to unlocking previously unavailable content</a:t>
            </a:r>
            <a:endParaRPr>
              <a:solidFill>
                <a:srgbClr val="222222"/>
              </a:solidFill>
              <a:latin typeface="Arial"/>
              <a:ea typeface="Arial"/>
              <a:cs typeface="Arial"/>
              <a:sym typeface="Arial"/>
            </a:endParaRPr>
          </a:p>
          <a:p>
            <a:pPr marL="127000" lvl="0" indent="-133350" algn="l" rtl="0">
              <a:spcBef>
                <a:spcPts val="100"/>
              </a:spcBef>
              <a:spcAft>
                <a:spcPts val="0"/>
              </a:spcAft>
              <a:buClr>
                <a:srgbClr val="222222"/>
              </a:buClr>
              <a:buSzPts val="700"/>
              <a:buFont typeface="Arial"/>
              <a:buChar char="•"/>
            </a:pPr>
            <a:r>
              <a:rPr lang="en">
                <a:solidFill>
                  <a:srgbClr val="222222"/>
                </a:solidFill>
              </a:rPr>
              <a:t>Train model for a customized taxonomy for exclusive use by the NFL</a:t>
            </a:r>
            <a:endParaRPr>
              <a:solidFill>
                <a:srgbClr val="222222"/>
              </a:solidFill>
            </a:endParaRPr>
          </a:p>
        </p:txBody>
      </p:sp>
      <p:sp>
        <p:nvSpPr>
          <p:cNvPr id="459" name="Google Shape;459;p32"/>
          <p:cNvSpPr txBox="1">
            <a:spLocks noGrp="1"/>
          </p:cNvSpPr>
          <p:nvPr>
            <p:ph type="body" idx="4"/>
          </p:nvPr>
        </p:nvSpPr>
        <p:spPr>
          <a:xfrm>
            <a:off x="5498584" y="799595"/>
            <a:ext cx="1356000" cy="1147800"/>
          </a:xfrm>
          <a:prstGeom prst="rect">
            <a:avLst/>
          </a:prstGeom>
          <a:solidFill>
            <a:srgbClr val="FFFFFF"/>
          </a:solidFill>
          <a:ln>
            <a:noFill/>
          </a:ln>
        </p:spPr>
        <p:txBody>
          <a:bodyPr spcFirstLastPara="1" wrap="square" lIns="68575" tIns="34275" rIns="68575" bIns="34275" anchor="t" anchorCtr="0">
            <a:noAutofit/>
          </a:bodyPr>
          <a:lstStyle/>
          <a:p>
            <a:pPr marL="127000" lvl="0" indent="-133350" algn="l" rtl="0">
              <a:spcBef>
                <a:spcPts val="0"/>
              </a:spcBef>
              <a:spcAft>
                <a:spcPts val="0"/>
              </a:spcAft>
              <a:buClr>
                <a:srgbClr val="222222"/>
              </a:buClr>
              <a:buSzPts val="700"/>
              <a:buFont typeface="Arial"/>
              <a:buChar char="•"/>
            </a:pPr>
            <a:r>
              <a:rPr lang="en">
                <a:solidFill>
                  <a:srgbClr val="222222"/>
                </a:solidFill>
              </a:rPr>
              <a:t>Faster search efficiency</a:t>
            </a:r>
            <a:endParaRPr/>
          </a:p>
          <a:p>
            <a:pPr marL="127000" lvl="0" indent="-133350" algn="l" rtl="0">
              <a:spcBef>
                <a:spcPts val="100"/>
              </a:spcBef>
              <a:spcAft>
                <a:spcPts val="0"/>
              </a:spcAft>
              <a:buClr>
                <a:srgbClr val="222222"/>
              </a:buClr>
              <a:buSzPts val="700"/>
              <a:buFont typeface="Arial"/>
              <a:buChar char="•"/>
            </a:pPr>
            <a:r>
              <a:rPr lang="en">
                <a:solidFill>
                  <a:srgbClr val="222222"/>
                </a:solidFill>
              </a:rPr>
              <a:t>Improved discovery of our media archive, uncovering assets previously buried in the archive</a:t>
            </a:r>
            <a:endParaRPr/>
          </a:p>
          <a:p>
            <a:pPr marL="127000" lvl="0" indent="-133350" algn="l" rtl="0">
              <a:spcBef>
                <a:spcPts val="100"/>
              </a:spcBef>
              <a:spcAft>
                <a:spcPts val="0"/>
              </a:spcAft>
              <a:buClr>
                <a:srgbClr val="222222"/>
              </a:buClr>
              <a:buSzPts val="700"/>
              <a:buFont typeface="Arial"/>
              <a:buChar char="•"/>
            </a:pPr>
            <a:r>
              <a:rPr lang="en">
                <a:solidFill>
                  <a:srgbClr val="222222"/>
                </a:solidFill>
              </a:rPr>
              <a:t>Quick adoption, as it utilizes UI  tools already in use</a:t>
            </a:r>
            <a:endParaRPr>
              <a:solidFill>
                <a:srgbClr val="222222"/>
              </a:solidFill>
            </a:endParaRPr>
          </a:p>
        </p:txBody>
      </p:sp>
      <p:sp>
        <p:nvSpPr>
          <p:cNvPr id="460" name="Google Shape;460;p32"/>
          <p:cNvSpPr txBox="1">
            <a:spLocks noGrp="1"/>
          </p:cNvSpPr>
          <p:nvPr>
            <p:ph type="body" idx="5"/>
          </p:nvPr>
        </p:nvSpPr>
        <p:spPr>
          <a:xfrm>
            <a:off x="7258702" y="823081"/>
            <a:ext cx="1315500" cy="1147800"/>
          </a:xfrm>
          <a:prstGeom prst="rect">
            <a:avLst/>
          </a:prstGeom>
          <a:solidFill>
            <a:srgbClr val="FFFFFF"/>
          </a:solidFill>
          <a:ln>
            <a:noFill/>
          </a:ln>
        </p:spPr>
        <p:txBody>
          <a:bodyPr spcFirstLastPara="1" wrap="square" lIns="68575" tIns="34275" rIns="68575" bIns="34275" anchor="t" anchorCtr="0">
            <a:noAutofit/>
          </a:bodyPr>
          <a:lstStyle/>
          <a:p>
            <a:pPr marL="127000" lvl="0" indent="-133350" algn="l" rtl="0">
              <a:spcBef>
                <a:spcPts val="0"/>
              </a:spcBef>
              <a:spcAft>
                <a:spcPts val="0"/>
              </a:spcAft>
              <a:buClr>
                <a:srgbClr val="222222"/>
              </a:buClr>
              <a:buSzPts val="700"/>
              <a:buFont typeface="Arial"/>
              <a:buChar char="•"/>
            </a:pPr>
            <a:r>
              <a:rPr lang="en">
                <a:solidFill>
                  <a:srgbClr val="222222"/>
                </a:solidFill>
                <a:latin typeface="Arial"/>
                <a:ea typeface="Arial"/>
                <a:cs typeface="Arial"/>
                <a:sym typeface="Arial"/>
              </a:rPr>
              <a:t>Internal Content Creators</a:t>
            </a:r>
            <a:endParaRPr>
              <a:solidFill>
                <a:srgbClr val="222222"/>
              </a:solidFill>
              <a:latin typeface="Arial"/>
              <a:ea typeface="Arial"/>
              <a:cs typeface="Arial"/>
              <a:sym typeface="Arial"/>
            </a:endParaRPr>
          </a:p>
          <a:p>
            <a:pPr marL="127000" lvl="0" indent="-133350" algn="l" rtl="0">
              <a:spcBef>
                <a:spcPts val="100"/>
              </a:spcBef>
              <a:spcAft>
                <a:spcPts val="0"/>
              </a:spcAft>
              <a:buClr>
                <a:srgbClr val="222222"/>
              </a:buClr>
              <a:buSzPts val="700"/>
              <a:buFont typeface="Arial"/>
              <a:buChar char="•"/>
            </a:pPr>
            <a:r>
              <a:rPr lang="en">
                <a:solidFill>
                  <a:srgbClr val="222222"/>
                </a:solidFill>
                <a:latin typeface="Arial"/>
                <a:ea typeface="Arial"/>
                <a:cs typeface="Arial"/>
                <a:sym typeface="Arial"/>
              </a:rPr>
              <a:t>NFL Media Producers</a:t>
            </a:r>
            <a:endParaRPr>
              <a:solidFill>
                <a:srgbClr val="222222"/>
              </a:solidFill>
              <a:latin typeface="Arial"/>
              <a:ea typeface="Arial"/>
              <a:cs typeface="Arial"/>
              <a:sym typeface="Arial"/>
            </a:endParaRPr>
          </a:p>
          <a:p>
            <a:pPr marL="127000" lvl="0" indent="-133350" algn="l" rtl="0">
              <a:spcBef>
                <a:spcPts val="100"/>
              </a:spcBef>
              <a:spcAft>
                <a:spcPts val="0"/>
              </a:spcAft>
              <a:buClr>
                <a:srgbClr val="222222"/>
              </a:buClr>
              <a:buSzPts val="700"/>
              <a:buChar char="•"/>
            </a:pPr>
            <a:r>
              <a:rPr lang="en">
                <a:solidFill>
                  <a:srgbClr val="222222"/>
                </a:solidFill>
              </a:rPr>
              <a:t>Complience</a:t>
            </a:r>
            <a:endParaRPr>
              <a:solidFill>
                <a:srgbClr val="222222"/>
              </a:solidFill>
            </a:endParaRPr>
          </a:p>
          <a:p>
            <a:pPr marL="127000" lvl="0" indent="-88900" algn="l" rtl="0">
              <a:spcBef>
                <a:spcPts val="100"/>
              </a:spcBef>
              <a:spcAft>
                <a:spcPts val="0"/>
              </a:spcAft>
              <a:buClr>
                <a:schemeClr val="dk1"/>
              </a:buClr>
              <a:buSzPts val="700"/>
              <a:buFont typeface="Arial"/>
              <a:buNone/>
            </a:pPr>
            <a:endParaRPr>
              <a:solidFill>
                <a:srgbClr val="222222"/>
              </a:solidFill>
              <a:latin typeface="Arial"/>
              <a:ea typeface="Arial"/>
              <a:cs typeface="Arial"/>
              <a:sym typeface="Arial"/>
            </a:endParaRPr>
          </a:p>
        </p:txBody>
      </p:sp>
      <p:sp>
        <p:nvSpPr>
          <p:cNvPr id="461" name="Google Shape;461;p32"/>
          <p:cNvSpPr txBox="1">
            <a:spLocks noGrp="1"/>
          </p:cNvSpPr>
          <p:nvPr>
            <p:ph type="body" idx="6"/>
          </p:nvPr>
        </p:nvSpPr>
        <p:spPr>
          <a:xfrm>
            <a:off x="389090" y="2224088"/>
            <a:ext cx="1315500" cy="1147800"/>
          </a:xfrm>
          <a:prstGeom prst="rect">
            <a:avLst/>
          </a:prstGeom>
          <a:solidFill>
            <a:srgbClr val="FFFFFF"/>
          </a:solidFill>
          <a:ln>
            <a:noFill/>
          </a:ln>
        </p:spPr>
        <p:txBody>
          <a:bodyPr spcFirstLastPara="1" wrap="square" lIns="68575" tIns="34275" rIns="68575" bIns="34275" anchor="t" anchorCtr="0">
            <a:noAutofit/>
          </a:bodyPr>
          <a:lstStyle/>
          <a:p>
            <a:pPr marL="127000" lvl="0" indent="-133350" algn="l" rtl="0">
              <a:spcBef>
                <a:spcPts val="0"/>
              </a:spcBef>
              <a:spcAft>
                <a:spcPts val="0"/>
              </a:spcAft>
              <a:buClr>
                <a:srgbClr val="222222"/>
              </a:buClr>
              <a:buSzPts val="700"/>
              <a:buFont typeface="Arial"/>
              <a:buChar char="•"/>
            </a:pPr>
            <a:r>
              <a:rPr lang="en">
                <a:solidFill>
                  <a:srgbClr val="222222"/>
                </a:solidFill>
              </a:rPr>
              <a:t>M</a:t>
            </a:r>
            <a:r>
              <a:rPr lang="en">
                <a:solidFill>
                  <a:srgbClr val="222222"/>
                </a:solidFill>
                <a:latin typeface="Arial"/>
                <a:ea typeface="Arial"/>
                <a:cs typeface="Arial"/>
                <a:sym typeface="Arial"/>
              </a:rPr>
              <a:t>anual asset tagging</a:t>
            </a:r>
            <a:endParaRPr/>
          </a:p>
          <a:p>
            <a:pPr marL="127000" lvl="0" indent="-133350" algn="l" rtl="0">
              <a:spcBef>
                <a:spcPts val="100"/>
              </a:spcBef>
              <a:spcAft>
                <a:spcPts val="0"/>
              </a:spcAft>
              <a:buClr>
                <a:srgbClr val="222222"/>
              </a:buClr>
              <a:buSzPts val="700"/>
              <a:buFont typeface="Arial"/>
              <a:buChar char="•"/>
            </a:pPr>
            <a:r>
              <a:rPr lang="en">
                <a:solidFill>
                  <a:srgbClr val="222222"/>
                </a:solidFill>
                <a:latin typeface="Arial"/>
                <a:ea typeface="Arial"/>
                <a:cs typeface="Arial"/>
                <a:sym typeface="Arial"/>
              </a:rPr>
              <a:t>Not logging content </a:t>
            </a:r>
            <a:r>
              <a:rPr lang="en">
                <a:solidFill>
                  <a:srgbClr val="222222"/>
                </a:solidFill>
              </a:rPr>
              <a:t>at all</a:t>
            </a:r>
            <a:endParaRPr/>
          </a:p>
          <a:p>
            <a:pPr marL="127000" lvl="0" indent="-133350" algn="l" rtl="0">
              <a:spcBef>
                <a:spcPts val="100"/>
              </a:spcBef>
              <a:spcAft>
                <a:spcPts val="0"/>
              </a:spcAft>
              <a:buClr>
                <a:srgbClr val="222222"/>
              </a:buClr>
              <a:buSzPts val="700"/>
              <a:buFont typeface="Arial"/>
              <a:buChar char="•"/>
            </a:pPr>
            <a:r>
              <a:rPr lang="en">
                <a:solidFill>
                  <a:srgbClr val="222222"/>
                </a:solidFill>
              </a:rPr>
              <a:t>Traditional AI methods</a:t>
            </a:r>
            <a:endParaRPr/>
          </a:p>
        </p:txBody>
      </p:sp>
      <p:sp>
        <p:nvSpPr>
          <p:cNvPr id="462" name="Google Shape;462;p32"/>
          <p:cNvSpPr txBox="1">
            <a:spLocks noGrp="1"/>
          </p:cNvSpPr>
          <p:nvPr>
            <p:ph type="body" idx="7"/>
          </p:nvPr>
        </p:nvSpPr>
        <p:spPr>
          <a:xfrm>
            <a:off x="2097979" y="2224088"/>
            <a:ext cx="1315500" cy="1147800"/>
          </a:xfrm>
          <a:prstGeom prst="rect">
            <a:avLst/>
          </a:prstGeom>
          <a:solidFill>
            <a:srgbClr val="FFFFFF"/>
          </a:solidFill>
          <a:ln>
            <a:noFill/>
          </a:ln>
        </p:spPr>
        <p:txBody>
          <a:bodyPr spcFirstLastPara="1" wrap="square" lIns="68575" tIns="34275" rIns="68575" bIns="34275" anchor="t" anchorCtr="0">
            <a:noAutofit/>
          </a:bodyPr>
          <a:lstStyle/>
          <a:p>
            <a:pPr marL="127000" lvl="0" indent="-133350" algn="l" rtl="0">
              <a:spcBef>
                <a:spcPts val="0"/>
              </a:spcBef>
              <a:spcAft>
                <a:spcPts val="0"/>
              </a:spcAft>
              <a:buClr>
                <a:srgbClr val="222222"/>
              </a:buClr>
              <a:buSzPts val="700"/>
              <a:buFont typeface="Arial"/>
              <a:buChar char="•"/>
            </a:pPr>
            <a:r>
              <a:rPr lang="en">
                <a:solidFill>
                  <a:srgbClr val="222222"/>
                </a:solidFill>
              </a:rPr>
              <a:t>Accuracy of search results</a:t>
            </a:r>
            <a:endParaRPr/>
          </a:p>
          <a:p>
            <a:pPr marL="127000" lvl="0" indent="-133350" algn="l" rtl="0">
              <a:spcBef>
                <a:spcPts val="100"/>
              </a:spcBef>
              <a:spcAft>
                <a:spcPts val="0"/>
              </a:spcAft>
              <a:buClr>
                <a:srgbClr val="222222"/>
              </a:buClr>
              <a:buSzPts val="700"/>
              <a:buFont typeface="Arial"/>
              <a:buChar char="•"/>
            </a:pPr>
            <a:r>
              <a:rPr lang="en">
                <a:solidFill>
                  <a:srgbClr val="222222"/>
                </a:solidFill>
              </a:rPr>
              <a:t>Search time reduced from minutes/hours to seconds</a:t>
            </a:r>
            <a:endParaRPr/>
          </a:p>
          <a:p>
            <a:pPr marL="127000" lvl="0" indent="-133350" algn="l" rtl="0">
              <a:spcBef>
                <a:spcPts val="100"/>
              </a:spcBef>
              <a:spcAft>
                <a:spcPts val="0"/>
              </a:spcAft>
              <a:buClr>
                <a:srgbClr val="222222"/>
              </a:buClr>
              <a:buSzPts val="700"/>
              <a:buFont typeface="Arial"/>
              <a:buChar char="•"/>
            </a:pPr>
            <a:r>
              <a:rPr lang="en">
                <a:solidFill>
                  <a:srgbClr val="222222"/>
                </a:solidFill>
              </a:rPr>
              <a:t>Is the indexing pipeline sustainable?</a:t>
            </a:r>
            <a:endParaRPr/>
          </a:p>
          <a:p>
            <a:pPr marL="127000" lvl="0" indent="-133350" algn="l" rtl="0">
              <a:spcBef>
                <a:spcPts val="100"/>
              </a:spcBef>
              <a:spcAft>
                <a:spcPts val="0"/>
              </a:spcAft>
              <a:buClr>
                <a:srgbClr val="222222"/>
              </a:buClr>
              <a:buSzPts val="700"/>
              <a:buFont typeface="Arial"/>
              <a:buChar char="•"/>
            </a:pPr>
            <a:r>
              <a:rPr lang="en">
                <a:solidFill>
                  <a:srgbClr val="222222"/>
                </a:solidFill>
              </a:rPr>
              <a:t>Faster u</a:t>
            </a:r>
            <a:r>
              <a:rPr lang="en">
                <a:solidFill>
                  <a:srgbClr val="222222"/>
                </a:solidFill>
                <a:latin typeface="Arial"/>
                <a:ea typeface="Arial"/>
                <a:cs typeface="Arial"/>
                <a:sym typeface="Arial"/>
              </a:rPr>
              <a:t>ser adoption </a:t>
            </a:r>
            <a:endParaRPr/>
          </a:p>
        </p:txBody>
      </p:sp>
      <p:sp>
        <p:nvSpPr>
          <p:cNvPr id="463" name="Google Shape;463;p32"/>
          <p:cNvSpPr txBox="1">
            <a:spLocks noGrp="1"/>
          </p:cNvSpPr>
          <p:nvPr>
            <p:ph type="body" idx="8"/>
          </p:nvPr>
        </p:nvSpPr>
        <p:spPr>
          <a:xfrm>
            <a:off x="3806850" y="2170475"/>
            <a:ext cx="1513200" cy="1086000"/>
          </a:xfrm>
          <a:prstGeom prst="rect">
            <a:avLst/>
          </a:prstGeom>
          <a:solidFill>
            <a:srgbClr val="FFFFFF"/>
          </a:solidFill>
          <a:ln>
            <a:noFill/>
          </a:ln>
        </p:spPr>
        <p:txBody>
          <a:bodyPr spcFirstLastPara="1" wrap="square" lIns="68575" tIns="34275" rIns="68575" bIns="34275" anchor="t" anchorCtr="0">
            <a:noAutofit/>
          </a:bodyPr>
          <a:lstStyle/>
          <a:p>
            <a:pPr marL="127000" lvl="0" indent="-133350" algn="l" rtl="0">
              <a:spcBef>
                <a:spcPts val="0"/>
              </a:spcBef>
              <a:spcAft>
                <a:spcPts val="0"/>
              </a:spcAft>
              <a:buClr>
                <a:srgbClr val="222222"/>
              </a:buClr>
              <a:buSzPts val="700"/>
              <a:buFont typeface="Arial"/>
              <a:buChar char="•"/>
            </a:pPr>
            <a:r>
              <a:rPr lang="en">
                <a:solidFill>
                  <a:srgbClr val="222222"/>
                </a:solidFill>
              </a:rPr>
              <a:t>TwelveLabs multi-modal AI extracts multiple features from video such as time, objects, text in video, conversation, faces, and actions, synthesizing this information into vectors.</a:t>
            </a:r>
            <a:endParaRPr>
              <a:solidFill>
                <a:srgbClr val="222222"/>
              </a:solidFill>
            </a:endParaRPr>
          </a:p>
          <a:p>
            <a:pPr marL="127000" lvl="0" indent="-133350" algn="l" rtl="0">
              <a:spcBef>
                <a:spcPts val="0"/>
              </a:spcBef>
              <a:spcAft>
                <a:spcPts val="0"/>
              </a:spcAft>
              <a:buClr>
                <a:srgbClr val="222222"/>
              </a:buClr>
              <a:buSzPts val="700"/>
              <a:buChar char="•"/>
            </a:pPr>
            <a:r>
              <a:rPr lang="en">
                <a:solidFill>
                  <a:srgbClr val="222222"/>
                </a:solidFill>
              </a:rPr>
              <a:t>Vectors enable fast, semantic and scalable search using natural language</a:t>
            </a:r>
            <a:r>
              <a:rPr lang="en" sz="900">
                <a:solidFill>
                  <a:schemeClr val="dk2"/>
                </a:solidFill>
                <a:highlight>
                  <a:srgbClr val="F5F5F5"/>
                </a:highlight>
              </a:rPr>
              <a:t>.</a:t>
            </a:r>
            <a:endParaRPr>
              <a:solidFill>
                <a:srgbClr val="222222"/>
              </a:solidFill>
            </a:endParaRPr>
          </a:p>
        </p:txBody>
      </p:sp>
      <p:sp>
        <p:nvSpPr>
          <p:cNvPr id="464" name="Google Shape;464;p32"/>
          <p:cNvSpPr txBox="1">
            <a:spLocks noGrp="1"/>
          </p:cNvSpPr>
          <p:nvPr>
            <p:ph type="body" idx="9"/>
          </p:nvPr>
        </p:nvSpPr>
        <p:spPr>
          <a:xfrm>
            <a:off x="5555767" y="2168308"/>
            <a:ext cx="1356000" cy="1147800"/>
          </a:xfrm>
          <a:prstGeom prst="rect">
            <a:avLst/>
          </a:prstGeom>
          <a:solidFill>
            <a:srgbClr val="FFFFFF"/>
          </a:solidFill>
          <a:ln>
            <a:noFill/>
          </a:ln>
        </p:spPr>
        <p:txBody>
          <a:bodyPr spcFirstLastPara="1" wrap="square" lIns="68575" tIns="34275" rIns="68575" bIns="34275" anchor="t" anchorCtr="0">
            <a:noAutofit/>
          </a:bodyPr>
          <a:lstStyle/>
          <a:p>
            <a:pPr marL="127000" lvl="0" indent="-133350" algn="l" rtl="0">
              <a:spcBef>
                <a:spcPts val="0"/>
              </a:spcBef>
              <a:spcAft>
                <a:spcPts val="0"/>
              </a:spcAft>
              <a:buClr>
                <a:srgbClr val="222222"/>
              </a:buClr>
              <a:buSzPts val="700"/>
              <a:buFont typeface="Arial"/>
              <a:buChar char="•"/>
            </a:pPr>
            <a:r>
              <a:rPr lang="en" dirty="0">
                <a:solidFill>
                  <a:srgbClr val="222222"/>
                </a:solidFill>
              </a:rPr>
              <a:t>Direct integration into the NFL's existing MAM system</a:t>
            </a:r>
            <a:endParaRPr dirty="0"/>
          </a:p>
          <a:p>
            <a:pPr marL="127000" lvl="0" indent="-133350" algn="l" rtl="0">
              <a:spcBef>
                <a:spcPts val="100"/>
              </a:spcBef>
              <a:spcAft>
                <a:spcPts val="0"/>
              </a:spcAft>
              <a:buClr>
                <a:srgbClr val="222222"/>
              </a:buClr>
              <a:buSzPts val="700"/>
              <a:buFont typeface="Arial"/>
              <a:buChar char="•"/>
            </a:pPr>
            <a:r>
              <a:rPr lang="en" dirty="0">
                <a:solidFill>
                  <a:srgbClr val="222222"/>
                </a:solidFill>
              </a:rPr>
              <a:t>Develop indexing and search pipeline</a:t>
            </a:r>
            <a:endParaRPr dirty="0"/>
          </a:p>
          <a:p>
            <a:pPr marL="127000" lvl="0" indent="-133350" algn="l" rtl="0">
              <a:spcBef>
                <a:spcPts val="100"/>
              </a:spcBef>
              <a:spcAft>
                <a:spcPts val="0"/>
              </a:spcAft>
              <a:buClr>
                <a:srgbClr val="222222"/>
              </a:buClr>
              <a:buSzPts val="700"/>
              <a:buFont typeface="Arial"/>
              <a:buChar char="•"/>
            </a:pPr>
            <a:r>
              <a:rPr lang="en" dirty="0">
                <a:solidFill>
                  <a:srgbClr val="222222"/>
                </a:solidFill>
              </a:rPr>
              <a:t>Fine-Tune NFL Taxonomies</a:t>
            </a:r>
            <a:endParaRPr dirty="0"/>
          </a:p>
          <a:p>
            <a:pPr marL="127000" lvl="0" indent="-133350" algn="l" rtl="0">
              <a:spcBef>
                <a:spcPts val="100"/>
              </a:spcBef>
              <a:spcAft>
                <a:spcPts val="0"/>
              </a:spcAft>
              <a:buClr>
                <a:srgbClr val="222222"/>
              </a:buClr>
              <a:buSzPts val="700"/>
              <a:buFont typeface="Arial"/>
              <a:buChar char="•"/>
            </a:pPr>
            <a:r>
              <a:rPr lang="en" dirty="0">
                <a:solidFill>
                  <a:srgbClr val="222222"/>
                </a:solidFill>
              </a:rPr>
              <a:t>Deployment and testing during 2023 Playoffs to determine capabilities and benefits</a:t>
            </a:r>
            <a:endParaRPr dirty="0"/>
          </a:p>
          <a:p>
            <a:pPr marL="0" lvl="0" indent="0" algn="l" rtl="0">
              <a:spcBef>
                <a:spcPts val="100"/>
              </a:spcBef>
              <a:spcAft>
                <a:spcPts val="0"/>
              </a:spcAft>
              <a:buClr>
                <a:schemeClr val="dk1"/>
              </a:buClr>
              <a:buSzPts val="700"/>
              <a:buNone/>
            </a:pPr>
            <a:endParaRPr dirty="0">
              <a:solidFill>
                <a:srgbClr val="222222"/>
              </a:solidFill>
              <a:latin typeface="Arial"/>
              <a:ea typeface="Arial"/>
              <a:cs typeface="Arial"/>
              <a:sym typeface="Arial"/>
            </a:endParaRPr>
          </a:p>
        </p:txBody>
      </p:sp>
      <p:sp>
        <p:nvSpPr>
          <p:cNvPr id="465" name="Google Shape;465;p32"/>
          <p:cNvSpPr txBox="1">
            <a:spLocks noGrp="1"/>
          </p:cNvSpPr>
          <p:nvPr>
            <p:ph type="body" idx="13"/>
          </p:nvPr>
        </p:nvSpPr>
        <p:spPr>
          <a:xfrm>
            <a:off x="7336990" y="2224088"/>
            <a:ext cx="1315500" cy="1147800"/>
          </a:xfrm>
          <a:prstGeom prst="rect">
            <a:avLst/>
          </a:prstGeom>
          <a:solidFill>
            <a:srgbClr val="FFFFFF"/>
          </a:solidFill>
          <a:ln>
            <a:noFill/>
          </a:ln>
        </p:spPr>
        <p:txBody>
          <a:bodyPr spcFirstLastPara="1" wrap="square" lIns="68575" tIns="34275" rIns="68575" bIns="34275" anchor="t" anchorCtr="0">
            <a:noAutofit/>
          </a:bodyPr>
          <a:lstStyle/>
          <a:p>
            <a:pPr marL="127000" lvl="0" indent="-133350" algn="l" rtl="0">
              <a:spcBef>
                <a:spcPts val="0"/>
              </a:spcBef>
              <a:spcAft>
                <a:spcPts val="0"/>
              </a:spcAft>
              <a:buClr>
                <a:schemeClr val="dk1"/>
              </a:buClr>
              <a:buSzPts val="700"/>
              <a:buFont typeface="Arial"/>
              <a:buChar char="•"/>
            </a:pPr>
            <a:r>
              <a:rPr lang="en"/>
              <a:t>NFL Media Teams  (L.A., NJ, NY)</a:t>
            </a:r>
            <a:endParaRPr/>
          </a:p>
          <a:p>
            <a:pPr marL="127000" lvl="0" indent="-133350" algn="l" rtl="0">
              <a:spcBef>
                <a:spcPts val="100"/>
              </a:spcBef>
              <a:spcAft>
                <a:spcPts val="0"/>
              </a:spcAft>
              <a:buClr>
                <a:schemeClr val="dk1"/>
              </a:buClr>
              <a:buSzPts val="700"/>
              <a:buFont typeface="Arial"/>
              <a:buChar char="•"/>
            </a:pPr>
            <a:r>
              <a:rPr lang="en"/>
              <a:t>NFL Game Operations</a:t>
            </a:r>
            <a:endParaRPr/>
          </a:p>
          <a:p>
            <a:pPr marL="127000" lvl="0" indent="-88900" algn="l" rtl="0">
              <a:spcBef>
                <a:spcPts val="100"/>
              </a:spcBef>
              <a:spcAft>
                <a:spcPts val="0"/>
              </a:spcAft>
              <a:buClr>
                <a:schemeClr val="dk1"/>
              </a:buClr>
              <a:buSzPts val="700"/>
              <a:buFont typeface="Arial"/>
              <a:buNone/>
            </a:pPr>
            <a:endParaRPr>
              <a:latin typeface="Arial"/>
              <a:ea typeface="Arial"/>
              <a:cs typeface="Arial"/>
              <a:sym typeface="Arial"/>
            </a:endParaRPr>
          </a:p>
        </p:txBody>
      </p:sp>
      <p:sp>
        <p:nvSpPr>
          <p:cNvPr id="466" name="Google Shape;466;p32"/>
          <p:cNvSpPr txBox="1">
            <a:spLocks noGrp="1"/>
          </p:cNvSpPr>
          <p:nvPr>
            <p:ph type="body" idx="14"/>
          </p:nvPr>
        </p:nvSpPr>
        <p:spPr>
          <a:xfrm>
            <a:off x="345690" y="3649771"/>
            <a:ext cx="3420600" cy="1086000"/>
          </a:xfrm>
          <a:prstGeom prst="rect">
            <a:avLst/>
          </a:prstGeom>
          <a:solidFill>
            <a:srgbClr val="FFFFFF"/>
          </a:solid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700"/>
              <a:buNone/>
            </a:pPr>
            <a:r>
              <a:rPr lang="en">
                <a:latin typeface="Arial"/>
                <a:ea typeface="Arial"/>
                <a:cs typeface="Arial"/>
                <a:sym typeface="Arial"/>
              </a:rPr>
              <a:t>Integration, development, testing, and initial deployment:</a:t>
            </a:r>
            <a:endParaRPr/>
          </a:p>
          <a:p>
            <a:pPr marL="127000" lvl="0" indent="-133350" algn="l" rtl="0">
              <a:spcBef>
                <a:spcPts val="100"/>
              </a:spcBef>
              <a:spcAft>
                <a:spcPts val="0"/>
              </a:spcAft>
              <a:buClr>
                <a:schemeClr val="dk1"/>
              </a:buClr>
              <a:buSzPts val="700"/>
              <a:buFont typeface="Arial"/>
              <a:buChar char="•"/>
            </a:pPr>
            <a:r>
              <a:rPr lang="en">
                <a:latin typeface="Arial"/>
                <a:ea typeface="Arial"/>
                <a:cs typeface="Arial"/>
                <a:sym typeface="Arial"/>
              </a:rPr>
              <a:t>ARVATO SYSTEMS NORTH AMERICA $15,000</a:t>
            </a:r>
            <a:endParaRPr/>
          </a:p>
          <a:p>
            <a:pPr marL="127000" lvl="0" indent="-133350" algn="l" rtl="0">
              <a:spcBef>
                <a:spcPts val="100"/>
              </a:spcBef>
              <a:spcAft>
                <a:spcPts val="0"/>
              </a:spcAft>
              <a:buClr>
                <a:schemeClr val="dk1"/>
              </a:buClr>
              <a:buSzPts val="700"/>
              <a:buFont typeface="Arial"/>
              <a:buChar char="•"/>
            </a:pPr>
            <a:r>
              <a:rPr lang="en">
                <a:latin typeface="Arial"/>
                <a:ea typeface="Arial"/>
                <a:cs typeface="Arial"/>
                <a:sym typeface="Arial"/>
              </a:rPr>
              <a:t>TwelveLabs $36,300</a:t>
            </a:r>
            <a:endParaRPr/>
          </a:p>
          <a:p>
            <a:pPr marL="0" lvl="0" indent="0" algn="l" rtl="0">
              <a:spcBef>
                <a:spcPts val="100"/>
              </a:spcBef>
              <a:spcAft>
                <a:spcPts val="0"/>
              </a:spcAft>
              <a:buClr>
                <a:schemeClr val="dk1"/>
              </a:buClr>
              <a:buSzPts val="700"/>
              <a:buNone/>
            </a:pPr>
            <a:endParaRPr>
              <a:latin typeface="Arial"/>
              <a:ea typeface="Arial"/>
              <a:cs typeface="Arial"/>
              <a:sym typeface="Arial"/>
            </a:endParaRPr>
          </a:p>
          <a:p>
            <a:pPr marL="0" lvl="0" indent="0" algn="l" rtl="0">
              <a:spcBef>
                <a:spcPts val="100"/>
              </a:spcBef>
              <a:spcAft>
                <a:spcPts val="0"/>
              </a:spcAft>
              <a:buClr>
                <a:schemeClr val="dk1"/>
              </a:buClr>
              <a:buSzPts val="700"/>
              <a:buNone/>
            </a:pPr>
            <a:r>
              <a:rPr lang="en" b="1"/>
              <a:t>Total: $51,300</a:t>
            </a:r>
            <a:endParaRPr b="1"/>
          </a:p>
          <a:p>
            <a:pPr marL="0" lvl="0" indent="0" algn="l" rtl="0">
              <a:spcBef>
                <a:spcPts val="100"/>
              </a:spcBef>
              <a:spcAft>
                <a:spcPts val="0"/>
              </a:spcAft>
              <a:buClr>
                <a:schemeClr val="dk1"/>
              </a:buClr>
              <a:buSzPts val="700"/>
              <a:buNone/>
            </a:pPr>
            <a:endParaRPr>
              <a:latin typeface="Arial"/>
              <a:ea typeface="Arial"/>
              <a:cs typeface="Arial"/>
              <a:sym typeface="Arial"/>
            </a:endParaRPr>
          </a:p>
        </p:txBody>
      </p:sp>
      <p:sp>
        <p:nvSpPr>
          <p:cNvPr id="467" name="Google Shape;467;p32"/>
          <p:cNvSpPr txBox="1">
            <a:spLocks noGrp="1"/>
          </p:cNvSpPr>
          <p:nvPr>
            <p:ph type="body" idx="15"/>
          </p:nvPr>
        </p:nvSpPr>
        <p:spPr>
          <a:xfrm>
            <a:off x="4649391" y="3657600"/>
            <a:ext cx="3400500" cy="1086000"/>
          </a:xfrm>
          <a:prstGeom prst="rect">
            <a:avLst/>
          </a:prstGeom>
          <a:solidFill>
            <a:srgbClr val="FFFFFF"/>
          </a:solidFill>
          <a:ln>
            <a:noFill/>
          </a:ln>
        </p:spPr>
        <p:txBody>
          <a:bodyPr spcFirstLastPara="1" wrap="square" lIns="68575" tIns="34275" rIns="68575" bIns="34275" anchor="t" anchorCtr="0">
            <a:noAutofit/>
          </a:bodyPr>
          <a:lstStyle/>
          <a:p>
            <a:pPr marL="127000" lvl="0" indent="-133350" algn="l" rtl="0">
              <a:spcBef>
                <a:spcPts val="0"/>
              </a:spcBef>
              <a:spcAft>
                <a:spcPts val="0"/>
              </a:spcAft>
              <a:buClr>
                <a:schemeClr val="dk1"/>
              </a:buClr>
              <a:buSzPts val="700"/>
              <a:buFont typeface="Arial"/>
              <a:buChar char="•"/>
            </a:pPr>
            <a:r>
              <a:rPr lang="en">
                <a:latin typeface="Arial"/>
                <a:ea typeface="Arial"/>
                <a:cs typeface="Arial"/>
                <a:sym typeface="Arial"/>
              </a:rPr>
              <a:t>Cost savings from increased efficiency and accuracy.</a:t>
            </a:r>
            <a:endParaRPr/>
          </a:p>
          <a:p>
            <a:pPr marL="127000" lvl="0" indent="-133350" algn="l" rtl="0">
              <a:spcBef>
                <a:spcPts val="100"/>
              </a:spcBef>
              <a:spcAft>
                <a:spcPts val="0"/>
              </a:spcAft>
              <a:buClr>
                <a:schemeClr val="dk1"/>
              </a:buClr>
              <a:buSzPts val="700"/>
              <a:buFont typeface="Arial"/>
              <a:buChar char="•"/>
            </a:pPr>
            <a:r>
              <a:rPr lang="en">
                <a:latin typeface="Arial"/>
                <a:ea typeface="Arial"/>
                <a:cs typeface="Arial"/>
                <a:sym typeface="Arial"/>
              </a:rPr>
              <a:t>Exploration of Gen AI technology targeting potential applications within the NFL.</a:t>
            </a:r>
            <a:endParaRPr/>
          </a:p>
          <a:p>
            <a:pPr marL="127000" lvl="0" indent="-133350" algn="l" rtl="0">
              <a:spcBef>
                <a:spcPts val="100"/>
              </a:spcBef>
              <a:spcAft>
                <a:spcPts val="0"/>
              </a:spcAft>
              <a:buClr>
                <a:schemeClr val="dk1"/>
              </a:buClr>
              <a:buSzPts val="700"/>
              <a:buFont typeface="Arial"/>
              <a:buChar char="•"/>
            </a:pPr>
            <a:r>
              <a:rPr lang="en">
                <a:latin typeface="Arial"/>
                <a:ea typeface="Arial"/>
                <a:cs typeface="Arial"/>
                <a:sym typeface="Arial"/>
              </a:rPr>
              <a:t>Gaining leverage from existing investments in our media asset library utilizing emerging Gen AI technology.</a:t>
            </a:r>
            <a:endParaRPr>
              <a:latin typeface="Arial"/>
              <a:ea typeface="Arial"/>
              <a:cs typeface="Arial"/>
              <a:sym typeface="Arial"/>
            </a:endParaRPr>
          </a:p>
        </p:txBody>
      </p:sp>
      <p:sp>
        <p:nvSpPr>
          <p:cNvPr id="468" name="Google Shape;468;p32"/>
          <p:cNvSpPr txBox="1">
            <a:spLocks noGrp="1"/>
          </p:cNvSpPr>
          <p:nvPr>
            <p:ph type="body" idx="16"/>
          </p:nvPr>
        </p:nvSpPr>
        <p:spPr>
          <a:xfrm>
            <a:off x="3657600" y="285750"/>
            <a:ext cx="1295400" cy="171600"/>
          </a:xfrm>
          <a:prstGeom prst="rect">
            <a:avLst/>
          </a:prstGeom>
          <a:solidFill>
            <a:srgbClr val="FFFFFF"/>
          </a:solid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700"/>
              <a:buNone/>
            </a:pPr>
            <a:r>
              <a:rPr lang="en">
                <a:latin typeface="Arial"/>
                <a:ea typeface="Arial"/>
                <a:cs typeface="Arial"/>
                <a:sym typeface="Arial"/>
              </a:rPr>
              <a:t>MutliModal AI</a:t>
            </a:r>
            <a:endParaRPr/>
          </a:p>
        </p:txBody>
      </p:sp>
      <p:sp>
        <p:nvSpPr>
          <p:cNvPr id="469" name="Google Shape;469;p32"/>
          <p:cNvSpPr txBox="1">
            <a:spLocks noGrp="1"/>
          </p:cNvSpPr>
          <p:nvPr>
            <p:ph type="body" idx="17"/>
          </p:nvPr>
        </p:nvSpPr>
        <p:spPr>
          <a:xfrm>
            <a:off x="5120879" y="285750"/>
            <a:ext cx="1052400" cy="171600"/>
          </a:xfrm>
          <a:prstGeom prst="rect">
            <a:avLst/>
          </a:prstGeom>
          <a:solidFill>
            <a:srgbClr val="FFFFFF"/>
          </a:solid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700"/>
              <a:buNone/>
            </a:pPr>
            <a:r>
              <a:rPr lang="en">
                <a:latin typeface="Arial"/>
                <a:ea typeface="Arial"/>
                <a:cs typeface="Arial"/>
                <a:sym typeface="Arial"/>
              </a:rPr>
              <a:t>Meloni Boatswain</a:t>
            </a:r>
            <a:endParaRPr>
              <a:latin typeface="Arial"/>
              <a:ea typeface="Arial"/>
              <a:cs typeface="Arial"/>
              <a:sym typeface="Arial"/>
            </a:endParaRPr>
          </a:p>
        </p:txBody>
      </p:sp>
      <p:sp>
        <p:nvSpPr>
          <p:cNvPr id="470" name="Google Shape;470;p32"/>
          <p:cNvSpPr txBox="1">
            <a:spLocks noGrp="1"/>
          </p:cNvSpPr>
          <p:nvPr>
            <p:ph type="body" idx="18"/>
          </p:nvPr>
        </p:nvSpPr>
        <p:spPr>
          <a:xfrm>
            <a:off x="7162800" y="285750"/>
            <a:ext cx="1066800" cy="171600"/>
          </a:xfrm>
          <a:prstGeom prst="rect">
            <a:avLst/>
          </a:prstGeom>
          <a:solidFill>
            <a:srgbClr val="FFFFFF"/>
          </a:solid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700"/>
              <a:buNone/>
            </a:pPr>
            <a:r>
              <a:rPr lang="en"/>
              <a:t>12/12/2023</a:t>
            </a:r>
            <a:endParaRPr>
              <a:latin typeface="Arial"/>
              <a:ea typeface="Arial"/>
              <a:cs typeface="Arial"/>
              <a:sym typeface="Arial"/>
            </a:endParaRPr>
          </a:p>
        </p:txBody>
      </p:sp>
      <p:sp>
        <p:nvSpPr>
          <p:cNvPr id="471" name="Google Shape;471;p32"/>
          <p:cNvSpPr txBox="1">
            <a:spLocks noGrp="1"/>
          </p:cNvSpPr>
          <p:nvPr>
            <p:ph type="body" idx="19"/>
          </p:nvPr>
        </p:nvSpPr>
        <p:spPr>
          <a:xfrm>
            <a:off x="8534400" y="285750"/>
            <a:ext cx="381000" cy="171600"/>
          </a:xfrm>
          <a:prstGeom prst="rect">
            <a:avLst/>
          </a:prstGeom>
          <a:solidFill>
            <a:srgbClr val="FFFFFF"/>
          </a:solid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700"/>
              <a:buNone/>
            </a:pPr>
            <a:r>
              <a:rPr lang="en"/>
              <a:t>1.1</a:t>
            </a:r>
            <a:endParaRPr>
              <a:latin typeface="Arial"/>
              <a:ea typeface="Arial"/>
              <a:cs typeface="Arial"/>
              <a:sym typeface="Arial"/>
            </a:endParaRPr>
          </a:p>
        </p:txBody>
      </p:sp>
      <p:sp>
        <p:nvSpPr>
          <p:cNvPr id="472" name="Google Shape;472;p32"/>
          <p:cNvSpPr/>
          <p:nvPr/>
        </p:nvSpPr>
        <p:spPr>
          <a:xfrm>
            <a:off x="1042988" y="4843463"/>
            <a:ext cx="7058100" cy="1500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500">
                <a:solidFill>
                  <a:srgbClr val="808080"/>
                </a:solidFill>
                <a:latin typeface="Arial"/>
                <a:ea typeface="Arial"/>
                <a:cs typeface="Arial"/>
                <a:sym typeface="Arial"/>
              </a:rPr>
              <a:t>Draft By: Meloni Boatswain – N-Ovate Solutions</a:t>
            </a:r>
            <a:endParaRPr sz="500">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33"/>
          <p:cNvSpPr txBox="1">
            <a:spLocks noGrp="1"/>
          </p:cNvSpPr>
          <p:nvPr>
            <p:ph type="title" idx="4294967295"/>
          </p:nvPr>
        </p:nvSpPr>
        <p:spPr>
          <a:xfrm>
            <a:off x="-197075" y="2285400"/>
            <a:ext cx="94020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EF4138"/>
              </a:buClr>
              <a:buSzPts val="1400"/>
              <a:buFont typeface="Montserrat"/>
              <a:buNone/>
            </a:pPr>
            <a:r>
              <a:rPr lang="en" sz="3300" b="1" dirty="0">
                <a:solidFill>
                  <a:srgbClr val="EF4138"/>
                </a:solidFill>
              </a:rPr>
              <a:t>Multimodal AI Pitch</a:t>
            </a:r>
            <a:endParaRPr sz="3300" b="1" dirty="0">
              <a:solidFill>
                <a:srgbClr val="EF4138"/>
              </a:solidFill>
            </a:endParaRPr>
          </a:p>
        </p:txBody>
      </p:sp>
      <p:sp>
        <p:nvSpPr>
          <p:cNvPr id="478" name="Google Shape;478;p33"/>
          <p:cNvSpPr txBox="1"/>
          <p:nvPr/>
        </p:nvSpPr>
        <p:spPr>
          <a:xfrm>
            <a:off x="941726" y="1143944"/>
            <a:ext cx="6716400" cy="569400"/>
          </a:xfrm>
          <a:prstGeom prst="rect">
            <a:avLst/>
          </a:prstGeom>
          <a:noFill/>
          <a:ln>
            <a:noFill/>
          </a:ln>
        </p:spPr>
        <p:txBody>
          <a:bodyPr spcFirstLastPara="1" wrap="square" lIns="68575" tIns="68575" rIns="68575" bIns="68575" anchor="t" anchorCtr="0">
            <a:spAutoFit/>
          </a:bodyPr>
          <a:lstStyle/>
          <a:p>
            <a:pPr marL="0" marR="0" lvl="0" indent="0" algn="l" rtl="0">
              <a:spcBef>
                <a:spcPts val="0"/>
              </a:spcBef>
              <a:spcAft>
                <a:spcPts val="0"/>
              </a:spcAft>
              <a:buNone/>
            </a:pPr>
            <a:endParaRPr sz="1400" i="0" strike="noStrike">
              <a:solidFill>
                <a:schemeClr val="dk1"/>
              </a:solidFill>
              <a:latin typeface="Montserrat"/>
              <a:ea typeface="Montserrat"/>
              <a:cs typeface="Montserrat"/>
              <a:sym typeface="Montserrat"/>
            </a:endParaRPr>
          </a:p>
          <a:p>
            <a:pPr marL="0" marR="0" lvl="0" indent="0" algn="l" rtl="0">
              <a:spcBef>
                <a:spcPts val="0"/>
              </a:spcBef>
              <a:spcAft>
                <a:spcPts val="0"/>
              </a:spcAft>
              <a:buNone/>
            </a:pPr>
            <a:endParaRPr sz="1400" b="0" i="0" u="none" strike="noStrike">
              <a:solidFill>
                <a:schemeClr val="dk1"/>
              </a:solidFill>
              <a:latin typeface="Montserrat"/>
              <a:ea typeface="Montserrat"/>
              <a:cs typeface="Montserrat"/>
              <a:sym typeface="Montserrat"/>
            </a:endParaRPr>
          </a:p>
        </p:txBody>
      </p:sp>
      <p:sp>
        <p:nvSpPr>
          <p:cNvPr id="479" name="Google Shape;479;p33"/>
          <p:cNvSpPr/>
          <p:nvPr/>
        </p:nvSpPr>
        <p:spPr>
          <a:xfrm>
            <a:off x="8188099" y="4031069"/>
            <a:ext cx="772176" cy="912829"/>
          </a:xfrm>
          <a:custGeom>
            <a:avLst/>
            <a:gdLst/>
            <a:ahLst/>
            <a:cxnLst/>
            <a:rect l="l" t="t" r="r" b="b"/>
            <a:pathLst>
              <a:path w="12869601" h="6638759" extrusionOk="0">
                <a:moveTo>
                  <a:pt x="0" y="0"/>
                </a:moveTo>
                <a:lnTo>
                  <a:pt x="12869601" y="0"/>
                </a:lnTo>
                <a:lnTo>
                  <a:pt x="12869601" y="6638759"/>
                </a:lnTo>
                <a:lnTo>
                  <a:pt x="0" y="6638759"/>
                </a:lnTo>
                <a:lnTo>
                  <a:pt x="0" y="0"/>
                </a:lnTo>
                <a:close/>
              </a:path>
            </a:pathLst>
          </a:custGeom>
          <a:blipFill rotWithShape="1">
            <a:blip r:embed="rId3">
              <a:alphaModFix/>
            </a:blip>
            <a:stretch>
              <a:fillRect l="-102802" t="-28588" r="-109932" b="-27147"/>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b="0" i="0" u="none" strike="noStrike" cap="non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34"/>
          <p:cNvSpPr txBox="1">
            <a:spLocks noGrp="1"/>
          </p:cNvSpPr>
          <p:nvPr>
            <p:ph type="title" idx="4294967295"/>
          </p:nvPr>
        </p:nvSpPr>
        <p:spPr>
          <a:xfrm>
            <a:off x="-197075" y="2285400"/>
            <a:ext cx="94020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EF4138"/>
              </a:buClr>
              <a:buSzPts val="1400"/>
              <a:buFont typeface="Montserrat"/>
              <a:buNone/>
            </a:pPr>
            <a:r>
              <a:rPr lang="en" sz="3300" b="1">
                <a:solidFill>
                  <a:srgbClr val="EF4138"/>
                </a:solidFill>
              </a:rPr>
              <a:t>Pitch Feedback</a:t>
            </a:r>
            <a:endParaRPr sz="3300" b="1">
              <a:solidFill>
                <a:srgbClr val="EF4138"/>
              </a:solidFill>
              <a:latin typeface="Montserrat"/>
              <a:ea typeface="Montserrat"/>
              <a:cs typeface="Montserrat"/>
              <a:sym typeface="Montserrat"/>
            </a:endParaRPr>
          </a:p>
        </p:txBody>
      </p:sp>
      <p:sp>
        <p:nvSpPr>
          <p:cNvPr id="485" name="Google Shape;485;p34"/>
          <p:cNvSpPr txBox="1"/>
          <p:nvPr/>
        </p:nvSpPr>
        <p:spPr>
          <a:xfrm>
            <a:off x="941726" y="1143944"/>
            <a:ext cx="6716400" cy="569400"/>
          </a:xfrm>
          <a:prstGeom prst="rect">
            <a:avLst/>
          </a:prstGeom>
          <a:noFill/>
          <a:ln>
            <a:noFill/>
          </a:ln>
        </p:spPr>
        <p:txBody>
          <a:bodyPr spcFirstLastPara="1" wrap="square" lIns="68575" tIns="68575" rIns="68575" bIns="68575" anchor="t" anchorCtr="0">
            <a:spAutoFit/>
          </a:bodyPr>
          <a:lstStyle/>
          <a:p>
            <a:pPr marL="0" marR="0" lvl="0" indent="0" algn="l" rtl="0">
              <a:spcBef>
                <a:spcPts val="0"/>
              </a:spcBef>
              <a:spcAft>
                <a:spcPts val="0"/>
              </a:spcAft>
              <a:buNone/>
            </a:pPr>
            <a:endParaRPr sz="1400" i="0" strike="noStrike">
              <a:solidFill>
                <a:schemeClr val="dk1"/>
              </a:solidFill>
              <a:latin typeface="Montserrat"/>
              <a:ea typeface="Montserrat"/>
              <a:cs typeface="Montserrat"/>
              <a:sym typeface="Montserrat"/>
            </a:endParaRPr>
          </a:p>
          <a:p>
            <a:pPr marL="0" marR="0" lvl="0" indent="0" algn="l" rtl="0">
              <a:spcBef>
                <a:spcPts val="0"/>
              </a:spcBef>
              <a:spcAft>
                <a:spcPts val="0"/>
              </a:spcAft>
              <a:buNone/>
            </a:pPr>
            <a:endParaRPr sz="1400" b="0" i="0" u="none" strike="noStrike">
              <a:solidFill>
                <a:schemeClr val="dk1"/>
              </a:solidFill>
              <a:latin typeface="Montserrat"/>
              <a:ea typeface="Montserrat"/>
              <a:cs typeface="Montserrat"/>
              <a:sym typeface="Montserrat"/>
            </a:endParaRPr>
          </a:p>
        </p:txBody>
      </p:sp>
      <p:sp>
        <p:nvSpPr>
          <p:cNvPr id="486" name="Google Shape;486;p34"/>
          <p:cNvSpPr/>
          <p:nvPr/>
        </p:nvSpPr>
        <p:spPr>
          <a:xfrm>
            <a:off x="8188099" y="4031069"/>
            <a:ext cx="772176" cy="912829"/>
          </a:xfrm>
          <a:custGeom>
            <a:avLst/>
            <a:gdLst/>
            <a:ahLst/>
            <a:cxnLst/>
            <a:rect l="l" t="t" r="r" b="b"/>
            <a:pathLst>
              <a:path w="12869601" h="6638759" extrusionOk="0">
                <a:moveTo>
                  <a:pt x="0" y="0"/>
                </a:moveTo>
                <a:lnTo>
                  <a:pt x="12869601" y="0"/>
                </a:lnTo>
                <a:lnTo>
                  <a:pt x="12869601" y="6638759"/>
                </a:lnTo>
                <a:lnTo>
                  <a:pt x="0" y="6638759"/>
                </a:lnTo>
                <a:lnTo>
                  <a:pt x="0" y="0"/>
                </a:lnTo>
                <a:close/>
              </a:path>
            </a:pathLst>
          </a:custGeom>
          <a:blipFill rotWithShape="1">
            <a:blip r:embed="rId3">
              <a:alphaModFix/>
            </a:blip>
            <a:stretch>
              <a:fillRect l="-102802" t="-28588" r="-109932" b="-27147"/>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900" b="0" i="0" u="none" strike="noStrike" cap="none">
              <a:solidFill>
                <a:srgbClr val="0000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cxnSp>
        <p:nvCxnSpPr>
          <p:cNvPr id="491" name="Google Shape;491;p35"/>
          <p:cNvCxnSpPr/>
          <p:nvPr/>
        </p:nvCxnSpPr>
        <p:spPr>
          <a:xfrm>
            <a:off x="2771550" y="0"/>
            <a:ext cx="0" cy="3838800"/>
          </a:xfrm>
          <a:prstGeom prst="straightConnector1">
            <a:avLst/>
          </a:prstGeom>
          <a:noFill/>
          <a:ln w="9525" cap="flat" cmpd="sng">
            <a:solidFill>
              <a:srgbClr val="666666"/>
            </a:solidFill>
            <a:prstDash val="solid"/>
            <a:round/>
            <a:headEnd type="none" w="med" len="med"/>
            <a:tailEnd type="none" w="med" len="med"/>
          </a:ln>
        </p:spPr>
      </p:cxnSp>
      <p:sp>
        <p:nvSpPr>
          <p:cNvPr id="492" name="Google Shape;492;p35"/>
          <p:cNvSpPr txBox="1">
            <a:spLocks noGrp="1"/>
          </p:cNvSpPr>
          <p:nvPr>
            <p:ph type="ctrTitle"/>
          </p:nvPr>
        </p:nvSpPr>
        <p:spPr>
          <a:xfrm>
            <a:off x="3022903" y="1050669"/>
            <a:ext cx="5290800" cy="2844600"/>
          </a:xfrm>
          <a:prstGeom prst="rect">
            <a:avLst/>
          </a:prstGeom>
        </p:spPr>
        <p:txBody>
          <a:bodyPr spcFirstLastPara="1" wrap="square" lIns="91425" tIns="91425" rIns="91425" bIns="91425" anchor="b" anchorCtr="0">
            <a:normAutofit/>
          </a:bodyPr>
          <a:lstStyle/>
          <a:p>
            <a:pPr marL="0" lvl="0" indent="0" algn="l" rtl="0">
              <a:lnSpc>
                <a:spcPct val="80000"/>
              </a:lnSpc>
              <a:spcBef>
                <a:spcPts val="0"/>
              </a:spcBef>
              <a:spcAft>
                <a:spcPts val="0"/>
              </a:spcAft>
              <a:buClr>
                <a:schemeClr val="dk1"/>
              </a:buClr>
              <a:buSzPts val="1100"/>
              <a:buFont typeface="Arial"/>
              <a:buNone/>
            </a:pPr>
            <a:r>
              <a:rPr lang="en" sz="3600" b="1">
                <a:solidFill>
                  <a:srgbClr val="000099"/>
                </a:solidFill>
              </a:rPr>
              <a:t>Next Steps</a:t>
            </a:r>
            <a:endParaRPr sz="3600"/>
          </a:p>
        </p:txBody>
      </p:sp>
      <p:sp>
        <p:nvSpPr>
          <p:cNvPr id="493" name="Google Shape;493;p35"/>
          <p:cNvSpPr/>
          <p:nvPr/>
        </p:nvSpPr>
        <p:spPr>
          <a:xfrm>
            <a:off x="8254299" y="4087814"/>
            <a:ext cx="524821" cy="737059"/>
          </a:xfrm>
          <a:custGeom>
            <a:avLst/>
            <a:gdLst/>
            <a:ahLst/>
            <a:cxnLst/>
            <a:rect l="l" t="t" r="r" b="b"/>
            <a:pathLst>
              <a:path w="524821" h="737059" extrusionOk="0">
                <a:moveTo>
                  <a:pt x="0" y="0"/>
                </a:moveTo>
                <a:lnTo>
                  <a:pt x="524821" y="0"/>
                </a:lnTo>
                <a:lnTo>
                  <a:pt x="524821" y="737059"/>
                </a:lnTo>
                <a:lnTo>
                  <a:pt x="0" y="737059"/>
                </a:lnTo>
                <a:lnTo>
                  <a:pt x="0" y="0"/>
                </a:lnTo>
                <a:close/>
              </a:path>
            </a:pathLst>
          </a:custGeom>
          <a:blipFill rotWithShape="1">
            <a:blip r:embed="rId3">
              <a:alphaModFix/>
            </a:blip>
            <a:stretch>
              <a:fillRect/>
            </a:stretch>
          </a:blipFill>
          <a:ln>
            <a:noFill/>
          </a:ln>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36"/>
          <p:cNvSpPr txBox="1"/>
          <p:nvPr/>
        </p:nvSpPr>
        <p:spPr>
          <a:xfrm>
            <a:off x="876617" y="95250"/>
            <a:ext cx="7810200" cy="3693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 sz="2400" b="1">
                <a:solidFill>
                  <a:srgbClr val="C00000"/>
                </a:solidFill>
                <a:latin typeface="Montserrat"/>
                <a:ea typeface="Montserrat"/>
                <a:cs typeface="Montserrat"/>
                <a:sym typeface="Montserrat"/>
              </a:rPr>
              <a:t>Disruptive Innovation Zone Placements</a:t>
            </a:r>
            <a:endParaRPr sz="1100"/>
          </a:p>
        </p:txBody>
      </p:sp>
      <p:graphicFrame>
        <p:nvGraphicFramePr>
          <p:cNvPr id="500" name="Google Shape;500;p36"/>
          <p:cNvGraphicFramePr/>
          <p:nvPr/>
        </p:nvGraphicFramePr>
        <p:xfrm>
          <a:off x="480863" y="839650"/>
          <a:ext cx="3000000" cy="3000000"/>
        </p:xfrm>
        <a:graphic>
          <a:graphicData uri="http://schemas.openxmlformats.org/drawingml/2006/table">
            <a:tbl>
              <a:tblPr bandRow="1">
                <a:noFill/>
                <a:tableStyleId>{F0863061-04CA-4EAB-8348-4A41C09F2EE4}</a:tableStyleId>
              </a:tblPr>
              <a:tblGrid>
                <a:gridCol w="3871625">
                  <a:extLst>
                    <a:ext uri="{9D8B030D-6E8A-4147-A177-3AD203B41FA5}">
                      <a16:colId xmlns:a16="http://schemas.microsoft.com/office/drawing/2014/main" val="20000"/>
                    </a:ext>
                  </a:extLst>
                </a:gridCol>
                <a:gridCol w="4310650">
                  <a:extLst>
                    <a:ext uri="{9D8B030D-6E8A-4147-A177-3AD203B41FA5}">
                      <a16:colId xmlns:a16="http://schemas.microsoft.com/office/drawing/2014/main" val="20001"/>
                    </a:ext>
                  </a:extLst>
                </a:gridCol>
              </a:tblGrid>
              <a:tr h="288975">
                <a:tc>
                  <a:txBody>
                    <a:bodyPr/>
                    <a:lstStyle/>
                    <a:p>
                      <a:pPr marL="393700" marR="0" lvl="2" indent="0" algn="ctr" rtl="0">
                        <a:lnSpc>
                          <a:spcPct val="100000"/>
                        </a:lnSpc>
                        <a:spcBef>
                          <a:spcPts val="0"/>
                        </a:spcBef>
                        <a:spcAft>
                          <a:spcPts val="0"/>
                        </a:spcAft>
                        <a:buClr>
                          <a:schemeClr val="lt1"/>
                        </a:buClr>
                        <a:buSzPts val="1200"/>
                        <a:buFont typeface="Arial"/>
                        <a:buNone/>
                      </a:pPr>
                      <a:r>
                        <a:rPr lang="en" sz="1200" b="1" i="0" u="none" strike="noStrike" cap="none">
                          <a:solidFill>
                            <a:schemeClr val="lt1"/>
                          </a:solidFill>
                          <a:latin typeface="Open Sans"/>
                          <a:ea typeface="Open Sans"/>
                          <a:cs typeface="Open Sans"/>
                          <a:sym typeface="Open Sans"/>
                        </a:rPr>
                        <a:t>Incubation Zone</a:t>
                      </a:r>
                      <a:endParaRPr sz="1100"/>
                    </a:p>
                  </a:txBody>
                  <a:tcPr marL="45725" marR="45725" marT="22850" marB="228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66092"/>
                    </a:solidFill>
                  </a:tcPr>
                </a:tc>
                <a:tc>
                  <a:txBody>
                    <a:bodyPr/>
                    <a:lstStyle/>
                    <a:p>
                      <a:pPr marL="393700" marR="0" lvl="2" indent="0" algn="ctr" rtl="0">
                        <a:spcBef>
                          <a:spcPts val="0"/>
                        </a:spcBef>
                        <a:spcAft>
                          <a:spcPts val="0"/>
                        </a:spcAft>
                        <a:buClr>
                          <a:schemeClr val="lt1"/>
                        </a:buClr>
                        <a:buSzPts val="1200"/>
                        <a:buFont typeface="Arial"/>
                        <a:buNone/>
                      </a:pPr>
                      <a:r>
                        <a:rPr lang="en" sz="1200" b="1" u="none" strike="noStrike" cap="none">
                          <a:solidFill>
                            <a:schemeClr val="lt1"/>
                          </a:solidFill>
                          <a:latin typeface="Open Sans"/>
                          <a:ea typeface="Open Sans"/>
                          <a:cs typeface="Open Sans"/>
                          <a:sym typeface="Open Sans"/>
                        </a:rPr>
                        <a:t>Transformation Zone</a:t>
                      </a:r>
                      <a:endParaRPr sz="1100"/>
                    </a:p>
                  </a:txBody>
                  <a:tcPr marL="45725" marR="45725" marT="22850" marB="228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66092"/>
                    </a:solidFill>
                  </a:tcPr>
                </a:tc>
                <a:extLst>
                  <a:ext uri="{0D108BD9-81ED-4DB2-BD59-A6C34878D82A}">
                    <a16:rowId xmlns:a16="http://schemas.microsoft.com/office/drawing/2014/main" val="10000"/>
                  </a:ext>
                </a:extLst>
              </a:tr>
              <a:tr h="3654375">
                <a:tc>
                  <a:txBody>
                    <a:bodyPr/>
                    <a:lstStyle/>
                    <a:p>
                      <a:pPr marL="254000" marR="0" lvl="1" indent="-203200" algn="l" rtl="0">
                        <a:lnSpc>
                          <a:spcPct val="100000"/>
                        </a:lnSpc>
                        <a:spcBef>
                          <a:spcPts val="0"/>
                        </a:spcBef>
                        <a:spcAft>
                          <a:spcPts val="0"/>
                        </a:spcAft>
                        <a:buClr>
                          <a:srgbClr val="003A74"/>
                        </a:buClr>
                        <a:buSzPts val="1200"/>
                        <a:buFont typeface="Arial"/>
                        <a:buChar char="⚬"/>
                      </a:pPr>
                      <a:r>
                        <a:rPr lang="en" sz="1200" b="0" i="0" u="none" strike="noStrike" cap="none">
                          <a:solidFill>
                            <a:srgbClr val="003A74"/>
                          </a:solidFill>
                          <a:latin typeface="Open Sans"/>
                          <a:ea typeface="Open Sans"/>
                          <a:cs typeface="Open Sans"/>
                          <a:sym typeface="Open Sans"/>
                        </a:rPr>
                        <a:t>Develop an MVP: </a:t>
                      </a:r>
                      <a:endParaRPr sz="1100"/>
                    </a:p>
                    <a:p>
                      <a:pPr marL="596900" marR="0" lvl="2" indent="-203200" algn="l" rtl="0">
                        <a:lnSpc>
                          <a:spcPct val="100000"/>
                        </a:lnSpc>
                        <a:spcBef>
                          <a:spcPts val="500"/>
                        </a:spcBef>
                        <a:spcAft>
                          <a:spcPts val="0"/>
                        </a:spcAft>
                        <a:buClr>
                          <a:srgbClr val="003A74"/>
                        </a:buClr>
                        <a:buSzPts val="1000"/>
                        <a:buFont typeface="Arial"/>
                        <a:buChar char="⚬"/>
                      </a:pPr>
                      <a:r>
                        <a:rPr lang="en" sz="1000" b="0" i="0" u="none" strike="noStrike" cap="none">
                          <a:solidFill>
                            <a:srgbClr val="003A74"/>
                          </a:solidFill>
                          <a:latin typeface="Open Sans"/>
                          <a:ea typeface="Open Sans"/>
                          <a:cs typeface="Open Sans"/>
                          <a:sym typeface="Open Sans"/>
                        </a:rPr>
                        <a:t>Focus on developing a minimum viable product (MVP) quickly and efficiently to gain early feedback and validate the core concept.</a:t>
                      </a:r>
                      <a:endParaRPr sz="1100"/>
                    </a:p>
                    <a:p>
                      <a:pPr marL="254000" marR="0" lvl="1" indent="-203200" algn="l" rtl="0">
                        <a:lnSpc>
                          <a:spcPct val="100000"/>
                        </a:lnSpc>
                        <a:spcBef>
                          <a:spcPts val="500"/>
                        </a:spcBef>
                        <a:spcAft>
                          <a:spcPts val="0"/>
                        </a:spcAft>
                        <a:buClr>
                          <a:srgbClr val="003A74"/>
                        </a:buClr>
                        <a:buSzPts val="1200"/>
                        <a:buFont typeface="Arial"/>
                        <a:buChar char="⚬"/>
                      </a:pPr>
                      <a:r>
                        <a:rPr lang="en" sz="1200" b="0" i="0" u="none" strike="noStrike" cap="none">
                          <a:solidFill>
                            <a:srgbClr val="003A74"/>
                          </a:solidFill>
                          <a:latin typeface="Open Sans"/>
                          <a:ea typeface="Open Sans"/>
                          <a:cs typeface="Open Sans"/>
                          <a:sym typeface="Open Sans"/>
                        </a:rPr>
                        <a:t>Milestones:</a:t>
                      </a:r>
                      <a:endParaRPr sz="1100"/>
                    </a:p>
                    <a:p>
                      <a:pPr marL="596900" marR="0" lvl="2" indent="-203200" algn="l" rtl="0">
                        <a:lnSpc>
                          <a:spcPct val="100000"/>
                        </a:lnSpc>
                        <a:spcBef>
                          <a:spcPts val="500"/>
                        </a:spcBef>
                        <a:spcAft>
                          <a:spcPts val="0"/>
                        </a:spcAft>
                        <a:buClr>
                          <a:srgbClr val="003A74"/>
                        </a:buClr>
                        <a:buSzPts val="1000"/>
                        <a:buFont typeface="Arial"/>
                        <a:buChar char="⚬"/>
                      </a:pPr>
                      <a:r>
                        <a:rPr lang="en" sz="1000" b="0" i="0" u="none" strike="noStrike" cap="none">
                          <a:solidFill>
                            <a:srgbClr val="003A74"/>
                          </a:solidFill>
                          <a:latin typeface="Open Sans"/>
                          <a:ea typeface="Open Sans"/>
                          <a:cs typeface="Open Sans"/>
                          <a:sym typeface="Open Sans"/>
                        </a:rPr>
                        <a:t>MVP Prototype completed within X weeks/months.</a:t>
                      </a:r>
                      <a:endParaRPr sz="1100"/>
                    </a:p>
                    <a:p>
                      <a:pPr marL="596900" marR="0" lvl="2" indent="-203200" algn="l" rtl="0">
                        <a:lnSpc>
                          <a:spcPct val="100000"/>
                        </a:lnSpc>
                        <a:spcBef>
                          <a:spcPts val="500"/>
                        </a:spcBef>
                        <a:spcAft>
                          <a:spcPts val="0"/>
                        </a:spcAft>
                        <a:buClr>
                          <a:srgbClr val="003A74"/>
                        </a:buClr>
                        <a:buSzPts val="1000"/>
                        <a:buFont typeface="Arial"/>
                        <a:buChar char="⚬"/>
                      </a:pPr>
                      <a:r>
                        <a:rPr lang="en" sz="1000" b="0" i="0" u="none" strike="noStrike" cap="none">
                          <a:solidFill>
                            <a:srgbClr val="003A74"/>
                          </a:solidFill>
                          <a:latin typeface="Open Sans"/>
                          <a:ea typeface="Open Sans"/>
                          <a:cs typeface="Open Sans"/>
                          <a:sym typeface="Open Sans"/>
                        </a:rPr>
                        <a:t>User testing conducted with Y participants.</a:t>
                      </a:r>
                      <a:endParaRPr sz="1100"/>
                    </a:p>
                    <a:p>
                      <a:pPr marL="596900" marR="0" lvl="2" indent="-203200" algn="l" rtl="0">
                        <a:lnSpc>
                          <a:spcPct val="100000"/>
                        </a:lnSpc>
                        <a:spcBef>
                          <a:spcPts val="500"/>
                        </a:spcBef>
                        <a:spcAft>
                          <a:spcPts val="0"/>
                        </a:spcAft>
                        <a:buClr>
                          <a:srgbClr val="003A74"/>
                        </a:buClr>
                        <a:buSzPts val="1000"/>
                        <a:buFont typeface="Arial"/>
                        <a:buChar char="⚬"/>
                      </a:pPr>
                      <a:r>
                        <a:rPr lang="en" sz="1000" b="0" i="0" u="none" strike="noStrike" cap="none">
                          <a:solidFill>
                            <a:srgbClr val="003A74"/>
                          </a:solidFill>
                          <a:latin typeface="Open Sans"/>
                          <a:ea typeface="Open Sans"/>
                          <a:cs typeface="Open Sans"/>
                          <a:sym typeface="Open Sans"/>
                        </a:rPr>
                        <a:t>Key learnings and insights documented.</a:t>
                      </a:r>
                      <a:endParaRPr sz="1100"/>
                    </a:p>
                    <a:p>
                      <a:pPr marL="254000" marR="0" lvl="1" indent="-203200" algn="l" rtl="0">
                        <a:lnSpc>
                          <a:spcPct val="100000"/>
                        </a:lnSpc>
                        <a:spcBef>
                          <a:spcPts val="500"/>
                        </a:spcBef>
                        <a:spcAft>
                          <a:spcPts val="0"/>
                        </a:spcAft>
                        <a:buClr>
                          <a:srgbClr val="003A74"/>
                        </a:buClr>
                        <a:buSzPts val="1200"/>
                        <a:buFont typeface="Arial"/>
                        <a:buChar char="⚬"/>
                      </a:pPr>
                      <a:r>
                        <a:rPr lang="en" sz="1200" b="0" i="0" u="none" strike="noStrike" cap="none">
                          <a:solidFill>
                            <a:srgbClr val="003A74"/>
                          </a:solidFill>
                          <a:latin typeface="Open Sans"/>
                          <a:ea typeface="Open Sans"/>
                          <a:cs typeface="Open Sans"/>
                          <a:sym typeface="Open Sans"/>
                        </a:rPr>
                        <a:t>Success Criteria:</a:t>
                      </a:r>
                      <a:endParaRPr sz="1100"/>
                    </a:p>
                    <a:p>
                      <a:pPr marL="596900" marR="0" lvl="2" indent="-203200" algn="l" rtl="0">
                        <a:lnSpc>
                          <a:spcPct val="100000"/>
                        </a:lnSpc>
                        <a:spcBef>
                          <a:spcPts val="500"/>
                        </a:spcBef>
                        <a:spcAft>
                          <a:spcPts val="0"/>
                        </a:spcAft>
                        <a:buClr>
                          <a:srgbClr val="003A74"/>
                        </a:buClr>
                        <a:buSzPts val="1000"/>
                        <a:buFont typeface="Arial"/>
                        <a:buChar char="⚬"/>
                      </a:pPr>
                      <a:r>
                        <a:rPr lang="en" sz="1000" b="0" i="0" u="none" strike="noStrike" cap="none">
                          <a:solidFill>
                            <a:srgbClr val="003A74"/>
                          </a:solidFill>
                          <a:latin typeface="Open Sans"/>
                          <a:ea typeface="Open Sans"/>
                          <a:cs typeface="Open Sans"/>
                          <a:sym typeface="Open Sans"/>
                        </a:rPr>
                        <a:t>MVP demonstrates core functionality and potential value.</a:t>
                      </a:r>
                      <a:endParaRPr sz="1100"/>
                    </a:p>
                    <a:p>
                      <a:pPr marL="596900" marR="0" lvl="2" indent="-203200" algn="l" rtl="0">
                        <a:lnSpc>
                          <a:spcPct val="100000"/>
                        </a:lnSpc>
                        <a:spcBef>
                          <a:spcPts val="500"/>
                        </a:spcBef>
                        <a:spcAft>
                          <a:spcPts val="0"/>
                        </a:spcAft>
                        <a:buClr>
                          <a:srgbClr val="003A74"/>
                        </a:buClr>
                        <a:buSzPts val="1000"/>
                        <a:buFont typeface="Arial"/>
                        <a:buChar char="⚬"/>
                      </a:pPr>
                      <a:r>
                        <a:rPr lang="en" sz="1000" b="0" i="0" u="none" strike="noStrike" cap="none">
                          <a:solidFill>
                            <a:srgbClr val="003A74"/>
                          </a:solidFill>
                          <a:latin typeface="Open Sans"/>
                          <a:ea typeface="Open Sans"/>
                          <a:cs typeface="Open Sans"/>
                          <a:sym typeface="Open Sans"/>
                        </a:rPr>
                        <a:t>User feedback validates the problem and need for the solution.</a:t>
                      </a:r>
                      <a:endParaRPr sz="1100"/>
                    </a:p>
                    <a:p>
                      <a:pPr marL="596900" marR="0" lvl="2" indent="-203200" algn="l" rtl="0">
                        <a:lnSpc>
                          <a:spcPct val="100000"/>
                        </a:lnSpc>
                        <a:spcBef>
                          <a:spcPts val="500"/>
                        </a:spcBef>
                        <a:spcAft>
                          <a:spcPts val="0"/>
                        </a:spcAft>
                        <a:buClr>
                          <a:srgbClr val="003A74"/>
                        </a:buClr>
                        <a:buSzPts val="1000"/>
                        <a:buFont typeface="Arial"/>
                        <a:buChar char="⚬"/>
                      </a:pPr>
                      <a:r>
                        <a:rPr lang="en" sz="1000" b="0" i="0" u="none" strike="noStrike" cap="none">
                          <a:solidFill>
                            <a:srgbClr val="003A74"/>
                          </a:solidFill>
                          <a:latin typeface="Open Sans"/>
                          <a:ea typeface="Open Sans"/>
                          <a:cs typeface="Open Sans"/>
                          <a:sym typeface="Open Sans"/>
                        </a:rPr>
                        <a:t>Clear path identified for further development based on testing results.</a:t>
                      </a:r>
                      <a:endParaRPr sz="900" b="0" i="0" u="none" strike="noStrike" cap="none">
                        <a:solidFill>
                          <a:srgbClr val="003A74"/>
                        </a:solidFill>
                        <a:latin typeface="Open Sans"/>
                        <a:ea typeface="Open Sans"/>
                        <a:cs typeface="Open Sans"/>
                        <a:sym typeface="Open Sans"/>
                      </a:endParaRPr>
                    </a:p>
                  </a:txBody>
                  <a:tcPr marL="45725" marR="45725" marT="22850" marB="228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254000" marR="0" lvl="1" indent="-203200" algn="l" rtl="0">
                        <a:spcBef>
                          <a:spcPts val="0"/>
                        </a:spcBef>
                        <a:spcAft>
                          <a:spcPts val="0"/>
                        </a:spcAft>
                        <a:buClr>
                          <a:srgbClr val="003A74"/>
                        </a:buClr>
                        <a:buSzPts val="1200"/>
                        <a:buFont typeface="Arial"/>
                        <a:buChar char="⚬"/>
                      </a:pPr>
                      <a:r>
                        <a:rPr lang="en" sz="1200" u="none" strike="noStrike" cap="none">
                          <a:solidFill>
                            <a:srgbClr val="003A74"/>
                          </a:solidFill>
                          <a:latin typeface="Open Sans"/>
                          <a:ea typeface="Open Sans"/>
                          <a:cs typeface="Open Sans"/>
                          <a:sym typeface="Open Sans"/>
                        </a:rPr>
                        <a:t>Conduct a pilot project: </a:t>
                      </a:r>
                      <a:endParaRPr sz="1100"/>
                    </a:p>
                    <a:p>
                      <a:pPr marL="596900" marR="0" lvl="2" indent="-203200" algn="l" rtl="0">
                        <a:spcBef>
                          <a:spcPts val="500"/>
                        </a:spcBef>
                        <a:spcAft>
                          <a:spcPts val="0"/>
                        </a:spcAft>
                        <a:buClr>
                          <a:srgbClr val="003A74"/>
                        </a:buClr>
                        <a:buSzPts val="1000"/>
                        <a:buFont typeface="Arial"/>
                        <a:buChar char="⚬"/>
                      </a:pPr>
                      <a:r>
                        <a:rPr lang="en" sz="1000" u="none" strike="noStrike" cap="none">
                          <a:solidFill>
                            <a:srgbClr val="003A74"/>
                          </a:solidFill>
                          <a:latin typeface="Open Sans"/>
                          <a:ea typeface="Open Sans"/>
                          <a:cs typeface="Open Sans"/>
                          <a:sym typeface="Open Sans"/>
                        </a:rPr>
                        <a:t>Implement the idea on a smaller scale to test its feasibility and impact within a controlled environment.</a:t>
                      </a:r>
                      <a:endParaRPr sz="1100"/>
                    </a:p>
                    <a:p>
                      <a:pPr marL="254000" marR="0" lvl="1" indent="-203200" algn="l" rtl="0">
                        <a:spcBef>
                          <a:spcPts val="500"/>
                        </a:spcBef>
                        <a:spcAft>
                          <a:spcPts val="0"/>
                        </a:spcAft>
                        <a:buClr>
                          <a:srgbClr val="003A74"/>
                        </a:buClr>
                        <a:buSzPts val="1200"/>
                        <a:buFont typeface="Arial"/>
                        <a:buChar char="⚬"/>
                      </a:pPr>
                      <a:r>
                        <a:rPr lang="en" sz="1200" u="none" strike="noStrike" cap="none">
                          <a:solidFill>
                            <a:srgbClr val="003A74"/>
                          </a:solidFill>
                          <a:latin typeface="Open Sans"/>
                          <a:ea typeface="Open Sans"/>
                          <a:cs typeface="Open Sans"/>
                          <a:sym typeface="Open Sans"/>
                        </a:rPr>
                        <a:t>Milestones:</a:t>
                      </a:r>
                      <a:endParaRPr sz="1100"/>
                    </a:p>
                    <a:p>
                      <a:pPr marL="596900" marR="0" lvl="2" indent="-203200" algn="l" rtl="0">
                        <a:spcBef>
                          <a:spcPts val="500"/>
                        </a:spcBef>
                        <a:spcAft>
                          <a:spcPts val="0"/>
                        </a:spcAft>
                        <a:buClr>
                          <a:srgbClr val="003A74"/>
                        </a:buClr>
                        <a:buSzPts val="1000"/>
                        <a:buFont typeface="Arial"/>
                        <a:buChar char="⚬"/>
                      </a:pPr>
                      <a:r>
                        <a:rPr lang="en" sz="1000" u="none" strike="noStrike" cap="none">
                          <a:solidFill>
                            <a:srgbClr val="003A74"/>
                          </a:solidFill>
                          <a:latin typeface="Open Sans"/>
                          <a:ea typeface="Open Sans"/>
                          <a:cs typeface="Open Sans"/>
                          <a:sym typeface="Open Sans"/>
                        </a:rPr>
                        <a:t>Pilot project plan established within X weeks/months.</a:t>
                      </a:r>
                      <a:endParaRPr sz="1100"/>
                    </a:p>
                    <a:p>
                      <a:pPr marL="596900" marR="0" lvl="2" indent="-203200" algn="l" rtl="0">
                        <a:spcBef>
                          <a:spcPts val="500"/>
                        </a:spcBef>
                        <a:spcAft>
                          <a:spcPts val="0"/>
                        </a:spcAft>
                        <a:buClr>
                          <a:srgbClr val="003A74"/>
                        </a:buClr>
                        <a:buSzPts val="1000"/>
                        <a:buFont typeface="Arial"/>
                        <a:buChar char="⚬"/>
                      </a:pPr>
                      <a:r>
                        <a:rPr lang="en" sz="1000" u="none" strike="noStrike" cap="none">
                          <a:solidFill>
                            <a:srgbClr val="003A74"/>
                          </a:solidFill>
                          <a:latin typeface="Open Sans"/>
                          <a:ea typeface="Open Sans"/>
                          <a:cs typeface="Open Sans"/>
                          <a:sym typeface="Open Sans"/>
                        </a:rPr>
                        <a:t>Pilot launched and executed successfully for Y timeframe.</a:t>
                      </a:r>
                      <a:endParaRPr sz="1100"/>
                    </a:p>
                    <a:p>
                      <a:pPr marL="596900" marR="0" lvl="2" indent="-203200" algn="l" rtl="0">
                        <a:spcBef>
                          <a:spcPts val="500"/>
                        </a:spcBef>
                        <a:spcAft>
                          <a:spcPts val="0"/>
                        </a:spcAft>
                        <a:buClr>
                          <a:srgbClr val="003A74"/>
                        </a:buClr>
                        <a:buSzPts val="1000"/>
                        <a:buFont typeface="Arial"/>
                        <a:buChar char="⚬"/>
                      </a:pPr>
                      <a:r>
                        <a:rPr lang="en" sz="1000" u="none" strike="noStrike" cap="none">
                          <a:solidFill>
                            <a:srgbClr val="003A74"/>
                          </a:solidFill>
                          <a:latin typeface="Open Sans"/>
                          <a:ea typeface="Open Sans"/>
                          <a:cs typeface="Open Sans"/>
                          <a:sym typeface="Open Sans"/>
                        </a:rPr>
                        <a:t>Data and metrics collected to measure impact on KPIs and other critical areas.</a:t>
                      </a:r>
                      <a:endParaRPr sz="1100"/>
                    </a:p>
                    <a:p>
                      <a:pPr marL="254000" marR="0" lvl="1" indent="-203200" algn="l" rtl="0">
                        <a:spcBef>
                          <a:spcPts val="500"/>
                        </a:spcBef>
                        <a:spcAft>
                          <a:spcPts val="0"/>
                        </a:spcAft>
                        <a:buClr>
                          <a:srgbClr val="003A74"/>
                        </a:buClr>
                        <a:buSzPts val="1200"/>
                        <a:buFont typeface="Arial"/>
                        <a:buChar char="⚬"/>
                      </a:pPr>
                      <a:r>
                        <a:rPr lang="en" sz="1200" u="none" strike="noStrike" cap="none">
                          <a:solidFill>
                            <a:srgbClr val="003A74"/>
                          </a:solidFill>
                          <a:latin typeface="Open Sans"/>
                          <a:ea typeface="Open Sans"/>
                          <a:cs typeface="Open Sans"/>
                          <a:sym typeface="Open Sans"/>
                        </a:rPr>
                        <a:t>Success Criteria:</a:t>
                      </a:r>
                      <a:endParaRPr sz="1100"/>
                    </a:p>
                    <a:p>
                      <a:pPr marL="596900" marR="0" lvl="2" indent="-203200" algn="l" rtl="0">
                        <a:spcBef>
                          <a:spcPts val="500"/>
                        </a:spcBef>
                        <a:spcAft>
                          <a:spcPts val="0"/>
                        </a:spcAft>
                        <a:buClr>
                          <a:srgbClr val="003A74"/>
                        </a:buClr>
                        <a:buSzPts val="1000"/>
                        <a:buFont typeface="Arial"/>
                        <a:buChar char="⚬"/>
                      </a:pPr>
                      <a:r>
                        <a:rPr lang="en" sz="1000" u="none" strike="noStrike" cap="none">
                          <a:solidFill>
                            <a:srgbClr val="003A74"/>
                          </a:solidFill>
                          <a:latin typeface="Open Sans"/>
                          <a:ea typeface="Open Sans"/>
                          <a:cs typeface="Open Sans"/>
                          <a:sym typeface="Open Sans"/>
                        </a:rPr>
                        <a:t>Pilot proves the idea's scalability and ability to generate desired outcomes.</a:t>
                      </a:r>
                      <a:endParaRPr sz="1100"/>
                    </a:p>
                    <a:p>
                      <a:pPr marL="596900" marR="0" lvl="2" indent="-203200" algn="l" rtl="0">
                        <a:spcBef>
                          <a:spcPts val="500"/>
                        </a:spcBef>
                        <a:spcAft>
                          <a:spcPts val="0"/>
                        </a:spcAft>
                        <a:buClr>
                          <a:srgbClr val="003A74"/>
                        </a:buClr>
                        <a:buSzPts val="1000"/>
                        <a:buFont typeface="Arial"/>
                        <a:buChar char="⚬"/>
                      </a:pPr>
                      <a:r>
                        <a:rPr lang="en" sz="1000" u="none" strike="noStrike" cap="none">
                          <a:solidFill>
                            <a:srgbClr val="003A74"/>
                          </a:solidFill>
                          <a:latin typeface="Open Sans"/>
                          <a:ea typeface="Open Sans"/>
                          <a:cs typeface="Open Sans"/>
                          <a:sym typeface="Open Sans"/>
                        </a:rPr>
                        <a:t>Financial modeling demonstrates strong ROI potential.</a:t>
                      </a:r>
                      <a:endParaRPr sz="1100"/>
                    </a:p>
                    <a:p>
                      <a:pPr marL="596900" marR="0" lvl="2" indent="-203200" algn="l" rtl="0">
                        <a:spcBef>
                          <a:spcPts val="500"/>
                        </a:spcBef>
                        <a:spcAft>
                          <a:spcPts val="0"/>
                        </a:spcAft>
                        <a:buClr>
                          <a:srgbClr val="003A74"/>
                        </a:buClr>
                        <a:buSzPts val="1000"/>
                        <a:buFont typeface="Arial"/>
                        <a:buChar char="⚬"/>
                      </a:pPr>
                      <a:r>
                        <a:rPr lang="en" sz="1000" u="none" strike="noStrike" cap="none">
                          <a:solidFill>
                            <a:srgbClr val="003A74"/>
                          </a:solidFill>
                          <a:latin typeface="Open Sans"/>
                          <a:ea typeface="Open Sans"/>
                          <a:cs typeface="Open Sans"/>
                          <a:sym typeface="Open Sans"/>
                        </a:rPr>
                        <a:t>Clear plan for full-scale launch developed based on pilot learnings.</a:t>
                      </a:r>
                      <a:endParaRPr sz="900" u="none" strike="noStrike" cap="none">
                        <a:solidFill>
                          <a:srgbClr val="003A74"/>
                        </a:solidFill>
                        <a:latin typeface="Open Sans"/>
                        <a:ea typeface="Open Sans"/>
                        <a:cs typeface="Open Sans"/>
                        <a:sym typeface="Open Sans"/>
                      </a:endParaRPr>
                    </a:p>
                  </a:txBody>
                  <a:tcPr marL="45725" marR="45725" marT="22850" marB="228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37"/>
          <p:cNvSpPr txBox="1"/>
          <p:nvPr/>
        </p:nvSpPr>
        <p:spPr>
          <a:xfrm>
            <a:off x="876617" y="95250"/>
            <a:ext cx="7810200" cy="5727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endParaRPr sz="1100"/>
          </a:p>
          <a:p>
            <a:pPr marL="0" marR="0" lvl="0" indent="0" algn="ctr" rtl="0">
              <a:lnSpc>
                <a:spcPct val="150000"/>
              </a:lnSpc>
              <a:spcBef>
                <a:spcPts val="0"/>
              </a:spcBef>
              <a:spcAft>
                <a:spcPts val="0"/>
              </a:spcAft>
              <a:buNone/>
            </a:pPr>
            <a:r>
              <a:rPr lang="en" sz="2400" b="1">
                <a:solidFill>
                  <a:srgbClr val="C00000"/>
                </a:solidFill>
                <a:latin typeface="Montserrat"/>
                <a:ea typeface="Montserrat"/>
                <a:cs typeface="Montserrat"/>
                <a:sym typeface="Montserrat"/>
              </a:rPr>
              <a:t>Sustaining Innovation Zone Placements</a:t>
            </a:r>
            <a:endParaRPr sz="1100"/>
          </a:p>
        </p:txBody>
      </p:sp>
      <p:graphicFrame>
        <p:nvGraphicFramePr>
          <p:cNvPr id="507" name="Google Shape;507;p37"/>
          <p:cNvGraphicFramePr/>
          <p:nvPr/>
        </p:nvGraphicFramePr>
        <p:xfrm>
          <a:off x="423288" y="939287"/>
          <a:ext cx="3000000" cy="3000000"/>
        </p:xfrm>
        <a:graphic>
          <a:graphicData uri="http://schemas.openxmlformats.org/drawingml/2006/table">
            <a:tbl>
              <a:tblPr bandRow="1">
                <a:noFill/>
                <a:tableStyleId>{F0863061-04CA-4EAB-8348-4A41C09F2EE4}</a:tableStyleId>
              </a:tblPr>
              <a:tblGrid>
                <a:gridCol w="4368300">
                  <a:extLst>
                    <a:ext uri="{9D8B030D-6E8A-4147-A177-3AD203B41FA5}">
                      <a16:colId xmlns:a16="http://schemas.microsoft.com/office/drawing/2014/main" val="20000"/>
                    </a:ext>
                  </a:extLst>
                </a:gridCol>
                <a:gridCol w="3929125">
                  <a:extLst>
                    <a:ext uri="{9D8B030D-6E8A-4147-A177-3AD203B41FA5}">
                      <a16:colId xmlns:a16="http://schemas.microsoft.com/office/drawing/2014/main" val="20001"/>
                    </a:ext>
                  </a:extLst>
                </a:gridCol>
              </a:tblGrid>
              <a:tr h="304200">
                <a:tc>
                  <a:txBody>
                    <a:bodyPr/>
                    <a:lstStyle/>
                    <a:p>
                      <a:pPr marL="393700" marR="0" lvl="2" indent="0" algn="ctr" rtl="0">
                        <a:lnSpc>
                          <a:spcPct val="100000"/>
                        </a:lnSpc>
                        <a:spcBef>
                          <a:spcPts val="0"/>
                        </a:spcBef>
                        <a:spcAft>
                          <a:spcPts val="0"/>
                        </a:spcAft>
                        <a:buClr>
                          <a:schemeClr val="lt1"/>
                        </a:buClr>
                        <a:buSzPts val="1200"/>
                        <a:buFont typeface="Arial"/>
                        <a:buNone/>
                      </a:pPr>
                      <a:r>
                        <a:rPr lang="en" sz="1200" b="1" i="0" u="none" strike="noStrike" cap="none">
                          <a:solidFill>
                            <a:schemeClr val="lt1"/>
                          </a:solidFill>
                          <a:latin typeface="Open Sans"/>
                          <a:ea typeface="Open Sans"/>
                          <a:cs typeface="Open Sans"/>
                          <a:sym typeface="Open Sans"/>
                        </a:rPr>
                        <a:t>Performance Zone</a:t>
                      </a:r>
                      <a:endParaRPr sz="1100"/>
                    </a:p>
                  </a:txBody>
                  <a:tcPr marL="45725" marR="45725" marT="22850" marB="228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66092"/>
                    </a:solidFill>
                  </a:tcPr>
                </a:tc>
                <a:tc>
                  <a:txBody>
                    <a:bodyPr/>
                    <a:lstStyle/>
                    <a:p>
                      <a:pPr marL="393700" marR="0" lvl="2" indent="0" algn="ctr" rtl="0">
                        <a:spcBef>
                          <a:spcPts val="0"/>
                        </a:spcBef>
                        <a:spcAft>
                          <a:spcPts val="0"/>
                        </a:spcAft>
                        <a:buClr>
                          <a:schemeClr val="lt1"/>
                        </a:buClr>
                        <a:buSzPts val="1200"/>
                        <a:buFont typeface="Arial"/>
                        <a:buNone/>
                      </a:pPr>
                      <a:r>
                        <a:rPr lang="en" sz="1200" b="1" u="none" strike="noStrike" cap="none">
                          <a:solidFill>
                            <a:schemeClr val="lt1"/>
                          </a:solidFill>
                          <a:latin typeface="Open Sans"/>
                          <a:ea typeface="Open Sans"/>
                          <a:cs typeface="Open Sans"/>
                          <a:sym typeface="Open Sans"/>
                        </a:rPr>
                        <a:t>Productivity Zone</a:t>
                      </a:r>
                      <a:endParaRPr sz="1100"/>
                    </a:p>
                  </a:txBody>
                  <a:tcPr marL="45725" marR="45725" marT="22850" marB="228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66092"/>
                    </a:solidFill>
                  </a:tcPr>
                </a:tc>
                <a:extLst>
                  <a:ext uri="{0D108BD9-81ED-4DB2-BD59-A6C34878D82A}">
                    <a16:rowId xmlns:a16="http://schemas.microsoft.com/office/drawing/2014/main" val="10000"/>
                  </a:ext>
                </a:extLst>
              </a:tr>
              <a:tr h="3566150">
                <a:tc>
                  <a:txBody>
                    <a:bodyPr/>
                    <a:lstStyle/>
                    <a:p>
                      <a:pPr marL="254000" marR="0" lvl="1" indent="-203200" algn="l" rtl="0">
                        <a:lnSpc>
                          <a:spcPct val="100000"/>
                        </a:lnSpc>
                        <a:spcBef>
                          <a:spcPts val="0"/>
                        </a:spcBef>
                        <a:spcAft>
                          <a:spcPts val="0"/>
                        </a:spcAft>
                        <a:buClr>
                          <a:srgbClr val="003A74"/>
                        </a:buClr>
                        <a:buSzPts val="1200"/>
                        <a:buFont typeface="Arial"/>
                        <a:buChar char="⚬"/>
                      </a:pPr>
                      <a:r>
                        <a:rPr lang="en" sz="1200" b="0" i="0" u="none" strike="noStrike" cap="none">
                          <a:solidFill>
                            <a:srgbClr val="003A74"/>
                          </a:solidFill>
                          <a:latin typeface="Open Sans"/>
                          <a:ea typeface="Open Sans"/>
                          <a:cs typeface="Open Sans"/>
                          <a:sym typeface="Open Sans"/>
                        </a:rPr>
                        <a:t>Integrate and deploy: </a:t>
                      </a:r>
                      <a:endParaRPr sz="1100"/>
                    </a:p>
                    <a:p>
                      <a:pPr marL="596900" marR="0" lvl="2" indent="-203200" algn="l" rtl="0">
                        <a:lnSpc>
                          <a:spcPct val="100000"/>
                        </a:lnSpc>
                        <a:spcBef>
                          <a:spcPts val="500"/>
                        </a:spcBef>
                        <a:spcAft>
                          <a:spcPts val="0"/>
                        </a:spcAft>
                        <a:buClr>
                          <a:srgbClr val="003A74"/>
                        </a:buClr>
                        <a:buSzPts val="1000"/>
                        <a:buFont typeface="Arial"/>
                        <a:buChar char="⚬"/>
                      </a:pPr>
                      <a:r>
                        <a:rPr lang="en" sz="1000" u="none" strike="noStrike" cap="none">
                          <a:solidFill>
                            <a:srgbClr val="003A74"/>
                          </a:solidFill>
                          <a:latin typeface="Open Sans"/>
                          <a:ea typeface="Open Sans"/>
                          <a:cs typeface="Open Sans"/>
                          <a:sym typeface="Open Sans"/>
                        </a:rPr>
                        <a:t>Seamlessly integrate the idea into existing NFL operations and performance metrics.</a:t>
                      </a:r>
                      <a:endParaRPr sz="1100"/>
                    </a:p>
                    <a:p>
                      <a:pPr marL="254000" marR="0" lvl="1" indent="-203200" algn="l" rtl="0">
                        <a:lnSpc>
                          <a:spcPct val="100000"/>
                        </a:lnSpc>
                        <a:spcBef>
                          <a:spcPts val="500"/>
                        </a:spcBef>
                        <a:spcAft>
                          <a:spcPts val="0"/>
                        </a:spcAft>
                        <a:buClr>
                          <a:srgbClr val="003A74"/>
                        </a:buClr>
                        <a:buSzPts val="1200"/>
                        <a:buFont typeface="Arial"/>
                        <a:buChar char="⚬"/>
                      </a:pPr>
                      <a:r>
                        <a:rPr lang="en" sz="1200" b="0" i="0" u="none" strike="noStrike" cap="none">
                          <a:solidFill>
                            <a:srgbClr val="003A74"/>
                          </a:solidFill>
                          <a:latin typeface="Open Sans"/>
                          <a:ea typeface="Open Sans"/>
                          <a:cs typeface="Open Sans"/>
                          <a:sym typeface="Open Sans"/>
                        </a:rPr>
                        <a:t>Milestones:</a:t>
                      </a:r>
                      <a:endParaRPr sz="1100"/>
                    </a:p>
                    <a:p>
                      <a:pPr marL="596900" marR="0" lvl="2" indent="-203200" algn="l" rtl="0">
                        <a:lnSpc>
                          <a:spcPct val="100000"/>
                        </a:lnSpc>
                        <a:spcBef>
                          <a:spcPts val="500"/>
                        </a:spcBef>
                        <a:spcAft>
                          <a:spcPts val="0"/>
                        </a:spcAft>
                        <a:buClr>
                          <a:srgbClr val="003A74"/>
                        </a:buClr>
                        <a:buSzPts val="1000"/>
                        <a:buFont typeface="Arial"/>
                        <a:buChar char="⚬"/>
                      </a:pPr>
                      <a:r>
                        <a:rPr lang="en" sz="1000" u="none" strike="noStrike" cap="none">
                          <a:solidFill>
                            <a:srgbClr val="003A74"/>
                          </a:solidFill>
                          <a:latin typeface="Open Sans"/>
                          <a:ea typeface="Open Sans"/>
                          <a:cs typeface="Open Sans"/>
                          <a:sym typeface="Open Sans"/>
                        </a:rPr>
                        <a:t>Implementation plan developed within X weeks/months.</a:t>
                      </a:r>
                      <a:endParaRPr sz="1100"/>
                    </a:p>
                    <a:p>
                      <a:pPr marL="596900" marR="0" lvl="2" indent="-203200" algn="l" rtl="0">
                        <a:lnSpc>
                          <a:spcPct val="100000"/>
                        </a:lnSpc>
                        <a:spcBef>
                          <a:spcPts val="500"/>
                        </a:spcBef>
                        <a:spcAft>
                          <a:spcPts val="0"/>
                        </a:spcAft>
                        <a:buClr>
                          <a:srgbClr val="003A74"/>
                        </a:buClr>
                        <a:buSzPts val="1000"/>
                        <a:buFont typeface="Arial"/>
                        <a:buChar char="⚬"/>
                      </a:pPr>
                      <a:r>
                        <a:rPr lang="en" sz="1000" u="none" strike="noStrike" cap="none">
                          <a:solidFill>
                            <a:srgbClr val="003A74"/>
                          </a:solidFill>
                          <a:latin typeface="Open Sans"/>
                          <a:ea typeface="Open Sans"/>
                          <a:cs typeface="Open Sans"/>
                          <a:sym typeface="Open Sans"/>
                        </a:rPr>
                        <a:t>Idea integration completed with minimal disruption to existing systems.</a:t>
                      </a:r>
                      <a:endParaRPr sz="1100"/>
                    </a:p>
                    <a:p>
                      <a:pPr marL="596900" marR="0" lvl="2" indent="-203200" algn="l" rtl="0">
                        <a:lnSpc>
                          <a:spcPct val="100000"/>
                        </a:lnSpc>
                        <a:spcBef>
                          <a:spcPts val="500"/>
                        </a:spcBef>
                        <a:spcAft>
                          <a:spcPts val="0"/>
                        </a:spcAft>
                        <a:buClr>
                          <a:srgbClr val="003A74"/>
                        </a:buClr>
                        <a:buSzPts val="1000"/>
                        <a:buFont typeface="Arial"/>
                        <a:buChar char="⚬"/>
                      </a:pPr>
                      <a:r>
                        <a:rPr lang="en" sz="1000" u="none" strike="noStrike" cap="none">
                          <a:solidFill>
                            <a:srgbClr val="003A74"/>
                          </a:solidFill>
                          <a:latin typeface="Open Sans"/>
                          <a:ea typeface="Open Sans"/>
                          <a:cs typeface="Open Sans"/>
                          <a:sym typeface="Open Sans"/>
                        </a:rPr>
                        <a:t>Training and support provided to relevant stakeholders.</a:t>
                      </a:r>
                      <a:endParaRPr sz="1100"/>
                    </a:p>
                    <a:p>
                      <a:pPr marL="254000" marR="0" lvl="1" indent="-203200" algn="l" rtl="0">
                        <a:lnSpc>
                          <a:spcPct val="100000"/>
                        </a:lnSpc>
                        <a:spcBef>
                          <a:spcPts val="500"/>
                        </a:spcBef>
                        <a:spcAft>
                          <a:spcPts val="0"/>
                        </a:spcAft>
                        <a:buClr>
                          <a:srgbClr val="003A74"/>
                        </a:buClr>
                        <a:buSzPts val="1200"/>
                        <a:buFont typeface="Arial"/>
                        <a:buChar char="⚬"/>
                      </a:pPr>
                      <a:r>
                        <a:rPr lang="en" sz="1200" b="0" i="0" u="none" strike="noStrike" cap="none">
                          <a:solidFill>
                            <a:srgbClr val="003A74"/>
                          </a:solidFill>
                          <a:latin typeface="Open Sans"/>
                          <a:ea typeface="Open Sans"/>
                          <a:cs typeface="Open Sans"/>
                          <a:sym typeface="Open Sans"/>
                        </a:rPr>
                        <a:t>Success Criteria:</a:t>
                      </a:r>
                      <a:endParaRPr sz="1100"/>
                    </a:p>
                    <a:p>
                      <a:pPr marL="596900" marR="0" lvl="2" indent="-203200" algn="l" rtl="0">
                        <a:lnSpc>
                          <a:spcPct val="100000"/>
                        </a:lnSpc>
                        <a:spcBef>
                          <a:spcPts val="500"/>
                        </a:spcBef>
                        <a:spcAft>
                          <a:spcPts val="0"/>
                        </a:spcAft>
                        <a:buClr>
                          <a:srgbClr val="003A74"/>
                        </a:buClr>
                        <a:buSzPts val="1000"/>
                        <a:buFont typeface="Arial"/>
                        <a:buChar char="⚬"/>
                      </a:pPr>
                      <a:r>
                        <a:rPr lang="en" sz="1000" u="none" strike="noStrike" cap="none">
                          <a:solidFill>
                            <a:srgbClr val="003A74"/>
                          </a:solidFill>
                          <a:latin typeface="Open Sans"/>
                          <a:ea typeface="Open Sans"/>
                          <a:cs typeface="Open Sans"/>
                          <a:sym typeface="Open Sans"/>
                        </a:rPr>
                        <a:t>Measurable improvement in target KPIs (e.g., increased fan engagement, revenue growth, contribution margins).</a:t>
                      </a:r>
                      <a:endParaRPr sz="1100"/>
                    </a:p>
                    <a:p>
                      <a:pPr marL="596900" marR="0" lvl="2" indent="-203200" algn="l" rtl="0">
                        <a:lnSpc>
                          <a:spcPct val="100000"/>
                        </a:lnSpc>
                        <a:spcBef>
                          <a:spcPts val="500"/>
                        </a:spcBef>
                        <a:spcAft>
                          <a:spcPts val="0"/>
                        </a:spcAft>
                        <a:buClr>
                          <a:srgbClr val="003A74"/>
                        </a:buClr>
                        <a:buSzPts val="1000"/>
                        <a:buFont typeface="Arial"/>
                        <a:buChar char="⚬"/>
                      </a:pPr>
                      <a:r>
                        <a:rPr lang="en" sz="1000" u="none" strike="noStrike" cap="none">
                          <a:solidFill>
                            <a:srgbClr val="003A74"/>
                          </a:solidFill>
                          <a:latin typeface="Open Sans"/>
                          <a:ea typeface="Open Sans"/>
                          <a:cs typeface="Open Sans"/>
                          <a:sym typeface="Open Sans"/>
                        </a:rPr>
                        <a:t>Positive user feedback and adoption from internal stakeholders.</a:t>
                      </a:r>
                      <a:endParaRPr sz="1100"/>
                    </a:p>
                    <a:p>
                      <a:pPr marL="596900" marR="0" lvl="2" indent="-203200" algn="l" rtl="0">
                        <a:lnSpc>
                          <a:spcPct val="100000"/>
                        </a:lnSpc>
                        <a:spcBef>
                          <a:spcPts val="500"/>
                        </a:spcBef>
                        <a:spcAft>
                          <a:spcPts val="0"/>
                        </a:spcAft>
                        <a:buClr>
                          <a:srgbClr val="003A74"/>
                        </a:buClr>
                        <a:buSzPts val="1000"/>
                        <a:buFont typeface="Arial"/>
                        <a:buChar char="⚬"/>
                      </a:pPr>
                      <a:r>
                        <a:rPr lang="en" sz="1000" u="none" strike="noStrike" cap="none">
                          <a:solidFill>
                            <a:srgbClr val="003A74"/>
                          </a:solidFill>
                          <a:latin typeface="Open Sans"/>
                          <a:ea typeface="Open Sans"/>
                          <a:cs typeface="Open Sans"/>
                          <a:sym typeface="Open Sans"/>
                        </a:rPr>
                        <a:t>Successful integration with existing systems and infrastructure.</a:t>
                      </a:r>
                      <a:endParaRPr sz="1100"/>
                    </a:p>
                  </a:txBody>
                  <a:tcPr marL="45725" marR="45725" marT="22850" marB="228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254000" marR="0" lvl="1" indent="-203200" algn="l" rtl="0">
                        <a:spcBef>
                          <a:spcPts val="0"/>
                        </a:spcBef>
                        <a:spcAft>
                          <a:spcPts val="0"/>
                        </a:spcAft>
                        <a:buClr>
                          <a:srgbClr val="003A74"/>
                        </a:buClr>
                        <a:buSzPts val="1200"/>
                        <a:buFont typeface="Arial"/>
                        <a:buChar char="⚬"/>
                      </a:pPr>
                      <a:r>
                        <a:rPr lang="en" sz="1200" u="none" strike="noStrike" cap="none">
                          <a:solidFill>
                            <a:srgbClr val="003A74"/>
                          </a:solidFill>
                          <a:latin typeface="Open Sans"/>
                          <a:ea typeface="Open Sans"/>
                          <a:cs typeface="Open Sans"/>
                          <a:sym typeface="Open Sans"/>
                        </a:rPr>
                        <a:t>Implement and optimize: </a:t>
                      </a:r>
                      <a:endParaRPr sz="1100"/>
                    </a:p>
                    <a:p>
                      <a:pPr marL="596900" marR="0" lvl="2" indent="-203200" algn="l" rtl="0">
                        <a:lnSpc>
                          <a:spcPct val="100000"/>
                        </a:lnSpc>
                        <a:spcBef>
                          <a:spcPts val="500"/>
                        </a:spcBef>
                        <a:spcAft>
                          <a:spcPts val="0"/>
                        </a:spcAft>
                        <a:buClr>
                          <a:srgbClr val="003A74"/>
                        </a:buClr>
                        <a:buSzPts val="1000"/>
                        <a:buFont typeface="Arial"/>
                        <a:buChar char="⚬"/>
                      </a:pPr>
                      <a:r>
                        <a:rPr lang="en" sz="1000" u="none" strike="noStrike" cap="none">
                          <a:solidFill>
                            <a:srgbClr val="003A74"/>
                          </a:solidFill>
                          <a:latin typeface="Open Sans"/>
                          <a:ea typeface="Open Sans"/>
                          <a:cs typeface="Open Sans"/>
                          <a:sym typeface="Open Sans"/>
                        </a:rPr>
                        <a:t>Implement the idea to automate tasks, streamline processes, and optimize resource allocation.</a:t>
                      </a:r>
                      <a:endParaRPr sz="1100"/>
                    </a:p>
                    <a:p>
                      <a:pPr marL="254000" marR="0" lvl="1" indent="-203200" algn="l" rtl="0">
                        <a:spcBef>
                          <a:spcPts val="500"/>
                        </a:spcBef>
                        <a:spcAft>
                          <a:spcPts val="0"/>
                        </a:spcAft>
                        <a:buClr>
                          <a:srgbClr val="003A74"/>
                        </a:buClr>
                        <a:buSzPts val="1200"/>
                        <a:buFont typeface="Arial"/>
                        <a:buChar char="⚬"/>
                      </a:pPr>
                      <a:r>
                        <a:rPr lang="en" sz="1200" u="none" strike="noStrike" cap="none">
                          <a:solidFill>
                            <a:srgbClr val="003A74"/>
                          </a:solidFill>
                          <a:latin typeface="Open Sans"/>
                          <a:ea typeface="Open Sans"/>
                          <a:cs typeface="Open Sans"/>
                          <a:sym typeface="Open Sans"/>
                        </a:rPr>
                        <a:t>Milestones:</a:t>
                      </a:r>
                      <a:endParaRPr sz="1100"/>
                    </a:p>
                    <a:p>
                      <a:pPr marL="596900" marR="0" lvl="2" indent="-203200" algn="l" rtl="0">
                        <a:lnSpc>
                          <a:spcPct val="100000"/>
                        </a:lnSpc>
                        <a:spcBef>
                          <a:spcPts val="500"/>
                        </a:spcBef>
                        <a:spcAft>
                          <a:spcPts val="0"/>
                        </a:spcAft>
                        <a:buClr>
                          <a:srgbClr val="003A74"/>
                        </a:buClr>
                        <a:buSzPts val="1000"/>
                        <a:buFont typeface="Arial"/>
                        <a:buChar char="⚬"/>
                      </a:pPr>
                      <a:r>
                        <a:rPr lang="en" sz="1000" u="none" strike="noStrike" cap="none">
                          <a:solidFill>
                            <a:srgbClr val="003A74"/>
                          </a:solidFill>
                          <a:latin typeface="Open Sans"/>
                          <a:ea typeface="Open Sans"/>
                          <a:cs typeface="Open Sans"/>
                          <a:sym typeface="Open Sans"/>
                        </a:rPr>
                        <a:t>Implementation plan developed within X weeks/months.</a:t>
                      </a:r>
                      <a:endParaRPr sz="1100"/>
                    </a:p>
                    <a:p>
                      <a:pPr marL="596900" marR="0" lvl="2" indent="-203200" algn="l" rtl="0">
                        <a:lnSpc>
                          <a:spcPct val="100000"/>
                        </a:lnSpc>
                        <a:spcBef>
                          <a:spcPts val="500"/>
                        </a:spcBef>
                        <a:spcAft>
                          <a:spcPts val="0"/>
                        </a:spcAft>
                        <a:buClr>
                          <a:srgbClr val="003A74"/>
                        </a:buClr>
                        <a:buSzPts val="1000"/>
                        <a:buFont typeface="Arial"/>
                        <a:buChar char="⚬"/>
                      </a:pPr>
                      <a:r>
                        <a:rPr lang="en" sz="1000" u="none" strike="noStrike" cap="none">
                          <a:solidFill>
                            <a:srgbClr val="003A74"/>
                          </a:solidFill>
                          <a:latin typeface="Open Sans"/>
                          <a:ea typeface="Open Sans"/>
                          <a:cs typeface="Open Sans"/>
                          <a:sym typeface="Open Sans"/>
                        </a:rPr>
                        <a:t>Key processes identified for optimization.</a:t>
                      </a:r>
                      <a:endParaRPr sz="1100"/>
                    </a:p>
                    <a:p>
                      <a:pPr marL="596900" marR="0" lvl="2" indent="-203200" algn="l" rtl="0">
                        <a:lnSpc>
                          <a:spcPct val="100000"/>
                        </a:lnSpc>
                        <a:spcBef>
                          <a:spcPts val="500"/>
                        </a:spcBef>
                        <a:spcAft>
                          <a:spcPts val="0"/>
                        </a:spcAft>
                        <a:buClr>
                          <a:srgbClr val="003A74"/>
                        </a:buClr>
                        <a:buSzPts val="1000"/>
                        <a:buFont typeface="Arial"/>
                        <a:buChar char="⚬"/>
                      </a:pPr>
                      <a:r>
                        <a:rPr lang="en" sz="1000" u="none" strike="noStrike" cap="none">
                          <a:solidFill>
                            <a:srgbClr val="003A74"/>
                          </a:solidFill>
                          <a:latin typeface="Open Sans"/>
                          <a:ea typeface="Open Sans"/>
                          <a:cs typeface="Open Sans"/>
                          <a:sym typeface="Open Sans"/>
                        </a:rPr>
                        <a:t>Technology infrastructure established to support automation.</a:t>
                      </a:r>
                      <a:endParaRPr sz="1100"/>
                    </a:p>
                    <a:p>
                      <a:pPr marL="254000" marR="0" lvl="1" indent="-203200" algn="l" rtl="0">
                        <a:spcBef>
                          <a:spcPts val="500"/>
                        </a:spcBef>
                        <a:spcAft>
                          <a:spcPts val="0"/>
                        </a:spcAft>
                        <a:buClr>
                          <a:srgbClr val="003A74"/>
                        </a:buClr>
                        <a:buSzPts val="1200"/>
                        <a:buFont typeface="Arial"/>
                        <a:buChar char="⚬"/>
                      </a:pPr>
                      <a:r>
                        <a:rPr lang="en" sz="1200" u="none" strike="noStrike" cap="none">
                          <a:solidFill>
                            <a:srgbClr val="003A74"/>
                          </a:solidFill>
                          <a:latin typeface="Open Sans"/>
                          <a:ea typeface="Open Sans"/>
                          <a:cs typeface="Open Sans"/>
                          <a:sym typeface="Open Sans"/>
                        </a:rPr>
                        <a:t>Success Criteria:</a:t>
                      </a:r>
                      <a:endParaRPr sz="1100"/>
                    </a:p>
                    <a:p>
                      <a:pPr marL="596900" marR="0" lvl="2" indent="-203200" algn="l" rtl="0">
                        <a:lnSpc>
                          <a:spcPct val="100000"/>
                        </a:lnSpc>
                        <a:spcBef>
                          <a:spcPts val="500"/>
                        </a:spcBef>
                        <a:spcAft>
                          <a:spcPts val="0"/>
                        </a:spcAft>
                        <a:buClr>
                          <a:srgbClr val="003A74"/>
                        </a:buClr>
                        <a:buSzPts val="1000"/>
                        <a:buFont typeface="Arial"/>
                        <a:buChar char="⚬"/>
                      </a:pPr>
                      <a:r>
                        <a:rPr lang="en" sz="1000" u="none" strike="noStrike" cap="none">
                          <a:solidFill>
                            <a:srgbClr val="003A74"/>
                          </a:solidFill>
                          <a:latin typeface="Open Sans"/>
                          <a:ea typeface="Open Sans"/>
                          <a:cs typeface="Open Sans"/>
                          <a:sym typeface="Open Sans"/>
                        </a:rPr>
                        <a:t>Demonstrated cost savings or resource optimization based on implemented changes.</a:t>
                      </a:r>
                      <a:endParaRPr sz="1100"/>
                    </a:p>
                    <a:p>
                      <a:pPr marL="596900" marR="0" lvl="2" indent="-203200" algn="l" rtl="0">
                        <a:lnSpc>
                          <a:spcPct val="100000"/>
                        </a:lnSpc>
                        <a:spcBef>
                          <a:spcPts val="500"/>
                        </a:spcBef>
                        <a:spcAft>
                          <a:spcPts val="0"/>
                        </a:spcAft>
                        <a:buClr>
                          <a:srgbClr val="003A74"/>
                        </a:buClr>
                        <a:buSzPts val="1000"/>
                        <a:buFont typeface="Arial"/>
                        <a:buChar char="⚬"/>
                      </a:pPr>
                      <a:r>
                        <a:rPr lang="en" sz="1000" u="none" strike="noStrike" cap="none">
                          <a:solidFill>
                            <a:srgbClr val="003A74"/>
                          </a:solidFill>
                          <a:latin typeface="Open Sans"/>
                          <a:ea typeface="Open Sans"/>
                          <a:cs typeface="Open Sans"/>
                          <a:sym typeface="Open Sans"/>
                        </a:rPr>
                        <a:t>Improved efficiency and reduced waste in target processes.</a:t>
                      </a:r>
                      <a:endParaRPr sz="1100"/>
                    </a:p>
                    <a:p>
                      <a:pPr marL="596900" marR="0" lvl="2" indent="-203200" algn="l" rtl="0">
                        <a:lnSpc>
                          <a:spcPct val="100000"/>
                        </a:lnSpc>
                        <a:spcBef>
                          <a:spcPts val="500"/>
                        </a:spcBef>
                        <a:spcAft>
                          <a:spcPts val="0"/>
                        </a:spcAft>
                        <a:buClr>
                          <a:srgbClr val="003A74"/>
                        </a:buClr>
                        <a:buSzPts val="1000"/>
                        <a:buFont typeface="Arial"/>
                        <a:buChar char="⚬"/>
                      </a:pPr>
                      <a:r>
                        <a:rPr lang="en" sz="1000" u="none" strike="noStrike" cap="none">
                          <a:solidFill>
                            <a:srgbClr val="003A74"/>
                          </a:solidFill>
                          <a:latin typeface="Open Sans"/>
                          <a:ea typeface="Open Sans"/>
                          <a:cs typeface="Open Sans"/>
                          <a:sym typeface="Open Sans"/>
                        </a:rPr>
                        <a:t>Positive feedback from stakeholders impacted by the changes.</a:t>
                      </a:r>
                      <a:endParaRPr sz="1100"/>
                    </a:p>
                  </a:txBody>
                  <a:tcPr marL="45725" marR="45725" marT="22850" marB="228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38"/>
          <p:cNvSpPr/>
          <p:nvPr/>
        </p:nvSpPr>
        <p:spPr>
          <a:xfrm>
            <a:off x="1381494" y="2085995"/>
            <a:ext cx="818388" cy="636422"/>
          </a:xfrm>
          <a:custGeom>
            <a:avLst/>
            <a:gdLst/>
            <a:ahLst/>
            <a:cxnLst/>
            <a:rect l="l" t="t" r="r" b="b"/>
            <a:pathLst>
              <a:path w="1091184" h="848563" extrusionOk="0">
                <a:moveTo>
                  <a:pt x="0" y="0"/>
                </a:moveTo>
                <a:lnTo>
                  <a:pt x="1091184" y="0"/>
                </a:lnTo>
                <a:lnTo>
                  <a:pt x="1091184" y="848563"/>
                </a:lnTo>
                <a:lnTo>
                  <a:pt x="0" y="848563"/>
                </a:lnTo>
                <a:lnTo>
                  <a:pt x="0" y="0"/>
                </a:lnTo>
                <a:close/>
              </a:path>
            </a:pathLst>
          </a:custGeom>
          <a:blipFill rotWithShape="1">
            <a:blip r:embed="rId3">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13" name="Google Shape;513;p38"/>
          <p:cNvSpPr/>
          <p:nvPr/>
        </p:nvSpPr>
        <p:spPr>
          <a:xfrm>
            <a:off x="7159588" y="2378603"/>
            <a:ext cx="361188" cy="435254"/>
          </a:xfrm>
          <a:custGeom>
            <a:avLst/>
            <a:gdLst/>
            <a:ahLst/>
            <a:cxnLst/>
            <a:rect l="l" t="t" r="r" b="b"/>
            <a:pathLst>
              <a:path w="481584" h="580339" extrusionOk="0">
                <a:moveTo>
                  <a:pt x="0" y="0"/>
                </a:moveTo>
                <a:lnTo>
                  <a:pt x="481584" y="0"/>
                </a:lnTo>
                <a:lnTo>
                  <a:pt x="481584" y="580339"/>
                </a:lnTo>
                <a:lnTo>
                  <a:pt x="0" y="580339"/>
                </a:lnTo>
                <a:lnTo>
                  <a:pt x="0" y="0"/>
                </a:lnTo>
                <a:close/>
              </a:path>
            </a:pathLst>
          </a:custGeom>
          <a:blipFill rotWithShape="1">
            <a:blip r:embed="rId4">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14" name="Google Shape;514;p38"/>
          <p:cNvSpPr/>
          <p:nvPr/>
        </p:nvSpPr>
        <p:spPr>
          <a:xfrm>
            <a:off x="802867" y="1223904"/>
            <a:ext cx="7087132" cy="1646452"/>
          </a:xfrm>
          <a:custGeom>
            <a:avLst/>
            <a:gdLst/>
            <a:ahLst/>
            <a:cxnLst/>
            <a:rect l="l" t="t" r="r" b="b"/>
            <a:pathLst>
              <a:path w="9449509" h="2195269" extrusionOk="0">
                <a:moveTo>
                  <a:pt x="0" y="0"/>
                </a:moveTo>
                <a:lnTo>
                  <a:pt x="9449508" y="0"/>
                </a:lnTo>
                <a:lnTo>
                  <a:pt x="9449508" y="2195268"/>
                </a:lnTo>
                <a:lnTo>
                  <a:pt x="0" y="2195268"/>
                </a:lnTo>
                <a:lnTo>
                  <a:pt x="0" y="0"/>
                </a:lnTo>
                <a:close/>
              </a:path>
            </a:pathLst>
          </a:custGeom>
          <a:blipFill rotWithShape="1">
            <a:blip r:embed="rId5">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15" name="Google Shape;515;p38"/>
          <p:cNvSpPr/>
          <p:nvPr/>
        </p:nvSpPr>
        <p:spPr>
          <a:xfrm>
            <a:off x="924294" y="2092395"/>
            <a:ext cx="541325" cy="562356"/>
          </a:xfrm>
          <a:custGeom>
            <a:avLst/>
            <a:gdLst/>
            <a:ahLst/>
            <a:cxnLst/>
            <a:rect l="l" t="t" r="r" b="b"/>
            <a:pathLst>
              <a:path w="721766" h="749808" extrusionOk="0">
                <a:moveTo>
                  <a:pt x="0" y="0"/>
                </a:moveTo>
                <a:lnTo>
                  <a:pt x="721766" y="0"/>
                </a:lnTo>
                <a:lnTo>
                  <a:pt x="721766" y="749808"/>
                </a:lnTo>
                <a:lnTo>
                  <a:pt x="0" y="749808"/>
                </a:lnTo>
                <a:lnTo>
                  <a:pt x="0" y="0"/>
                </a:lnTo>
                <a:close/>
              </a:path>
            </a:pathLst>
          </a:custGeom>
          <a:blipFill rotWithShape="1">
            <a:blip r:embed="rId6">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16" name="Google Shape;516;p38"/>
          <p:cNvSpPr/>
          <p:nvPr/>
        </p:nvSpPr>
        <p:spPr>
          <a:xfrm>
            <a:off x="3721444" y="2172863"/>
            <a:ext cx="673913" cy="413308"/>
          </a:xfrm>
          <a:custGeom>
            <a:avLst/>
            <a:gdLst/>
            <a:ahLst/>
            <a:cxnLst/>
            <a:rect l="l" t="t" r="r" b="b"/>
            <a:pathLst>
              <a:path w="898550" h="551078" extrusionOk="0">
                <a:moveTo>
                  <a:pt x="0" y="0"/>
                </a:moveTo>
                <a:lnTo>
                  <a:pt x="898550" y="0"/>
                </a:lnTo>
                <a:lnTo>
                  <a:pt x="898550" y="551078"/>
                </a:lnTo>
                <a:lnTo>
                  <a:pt x="0" y="551078"/>
                </a:lnTo>
                <a:lnTo>
                  <a:pt x="0" y="0"/>
                </a:lnTo>
                <a:close/>
              </a:path>
            </a:pathLst>
          </a:custGeom>
          <a:blipFill rotWithShape="1">
            <a:blip r:embed="rId7">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17" name="Google Shape;517;p38"/>
          <p:cNvSpPr/>
          <p:nvPr/>
        </p:nvSpPr>
        <p:spPr>
          <a:xfrm>
            <a:off x="4441991" y="2139944"/>
            <a:ext cx="542239" cy="479146"/>
          </a:xfrm>
          <a:custGeom>
            <a:avLst/>
            <a:gdLst/>
            <a:ahLst/>
            <a:cxnLst/>
            <a:rect l="l" t="t" r="r" b="b"/>
            <a:pathLst>
              <a:path w="722986" h="638861" extrusionOk="0">
                <a:moveTo>
                  <a:pt x="0" y="0"/>
                </a:moveTo>
                <a:lnTo>
                  <a:pt x="722986" y="0"/>
                </a:lnTo>
                <a:lnTo>
                  <a:pt x="722986" y="638860"/>
                </a:lnTo>
                <a:lnTo>
                  <a:pt x="0" y="638860"/>
                </a:lnTo>
                <a:lnTo>
                  <a:pt x="0" y="0"/>
                </a:lnTo>
                <a:close/>
              </a:path>
            </a:pathLst>
          </a:custGeom>
          <a:blipFill rotWithShape="1">
            <a:blip r:embed="rId8">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18" name="Google Shape;518;p38"/>
          <p:cNvSpPr/>
          <p:nvPr/>
        </p:nvSpPr>
        <p:spPr>
          <a:xfrm>
            <a:off x="2303209" y="2047589"/>
            <a:ext cx="1220724" cy="677570"/>
          </a:xfrm>
          <a:custGeom>
            <a:avLst/>
            <a:gdLst/>
            <a:ahLst/>
            <a:cxnLst/>
            <a:rect l="l" t="t" r="r" b="b"/>
            <a:pathLst>
              <a:path w="1627632" h="903427" extrusionOk="0">
                <a:moveTo>
                  <a:pt x="0" y="0"/>
                </a:moveTo>
                <a:lnTo>
                  <a:pt x="1627632" y="0"/>
                </a:lnTo>
                <a:lnTo>
                  <a:pt x="1627632" y="903428"/>
                </a:lnTo>
                <a:lnTo>
                  <a:pt x="0" y="903428"/>
                </a:lnTo>
                <a:lnTo>
                  <a:pt x="0" y="0"/>
                </a:lnTo>
                <a:close/>
              </a:path>
            </a:pathLst>
          </a:custGeom>
          <a:blipFill rotWithShape="1">
            <a:blip r:embed="rId9">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19" name="Google Shape;519;p38"/>
          <p:cNvSpPr/>
          <p:nvPr/>
        </p:nvSpPr>
        <p:spPr>
          <a:xfrm>
            <a:off x="5095787" y="2178349"/>
            <a:ext cx="603504" cy="402336"/>
          </a:xfrm>
          <a:custGeom>
            <a:avLst/>
            <a:gdLst/>
            <a:ahLst/>
            <a:cxnLst/>
            <a:rect l="l" t="t" r="r" b="b"/>
            <a:pathLst>
              <a:path w="804672" h="536448" extrusionOk="0">
                <a:moveTo>
                  <a:pt x="0" y="0"/>
                </a:moveTo>
                <a:lnTo>
                  <a:pt x="804672" y="0"/>
                </a:lnTo>
                <a:lnTo>
                  <a:pt x="804672" y="536448"/>
                </a:lnTo>
                <a:lnTo>
                  <a:pt x="0" y="536448"/>
                </a:lnTo>
                <a:lnTo>
                  <a:pt x="0" y="0"/>
                </a:lnTo>
                <a:close/>
              </a:path>
            </a:pathLst>
          </a:custGeom>
          <a:blipFill rotWithShape="1">
            <a:blip r:embed="rId10">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20" name="Google Shape;520;p38"/>
          <p:cNvSpPr/>
          <p:nvPr/>
        </p:nvSpPr>
        <p:spPr>
          <a:xfrm>
            <a:off x="5692890" y="2115255"/>
            <a:ext cx="634594" cy="210312"/>
          </a:xfrm>
          <a:custGeom>
            <a:avLst/>
            <a:gdLst/>
            <a:ahLst/>
            <a:cxnLst/>
            <a:rect l="l" t="t" r="r" b="b"/>
            <a:pathLst>
              <a:path w="846125" h="280416" extrusionOk="0">
                <a:moveTo>
                  <a:pt x="0" y="0"/>
                </a:moveTo>
                <a:lnTo>
                  <a:pt x="846125" y="0"/>
                </a:lnTo>
                <a:lnTo>
                  <a:pt x="846125" y="280416"/>
                </a:lnTo>
                <a:lnTo>
                  <a:pt x="0" y="280416"/>
                </a:lnTo>
                <a:lnTo>
                  <a:pt x="0" y="0"/>
                </a:lnTo>
                <a:close/>
              </a:path>
            </a:pathLst>
          </a:custGeom>
          <a:blipFill rotWithShape="1">
            <a:blip r:embed="rId11">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21" name="Google Shape;521;p38"/>
          <p:cNvSpPr/>
          <p:nvPr/>
        </p:nvSpPr>
        <p:spPr>
          <a:xfrm>
            <a:off x="5812676" y="2367629"/>
            <a:ext cx="425196" cy="210312"/>
          </a:xfrm>
          <a:custGeom>
            <a:avLst/>
            <a:gdLst/>
            <a:ahLst/>
            <a:cxnLst/>
            <a:rect l="l" t="t" r="r" b="b"/>
            <a:pathLst>
              <a:path w="566928" h="280416" extrusionOk="0">
                <a:moveTo>
                  <a:pt x="0" y="0"/>
                </a:moveTo>
                <a:lnTo>
                  <a:pt x="566928" y="0"/>
                </a:lnTo>
                <a:lnTo>
                  <a:pt x="566928" y="280416"/>
                </a:lnTo>
                <a:lnTo>
                  <a:pt x="0" y="280416"/>
                </a:lnTo>
                <a:lnTo>
                  <a:pt x="0" y="0"/>
                </a:lnTo>
                <a:close/>
              </a:path>
            </a:pathLst>
          </a:custGeom>
          <a:blipFill rotWithShape="1">
            <a:blip r:embed="rId12">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22" name="Google Shape;522;p38"/>
          <p:cNvSpPr/>
          <p:nvPr/>
        </p:nvSpPr>
        <p:spPr>
          <a:xfrm>
            <a:off x="6661240" y="2027473"/>
            <a:ext cx="372160" cy="372160"/>
          </a:xfrm>
          <a:custGeom>
            <a:avLst/>
            <a:gdLst/>
            <a:ahLst/>
            <a:cxnLst/>
            <a:rect l="l" t="t" r="r" b="b"/>
            <a:pathLst>
              <a:path w="496214" h="496214" extrusionOk="0">
                <a:moveTo>
                  <a:pt x="0" y="0"/>
                </a:moveTo>
                <a:lnTo>
                  <a:pt x="496214" y="0"/>
                </a:lnTo>
                <a:lnTo>
                  <a:pt x="496214" y="496214"/>
                </a:lnTo>
                <a:lnTo>
                  <a:pt x="0" y="496214"/>
                </a:lnTo>
                <a:lnTo>
                  <a:pt x="0" y="0"/>
                </a:lnTo>
                <a:close/>
              </a:path>
            </a:pathLst>
          </a:custGeom>
          <a:blipFill rotWithShape="1">
            <a:blip r:embed="rId13">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23" name="Google Shape;523;p38"/>
          <p:cNvSpPr/>
          <p:nvPr/>
        </p:nvSpPr>
        <p:spPr>
          <a:xfrm>
            <a:off x="7279374" y="2021987"/>
            <a:ext cx="372160" cy="372160"/>
          </a:xfrm>
          <a:custGeom>
            <a:avLst/>
            <a:gdLst/>
            <a:ahLst/>
            <a:cxnLst/>
            <a:rect l="l" t="t" r="r" b="b"/>
            <a:pathLst>
              <a:path w="496214" h="496214" extrusionOk="0">
                <a:moveTo>
                  <a:pt x="0" y="0"/>
                </a:moveTo>
                <a:lnTo>
                  <a:pt x="496214" y="0"/>
                </a:lnTo>
                <a:lnTo>
                  <a:pt x="496214" y="496214"/>
                </a:lnTo>
                <a:lnTo>
                  <a:pt x="0" y="496214"/>
                </a:lnTo>
                <a:lnTo>
                  <a:pt x="0" y="0"/>
                </a:lnTo>
                <a:close/>
              </a:path>
            </a:pathLst>
          </a:custGeom>
          <a:blipFill rotWithShape="1">
            <a:blip r:embed="rId14">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24" name="Google Shape;524;p38"/>
          <p:cNvSpPr/>
          <p:nvPr/>
        </p:nvSpPr>
        <p:spPr>
          <a:xfrm>
            <a:off x="2239087" y="1594961"/>
            <a:ext cx="5715" cy="1170432"/>
          </a:xfrm>
          <a:custGeom>
            <a:avLst/>
            <a:gdLst/>
            <a:ahLst/>
            <a:cxnLst/>
            <a:rect l="l" t="t" r="r" b="b"/>
            <a:pathLst>
              <a:path w="7620" h="1560576" extrusionOk="0">
                <a:moveTo>
                  <a:pt x="0" y="0"/>
                </a:moveTo>
                <a:lnTo>
                  <a:pt x="7620" y="0"/>
                </a:lnTo>
                <a:lnTo>
                  <a:pt x="7620" y="1560576"/>
                </a:lnTo>
                <a:lnTo>
                  <a:pt x="0" y="1560576"/>
                </a:lnTo>
                <a:lnTo>
                  <a:pt x="0" y="0"/>
                </a:lnTo>
                <a:close/>
              </a:path>
            </a:pathLst>
          </a:custGeom>
          <a:blipFill rotWithShape="1">
            <a:blip r:embed="rId15">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25" name="Google Shape;525;p38"/>
          <p:cNvSpPr/>
          <p:nvPr/>
        </p:nvSpPr>
        <p:spPr>
          <a:xfrm>
            <a:off x="3632632" y="1594961"/>
            <a:ext cx="5715" cy="1170432"/>
          </a:xfrm>
          <a:custGeom>
            <a:avLst/>
            <a:gdLst/>
            <a:ahLst/>
            <a:cxnLst/>
            <a:rect l="l" t="t" r="r" b="b"/>
            <a:pathLst>
              <a:path w="7620" h="1560576" extrusionOk="0">
                <a:moveTo>
                  <a:pt x="0" y="0"/>
                </a:moveTo>
                <a:lnTo>
                  <a:pt x="7620" y="0"/>
                </a:lnTo>
                <a:lnTo>
                  <a:pt x="7620" y="1560576"/>
                </a:lnTo>
                <a:lnTo>
                  <a:pt x="0" y="1560576"/>
                </a:lnTo>
                <a:lnTo>
                  <a:pt x="0" y="0"/>
                </a:lnTo>
                <a:close/>
              </a:path>
            </a:pathLst>
          </a:custGeom>
          <a:blipFill rotWithShape="1">
            <a:blip r:embed="rId15">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26" name="Google Shape;526;p38"/>
          <p:cNvSpPr/>
          <p:nvPr/>
        </p:nvSpPr>
        <p:spPr>
          <a:xfrm>
            <a:off x="802868" y="1556860"/>
            <a:ext cx="7087132" cy="3057257"/>
          </a:xfrm>
          <a:custGeom>
            <a:avLst/>
            <a:gdLst/>
            <a:ahLst/>
            <a:cxnLst/>
            <a:rect l="l" t="t" r="r" b="b"/>
            <a:pathLst>
              <a:path w="9449509" h="4076342" extrusionOk="0">
                <a:moveTo>
                  <a:pt x="0" y="0"/>
                </a:moveTo>
                <a:lnTo>
                  <a:pt x="9449508" y="0"/>
                </a:lnTo>
                <a:lnTo>
                  <a:pt x="9449508" y="4076342"/>
                </a:lnTo>
                <a:lnTo>
                  <a:pt x="0" y="4076342"/>
                </a:lnTo>
                <a:lnTo>
                  <a:pt x="0" y="0"/>
                </a:lnTo>
                <a:close/>
              </a:path>
            </a:pathLst>
          </a:custGeom>
          <a:blipFill rotWithShape="1">
            <a:blip r:embed="rId16">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27" name="Google Shape;527;p38"/>
          <p:cNvSpPr/>
          <p:nvPr/>
        </p:nvSpPr>
        <p:spPr>
          <a:xfrm>
            <a:off x="973672" y="3996176"/>
            <a:ext cx="681228" cy="384048"/>
          </a:xfrm>
          <a:custGeom>
            <a:avLst/>
            <a:gdLst/>
            <a:ahLst/>
            <a:cxnLst/>
            <a:rect l="l" t="t" r="r" b="b"/>
            <a:pathLst>
              <a:path w="908304" h="512064" extrusionOk="0">
                <a:moveTo>
                  <a:pt x="0" y="0"/>
                </a:moveTo>
                <a:lnTo>
                  <a:pt x="908304" y="0"/>
                </a:lnTo>
                <a:lnTo>
                  <a:pt x="908304" y="512064"/>
                </a:lnTo>
                <a:lnTo>
                  <a:pt x="0" y="512064"/>
                </a:lnTo>
                <a:lnTo>
                  <a:pt x="0" y="0"/>
                </a:lnTo>
                <a:close/>
              </a:path>
            </a:pathLst>
          </a:custGeom>
          <a:blipFill rotWithShape="1">
            <a:blip r:embed="rId17">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28" name="Google Shape;528;p38"/>
          <p:cNvSpPr/>
          <p:nvPr/>
        </p:nvSpPr>
        <p:spPr>
          <a:xfrm>
            <a:off x="2387334" y="3958685"/>
            <a:ext cx="862280" cy="386792"/>
          </a:xfrm>
          <a:custGeom>
            <a:avLst/>
            <a:gdLst/>
            <a:ahLst/>
            <a:cxnLst/>
            <a:rect l="l" t="t" r="r" b="b"/>
            <a:pathLst>
              <a:path w="1149706" h="515722" extrusionOk="0">
                <a:moveTo>
                  <a:pt x="0" y="0"/>
                </a:moveTo>
                <a:lnTo>
                  <a:pt x="1149705" y="0"/>
                </a:lnTo>
                <a:lnTo>
                  <a:pt x="1149705" y="515722"/>
                </a:lnTo>
                <a:lnTo>
                  <a:pt x="0" y="515722"/>
                </a:lnTo>
                <a:lnTo>
                  <a:pt x="0" y="0"/>
                </a:lnTo>
                <a:close/>
              </a:path>
            </a:pathLst>
          </a:custGeom>
          <a:blipFill rotWithShape="1">
            <a:blip r:embed="rId18">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29" name="Google Shape;529;p38"/>
          <p:cNvSpPr/>
          <p:nvPr/>
        </p:nvSpPr>
        <p:spPr>
          <a:xfrm>
            <a:off x="1711592" y="4084873"/>
            <a:ext cx="552298" cy="189281"/>
          </a:xfrm>
          <a:custGeom>
            <a:avLst/>
            <a:gdLst/>
            <a:ahLst/>
            <a:cxnLst/>
            <a:rect l="l" t="t" r="r" b="b"/>
            <a:pathLst>
              <a:path w="736397" h="252374" extrusionOk="0">
                <a:moveTo>
                  <a:pt x="0" y="0"/>
                </a:moveTo>
                <a:lnTo>
                  <a:pt x="736397" y="0"/>
                </a:lnTo>
                <a:lnTo>
                  <a:pt x="736397" y="252374"/>
                </a:lnTo>
                <a:lnTo>
                  <a:pt x="0" y="252374"/>
                </a:lnTo>
                <a:lnTo>
                  <a:pt x="0" y="0"/>
                </a:lnTo>
                <a:close/>
              </a:path>
            </a:pathLst>
          </a:custGeom>
          <a:blipFill rotWithShape="1">
            <a:blip r:embed="rId19">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30" name="Google Shape;530;p38"/>
          <p:cNvSpPr/>
          <p:nvPr/>
        </p:nvSpPr>
        <p:spPr>
          <a:xfrm>
            <a:off x="906806" y="3441935"/>
            <a:ext cx="2200275" cy="220599"/>
          </a:xfrm>
          <a:custGeom>
            <a:avLst/>
            <a:gdLst/>
            <a:ahLst/>
            <a:cxnLst/>
            <a:rect l="l" t="t" r="r" b="b"/>
            <a:pathLst>
              <a:path w="2933700" h="294132" extrusionOk="0">
                <a:moveTo>
                  <a:pt x="0" y="0"/>
                </a:moveTo>
                <a:lnTo>
                  <a:pt x="2933700" y="0"/>
                </a:lnTo>
                <a:lnTo>
                  <a:pt x="2933700" y="294132"/>
                </a:lnTo>
                <a:lnTo>
                  <a:pt x="0" y="294132"/>
                </a:lnTo>
                <a:lnTo>
                  <a:pt x="0" y="0"/>
                </a:lnTo>
                <a:close/>
              </a:path>
            </a:pathLst>
          </a:custGeom>
          <a:blipFill rotWithShape="1">
            <a:blip r:embed="rId20">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31" name="Google Shape;531;p38"/>
          <p:cNvSpPr/>
          <p:nvPr/>
        </p:nvSpPr>
        <p:spPr>
          <a:xfrm>
            <a:off x="3251327" y="3441935"/>
            <a:ext cx="2200275" cy="220599"/>
          </a:xfrm>
          <a:custGeom>
            <a:avLst/>
            <a:gdLst/>
            <a:ahLst/>
            <a:cxnLst/>
            <a:rect l="l" t="t" r="r" b="b"/>
            <a:pathLst>
              <a:path w="2933700" h="294132" extrusionOk="0">
                <a:moveTo>
                  <a:pt x="0" y="0"/>
                </a:moveTo>
                <a:lnTo>
                  <a:pt x="2933700" y="0"/>
                </a:lnTo>
                <a:lnTo>
                  <a:pt x="2933700" y="294132"/>
                </a:lnTo>
                <a:lnTo>
                  <a:pt x="0" y="294132"/>
                </a:lnTo>
                <a:lnTo>
                  <a:pt x="0" y="0"/>
                </a:lnTo>
                <a:close/>
              </a:path>
            </a:pathLst>
          </a:custGeom>
          <a:blipFill rotWithShape="1">
            <a:blip r:embed="rId20">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32" name="Google Shape;532;p38"/>
          <p:cNvSpPr/>
          <p:nvPr/>
        </p:nvSpPr>
        <p:spPr>
          <a:xfrm>
            <a:off x="5595860" y="3371535"/>
            <a:ext cx="2200275" cy="220599"/>
          </a:xfrm>
          <a:custGeom>
            <a:avLst/>
            <a:gdLst/>
            <a:ahLst/>
            <a:cxnLst/>
            <a:rect l="l" t="t" r="r" b="b"/>
            <a:pathLst>
              <a:path w="2933700" h="294132" extrusionOk="0">
                <a:moveTo>
                  <a:pt x="0" y="0"/>
                </a:moveTo>
                <a:lnTo>
                  <a:pt x="2933700" y="0"/>
                </a:lnTo>
                <a:lnTo>
                  <a:pt x="2933700" y="294132"/>
                </a:lnTo>
                <a:lnTo>
                  <a:pt x="0" y="294132"/>
                </a:lnTo>
                <a:lnTo>
                  <a:pt x="0" y="0"/>
                </a:lnTo>
                <a:close/>
              </a:path>
            </a:pathLst>
          </a:custGeom>
          <a:blipFill rotWithShape="1">
            <a:blip r:embed="rId20">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33" name="Google Shape;533;p38"/>
          <p:cNvSpPr/>
          <p:nvPr/>
        </p:nvSpPr>
        <p:spPr>
          <a:xfrm>
            <a:off x="3576968" y="3988861"/>
            <a:ext cx="585216" cy="486460"/>
          </a:xfrm>
          <a:custGeom>
            <a:avLst/>
            <a:gdLst/>
            <a:ahLst/>
            <a:cxnLst/>
            <a:rect l="l" t="t" r="r" b="b"/>
            <a:pathLst>
              <a:path w="780288" h="648614" extrusionOk="0">
                <a:moveTo>
                  <a:pt x="0" y="0"/>
                </a:moveTo>
                <a:lnTo>
                  <a:pt x="780288" y="0"/>
                </a:lnTo>
                <a:lnTo>
                  <a:pt x="780288" y="648614"/>
                </a:lnTo>
                <a:lnTo>
                  <a:pt x="0" y="648614"/>
                </a:lnTo>
                <a:lnTo>
                  <a:pt x="0" y="0"/>
                </a:lnTo>
                <a:close/>
              </a:path>
            </a:pathLst>
          </a:custGeom>
          <a:blipFill rotWithShape="1">
            <a:blip r:embed="rId21">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34" name="Google Shape;534;p38"/>
          <p:cNvSpPr/>
          <p:nvPr/>
        </p:nvSpPr>
        <p:spPr>
          <a:xfrm>
            <a:off x="4474909" y="4004405"/>
            <a:ext cx="713232" cy="476402"/>
          </a:xfrm>
          <a:custGeom>
            <a:avLst/>
            <a:gdLst/>
            <a:ahLst/>
            <a:cxnLst/>
            <a:rect l="l" t="t" r="r" b="b"/>
            <a:pathLst>
              <a:path w="950976" h="635203" extrusionOk="0">
                <a:moveTo>
                  <a:pt x="0" y="0"/>
                </a:moveTo>
                <a:lnTo>
                  <a:pt x="950976" y="0"/>
                </a:lnTo>
                <a:lnTo>
                  <a:pt x="950976" y="635204"/>
                </a:lnTo>
                <a:lnTo>
                  <a:pt x="0" y="635204"/>
                </a:lnTo>
                <a:lnTo>
                  <a:pt x="0" y="0"/>
                </a:lnTo>
                <a:close/>
              </a:path>
            </a:pathLst>
          </a:custGeom>
          <a:blipFill rotWithShape="1">
            <a:blip r:embed="rId22">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35" name="Google Shape;535;p38"/>
          <p:cNvSpPr/>
          <p:nvPr/>
        </p:nvSpPr>
        <p:spPr>
          <a:xfrm>
            <a:off x="7221767" y="3868160"/>
            <a:ext cx="576986" cy="532181"/>
          </a:xfrm>
          <a:custGeom>
            <a:avLst/>
            <a:gdLst/>
            <a:ahLst/>
            <a:cxnLst/>
            <a:rect l="l" t="t" r="r" b="b"/>
            <a:pathLst>
              <a:path w="769315" h="709574" extrusionOk="0">
                <a:moveTo>
                  <a:pt x="0" y="0"/>
                </a:moveTo>
                <a:lnTo>
                  <a:pt x="769315" y="0"/>
                </a:lnTo>
                <a:lnTo>
                  <a:pt x="769315" y="709574"/>
                </a:lnTo>
                <a:lnTo>
                  <a:pt x="0" y="709574"/>
                </a:lnTo>
                <a:lnTo>
                  <a:pt x="0" y="0"/>
                </a:lnTo>
                <a:close/>
              </a:path>
            </a:pathLst>
          </a:custGeom>
          <a:blipFill rotWithShape="1">
            <a:blip r:embed="rId23">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36" name="Google Shape;536;p38"/>
          <p:cNvSpPr/>
          <p:nvPr/>
        </p:nvSpPr>
        <p:spPr>
          <a:xfrm>
            <a:off x="6718847" y="3925767"/>
            <a:ext cx="392278" cy="451714"/>
          </a:xfrm>
          <a:custGeom>
            <a:avLst/>
            <a:gdLst/>
            <a:ahLst/>
            <a:cxnLst/>
            <a:rect l="l" t="t" r="r" b="b"/>
            <a:pathLst>
              <a:path w="523037" h="602285" extrusionOk="0">
                <a:moveTo>
                  <a:pt x="0" y="0"/>
                </a:moveTo>
                <a:lnTo>
                  <a:pt x="523037" y="0"/>
                </a:lnTo>
                <a:lnTo>
                  <a:pt x="523037" y="602285"/>
                </a:lnTo>
                <a:lnTo>
                  <a:pt x="0" y="602285"/>
                </a:lnTo>
                <a:lnTo>
                  <a:pt x="0" y="0"/>
                </a:lnTo>
                <a:close/>
              </a:path>
            </a:pathLst>
          </a:custGeom>
          <a:blipFill rotWithShape="1">
            <a:blip r:embed="rId24">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37" name="Google Shape;537;p38"/>
          <p:cNvSpPr/>
          <p:nvPr/>
        </p:nvSpPr>
        <p:spPr>
          <a:xfrm>
            <a:off x="5815420" y="3827012"/>
            <a:ext cx="720547" cy="410566"/>
          </a:xfrm>
          <a:custGeom>
            <a:avLst/>
            <a:gdLst/>
            <a:ahLst/>
            <a:cxnLst/>
            <a:rect l="l" t="t" r="r" b="b"/>
            <a:pathLst>
              <a:path w="960730" h="547421" extrusionOk="0">
                <a:moveTo>
                  <a:pt x="0" y="0"/>
                </a:moveTo>
                <a:lnTo>
                  <a:pt x="960729" y="0"/>
                </a:lnTo>
                <a:lnTo>
                  <a:pt x="960729" y="547420"/>
                </a:lnTo>
                <a:lnTo>
                  <a:pt x="0" y="547420"/>
                </a:lnTo>
                <a:lnTo>
                  <a:pt x="0" y="0"/>
                </a:lnTo>
                <a:close/>
              </a:path>
            </a:pathLst>
          </a:custGeom>
          <a:blipFill rotWithShape="1">
            <a:blip r:embed="rId25">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38" name="Google Shape;538;p38"/>
          <p:cNvSpPr/>
          <p:nvPr/>
        </p:nvSpPr>
        <p:spPr>
          <a:xfrm>
            <a:off x="6050420" y="4182713"/>
            <a:ext cx="251460" cy="344728"/>
          </a:xfrm>
          <a:custGeom>
            <a:avLst/>
            <a:gdLst/>
            <a:ahLst/>
            <a:cxnLst/>
            <a:rect l="l" t="t" r="r" b="b"/>
            <a:pathLst>
              <a:path w="335280" h="459638" extrusionOk="0">
                <a:moveTo>
                  <a:pt x="0" y="0"/>
                </a:moveTo>
                <a:lnTo>
                  <a:pt x="335280" y="0"/>
                </a:lnTo>
                <a:lnTo>
                  <a:pt x="335280" y="459639"/>
                </a:lnTo>
                <a:lnTo>
                  <a:pt x="0" y="459639"/>
                </a:lnTo>
                <a:lnTo>
                  <a:pt x="0" y="0"/>
                </a:lnTo>
                <a:close/>
              </a:path>
            </a:pathLst>
          </a:custGeom>
          <a:blipFill rotWithShape="1">
            <a:blip r:embed="rId26">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39" name="Google Shape;539;p38"/>
          <p:cNvSpPr/>
          <p:nvPr/>
        </p:nvSpPr>
        <p:spPr>
          <a:xfrm>
            <a:off x="1842049" y="3889649"/>
            <a:ext cx="392278" cy="14630"/>
          </a:xfrm>
          <a:custGeom>
            <a:avLst/>
            <a:gdLst/>
            <a:ahLst/>
            <a:cxnLst/>
            <a:rect l="l" t="t" r="r" b="b"/>
            <a:pathLst>
              <a:path w="523037" h="19507" extrusionOk="0">
                <a:moveTo>
                  <a:pt x="0" y="0"/>
                </a:moveTo>
                <a:lnTo>
                  <a:pt x="523037" y="0"/>
                </a:lnTo>
                <a:lnTo>
                  <a:pt x="523037" y="19507"/>
                </a:lnTo>
                <a:lnTo>
                  <a:pt x="0" y="19507"/>
                </a:lnTo>
                <a:lnTo>
                  <a:pt x="0" y="0"/>
                </a:lnTo>
                <a:close/>
              </a:path>
            </a:pathLst>
          </a:custGeom>
          <a:blipFill rotWithShape="1">
            <a:blip r:embed="rId27">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40" name="Google Shape;540;p38"/>
          <p:cNvSpPr/>
          <p:nvPr/>
        </p:nvSpPr>
        <p:spPr>
          <a:xfrm>
            <a:off x="2534249" y="3889649"/>
            <a:ext cx="396850" cy="14630"/>
          </a:xfrm>
          <a:custGeom>
            <a:avLst/>
            <a:gdLst/>
            <a:ahLst/>
            <a:cxnLst/>
            <a:rect l="l" t="t" r="r" b="b"/>
            <a:pathLst>
              <a:path w="529133" h="19507" extrusionOk="0">
                <a:moveTo>
                  <a:pt x="0" y="0"/>
                </a:moveTo>
                <a:lnTo>
                  <a:pt x="529133" y="0"/>
                </a:lnTo>
                <a:lnTo>
                  <a:pt x="529133" y="19507"/>
                </a:lnTo>
                <a:lnTo>
                  <a:pt x="0" y="19507"/>
                </a:lnTo>
                <a:lnTo>
                  <a:pt x="0" y="0"/>
                </a:lnTo>
                <a:close/>
              </a:path>
            </a:pathLst>
          </a:custGeom>
          <a:blipFill rotWithShape="1">
            <a:blip r:embed="rId28">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41" name="Google Shape;541;p38"/>
          <p:cNvSpPr/>
          <p:nvPr/>
        </p:nvSpPr>
        <p:spPr>
          <a:xfrm>
            <a:off x="3706813" y="3889649"/>
            <a:ext cx="300838" cy="14630"/>
          </a:xfrm>
          <a:custGeom>
            <a:avLst/>
            <a:gdLst/>
            <a:ahLst/>
            <a:cxnLst/>
            <a:rect l="l" t="t" r="r" b="b"/>
            <a:pathLst>
              <a:path w="401117" h="19507" extrusionOk="0">
                <a:moveTo>
                  <a:pt x="0" y="0"/>
                </a:moveTo>
                <a:lnTo>
                  <a:pt x="401117" y="0"/>
                </a:lnTo>
                <a:lnTo>
                  <a:pt x="401117" y="19507"/>
                </a:lnTo>
                <a:lnTo>
                  <a:pt x="0" y="19507"/>
                </a:lnTo>
                <a:lnTo>
                  <a:pt x="0" y="0"/>
                </a:lnTo>
                <a:close/>
              </a:path>
            </a:pathLst>
          </a:custGeom>
          <a:blipFill rotWithShape="1">
            <a:blip r:embed="rId29">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42" name="Google Shape;542;p38"/>
          <p:cNvSpPr/>
          <p:nvPr/>
        </p:nvSpPr>
        <p:spPr>
          <a:xfrm>
            <a:off x="4374479" y="3889649"/>
            <a:ext cx="929030" cy="14630"/>
          </a:xfrm>
          <a:custGeom>
            <a:avLst/>
            <a:gdLst/>
            <a:ahLst/>
            <a:cxnLst/>
            <a:rect l="l" t="t" r="r" b="b"/>
            <a:pathLst>
              <a:path w="1238707" h="19507" extrusionOk="0">
                <a:moveTo>
                  <a:pt x="0" y="0"/>
                </a:moveTo>
                <a:lnTo>
                  <a:pt x="1238707" y="0"/>
                </a:lnTo>
                <a:lnTo>
                  <a:pt x="1238707" y="19507"/>
                </a:lnTo>
                <a:lnTo>
                  <a:pt x="0" y="19507"/>
                </a:lnTo>
                <a:lnTo>
                  <a:pt x="0" y="0"/>
                </a:lnTo>
                <a:close/>
              </a:path>
            </a:pathLst>
          </a:custGeom>
          <a:blipFill rotWithShape="1">
            <a:blip r:embed="rId30">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43" name="Google Shape;543;p38"/>
          <p:cNvSpPr/>
          <p:nvPr/>
        </p:nvSpPr>
        <p:spPr>
          <a:xfrm>
            <a:off x="6056895" y="3889649"/>
            <a:ext cx="237744" cy="14630"/>
          </a:xfrm>
          <a:custGeom>
            <a:avLst/>
            <a:gdLst/>
            <a:ahLst/>
            <a:cxnLst/>
            <a:rect l="l" t="t" r="r" b="b"/>
            <a:pathLst>
              <a:path w="316992" h="19507" extrusionOk="0">
                <a:moveTo>
                  <a:pt x="0" y="0"/>
                </a:moveTo>
                <a:lnTo>
                  <a:pt x="316992" y="0"/>
                </a:lnTo>
                <a:lnTo>
                  <a:pt x="316992" y="19507"/>
                </a:lnTo>
                <a:lnTo>
                  <a:pt x="0" y="19507"/>
                </a:lnTo>
                <a:lnTo>
                  <a:pt x="0" y="0"/>
                </a:lnTo>
                <a:close/>
              </a:path>
            </a:pathLst>
          </a:custGeom>
          <a:blipFill rotWithShape="1">
            <a:blip r:embed="rId31">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44" name="Google Shape;544;p38"/>
          <p:cNvSpPr/>
          <p:nvPr/>
        </p:nvSpPr>
        <p:spPr>
          <a:xfrm>
            <a:off x="6815162" y="3872120"/>
            <a:ext cx="671170" cy="14630"/>
          </a:xfrm>
          <a:custGeom>
            <a:avLst/>
            <a:gdLst/>
            <a:ahLst/>
            <a:cxnLst/>
            <a:rect l="l" t="t" r="r" b="b"/>
            <a:pathLst>
              <a:path w="894893" h="19507" extrusionOk="0">
                <a:moveTo>
                  <a:pt x="0" y="0"/>
                </a:moveTo>
                <a:lnTo>
                  <a:pt x="894893" y="0"/>
                </a:lnTo>
                <a:lnTo>
                  <a:pt x="894893" y="19507"/>
                </a:lnTo>
                <a:lnTo>
                  <a:pt x="0" y="19507"/>
                </a:lnTo>
                <a:lnTo>
                  <a:pt x="0" y="0"/>
                </a:lnTo>
                <a:close/>
              </a:path>
            </a:pathLst>
          </a:custGeom>
          <a:blipFill rotWithShape="1">
            <a:blip r:embed="rId32">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45" name="Google Shape;545;p38"/>
          <p:cNvSpPr/>
          <p:nvPr/>
        </p:nvSpPr>
        <p:spPr>
          <a:xfrm>
            <a:off x="854800" y="804920"/>
            <a:ext cx="7053682" cy="480060"/>
          </a:xfrm>
          <a:custGeom>
            <a:avLst/>
            <a:gdLst/>
            <a:ahLst/>
            <a:cxnLst/>
            <a:rect l="l" t="t" r="r" b="b"/>
            <a:pathLst>
              <a:path w="9404909" h="640080" extrusionOk="0">
                <a:moveTo>
                  <a:pt x="0" y="0"/>
                </a:moveTo>
                <a:lnTo>
                  <a:pt x="9404908" y="0"/>
                </a:lnTo>
                <a:lnTo>
                  <a:pt x="9404908" y="640080"/>
                </a:lnTo>
                <a:lnTo>
                  <a:pt x="0" y="640080"/>
                </a:lnTo>
                <a:lnTo>
                  <a:pt x="0" y="0"/>
                </a:lnTo>
                <a:close/>
              </a:path>
            </a:pathLst>
          </a:custGeom>
          <a:blipFill rotWithShape="1">
            <a:blip r:embed="rId33">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46" name="Google Shape;546;p38"/>
          <p:cNvSpPr/>
          <p:nvPr/>
        </p:nvSpPr>
        <p:spPr>
          <a:xfrm>
            <a:off x="1734452" y="899098"/>
            <a:ext cx="5295290" cy="336505"/>
          </a:xfrm>
          <a:custGeom>
            <a:avLst/>
            <a:gdLst/>
            <a:ahLst/>
            <a:cxnLst/>
            <a:rect l="l" t="t" r="r" b="b"/>
            <a:pathLst>
              <a:path w="7060387" h="448673" extrusionOk="0">
                <a:moveTo>
                  <a:pt x="0" y="0"/>
                </a:moveTo>
                <a:lnTo>
                  <a:pt x="7060387" y="0"/>
                </a:lnTo>
                <a:lnTo>
                  <a:pt x="7060387" y="448673"/>
                </a:lnTo>
                <a:lnTo>
                  <a:pt x="0" y="448673"/>
                </a:lnTo>
                <a:lnTo>
                  <a:pt x="0" y="0"/>
                </a:lnTo>
                <a:close/>
              </a:path>
            </a:pathLst>
          </a:custGeom>
          <a:blipFill rotWithShape="1">
            <a:blip r:embed="rId34">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47" name="Google Shape;547;p38"/>
          <p:cNvSpPr/>
          <p:nvPr/>
        </p:nvSpPr>
        <p:spPr>
          <a:xfrm>
            <a:off x="880180" y="792307"/>
            <a:ext cx="7005218" cy="431597"/>
          </a:xfrm>
          <a:custGeom>
            <a:avLst/>
            <a:gdLst/>
            <a:ahLst/>
            <a:cxnLst/>
            <a:rect l="l" t="t" r="r" b="b"/>
            <a:pathLst>
              <a:path w="9340291" h="575462" extrusionOk="0">
                <a:moveTo>
                  <a:pt x="0" y="0"/>
                </a:moveTo>
                <a:lnTo>
                  <a:pt x="9340291" y="0"/>
                </a:lnTo>
                <a:lnTo>
                  <a:pt x="9340291" y="575463"/>
                </a:lnTo>
                <a:lnTo>
                  <a:pt x="0" y="575463"/>
                </a:lnTo>
                <a:lnTo>
                  <a:pt x="0" y="0"/>
                </a:lnTo>
                <a:close/>
              </a:path>
            </a:pathLst>
          </a:custGeom>
          <a:blipFill rotWithShape="1">
            <a:blip r:embed="rId35">
              <a:alphaModFix/>
            </a:blip>
            <a:stretch>
              <a:fillRect/>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48" name="Google Shape;548;p38"/>
          <p:cNvSpPr txBox="1"/>
          <p:nvPr/>
        </p:nvSpPr>
        <p:spPr>
          <a:xfrm>
            <a:off x="3862107" y="1281071"/>
            <a:ext cx="968767" cy="213375"/>
          </a:xfrm>
          <a:prstGeom prst="rect">
            <a:avLst/>
          </a:prstGeom>
          <a:noFill/>
          <a:ln>
            <a:noFill/>
          </a:ln>
        </p:spPr>
        <p:txBody>
          <a:bodyPr spcFirstLastPara="1" wrap="square" lIns="0" tIns="0" rIns="0" bIns="0" anchor="t" anchorCtr="0">
            <a:spAutoFit/>
          </a:bodyPr>
          <a:lstStyle/>
          <a:p>
            <a:pPr marL="0" marR="0" lvl="0" indent="0" algn="l" rtl="0">
              <a:lnSpc>
                <a:spcPct val="140046"/>
              </a:lnSpc>
              <a:spcBef>
                <a:spcPts val="0"/>
              </a:spcBef>
              <a:spcAft>
                <a:spcPts val="0"/>
              </a:spcAft>
              <a:buNone/>
            </a:pPr>
            <a:r>
              <a:rPr lang="en" sz="1300">
                <a:solidFill>
                  <a:srgbClr val="FFFFFF"/>
                </a:solidFill>
                <a:latin typeface="IBM Plex Sans"/>
                <a:ea typeface="IBM Plex Sans"/>
                <a:cs typeface="IBM Plex Sans"/>
                <a:sym typeface="IBM Plex Sans"/>
              </a:rPr>
              <a:t>Focus Areas</a:t>
            </a:r>
            <a:endParaRPr sz="1100"/>
          </a:p>
        </p:txBody>
      </p:sp>
      <p:sp>
        <p:nvSpPr>
          <p:cNvPr id="549" name="Google Shape;549;p38"/>
          <p:cNvSpPr txBox="1"/>
          <p:nvPr/>
        </p:nvSpPr>
        <p:spPr>
          <a:xfrm>
            <a:off x="3339984" y="3142103"/>
            <a:ext cx="2012240" cy="213375"/>
          </a:xfrm>
          <a:prstGeom prst="rect">
            <a:avLst/>
          </a:prstGeom>
          <a:noFill/>
          <a:ln>
            <a:noFill/>
          </a:ln>
        </p:spPr>
        <p:txBody>
          <a:bodyPr spcFirstLastPara="1" wrap="square" lIns="0" tIns="0" rIns="0" bIns="0" anchor="t" anchorCtr="0">
            <a:spAutoFit/>
          </a:bodyPr>
          <a:lstStyle/>
          <a:p>
            <a:pPr marL="0" marR="0" lvl="0" indent="0" algn="l" rtl="0">
              <a:lnSpc>
                <a:spcPct val="140046"/>
              </a:lnSpc>
              <a:spcBef>
                <a:spcPts val="0"/>
              </a:spcBef>
              <a:spcAft>
                <a:spcPts val="0"/>
              </a:spcAft>
              <a:buNone/>
            </a:pPr>
            <a:r>
              <a:rPr lang="en" sz="1300">
                <a:solidFill>
                  <a:srgbClr val="FFFFFF"/>
                </a:solidFill>
                <a:latin typeface="IBM Plex Sans"/>
                <a:ea typeface="IBM Plex Sans"/>
                <a:cs typeface="IBM Plex Sans"/>
                <a:sym typeface="IBM Plex Sans"/>
              </a:rPr>
              <a:t>Foundational Investments</a:t>
            </a:r>
            <a:endParaRPr sz="1100"/>
          </a:p>
        </p:txBody>
      </p:sp>
      <p:sp>
        <p:nvSpPr>
          <p:cNvPr id="550" name="Google Shape;550;p38"/>
          <p:cNvSpPr txBox="1"/>
          <p:nvPr/>
        </p:nvSpPr>
        <p:spPr>
          <a:xfrm>
            <a:off x="1083765" y="3726588"/>
            <a:ext cx="482575" cy="182509"/>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None/>
            </a:pPr>
            <a:r>
              <a:rPr lang="en" sz="1100">
                <a:solidFill>
                  <a:srgbClr val="000000"/>
                </a:solidFill>
                <a:latin typeface="IBM Plex Sans"/>
                <a:ea typeface="IBM Plex Sans"/>
                <a:cs typeface="IBM Plex Sans"/>
                <a:sym typeface="IBM Plex Sans"/>
              </a:rPr>
              <a:t>Quality</a:t>
            </a:r>
            <a:endParaRPr sz="1100"/>
          </a:p>
        </p:txBody>
      </p:sp>
      <p:sp>
        <p:nvSpPr>
          <p:cNvPr id="551" name="Google Shape;551;p38"/>
          <p:cNvSpPr txBox="1"/>
          <p:nvPr/>
        </p:nvSpPr>
        <p:spPr>
          <a:xfrm>
            <a:off x="1232264" y="1602134"/>
            <a:ext cx="634731" cy="182509"/>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None/>
            </a:pPr>
            <a:r>
              <a:rPr lang="en" sz="1100">
                <a:solidFill>
                  <a:srgbClr val="000000"/>
                </a:solidFill>
                <a:latin typeface="IBM Plex Sans"/>
                <a:ea typeface="IBM Plex Sans"/>
                <a:cs typeface="IBM Plex Sans"/>
                <a:sym typeface="IBM Plex Sans"/>
              </a:rPr>
              <a:t>Direct-to-</a:t>
            </a:r>
            <a:endParaRPr sz="1100"/>
          </a:p>
        </p:txBody>
      </p:sp>
      <p:sp>
        <p:nvSpPr>
          <p:cNvPr id="552" name="Google Shape;552;p38"/>
          <p:cNvSpPr txBox="1"/>
          <p:nvPr/>
        </p:nvSpPr>
        <p:spPr>
          <a:xfrm>
            <a:off x="1808519" y="3400073"/>
            <a:ext cx="426242" cy="509029"/>
          </a:xfrm>
          <a:prstGeom prst="rect">
            <a:avLst/>
          </a:prstGeom>
          <a:noFill/>
          <a:ln>
            <a:noFill/>
          </a:ln>
        </p:spPr>
        <p:txBody>
          <a:bodyPr spcFirstLastPara="1" wrap="square" lIns="0" tIns="0" rIns="0" bIns="0" anchor="t" anchorCtr="0">
            <a:spAutoFit/>
          </a:bodyPr>
          <a:lstStyle/>
          <a:p>
            <a:pPr marL="0" marR="0" lvl="0" indent="0" algn="just" rtl="0">
              <a:lnSpc>
                <a:spcPct val="188844"/>
              </a:lnSpc>
              <a:spcBef>
                <a:spcPts val="0"/>
              </a:spcBef>
              <a:spcAft>
                <a:spcPts val="0"/>
              </a:spcAft>
              <a:buNone/>
            </a:pPr>
            <a:r>
              <a:rPr lang="en" sz="1100">
                <a:solidFill>
                  <a:srgbClr val="000000"/>
                </a:solidFill>
                <a:latin typeface="IBM Plex Sans"/>
                <a:ea typeface="IBM Plex Sans"/>
                <a:cs typeface="IBM Plex Sans"/>
                <a:sym typeface="IBM Plex Sans"/>
              </a:rPr>
              <a:t>Game Youth</a:t>
            </a:r>
            <a:endParaRPr sz="1100"/>
          </a:p>
        </p:txBody>
      </p:sp>
      <p:sp>
        <p:nvSpPr>
          <p:cNvPr id="553" name="Google Shape;553;p38"/>
          <p:cNvSpPr txBox="1"/>
          <p:nvPr/>
        </p:nvSpPr>
        <p:spPr>
          <a:xfrm>
            <a:off x="2534398" y="3726588"/>
            <a:ext cx="396987" cy="182509"/>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None/>
            </a:pPr>
            <a:r>
              <a:rPr lang="en" sz="1100">
                <a:solidFill>
                  <a:srgbClr val="000000"/>
                </a:solidFill>
                <a:latin typeface="IBM Plex Sans"/>
                <a:ea typeface="IBM Plex Sans"/>
                <a:cs typeface="IBM Plex Sans"/>
                <a:sym typeface="IBM Plex Sans"/>
              </a:rPr>
              <a:t>PH&amp;S</a:t>
            </a:r>
            <a:endParaRPr sz="1100"/>
          </a:p>
        </p:txBody>
      </p:sp>
      <p:sp>
        <p:nvSpPr>
          <p:cNvPr id="554" name="Google Shape;554;p38"/>
          <p:cNvSpPr txBox="1"/>
          <p:nvPr/>
        </p:nvSpPr>
        <p:spPr>
          <a:xfrm>
            <a:off x="2516110" y="1687476"/>
            <a:ext cx="855307" cy="182509"/>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None/>
            </a:pPr>
            <a:r>
              <a:rPr lang="en" sz="1100">
                <a:solidFill>
                  <a:srgbClr val="000000"/>
                </a:solidFill>
                <a:latin typeface="IBM Plex Sans"/>
                <a:ea typeface="IBM Plex Sans"/>
                <a:cs typeface="IBM Plex Sans"/>
                <a:sym typeface="IBM Plex Sans"/>
              </a:rPr>
              <a:t>International</a:t>
            </a:r>
            <a:endParaRPr sz="1100"/>
          </a:p>
        </p:txBody>
      </p:sp>
      <p:sp>
        <p:nvSpPr>
          <p:cNvPr id="555" name="Google Shape;555;p38"/>
          <p:cNvSpPr txBox="1"/>
          <p:nvPr/>
        </p:nvSpPr>
        <p:spPr>
          <a:xfrm>
            <a:off x="3997592" y="1602134"/>
            <a:ext cx="689269" cy="182509"/>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None/>
            </a:pPr>
            <a:r>
              <a:rPr lang="en" sz="1100">
                <a:solidFill>
                  <a:srgbClr val="000000"/>
                </a:solidFill>
                <a:latin typeface="IBM Plex Sans"/>
                <a:ea typeface="IBM Plex Sans"/>
                <a:cs typeface="IBM Plex Sans"/>
                <a:sym typeface="IBM Plex Sans"/>
              </a:rPr>
              <a:t>Legalized </a:t>
            </a:r>
            <a:endParaRPr sz="1100"/>
          </a:p>
        </p:txBody>
      </p:sp>
      <p:sp>
        <p:nvSpPr>
          <p:cNvPr id="556" name="Google Shape;556;p38"/>
          <p:cNvSpPr txBox="1"/>
          <p:nvPr/>
        </p:nvSpPr>
        <p:spPr>
          <a:xfrm>
            <a:off x="3249625" y="3400075"/>
            <a:ext cx="2054100" cy="489000"/>
          </a:xfrm>
          <a:prstGeom prst="rect">
            <a:avLst/>
          </a:prstGeom>
          <a:noFill/>
          <a:ln>
            <a:noFill/>
          </a:ln>
        </p:spPr>
        <p:txBody>
          <a:bodyPr spcFirstLastPara="1" wrap="square" lIns="0" tIns="0" rIns="0" bIns="0" anchor="t" anchorCtr="0">
            <a:spAutoFit/>
          </a:bodyPr>
          <a:lstStyle/>
          <a:p>
            <a:pPr marL="0" marR="0" lvl="0" indent="0" algn="ctr" rtl="0">
              <a:lnSpc>
                <a:spcPct val="188844"/>
              </a:lnSpc>
              <a:spcBef>
                <a:spcPts val="0"/>
              </a:spcBef>
              <a:spcAft>
                <a:spcPts val="0"/>
              </a:spcAft>
              <a:buNone/>
            </a:pPr>
            <a:r>
              <a:rPr lang="en" sz="1100">
                <a:solidFill>
                  <a:srgbClr val="000000"/>
                </a:solidFill>
                <a:latin typeface="IBM Plex Sans"/>
                <a:ea typeface="IBM Plex Sans"/>
                <a:cs typeface="IBM Plex Sans"/>
                <a:sym typeface="IBM Plex Sans"/>
              </a:rPr>
              <a:t>Fan Development </a:t>
            </a:r>
            <a:endParaRPr sz="1100"/>
          </a:p>
          <a:p>
            <a:pPr marL="0" marR="0" lvl="0" indent="0" algn="l" rtl="0">
              <a:lnSpc>
                <a:spcPct val="188844"/>
              </a:lnSpc>
              <a:spcBef>
                <a:spcPts val="0"/>
              </a:spcBef>
              <a:spcAft>
                <a:spcPts val="0"/>
              </a:spcAft>
              <a:buNone/>
            </a:pPr>
            <a:r>
              <a:rPr lang="en" sz="1100">
                <a:solidFill>
                  <a:srgbClr val="000000"/>
                </a:solidFill>
                <a:latin typeface="IBM Plex Sans"/>
                <a:ea typeface="IBM Plex Sans"/>
                <a:cs typeface="IBM Plex Sans"/>
                <a:sym typeface="IBM Plex Sans"/>
              </a:rPr>
              <a:t>             Avid            Youth / Latinx</a:t>
            </a:r>
            <a:endParaRPr sz="1100"/>
          </a:p>
        </p:txBody>
      </p:sp>
      <p:sp>
        <p:nvSpPr>
          <p:cNvPr id="557" name="Google Shape;557;p38"/>
          <p:cNvSpPr txBox="1"/>
          <p:nvPr/>
        </p:nvSpPr>
        <p:spPr>
          <a:xfrm>
            <a:off x="5350904" y="1602134"/>
            <a:ext cx="760970" cy="182509"/>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None/>
            </a:pPr>
            <a:r>
              <a:rPr lang="en" sz="1100">
                <a:solidFill>
                  <a:srgbClr val="000000"/>
                </a:solidFill>
                <a:latin typeface="IBM Plex Sans"/>
                <a:ea typeface="IBM Plex Sans"/>
                <a:cs typeface="IBM Plex Sans"/>
                <a:sym typeface="IBM Plex Sans"/>
              </a:rPr>
              <a:t>Non-Game </a:t>
            </a:r>
            <a:endParaRPr sz="1100"/>
          </a:p>
        </p:txBody>
      </p:sp>
      <p:sp>
        <p:nvSpPr>
          <p:cNvPr id="558" name="Google Shape;558;p38"/>
          <p:cNvSpPr txBox="1"/>
          <p:nvPr/>
        </p:nvSpPr>
        <p:spPr>
          <a:xfrm>
            <a:off x="6951488" y="1602134"/>
            <a:ext cx="334934" cy="182509"/>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None/>
            </a:pPr>
            <a:r>
              <a:rPr lang="en" sz="1100">
                <a:solidFill>
                  <a:srgbClr val="000000"/>
                </a:solidFill>
                <a:latin typeface="IBM Plex Sans"/>
                <a:ea typeface="IBM Plex Sans"/>
                <a:cs typeface="IBM Plex Sans"/>
                <a:sym typeface="IBM Plex Sans"/>
              </a:rPr>
              <a:t>New </a:t>
            </a:r>
            <a:endParaRPr sz="1100"/>
          </a:p>
        </p:txBody>
      </p:sp>
      <p:sp>
        <p:nvSpPr>
          <p:cNvPr id="559" name="Google Shape;559;p38"/>
          <p:cNvSpPr txBox="1"/>
          <p:nvPr/>
        </p:nvSpPr>
        <p:spPr>
          <a:xfrm>
            <a:off x="5664101" y="3348986"/>
            <a:ext cx="2134800" cy="501900"/>
          </a:xfrm>
          <a:prstGeom prst="rect">
            <a:avLst/>
          </a:prstGeom>
          <a:noFill/>
          <a:ln>
            <a:noFill/>
          </a:ln>
        </p:spPr>
        <p:txBody>
          <a:bodyPr spcFirstLastPara="1" wrap="square" lIns="0" tIns="0" rIns="0" bIns="0" anchor="t" anchorCtr="0">
            <a:spAutoFit/>
          </a:bodyPr>
          <a:lstStyle/>
          <a:p>
            <a:pPr marL="0" marR="0" lvl="0" indent="0" algn="ctr" rtl="0">
              <a:lnSpc>
                <a:spcPct val="188844"/>
              </a:lnSpc>
              <a:spcBef>
                <a:spcPts val="0"/>
              </a:spcBef>
              <a:spcAft>
                <a:spcPts val="0"/>
              </a:spcAft>
              <a:buNone/>
            </a:pPr>
            <a:r>
              <a:rPr lang="en" sz="1100">
                <a:solidFill>
                  <a:srgbClr val="000000"/>
                </a:solidFill>
                <a:latin typeface="IBM Plex Sans"/>
                <a:ea typeface="IBM Plex Sans"/>
                <a:cs typeface="IBM Plex Sans"/>
                <a:sym typeface="IBM Plex Sans"/>
              </a:rPr>
              <a:t>Business Operations</a:t>
            </a:r>
            <a:endParaRPr sz="1100"/>
          </a:p>
          <a:p>
            <a:pPr marL="0" marR="0" lvl="0" indent="0" algn="ctr" rtl="0">
              <a:lnSpc>
                <a:spcPct val="188844"/>
              </a:lnSpc>
              <a:spcBef>
                <a:spcPts val="0"/>
              </a:spcBef>
              <a:spcAft>
                <a:spcPts val="0"/>
              </a:spcAft>
              <a:buNone/>
            </a:pPr>
            <a:r>
              <a:rPr lang="en" sz="1100">
                <a:solidFill>
                  <a:srgbClr val="000000"/>
                </a:solidFill>
                <a:latin typeface="IBM Plex Sans"/>
                <a:ea typeface="IBM Plex Sans"/>
                <a:cs typeface="IBM Plex Sans"/>
                <a:sym typeface="IBM Plex Sans"/>
              </a:rPr>
              <a:t>DEI                Data/Tech</a:t>
            </a:r>
            <a:endParaRPr sz="1100"/>
          </a:p>
        </p:txBody>
      </p:sp>
      <p:sp>
        <p:nvSpPr>
          <p:cNvPr id="560" name="Google Shape;560;p38"/>
          <p:cNvSpPr txBox="1"/>
          <p:nvPr/>
        </p:nvSpPr>
        <p:spPr>
          <a:xfrm>
            <a:off x="1196603" y="1772955"/>
            <a:ext cx="705717" cy="182726"/>
          </a:xfrm>
          <a:prstGeom prst="rect">
            <a:avLst/>
          </a:prstGeom>
          <a:noFill/>
          <a:ln>
            <a:noFill/>
          </a:ln>
        </p:spPr>
        <p:txBody>
          <a:bodyPr spcFirstLastPara="1" wrap="square" lIns="0" tIns="0" rIns="0" bIns="0" anchor="t" anchorCtr="0">
            <a:spAutoFit/>
          </a:bodyPr>
          <a:lstStyle/>
          <a:p>
            <a:pPr marL="0" marR="0" lvl="0" indent="0" algn="l" rtl="0">
              <a:lnSpc>
                <a:spcPct val="140026"/>
              </a:lnSpc>
              <a:spcBef>
                <a:spcPts val="0"/>
              </a:spcBef>
              <a:spcAft>
                <a:spcPts val="0"/>
              </a:spcAft>
              <a:buNone/>
            </a:pPr>
            <a:r>
              <a:rPr lang="en" sz="1100">
                <a:solidFill>
                  <a:srgbClr val="000000"/>
                </a:solidFill>
                <a:latin typeface="IBM Plex Sans"/>
                <a:ea typeface="IBM Plex Sans"/>
                <a:cs typeface="IBM Plex Sans"/>
                <a:sym typeface="IBM Plex Sans"/>
              </a:rPr>
              <a:t>Consumer</a:t>
            </a:r>
            <a:endParaRPr sz="1100"/>
          </a:p>
        </p:txBody>
      </p:sp>
      <p:sp>
        <p:nvSpPr>
          <p:cNvPr id="561" name="Google Shape;561;p38"/>
          <p:cNvSpPr txBox="1"/>
          <p:nvPr/>
        </p:nvSpPr>
        <p:spPr>
          <a:xfrm>
            <a:off x="3832086" y="1772955"/>
            <a:ext cx="980665" cy="182726"/>
          </a:xfrm>
          <a:prstGeom prst="rect">
            <a:avLst/>
          </a:prstGeom>
          <a:noFill/>
          <a:ln>
            <a:noFill/>
          </a:ln>
        </p:spPr>
        <p:txBody>
          <a:bodyPr spcFirstLastPara="1" wrap="square" lIns="0" tIns="0" rIns="0" bIns="0" anchor="t" anchorCtr="0">
            <a:spAutoFit/>
          </a:bodyPr>
          <a:lstStyle/>
          <a:p>
            <a:pPr marL="0" marR="0" lvl="0" indent="0" algn="l" rtl="0">
              <a:lnSpc>
                <a:spcPct val="140026"/>
              </a:lnSpc>
              <a:spcBef>
                <a:spcPts val="0"/>
              </a:spcBef>
              <a:spcAft>
                <a:spcPts val="0"/>
              </a:spcAft>
              <a:buNone/>
            </a:pPr>
            <a:r>
              <a:rPr lang="en" sz="1100">
                <a:solidFill>
                  <a:srgbClr val="000000"/>
                </a:solidFill>
                <a:latin typeface="IBM Plex Sans"/>
                <a:ea typeface="IBM Plex Sans"/>
                <a:cs typeface="IBM Plex Sans"/>
                <a:sym typeface="IBM Plex Sans"/>
              </a:rPr>
              <a:t>Sports Betting</a:t>
            </a:r>
            <a:endParaRPr sz="1100"/>
          </a:p>
        </p:txBody>
      </p:sp>
      <p:sp>
        <p:nvSpPr>
          <p:cNvPr id="562" name="Google Shape;562;p38"/>
          <p:cNvSpPr txBox="1"/>
          <p:nvPr/>
        </p:nvSpPr>
        <p:spPr>
          <a:xfrm>
            <a:off x="5221974" y="1772955"/>
            <a:ext cx="979665" cy="182726"/>
          </a:xfrm>
          <a:prstGeom prst="rect">
            <a:avLst/>
          </a:prstGeom>
          <a:noFill/>
          <a:ln>
            <a:noFill/>
          </a:ln>
        </p:spPr>
        <p:txBody>
          <a:bodyPr spcFirstLastPara="1" wrap="square" lIns="0" tIns="0" rIns="0" bIns="0" anchor="t" anchorCtr="0">
            <a:spAutoFit/>
          </a:bodyPr>
          <a:lstStyle/>
          <a:p>
            <a:pPr marL="0" marR="0" lvl="0" indent="0" algn="l" rtl="0">
              <a:lnSpc>
                <a:spcPct val="140026"/>
              </a:lnSpc>
              <a:spcBef>
                <a:spcPts val="0"/>
              </a:spcBef>
              <a:spcAft>
                <a:spcPts val="0"/>
              </a:spcAft>
              <a:buNone/>
            </a:pPr>
            <a:r>
              <a:rPr lang="en" sz="1100">
                <a:solidFill>
                  <a:srgbClr val="000000"/>
                </a:solidFill>
                <a:latin typeface="IBM Plex Sans"/>
                <a:ea typeface="IBM Plex Sans"/>
                <a:cs typeface="IBM Plex Sans"/>
                <a:sym typeface="IBM Plex Sans"/>
              </a:rPr>
              <a:t>Media Content</a:t>
            </a:r>
            <a:endParaRPr sz="1100"/>
          </a:p>
        </p:txBody>
      </p:sp>
      <p:sp>
        <p:nvSpPr>
          <p:cNvPr id="563" name="Google Shape;563;p38"/>
          <p:cNvSpPr txBox="1"/>
          <p:nvPr/>
        </p:nvSpPr>
        <p:spPr>
          <a:xfrm>
            <a:off x="6705514" y="1772955"/>
            <a:ext cx="787847" cy="182726"/>
          </a:xfrm>
          <a:prstGeom prst="rect">
            <a:avLst/>
          </a:prstGeom>
          <a:noFill/>
          <a:ln>
            <a:noFill/>
          </a:ln>
        </p:spPr>
        <p:txBody>
          <a:bodyPr spcFirstLastPara="1" wrap="square" lIns="0" tIns="0" rIns="0" bIns="0" anchor="t" anchorCtr="0">
            <a:spAutoFit/>
          </a:bodyPr>
          <a:lstStyle/>
          <a:p>
            <a:pPr marL="0" marR="0" lvl="0" indent="0" algn="l" rtl="0">
              <a:lnSpc>
                <a:spcPct val="140026"/>
              </a:lnSpc>
              <a:spcBef>
                <a:spcPts val="0"/>
              </a:spcBef>
              <a:spcAft>
                <a:spcPts val="0"/>
              </a:spcAft>
              <a:buNone/>
            </a:pPr>
            <a:r>
              <a:rPr lang="en" sz="1100">
                <a:solidFill>
                  <a:srgbClr val="000000"/>
                </a:solidFill>
                <a:latin typeface="IBM Plex Sans"/>
                <a:ea typeface="IBM Plex Sans"/>
                <a:cs typeface="IBM Plex Sans"/>
                <a:sym typeface="IBM Plex Sans"/>
              </a:rPr>
              <a:t>Technology</a:t>
            </a:r>
            <a:endParaRPr sz="1100"/>
          </a:p>
        </p:txBody>
      </p:sp>
      <p:sp>
        <p:nvSpPr>
          <p:cNvPr id="564" name="Google Shape;564;p38"/>
          <p:cNvSpPr txBox="1"/>
          <p:nvPr/>
        </p:nvSpPr>
        <p:spPr>
          <a:xfrm>
            <a:off x="6560124" y="2394564"/>
            <a:ext cx="542508" cy="12683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 sz="800">
                <a:solidFill>
                  <a:srgbClr val="000000"/>
                </a:solidFill>
                <a:latin typeface="Open Sans"/>
                <a:ea typeface="Open Sans"/>
                <a:cs typeface="Open Sans"/>
                <a:sym typeface="Open Sans"/>
              </a:rPr>
              <a:t>Blockchain</a:t>
            </a:r>
            <a:endParaRPr sz="1100"/>
          </a:p>
        </p:txBody>
      </p:sp>
      <p:sp>
        <p:nvSpPr>
          <p:cNvPr id="565" name="Google Shape;565;p38"/>
          <p:cNvSpPr txBox="1"/>
          <p:nvPr/>
        </p:nvSpPr>
        <p:spPr>
          <a:xfrm>
            <a:off x="2320737" y="4308707"/>
            <a:ext cx="812147" cy="157706"/>
          </a:xfrm>
          <a:prstGeom prst="rect">
            <a:avLst/>
          </a:prstGeom>
          <a:noFill/>
          <a:ln>
            <a:noFill/>
          </a:ln>
        </p:spPr>
        <p:txBody>
          <a:bodyPr spcFirstLastPara="1" wrap="square" lIns="0" tIns="0" rIns="0" bIns="0" anchor="t" anchorCtr="0">
            <a:spAutoFit/>
          </a:bodyPr>
          <a:lstStyle/>
          <a:p>
            <a:pPr marL="0" marR="0" lvl="0" indent="0" algn="l" rtl="0">
              <a:lnSpc>
                <a:spcPct val="140047"/>
              </a:lnSpc>
              <a:spcBef>
                <a:spcPts val="0"/>
              </a:spcBef>
              <a:spcAft>
                <a:spcPts val="0"/>
              </a:spcAft>
              <a:buNone/>
            </a:pPr>
            <a:r>
              <a:rPr lang="en" sz="1000">
                <a:solidFill>
                  <a:srgbClr val="000000"/>
                </a:solidFill>
                <a:latin typeface="IBM Plex Sans"/>
                <a:ea typeface="IBM Plex Sans"/>
                <a:cs typeface="IBM Plex Sans"/>
                <a:sym typeface="IBM Plex Sans"/>
              </a:rPr>
              <a:t>Digital Athlete</a:t>
            </a:r>
            <a:endParaRPr sz="1100"/>
          </a:p>
        </p:txBody>
      </p:sp>
      <p:sp>
        <p:nvSpPr>
          <p:cNvPr id="566" name="Google Shape;566;p38"/>
          <p:cNvSpPr txBox="1"/>
          <p:nvPr/>
        </p:nvSpPr>
        <p:spPr>
          <a:xfrm>
            <a:off x="6941046" y="4385699"/>
            <a:ext cx="426139" cy="157706"/>
          </a:xfrm>
          <a:prstGeom prst="rect">
            <a:avLst/>
          </a:prstGeom>
          <a:noFill/>
          <a:ln>
            <a:noFill/>
          </a:ln>
        </p:spPr>
        <p:txBody>
          <a:bodyPr spcFirstLastPara="1" wrap="square" lIns="0" tIns="0" rIns="0" bIns="0" anchor="t" anchorCtr="0">
            <a:spAutoFit/>
          </a:bodyPr>
          <a:lstStyle/>
          <a:p>
            <a:pPr marL="0" marR="0" lvl="0" indent="0" algn="l" rtl="0">
              <a:lnSpc>
                <a:spcPct val="140047"/>
              </a:lnSpc>
              <a:spcBef>
                <a:spcPts val="0"/>
              </a:spcBef>
              <a:spcAft>
                <a:spcPts val="0"/>
              </a:spcAft>
              <a:buNone/>
            </a:pPr>
            <a:r>
              <a:rPr lang="en" sz="1000">
                <a:solidFill>
                  <a:srgbClr val="000000"/>
                </a:solidFill>
                <a:latin typeface="IBM Plex Sans"/>
                <a:ea typeface="IBM Plex Sans"/>
                <a:cs typeface="IBM Plex Sans"/>
                <a:sym typeface="IBM Plex Sans"/>
              </a:rPr>
              <a:t>Fan 1:1</a:t>
            </a:r>
            <a:endParaRPr sz="1100"/>
          </a:p>
        </p:txBody>
      </p:sp>
      <p:sp>
        <p:nvSpPr>
          <p:cNvPr id="567" name="Google Shape;567;p38"/>
          <p:cNvSpPr txBox="1"/>
          <p:nvPr/>
        </p:nvSpPr>
        <p:spPr>
          <a:xfrm>
            <a:off x="751106" y="4611964"/>
            <a:ext cx="1765004" cy="108972"/>
          </a:xfrm>
          <a:prstGeom prst="rect">
            <a:avLst/>
          </a:prstGeom>
          <a:noFill/>
          <a:ln>
            <a:noFill/>
          </a:ln>
        </p:spPr>
        <p:txBody>
          <a:bodyPr spcFirstLastPara="1" wrap="square" lIns="0" tIns="0" rIns="0" bIns="0" anchor="t" anchorCtr="0">
            <a:spAutoFit/>
          </a:bodyPr>
          <a:lstStyle/>
          <a:p>
            <a:pPr marL="0" marR="0" lvl="0" indent="0" algn="l" rtl="0">
              <a:lnSpc>
                <a:spcPct val="139977"/>
              </a:lnSpc>
              <a:spcBef>
                <a:spcPts val="0"/>
              </a:spcBef>
              <a:spcAft>
                <a:spcPts val="0"/>
              </a:spcAft>
              <a:buNone/>
            </a:pPr>
            <a:r>
              <a:rPr lang="en" sz="700">
                <a:solidFill>
                  <a:srgbClr val="000000"/>
                </a:solidFill>
                <a:latin typeface="Calibri"/>
                <a:ea typeface="Calibri"/>
                <a:cs typeface="Calibri"/>
                <a:sym typeface="Calibri"/>
              </a:rPr>
              <a:t>*League goals in no particular order</a:t>
            </a:r>
            <a:endParaRPr sz="1100"/>
          </a:p>
        </p:txBody>
      </p:sp>
      <p:sp>
        <p:nvSpPr>
          <p:cNvPr id="568" name="Google Shape;568;p38"/>
          <p:cNvSpPr txBox="1"/>
          <p:nvPr/>
        </p:nvSpPr>
        <p:spPr>
          <a:xfrm>
            <a:off x="1510153" y="899863"/>
            <a:ext cx="5728653" cy="224028"/>
          </a:xfrm>
          <a:prstGeom prst="rect">
            <a:avLst/>
          </a:prstGeom>
          <a:noFill/>
          <a:ln>
            <a:noFill/>
          </a:ln>
        </p:spPr>
        <p:txBody>
          <a:bodyPr spcFirstLastPara="1" wrap="square" lIns="0" tIns="0" rIns="0" bIns="0" anchor="t" anchorCtr="0">
            <a:spAutoFit/>
          </a:bodyPr>
          <a:lstStyle/>
          <a:p>
            <a:pPr marL="0" marR="0" lvl="0" indent="0" algn="l" rtl="0">
              <a:lnSpc>
                <a:spcPct val="140023"/>
              </a:lnSpc>
              <a:spcBef>
                <a:spcPts val="0"/>
              </a:spcBef>
              <a:spcAft>
                <a:spcPts val="0"/>
              </a:spcAft>
              <a:buNone/>
            </a:pPr>
            <a:r>
              <a:rPr lang="en" sz="1300">
                <a:solidFill>
                  <a:srgbClr val="FFFFFF"/>
                </a:solidFill>
                <a:latin typeface="IBM Plex Sans"/>
                <a:ea typeface="IBM Plex Sans"/>
                <a:cs typeface="IBM Plex Sans"/>
                <a:sym typeface="IBM Plex Sans"/>
              </a:rPr>
              <a:t>League Goals: Increase Consumption | Fan Growth | Grow Key Demographics</a:t>
            </a:r>
            <a:endParaRPr sz="1100"/>
          </a:p>
        </p:txBody>
      </p:sp>
      <p:sp>
        <p:nvSpPr>
          <p:cNvPr id="569" name="Google Shape;569;p38"/>
          <p:cNvSpPr txBox="1"/>
          <p:nvPr/>
        </p:nvSpPr>
        <p:spPr>
          <a:xfrm>
            <a:off x="235915" y="159654"/>
            <a:ext cx="4725620" cy="365536"/>
          </a:xfrm>
          <a:prstGeom prst="rect">
            <a:avLst/>
          </a:prstGeom>
          <a:noFill/>
          <a:ln>
            <a:noFill/>
          </a:ln>
        </p:spPr>
        <p:txBody>
          <a:bodyPr spcFirstLastPara="1" wrap="square" lIns="0" tIns="0" rIns="0" bIns="0" anchor="t" anchorCtr="0">
            <a:spAutoFit/>
          </a:bodyPr>
          <a:lstStyle/>
          <a:p>
            <a:pPr marL="0" marR="0" lvl="0" indent="0" algn="l" rtl="0">
              <a:lnSpc>
                <a:spcPct val="140020"/>
              </a:lnSpc>
              <a:spcBef>
                <a:spcPts val="0"/>
              </a:spcBef>
              <a:spcAft>
                <a:spcPts val="0"/>
              </a:spcAft>
              <a:buNone/>
            </a:pPr>
            <a:r>
              <a:rPr lang="en" sz="2200" b="1">
                <a:solidFill>
                  <a:srgbClr val="10253F"/>
                </a:solidFill>
                <a:latin typeface="IBM Plex Sans"/>
                <a:ea typeface="IBM Plex Sans"/>
                <a:cs typeface="IBM Plex Sans"/>
                <a:sym typeface="IBM Plex Sans"/>
              </a:rPr>
              <a:t>STRATEGIC PLANNING FOCUS</a:t>
            </a:r>
            <a:endParaRPr sz="11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Neos Chronos">
      <a:dk1>
        <a:srgbClr val="444444"/>
      </a:dk1>
      <a:lt1>
        <a:srgbClr val="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2155</Words>
  <Application>Microsoft Macintosh PowerPoint</Application>
  <PresentationFormat>On-screen Show (16:9)</PresentationFormat>
  <Paragraphs>363</Paragraphs>
  <Slides>22</Slides>
  <Notes>22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22</vt:i4>
      </vt:variant>
    </vt:vector>
  </HeadingPairs>
  <TitlesOfParts>
    <vt:vector size="32" baseType="lpstr">
      <vt:lpstr>Century Gothic</vt:lpstr>
      <vt:lpstr>IBM Plex Sans</vt:lpstr>
      <vt:lpstr>Roboto</vt:lpstr>
      <vt:lpstr>Calibri</vt:lpstr>
      <vt:lpstr>Courier New</vt:lpstr>
      <vt:lpstr>Montserrat</vt:lpstr>
      <vt:lpstr>Open Sans</vt:lpstr>
      <vt:lpstr>Arial</vt:lpstr>
      <vt:lpstr>Simple Light</vt:lpstr>
      <vt:lpstr>Office Theme</vt:lpstr>
      <vt:lpstr>Technology Innovation HUB Program Update  </vt:lpstr>
      <vt:lpstr>Background Recap of Previous Presentation Explanation of Value Zone   </vt:lpstr>
      <vt:lpstr>PowerPoint Presentation</vt:lpstr>
      <vt:lpstr>PowerPoint Presentation</vt:lpstr>
      <vt:lpstr>PowerPoint Presentation</vt:lpstr>
      <vt:lpstr>PowerPoint Presentation</vt:lpstr>
      <vt:lpstr>PowerPoint Presentation</vt:lpstr>
      <vt:lpstr>PowerPoint Presentation</vt:lpstr>
      <vt:lpstr>Optical Tracking                             </vt:lpstr>
      <vt:lpstr>Optical Tracking, Cont. </vt:lpstr>
      <vt:lpstr>Optical Tracking  Vendor Assessment </vt:lpstr>
      <vt:lpstr>Optical Tracking                             </vt:lpstr>
      <vt:lpstr>NFL View</vt:lpstr>
      <vt:lpstr>NFL View</vt:lpstr>
      <vt:lpstr>NFL View</vt:lpstr>
      <vt:lpstr>PowerPoint Presentation</vt:lpstr>
      <vt:lpstr>Multimodal AI Pitch</vt:lpstr>
      <vt:lpstr>Pitch Feedback</vt:lpstr>
      <vt:lpstr>Next Steps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Technology Innovation HUB Program Update  </dc:title>
  <cp:lastModifiedBy>Microsoft Office User</cp:lastModifiedBy>
  <cp:revision>3</cp:revision>
  <dcterms:modified xsi:type="dcterms:W3CDTF">2024-01-10T20:53:08Z</dcterms:modified>
</cp:coreProperties>
</file>