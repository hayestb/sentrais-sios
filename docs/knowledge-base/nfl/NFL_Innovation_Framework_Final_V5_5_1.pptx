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70" r:id="rId7"/>
    <p:sldId id="262" r:id="rId8"/>
    <p:sldId id="263" r:id="rId9"/>
    <p:sldId id="265" r:id="rId10"/>
    <p:sldId id="271" r:id="rId11"/>
    <p:sldId id="266" r:id="rId12"/>
    <p:sldId id="268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 Bold" pitchFamily="2" charset="77"/>
      <p:regular r:id="rId19"/>
      <p:bold r:id="rId20"/>
    </p:embeddedFont>
    <p:embeddedFont>
      <p:font typeface="Gotham Bold" pitchFamily="2" charset="0"/>
      <p:regular r:id="rId21"/>
      <p:bold r:id="rId22"/>
    </p:embeddedFont>
    <p:embeddedFont>
      <p:font typeface="Open Sans" pitchFamily="2" charset="0"/>
      <p:regular r:id="rId23"/>
      <p:bold r:id="rId24"/>
      <p:italic r:id="rId25"/>
      <p:boldItalic r:id="rId26"/>
    </p:embeddedFont>
    <p:embeddedFont>
      <p:font typeface="Open Sans Condensed" pitchFamily="2" charset="0"/>
      <p:regular r:id="rId27"/>
      <p:bold r:id="rId28"/>
      <p:italic r:id="rId29"/>
      <p:boldItalic r:id="rId30"/>
    </p:embeddedFont>
    <p:embeddedFont>
      <p:font typeface="Open Sans Condensed Condensed" pitchFamily="2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4236"/>
    <a:srgbClr val="F536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 autoAdjust="0"/>
    <p:restoredTop sz="94635" autoAdjust="0"/>
  </p:normalViewPr>
  <p:slideViewPr>
    <p:cSldViewPr>
      <p:cViewPr varScale="1">
        <p:scale>
          <a:sx n="80" d="100"/>
          <a:sy n="80" d="100"/>
        </p:scale>
        <p:origin x="52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48392-110E-7C47-A2C7-C11DD55231DC}" type="datetimeFigureOut">
              <a:rPr lang="en-US" smtClean="0"/>
              <a:t>5/1/23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74F1D-5BAE-9B48-B4B3-F3A4C59805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59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5" Type="http://schemas.openxmlformats.org/officeDocument/2006/relationships/image" Target="../media/image4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3" t="723" b="14946"/>
          <a:stretch>
            <a:fillRect/>
          </a:stretch>
        </p:blipFill>
        <p:spPr>
          <a:xfrm>
            <a:off x="0" y="362482"/>
            <a:ext cx="18288000" cy="10287000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 rot="5400000">
            <a:off x="14794385" y="6793385"/>
            <a:ext cx="3480531" cy="3506699"/>
            <a:chOff x="0" y="0"/>
            <a:chExt cx="4640709" cy="4675599"/>
          </a:xfrm>
        </p:grpSpPr>
        <p:grpSp>
          <p:nvGrpSpPr>
            <p:cNvPr id="33" name="Group 33"/>
            <p:cNvGrpSpPr/>
            <p:nvPr/>
          </p:nvGrpSpPr>
          <p:grpSpPr>
            <a:xfrm rot="5400000">
              <a:off x="2314258" y="2349148"/>
              <a:ext cx="2201724" cy="2451177"/>
              <a:chOff x="0" y="0"/>
              <a:chExt cx="397153" cy="4421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9"/>
                  </a:lnSpc>
                </a:pPr>
                <a:endParaRPr/>
              </a:p>
            </p:txBody>
          </p:sp>
        </p:grpSp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2473875"/>
              <a:ext cx="2201724" cy="2201724"/>
            </a:xfrm>
            <a:prstGeom prst="rect">
              <a:avLst/>
            </a:prstGeom>
          </p:spPr>
        </p:pic>
        <p:grpSp>
          <p:nvGrpSpPr>
            <p:cNvPr id="37" name="Group 37"/>
            <p:cNvGrpSpPr/>
            <p:nvPr/>
          </p:nvGrpSpPr>
          <p:grpSpPr>
            <a:xfrm rot="-10800000">
              <a:off x="0" y="0"/>
              <a:ext cx="2201724" cy="2473875"/>
              <a:chOff x="0" y="0"/>
              <a:chExt cx="397153" cy="44624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99"/>
                  </a:lnSpc>
                </a:pPr>
                <a:endParaRPr/>
              </a:p>
            </p:txBody>
          </p:sp>
        </p:grp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928895" y="8749868"/>
            <a:ext cx="857372" cy="1180666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6"/>
          <a:srcRect l="1539" t="10263" r="3745" b="3783"/>
          <a:stretch>
            <a:fillRect/>
          </a:stretch>
        </p:blipFill>
        <p:spPr>
          <a:xfrm>
            <a:off x="3527713" y="2552700"/>
            <a:ext cx="11154070" cy="28409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sp>
        <p:nvSpPr>
          <p:cNvPr id="14" name="TextBox 14"/>
          <p:cNvSpPr txBox="1"/>
          <p:nvPr/>
        </p:nvSpPr>
        <p:spPr>
          <a:xfrm>
            <a:off x="1028700" y="1019175"/>
            <a:ext cx="11505887" cy="273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28"/>
              </a:lnSpc>
            </a:pPr>
            <a:r>
              <a:rPr lang="en-US" sz="8940">
                <a:solidFill>
                  <a:srgbClr val="090F10"/>
                </a:solidFill>
                <a:latin typeface="Gotham Bold"/>
              </a:rPr>
              <a:t>Why an </a:t>
            </a:r>
            <a:r>
              <a:rPr lang="en-US" sz="8940">
                <a:solidFill>
                  <a:srgbClr val="EF4237"/>
                </a:solidFill>
                <a:latin typeface="Gotham Bold"/>
              </a:rPr>
              <a:t>Innovation</a:t>
            </a:r>
            <a:r>
              <a:rPr lang="en-US" sz="8940">
                <a:solidFill>
                  <a:srgbClr val="090F10"/>
                </a:solidFill>
                <a:latin typeface="Gotham Bold"/>
              </a:rPr>
              <a:t> Framework?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222019"/>
            <a:ext cx="10198586" cy="2718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09"/>
              </a:lnSpc>
            </a:pPr>
            <a:r>
              <a:rPr lang="en-US" sz="4424" spc="-44" dirty="0">
                <a:solidFill>
                  <a:srgbClr val="231F20"/>
                </a:solidFill>
                <a:latin typeface="Open Sans Condensed Condensed"/>
              </a:rPr>
              <a:t>Having an innovation framework is crucial in the digital transformation process as it allows an organization to discover, cultivate, and execute innovative and inventive concepts to drive strategic success.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7949505"/>
            <a:ext cx="10198586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2566" lvl="1" indent="-261283">
              <a:lnSpc>
                <a:spcPts val="27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Benefits the discovery of new and imaginative approaches</a:t>
            </a:r>
          </a:p>
          <a:p>
            <a:pPr marL="522566" lvl="1" indent="-261283">
              <a:lnSpc>
                <a:spcPts val="27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Reviews the positive and negative aspects of each option</a:t>
            </a:r>
          </a:p>
          <a:p>
            <a:pPr marL="522566" lvl="1" indent="-261283">
              <a:lnSpc>
                <a:spcPts val="27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Makes decisions based on accurate and reliable information</a:t>
            </a:r>
          </a:p>
          <a:p>
            <a:pPr marL="522566" lvl="1" indent="-261283">
              <a:lnSpc>
                <a:spcPts val="27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Develops strategies to translate ideas into business opportunities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28700" y="1019175"/>
            <a:ext cx="11505887" cy="2733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28"/>
              </a:lnSpc>
            </a:pPr>
            <a:r>
              <a:rPr lang="en-US" sz="8940" dirty="0">
                <a:solidFill>
                  <a:srgbClr val="090F10"/>
                </a:solidFill>
                <a:latin typeface="Gotham Bold"/>
              </a:rPr>
              <a:t>Why is a </a:t>
            </a:r>
            <a:r>
              <a:rPr lang="en-US" sz="8940" dirty="0">
                <a:solidFill>
                  <a:srgbClr val="EF4237"/>
                </a:solidFill>
                <a:latin typeface="Gotham Bold"/>
              </a:rPr>
              <a:t>framework</a:t>
            </a:r>
            <a:r>
              <a:rPr lang="en-US" sz="8940" dirty="0">
                <a:solidFill>
                  <a:srgbClr val="090F10"/>
                </a:solidFill>
                <a:latin typeface="Gotham Bold"/>
              </a:rPr>
              <a:t> needed at the NFL?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4222019"/>
            <a:ext cx="12329310" cy="450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4223" lvl="1" indent="-402112">
              <a:lnSpc>
                <a:spcPts val="4469"/>
              </a:lnSpc>
              <a:buFont typeface="Arial"/>
              <a:buChar char="•"/>
            </a:pPr>
            <a:r>
              <a:rPr lang="en-US" sz="3724" spc="-37" dirty="0">
                <a:solidFill>
                  <a:srgbClr val="231F20"/>
                </a:solidFill>
                <a:latin typeface="Open Sans Condensed Condensed"/>
              </a:rPr>
              <a:t>To address the lack of monitoring and measuring of technology innovation projects and ideas</a:t>
            </a:r>
          </a:p>
          <a:p>
            <a:pPr marL="804223" lvl="1" indent="-402112">
              <a:lnSpc>
                <a:spcPts val="4469"/>
              </a:lnSpc>
              <a:buFont typeface="Arial"/>
              <a:buChar char="•"/>
            </a:pPr>
            <a:r>
              <a:rPr lang="en-US" sz="3724" spc="-37" dirty="0">
                <a:solidFill>
                  <a:srgbClr val="231F20"/>
                </a:solidFill>
                <a:latin typeface="Open Sans Condensed Condensed"/>
              </a:rPr>
              <a:t>Eliminate siloed pockets of innovation and redundant projects</a:t>
            </a:r>
          </a:p>
          <a:p>
            <a:pPr marL="804223" lvl="1" indent="-402112">
              <a:lnSpc>
                <a:spcPts val="4469"/>
              </a:lnSpc>
              <a:buFont typeface="Arial"/>
              <a:buChar char="•"/>
            </a:pPr>
            <a:r>
              <a:rPr lang="en-US" sz="3724" spc="-37" dirty="0">
                <a:solidFill>
                  <a:srgbClr val="231F20"/>
                </a:solidFill>
                <a:latin typeface="Open Sans Condensed Condensed"/>
              </a:rPr>
              <a:t>Leverage ideas from all levels of the organization</a:t>
            </a:r>
          </a:p>
          <a:p>
            <a:pPr marL="804223" lvl="1" indent="-402112">
              <a:lnSpc>
                <a:spcPts val="4469"/>
              </a:lnSpc>
              <a:buFont typeface="Arial"/>
              <a:buChar char="•"/>
            </a:pPr>
            <a:r>
              <a:rPr lang="en-US" sz="3724" spc="-37" dirty="0">
                <a:solidFill>
                  <a:srgbClr val="231F20"/>
                </a:solidFill>
                <a:latin typeface="Open Sans Condensed Condensed"/>
              </a:rPr>
              <a:t>Strengthen brain power through increased collaboration</a:t>
            </a:r>
          </a:p>
          <a:p>
            <a:pPr marL="804223" lvl="1" indent="-402112">
              <a:lnSpc>
                <a:spcPts val="4469"/>
              </a:lnSpc>
              <a:buFont typeface="Arial"/>
              <a:buChar char="•"/>
            </a:pPr>
            <a:r>
              <a:rPr lang="en-US" sz="3724" spc="-37" dirty="0">
                <a:solidFill>
                  <a:srgbClr val="231F20"/>
                </a:solidFill>
                <a:latin typeface="Open Sans Condensed Condensed"/>
              </a:rPr>
              <a:t>Foster creativity by working as a connected NFL (networked, flexible, and learning) organization</a:t>
            </a:r>
          </a:p>
          <a:p>
            <a:pPr marL="804223" lvl="1" indent="-402112">
              <a:lnSpc>
                <a:spcPts val="4469"/>
              </a:lnSpc>
              <a:buFont typeface="Arial"/>
              <a:buChar char="•"/>
            </a:pPr>
            <a:r>
              <a:rPr lang="en-US" sz="3724" spc="-37" dirty="0">
                <a:solidFill>
                  <a:srgbClr val="231F20"/>
                </a:solidFill>
                <a:latin typeface="Open Sans Condensed Condensed"/>
              </a:rPr>
              <a:t>Solve complex business problems collectively to enhance the game.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28699" y="1019175"/>
            <a:ext cx="10992603" cy="5078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96"/>
              </a:lnSpc>
            </a:pPr>
            <a:r>
              <a:rPr lang="en-US" sz="6663" dirty="0">
                <a:solidFill>
                  <a:srgbClr val="000000"/>
                </a:solidFill>
                <a:latin typeface="Gotham Bold"/>
              </a:rPr>
              <a:t>NFL Strategic Goals</a:t>
            </a:r>
          </a:p>
          <a:p>
            <a:pPr algn="ctr">
              <a:lnSpc>
                <a:spcPts val="7996"/>
              </a:lnSpc>
            </a:pPr>
            <a:endParaRPr lang="en-US" sz="6663" dirty="0">
              <a:solidFill>
                <a:srgbClr val="000000"/>
              </a:solidFill>
              <a:latin typeface="Gotham Bold"/>
            </a:endParaRPr>
          </a:p>
          <a:p>
            <a:pPr algn="ctr">
              <a:lnSpc>
                <a:spcPts val="7996"/>
              </a:lnSpc>
            </a:pPr>
            <a:r>
              <a:rPr lang="en-US" sz="6663" dirty="0">
                <a:solidFill>
                  <a:srgbClr val="000000"/>
                </a:solidFill>
                <a:latin typeface="Gotham Bold"/>
              </a:rPr>
              <a:t>+</a:t>
            </a:r>
          </a:p>
          <a:p>
            <a:pPr algn="ctr">
              <a:lnSpc>
                <a:spcPts val="7996"/>
              </a:lnSpc>
            </a:pPr>
            <a:r>
              <a:rPr lang="en-US" sz="6663" dirty="0">
                <a:solidFill>
                  <a:srgbClr val="000000"/>
                </a:solidFill>
                <a:latin typeface="Gotham Bold"/>
              </a:rPr>
              <a:t>NFL Tech Innovation Framework </a:t>
            </a:r>
            <a:r>
              <a:rPr lang="en-US" sz="2000" b="1" dirty="0">
                <a:solidFill>
                  <a:srgbClr val="00B0F0"/>
                </a:solidFill>
                <a:latin typeface="Gotham Bold"/>
              </a:rPr>
              <a:t>designed based on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7487983" y="6626864"/>
            <a:ext cx="7749496" cy="15968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28700" y="800100"/>
            <a:ext cx="12986892" cy="7566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47"/>
              </a:lnSpc>
            </a:pPr>
            <a:r>
              <a:rPr lang="en-US" sz="4956" dirty="0">
                <a:solidFill>
                  <a:srgbClr val="090F10"/>
                </a:solidFill>
                <a:latin typeface="Gotham Bold"/>
              </a:rPr>
              <a:t>4 Zones Model: Business Value Creation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609672" y="4761871"/>
            <a:ext cx="832906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>
            <a:off x="9774203" y="2864730"/>
            <a:ext cx="0" cy="384190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5838783" y="2714391"/>
            <a:ext cx="3759067" cy="39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20" dirty="0">
                <a:solidFill>
                  <a:srgbClr val="2AACE3"/>
                </a:solidFill>
                <a:latin typeface="Gotham Bold"/>
              </a:rPr>
              <a:t>Transformation Zone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32042" y="2705100"/>
            <a:ext cx="3679475" cy="39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>
                <a:solidFill>
                  <a:srgbClr val="EF4237"/>
                </a:solidFill>
                <a:latin typeface="Gotham Bold"/>
              </a:rPr>
              <a:t>Performance Zone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32042" y="5052821"/>
            <a:ext cx="3679475" cy="39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 dirty="0">
                <a:solidFill>
                  <a:srgbClr val="EF4237"/>
                </a:solidFill>
                <a:latin typeface="Gotham Bold"/>
              </a:rPr>
              <a:t>Productivity Zone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89264" y="5052821"/>
            <a:ext cx="3679475" cy="39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 dirty="0">
                <a:solidFill>
                  <a:srgbClr val="2AACE3"/>
                </a:solidFill>
                <a:latin typeface="Gotham Bold"/>
              </a:rPr>
              <a:t>Incubation Zone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5436" y="3021984"/>
            <a:ext cx="5822720" cy="144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47"/>
              </a:lnSpc>
            </a:pPr>
            <a:r>
              <a:rPr lang="en-US" sz="4000" dirty="0">
                <a:solidFill>
                  <a:srgbClr val="090F10"/>
                </a:solidFill>
                <a:latin typeface="Gotham Bold"/>
              </a:rPr>
              <a:t>NFL Goals &amp;</a:t>
            </a:r>
          </a:p>
          <a:p>
            <a:pPr>
              <a:lnSpc>
                <a:spcPts val="5947"/>
              </a:lnSpc>
            </a:pPr>
            <a:r>
              <a:rPr lang="en-US" sz="4000" dirty="0">
                <a:solidFill>
                  <a:srgbClr val="090F10"/>
                </a:solidFill>
                <a:latin typeface="Gotham Bold"/>
              </a:rPr>
              <a:t>Focus Area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5010675"/>
            <a:ext cx="5822720" cy="1447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947"/>
              </a:lnSpc>
            </a:pPr>
            <a:r>
              <a:rPr lang="en-US" sz="4000" dirty="0">
                <a:solidFill>
                  <a:srgbClr val="090F10"/>
                </a:solidFill>
                <a:latin typeface="Gotham Bold"/>
              </a:rPr>
              <a:t>Enabling</a:t>
            </a:r>
          </a:p>
          <a:p>
            <a:pPr>
              <a:lnSpc>
                <a:spcPts val="5947"/>
              </a:lnSpc>
            </a:pPr>
            <a:r>
              <a:rPr lang="en-US" sz="4000" dirty="0">
                <a:solidFill>
                  <a:srgbClr val="090F10"/>
                </a:solidFill>
                <a:latin typeface="Gotham Bold"/>
              </a:rPr>
              <a:t>Investments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945382" y="7966446"/>
            <a:ext cx="10980407" cy="1215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60"/>
              </a:lnSpc>
              <a:spcBef>
                <a:spcPct val="0"/>
              </a:spcBef>
            </a:pPr>
            <a:r>
              <a:rPr lang="en-US" sz="2633" dirty="0">
                <a:solidFill>
                  <a:srgbClr val="000000"/>
                </a:solidFill>
                <a:latin typeface="Open Sans Condensed Condensed"/>
              </a:rPr>
              <a:t>focuses on extension and improvements to already existing innovations inside the organizations</a:t>
            </a:r>
          </a:p>
          <a:p>
            <a:pPr>
              <a:lnSpc>
                <a:spcPts val="3160"/>
              </a:lnSpc>
              <a:spcBef>
                <a:spcPct val="0"/>
              </a:spcBef>
            </a:pPr>
            <a:endParaRPr lang="en-US" sz="2633" dirty="0">
              <a:solidFill>
                <a:srgbClr val="000000"/>
              </a:solidFill>
              <a:latin typeface="Open Sans Condensed Condensed"/>
            </a:endParaRPr>
          </a:p>
          <a:p>
            <a:pPr>
              <a:lnSpc>
                <a:spcPts val="3160"/>
              </a:lnSpc>
              <a:spcBef>
                <a:spcPct val="0"/>
              </a:spcBef>
            </a:pPr>
            <a:r>
              <a:rPr lang="en-US" sz="2633" dirty="0">
                <a:solidFill>
                  <a:srgbClr val="000000"/>
                </a:solidFill>
                <a:latin typeface="Open Sans Condensed Condensed"/>
              </a:rPr>
              <a:t>new business models and operating models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55436" y="7972538"/>
            <a:ext cx="3889948" cy="12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60"/>
              </a:lnSpc>
            </a:pPr>
            <a:r>
              <a:rPr lang="en-US" sz="2633" dirty="0">
                <a:solidFill>
                  <a:srgbClr val="EF4237"/>
                </a:solidFill>
                <a:latin typeface="Gotham Bold"/>
              </a:rPr>
              <a:t>Sustaining innovation: </a:t>
            </a:r>
          </a:p>
          <a:p>
            <a:pPr>
              <a:lnSpc>
                <a:spcPts val="3160"/>
              </a:lnSpc>
              <a:spcBef>
                <a:spcPct val="0"/>
              </a:spcBef>
            </a:pPr>
            <a:endParaRPr lang="en-US" sz="2633" dirty="0">
              <a:solidFill>
                <a:srgbClr val="EF4237"/>
              </a:solidFill>
              <a:latin typeface="Gotham Bold"/>
            </a:endParaRPr>
          </a:p>
          <a:p>
            <a:pPr>
              <a:lnSpc>
                <a:spcPts val="3160"/>
              </a:lnSpc>
              <a:spcBef>
                <a:spcPct val="0"/>
              </a:spcBef>
            </a:pPr>
            <a:r>
              <a:rPr lang="en-US" sz="2633" dirty="0">
                <a:solidFill>
                  <a:srgbClr val="2AACE3"/>
                </a:solidFill>
                <a:latin typeface="Gotham Bold"/>
              </a:rPr>
              <a:t>Disruptive innovation: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F2861BB3-086D-D019-7670-CC2DC1E07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8785" y="3238500"/>
            <a:ext cx="4325418" cy="120032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Scale material net new lines of business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Utilize digital technologies to enter adjacent markets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BAE0F997-6B3F-49EA-C146-E3F1A802E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2743" y="3198271"/>
            <a:ext cx="5688061" cy="230832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 &amp; deploy systems of engagement to increase customer experience value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Utilize systems of intelligence to better understand and deliver new customer value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 Box 11">
            <a:extLst>
              <a:ext uri="{FF2B5EF4-FFF2-40B4-BE49-F238E27FC236}">
                <a16:creationId xmlns:a16="http://schemas.microsoft.com/office/drawing/2014/main" id="{4F81EE94-3E66-3623-A2E4-96B066CC8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925" y="5550575"/>
            <a:ext cx="4233475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Utilize Agile, Lean &amp; DevOps to increase time to value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Identify, test &amp; validate next generation products, services and new business ideas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0" name="Text Box 14">
            <a:extLst>
              <a:ext uri="{FF2B5EF4-FFF2-40B4-BE49-F238E27FC236}">
                <a16:creationId xmlns:a16="http://schemas.microsoft.com/office/drawing/2014/main" id="{A8589292-8887-7B08-3516-53E9A2A88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6923" y="5573539"/>
            <a:ext cx="5787416" cy="17543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Recover trapped value by consolidating, replacing or eliminating systems of record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1" u="none" strike="noStrike" kern="1200" cap="none" spc="0" normalizeH="0" baseline="0" noProof="0" dirty="0">
                <a:ln>
                  <a:noFill/>
                </a:ln>
                <a:solidFill>
                  <a:srgbClr val="4F4F51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Optimize SOR maintenance costs and reduce technical debt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1" u="none" strike="noStrike" kern="1200" cap="none" spc="0" normalizeH="0" baseline="0" noProof="0" dirty="0">
              <a:ln>
                <a:noFill/>
              </a:ln>
              <a:solidFill>
                <a:srgbClr val="4F4F51"/>
              </a:solidFill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28700" y="342900"/>
            <a:ext cx="12973623" cy="2744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728"/>
              </a:lnSpc>
            </a:pPr>
            <a:r>
              <a:rPr lang="en-US" sz="8940" dirty="0">
                <a:solidFill>
                  <a:srgbClr val="090F10"/>
                </a:solidFill>
                <a:latin typeface="Gotham Bold"/>
              </a:rPr>
              <a:t>The Zone Management Dialogue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8C53C32-651A-3D78-C2AD-19E1BEEAAA4B}"/>
              </a:ext>
            </a:extLst>
          </p:cNvPr>
          <p:cNvSpPr txBox="1">
            <a:spLocks/>
          </p:cNvSpPr>
          <p:nvPr/>
        </p:nvSpPr>
        <p:spPr>
          <a:xfrm>
            <a:off x="1828800" y="3361447"/>
            <a:ext cx="12877800" cy="50292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3E544D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long can our current business model deliver our desired growth goals and financial results?</a:t>
            </a:r>
          </a:p>
          <a:p>
            <a:pPr lvl="1"/>
            <a:r>
              <a:rPr lang="en-US" dirty="0">
                <a:solidFill>
                  <a:srgbClr val="F04236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sustainable is our current growth model?</a:t>
            </a:r>
          </a:p>
          <a:p>
            <a:pPr marL="400050" lvl="1" indent="0">
              <a:buFont typeface="Arial" pitchFamily="34" charset="0"/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r>
              <a:rPr lang="en-US" sz="2800" dirty="0">
                <a:solidFill>
                  <a:srgbClr val="3E544D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vulnerable is our business model to being digitally disrupted?</a:t>
            </a:r>
          </a:p>
          <a:p>
            <a:pPr lvl="1"/>
            <a:r>
              <a:rPr lang="en-US" dirty="0">
                <a:solidFill>
                  <a:srgbClr val="F04236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quickly could we respond to this disruption?</a:t>
            </a:r>
          </a:p>
          <a:p>
            <a:pPr marL="457200" lvl="1" indent="0">
              <a:buNone/>
            </a:pPr>
            <a:endParaRPr lang="en-US" dirty="0">
              <a:solidFill>
                <a:schemeClr val="accent6">
                  <a:lumMod val="50000"/>
                </a:schemeClr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r>
              <a:rPr lang="en-US" sz="2800" dirty="0">
                <a:solidFill>
                  <a:srgbClr val="3E544D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well can we leverage digital technology for increased competitive advantage?</a:t>
            </a:r>
          </a:p>
          <a:p>
            <a:pPr lvl="1"/>
            <a:r>
              <a:rPr lang="en-US" dirty="0">
                <a:solidFill>
                  <a:srgbClr val="F04236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robust is our digital technology pipeline? </a:t>
            </a:r>
          </a:p>
          <a:p>
            <a:pPr marL="0" indent="0">
              <a:buFont typeface="Arial" pitchFamily="34" charset="0"/>
              <a:buNone/>
            </a:pPr>
            <a:endParaRPr lang="en-US" sz="2800" dirty="0">
              <a:solidFill>
                <a:schemeClr val="accent6">
                  <a:lumMod val="50000"/>
                </a:schemeClr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r>
              <a:rPr lang="en-US" sz="2800" dirty="0">
                <a:solidFill>
                  <a:srgbClr val="3E544D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open is our culture to changing the way we do business?</a:t>
            </a:r>
          </a:p>
          <a:p>
            <a:pPr lvl="1"/>
            <a:r>
              <a:rPr lang="en-US" dirty="0">
                <a:solidFill>
                  <a:srgbClr val="F04236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How capable are we at competing as a digital enterprise?</a:t>
            </a:r>
          </a:p>
        </p:txBody>
      </p:sp>
    </p:spTree>
    <p:extLst>
      <p:ext uri="{BB962C8B-B14F-4D97-AF65-F5344CB8AC3E}">
        <p14:creationId xmlns:p14="http://schemas.microsoft.com/office/powerpoint/2010/main" val="320335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93268" y="3979229"/>
            <a:ext cx="0" cy="384190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550456" y="3695700"/>
            <a:ext cx="11137342" cy="2211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spc="-29" dirty="0">
                <a:solidFill>
                  <a:srgbClr val="231F2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Technology that drives the execution of League Strategic Goals</a:t>
            </a:r>
          </a:p>
          <a:p>
            <a:pPr marL="315754" lvl="1">
              <a:lnSpc>
                <a:spcPts val="3510"/>
              </a:lnSpc>
            </a:pPr>
            <a:endParaRPr lang="en-US" sz="2400" spc="-29" dirty="0">
              <a:solidFill>
                <a:srgbClr val="231F20"/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Charged with serving the organization’s customers and creating near-term financial returns. It represents the revenue generation arm of your business today. It provides the operating income to fund both your current and future operations</a:t>
            </a:r>
            <a:endParaRPr lang="en-US" sz="2400" spc="-29" dirty="0">
              <a:solidFill>
                <a:srgbClr val="231F20"/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56605" y="4255400"/>
            <a:ext cx="3679475" cy="39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>
                <a:solidFill>
                  <a:srgbClr val="EF4237"/>
                </a:solidFill>
                <a:latin typeface="Gotham Bold"/>
              </a:rPr>
              <a:t>Performance Zone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6605" y="6484788"/>
            <a:ext cx="3679475" cy="39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>
                <a:solidFill>
                  <a:srgbClr val="EF4237"/>
                </a:solidFill>
                <a:latin typeface="Gotham Bold"/>
              </a:rPr>
              <a:t>Productivity Zone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558477" y="6203308"/>
            <a:ext cx="10976913" cy="4006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spc="-29" dirty="0">
                <a:solidFill>
                  <a:srgbClr val="231F2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Shared service investments and programs that serve to optimize the core business.</a:t>
            </a:r>
          </a:p>
          <a:p>
            <a:pPr marL="315754" lvl="1">
              <a:lnSpc>
                <a:spcPts val="3510"/>
              </a:lnSpc>
            </a:pPr>
            <a:endParaRPr lang="en-US" sz="2400" spc="-29" dirty="0">
              <a:solidFill>
                <a:srgbClr val="231F20"/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spc="-29" dirty="0">
                <a:solidFill>
                  <a:srgbClr val="231F2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Maintains efficiency and compliance and delivers optimization</a:t>
            </a:r>
          </a:p>
          <a:p>
            <a:pPr marL="315754" lvl="1">
              <a:lnSpc>
                <a:spcPts val="3510"/>
              </a:lnSpc>
            </a:pPr>
            <a:endParaRPr lang="en-US" sz="2400" spc="-29" dirty="0">
              <a:solidFill>
                <a:srgbClr val="231F20"/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Charged with making the performance zone more efficient and more effective as well as insuring it complies with all regulations. It consists of all the cost-center functions that provide these services, an expense that is subtracted from your performance zone revenue, along with the latter’s cost of goods, to produce your operating income.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endParaRPr lang="en-US" sz="2400" spc="-29" dirty="0">
              <a:solidFill>
                <a:srgbClr val="231F20"/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28700" y="1028700"/>
            <a:ext cx="10978005" cy="2300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61"/>
              </a:lnSpc>
            </a:pPr>
            <a:r>
              <a:rPr lang="en-US" sz="7551" dirty="0">
                <a:solidFill>
                  <a:srgbClr val="EF4237"/>
                </a:solidFill>
                <a:latin typeface="Gotham Bold"/>
              </a:rPr>
              <a:t>Sustaining Innovation:</a:t>
            </a:r>
          </a:p>
          <a:p>
            <a:pPr>
              <a:lnSpc>
                <a:spcPts val="9061"/>
              </a:lnSpc>
            </a:pPr>
            <a:r>
              <a:rPr lang="en-US" sz="7551" i="1" dirty="0">
                <a:solidFill>
                  <a:srgbClr val="090F10"/>
                </a:solidFill>
                <a:latin typeface="Gotham Bold"/>
              </a:rPr>
              <a:t>Run the Business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28747" y="5923995"/>
            <a:ext cx="12088888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1092653" y="4686300"/>
            <a:ext cx="3807381" cy="86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spc="-27" dirty="0">
                <a:solidFill>
                  <a:srgbClr val="231F20"/>
                </a:solidFill>
                <a:latin typeface="Open Sans Condensed Condensed"/>
              </a:rPr>
              <a:t>Increase Consumption | Fan Growth | Grow Key Demographics</a:t>
            </a:r>
          </a:p>
          <a:p>
            <a:pPr algn="ctr">
              <a:lnSpc>
                <a:spcPts val="270"/>
              </a:lnSpc>
            </a:pPr>
            <a:endParaRPr lang="en-US" sz="2724" spc="-27" dirty="0">
              <a:solidFill>
                <a:srgbClr val="231F20"/>
              </a:solidFill>
              <a:latin typeface="Open Sans Condensed Condense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028700" y="1028700"/>
            <a:ext cx="12088925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061"/>
              </a:lnSpc>
            </a:pPr>
            <a:r>
              <a:rPr lang="en-US" sz="7551" dirty="0">
                <a:solidFill>
                  <a:srgbClr val="2AACE3"/>
                </a:solidFill>
                <a:latin typeface="Gotham Bold"/>
              </a:rPr>
              <a:t>Disruptive Innovation:</a:t>
            </a:r>
          </a:p>
          <a:p>
            <a:pPr>
              <a:lnSpc>
                <a:spcPts val="9061"/>
              </a:lnSpc>
            </a:pPr>
            <a:r>
              <a:rPr lang="en-US" sz="7551" i="1" dirty="0">
                <a:solidFill>
                  <a:srgbClr val="090F10"/>
                </a:solidFill>
                <a:latin typeface="Gotham Bold"/>
              </a:rPr>
              <a:t>Grow the Business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28690" y="6225292"/>
            <a:ext cx="12088888" cy="2381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flipH="1">
            <a:off x="5189079" y="3813424"/>
            <a:ext cx="4189" cy="53086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TextBox 18"/>
          <p:cNvSpPr txBox="1"/>
          <p:nvPr/>
        </p:nvSpPr>
        <p:spPr>
          <a:xfrm>
            <a:off x="5570072" y="4701977"/>
            <a:ext cx="7567169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spc="-29" dirty="0">
                <a:solidFill>
                  <a:srgbClr val="231F20"/>
                </a:solidFill>
                <a:latin typeface="Open Sans Condensed Condensed"/>
              </a:rPr>
              <a:t>The goal is to undertake a transformational initiative to put the NFL on a significantly different trajectory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endParaRPr lang="en-US" sz="2400" spc="-29" dirty="0">
              <a:solidFill>
                <a:srgbClr val="231F20"/>
              </a:solidFill>
              <a:latin typeface="Open Sans Condensed Condense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12180" y="4307009"/>
            <a:ext cx="3807381" cy="39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>
                <a:solidFill>
                  <a:srgbClr val="2AACE3"/>
                </a:solidFill>
                <a:latin typeface="Gotham Bold"/>
              </a:rPr>
              <a:t>Transformation Zone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2417" y="7426169"/>
            <a:ext cx="3679475" cy="394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720">
                <a:solidFill>
                  <a:srgbClr val="2AACE3"/>
                </a:solidFill>
                <a:latin typeface="Gotham Bold"/>
              </a:rPr>
              <a:t>Incubation Zone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50455" y="6625342"/>
            <a:ext cx="10210375" cy="31091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spc="-29" dirty="0">
                <a:solidFill>
                  <a:srgbClr val="231F20"/>
                </a:solidFill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New offers and products in emerging and/or fast-growing markets that could someday be a game changer for the business.</a:t>
            </a:r>
          </a:p>
          <a:p>
            <a:pPr marL="315754" lvl="1">
              <a:lnSpc>
                <a:spcPts val="3510"/>
              </a:lnSpc>
            </a:pPr>
            <a:endParaRPr lang="en-US" sz="2400" spc="-29" dirty="0">
              <a:solidFill>
                <a:srgbClr val="231F20"/>
              </a:solidFill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40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Charged with exploring new products, services and businesses that can leverage new digital technologies and potentially have a significant impact on future business growth opportunities. It also serves as the staging area for all major projects and includes project prioritization, demand management and resource allocation governance processes.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52417" y="4786278"/>
            <a:ext cx="3807381" cy="86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spc="-27">
                <a:solidFill>
                  <a:srgbClr val="231F20"/>
                </a:solidFill>
                <a:latin typeface="Open Sans Condensed Condensed"/>
              </a:rPr>
              <a:t>Increase Consumption | Fan Growth | Grow Key Demographics</a:t>
            </a:r>
          </a:p>
          <a:p>
            <a:pPr algn="ctr">
              <a:lnSpc>
                <a:spcPts val="270"/>
              </a:lnSpc>
            </a:pPr>
            <a:endParaRPr lang="en-US" sz="2724" spc="-27">
              <a:solidFill>
                <a:srgbClr val="231F20"/>
              </a:solidFill>
              <a:latin typeface="Open Sans Condensed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028700" y="1019175"/>
            <a:ext cx="1150588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28"/>
              </a:lnSpc>
            </a:pPr>
            <a:r>
              <a:rPr lang="en-US" sz="8940" dirty="0">
                <a:solidFill>
                  <a:srgbClr val="090F10"/>
                </a:solidFill>
                <a:latin typeface="Gotham Bold"/>
              </a:rPr>
              <a:t>Next Steps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28700" y="3124200"/>
            <a:ext cx="6603353" cy="44884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10"/>
              </a:lnSpc>
            </a:pPr>
            <a:r>
              <a:rPr lang="en-US" sz="2925" spc="-29" dirty="0">
                <a:solidFill>
                  <a:srgbClr val="2AACE3"/>
                </a:solidFill>
                <a:latin typeface="Gotham Bold"/>
              </a:rPr>
              <a:t>Phase 1: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Identify cross-functional working group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Define goals and objectives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Define intake process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Develop evaluation criteria for each category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Develop communication strategy 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Inventory all proof of concepts project currently in scope or planned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Establish metrics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Implement program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A398D9-144F-91D3-F664-7282C58169DC}"/>
              </a:ext>
            </a:extLst>
          </p:cNvPr>
          <p:cNvSpPr txBox="1"/>
          <p:nvPr/>
        </p:nvSpPr>
        <p:spPr>
          <a:xfrm>
            <a:off x="9515826" y="3124818"/>
            <a:ext cx="9360568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510"/>
              </a:lnSpc>
            </a:pPr>
            <a:r>
              <a:rPr lang="en-US" sz="2925" spc="-29" dirty="0">
                <a:solidFill>
                  <a:srgbClr val="EF4237"/>
                </a:solidFill>
                <a:latin typeface="Gotham Bold"/>
              </a:rPr>
              <a:t>Target Teams: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Football operations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Player Health &amp; Safety</a:t>
            </a:r>
          </a:p>
          <a:p>
            <a:pPr marL="631508" lvl="1" indent="-315754">
              <a:lnSpc>
                <a:spcPts val="3510"/>
              </a:lnSpc>
              <a:buFont typeface="Arial"/>
              <a:buChar char="•"/>
            </a:pPr>
            <a:r>
              <a:rPr lang="en-US" sz="2925" spc="-29" dirty="0">
                <a:solidFill>
                  <a:srgbClr val="231F20"/>
                </a:solidFill>
                <a:latin typeface="Open Sans Condensed Condensed"/>
              </a:rPr>
              <a:t>Information technology (IT)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sp>
        <p:nvSpPr>
          <p:cNvPr id="10" name="TextBox 15">
            <a:extLst>
              <a:ext uri="{FF2B5EF4-FFF2-40B4-BE49-F238E27FC236}">
                <a16:creationId xmlns:a16="http://schemas.microsoft.com/office/drawing/2014/main" id="{49333E6C-4167-A0F0-B79D-E7C30136D298}"/>
              </a:ext>
            </a:extLst>
          </p:cNvPr>
          <p:cNvSpPr txBox="1"/>
          <p:nvPr/>
        </p:nvSpPr>
        <p:spPr>
          <a:xfrm>
            <a:off x="1028700" y="800100"/>
            <a:ext cx="12986892" cy="798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47"/>
              </a:lnSpc>
            </a:pPr>
            <a:r>
              <a:rPr lang="en-US" sz="7500" dirty="0">
                <a:solidFill>
                  <a:srgbClr val="090F10"/>
                </a:solidFill>
                <a:latin typeface="Gotham Bold"/>
              </a:rPr>
              <a:t>Desired Outcomes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B2CEA2C-2748-41CA-76B8-C08FBFFFBCCE}"/>
              </a:ext>
            </a:extLst>
          </p:cNvPr>
          <p:cNvSpPr txBox="1">
            <a:spLocks/>
          </p:cNvSpPr>
          <p:nvPr/>
        </p:nvSpPr>
        <p:spPr>
          <a:xfrm>
            <a:off x="708298" y="2264104"/>
            <a:ext cx="16154400" cy="6858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Arial" pitchFamily="34" charset="0"/>
              <a:buAutoNum type="arabicPeriod"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Higher percentage of the organization’s resources &amp; budget allocated to grow-the business activities</a:t>
            </a:r>
          </a:p>
          <a:p>
            <a:pPr marL="0" indent="0">
              <a:buNone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2.   Strong alignment between future investment priorities and critical business outcomes</a:t>
            </a:r>
          </a:p>
          <a:p>
            <a:pPr marL="0" indent="0">
              <a:buFont typeface="Arial" pitchFamily="34" charset="0"/>
              <a:buNone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3.   Significant increase in time-to-value and throughput for all new product &amp; service development projects</a:t>
            </a:r>
          </a:p>
          <a:p>
            <a:pPr marL="0" indent="0">
              <a:buFont typeface="Arial" pitchFamily="34" charset="0"/>
              <a:buNone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514350" indent="-514350">
              <a:buFont typeface="Arial" pitchFamily="34" charset="0"/>
              <a:buAutoNum type="arabicPeriod" startAt="4"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A culture that prioritizes progress over perfection</a:t>
            </a:r>
          </a:p>
          <a:p>
            <a:pPr marL="514350" indent="-514350">
              <a:buFont typeface="Arial" pitchFamily="34" charset="0"/>
              <a:buAutoNum type="arabicPeriod" startAt="4"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514350" indent="-514350">
              <a:buFont typeface="Arial" pitchFamily="34" charset="0"/>
              <a:buAutoNum type="arabicPeriod" startAt="4"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Identify, test and validate next generation product, service and business ideas and leverage digital technology enabled innovation to deploy them</a:t>
            </a:r>
          </a:p>
          <a:p>
            <a:pPr marL="514350" indent="-514350">
              <a:buFont typeface="Arial" pitchFamily="34" charset="0"/>
              <a:buAutoNum type="arabicPeriod" startAt="4"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514350" indent="-514350">
              <a:buFont typeface="Arial" pitchFamily="34" charset="0"/>
              <a:buAutoNum type="arabicPeriod" startAt="4"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Recover trapped value by modernizing consolidating, or retiring legacy systems</a:t>
            </a:r>
          </a:p>
          <a:p>
            <a:pPr marL="514350" indent="-514350">
              <a:buFont typeface="Arial" pitchFamily="34" charset="0"/>
              <a:buAutoNum type="arabicPeriod" startAt="4"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514350" indent="-514350">
              <a:buFont typeface="Arial" pitchFamily="34" charset="0"/>
              <a:buAutoNum type="arabicPeriod" startAt="4"/>
            </a:pPr>
            <a:r>
              <a:rPr lang="en-US" sz="2950" dirty="0">
                <a:latin typeface="Open Sans Condensed Condensed" pitchFamily="2" charset="0"/>
                <a:ea typeface="Open Sans Condensed Condensed" pitchFamily="2" charset="0"/>
                <a:cs typeface="Open Sans Condensed Condensed" pitchFamily="2" charset="0"/>
              </a:rPr>
              <a:t>Reduce technical debt</a:t>
            </a:r>
          </a:p>
          <a:p>
            <a:pPr marL="514350" indent="-514350">
              <a:buFont typeface="Arial" pitchFamily="34" charset="0"/>
              <a:buAutoNum type="arabicPeriod" startAt="4"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514350" indent="-514350">
              <a:buFont typeface="Arial" pitchFamily="34" charset="0"/>
              <a:buAutoNum type="arabicPeriod" startAt="4"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  <a:p>
            <a:pPr marL="514350" indent="-514350">
              <a:buFont typeface="Arial" pitchFamily="34" charset="0"/>
              <a:buAutoNum type="arabicPeriod" startAt="4"/>
            </a:pPr>
            <a:endParaRPr lang="en-US" sz="2950" dirty="0">
              <a:latin typeface="Open Sans Condensed Condensed" pitchFamily="2" charset="0"/>
              <a:ea typeface="Open Sans Condensed Condensed" pitchFamily="2" charset="0"/>
              <a:cs typeface="Open Sans Condensed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786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42802" y="-190009"/>
            <a:ext cx="4226895" cy="4258674"/>
            <a:chOff x="0" y="0"/>
            <a:chExt cx="5635860" cy="5678232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2810527" y="2852899"/>
              <a:ext cx="2673861" cy="2976807"/>
              <a:chOff x="0" y="0"/>
              <a:chExt cx="397153" cy="4421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397153" cy="442150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2150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2150"/>
                    </a:lnTo>
                    <a:lnTo>
                      <a:pt x="0" y="442150"/>
                    </a:lnTo>
                    <a:close/>
                  </a:path>
                </a:pathLst>
              </a:custGeom>
              <a:solidFill>
                <a:srgbClr val="EF4237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 rot="-10800000">
              <a:off x="0" y="3004372"/>
              <a:ext cx="2673861" cy="2673861"/>
            </a:xfrm>
            <a:prstGeom prst="rect">
              <a:avLst/>
            </a:prstGeom>
          </p:spPr>
        </p:pic>
        <p:grpSp>
          <p:nvGrpSpPr>
            <p:cNvPr id="7" name="Group 7"/>
            <p:cNvGrpSpPr/>
            <p:nvPr/>
          </p:nvGrpSpPr>
          <p:grpSpPr>
            <a:xfrm rot="-10800000">
              <a:off x="0" y="0"/>
              <a:ext cx="2673861" cy="3004372"/>
              <a:chOff x="0" y="0"/>
              <a:chExt cx="397153" cy="44624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397153" cy="446245"/>
              </a:xfrm>
              <a:custGeom>
                <a:avLst/>
                <a:gdLst/>
                <a:ahLst/>
                <a:cxnLst/>
                <a:rect l="l" t="t" r="r" b="b"/>
                <a:pathLst>
                  <a:path w="397153" h="446245">
                    <a:moveTo>
                      <a:pt x="0" y="0"/>
                    </a:moveTo>
                    <a:lnTo>
                      <a:pt x="397153" y="0"/>
                    </a:lnTo>
                    <a:lnTo>
                      <a:pt x="397153" y="446245"/>
                    </a:lnTo>
                    <a:lnTo>
                      <a:pt x="0" y="446245"/>
                    </a:lnTo>
                    <a:close/>
                  </a:path>
                </a:pathLst>
              </a:custGeom>
              <a:solidFill>
                <a:srgbClr val="2AACE3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00"/>
                  </a:lnSpc>
                </a:pPr>
                <a:endParaRPr/>
              </a:p>
            </p:txBody>
          </p:sp>
        </p:grp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993886" y="8733665"/>
            <a:ext cx="2655302" cy="776879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6830614" y="533834"/>
            <a:ext cx="857372" cy="1180666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8302" y="4068665"/>
            <a:ext cx="1256773" cy="1256773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392882" y="4124189"/>
            <a:ext cx="1747831" cy="1222753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3506122" y="5883537"/>
            <a:ext cx="1521351" cy="100409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6237320" y="5762815"/>
            <a:ext cx="1224842" cy="1124814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11118871" y="7488254"/>
            <a:ext cx="2120473" cy="28915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5838623" y="7495029"/>
            <a:ext cx="2069733" cy="449108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960304" y="8816885"/>
            <a:ext cx="2258806" cy="451761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56205" y="8749592"/>
            <a:ext cx="2258806" cy="586348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8892180" y="8749592"/>
            <a:ext cx="1105767" cy="59342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6276879" y="4124189"/>
            <a:ext cx="1145725" cy="1145725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6"/>
          <a:srcRect/>
          <a:stretch>
            <a:fillRect/>
          </a:stretch>
        </p:blipFill>
        <p:spPr>
          <a:xfrm>
            <a:off x="8516321" y="6126486"/>
            <a:ext cx="1749631" cy="259097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8560410" y="4177147"/>
            <a:ext cx="1719579" cy="1039808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556205" y="7449100"/>
            <a:ext cx="2140968" cy="656619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8735551" y="7174716"/>
            <a:ext cx="1369298" cy="1089733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3404225" y="8613347"/>
            <a:ext cx="1736488" cy="85883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>
          <a:xfrm>
            <a:off x="11118871" y="4470229"/>
            <a:ext cx="2258806" cy="453644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>
          <a:xfrm>
            <a:off x="3191158" y="6701770"/>
            <a:ext cx="2151278" cy="215127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23"/>
          <a:srcRect t="20888" b="17887"/>
          <a:stretch>
            <a:fillRect/>
          </a:stretch>
        </p:blipFill>
        <p:spPr>
          <a:xfrm>
            <a:off x="11049705" y="8653818"/>
            <a:ext cx="2258806" cy="777897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24"/>
          <a:srcRect/>
          <a:stretch>
            <a:fillRect/>
          </a:stretch>
        </p:blipFill>
        <p:spPr>
          <a:xfrm>
            <a:off x="11257205" y="5730579"/>
            <a:ext cx="1982140" cy="1189284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25"/>
          <a:srcRect/>
          <a:stretch>
            <a:fillRect/>
          </a:stretch>
        </p:blipFill>
        <p:spPr>
          <a:xfrm>
            <a:off x="497286" y="5989350"/>
            <a:ext cx="2258806" cy="792465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028700" y="1019175"/>
            <a:ext cx="12660560" cy="262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728"/>
              </a:lnSpc>
            </a:pPr>
            <a:r>
              <a:rPr lang="en-US" sz="7200" dirty="0">
                <a:solidFill>
                  <a:srgbClr val="090F10"/>
                </a:solidFill>
                <a:latin typeface="Gotham Bold"/>
              </a:rPr>
              <a:t>Brands that have leveraged this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53" t="723" b="1494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134873" y="4427192"/>
            <a:ext cx="11859013" cy="1823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407"/>
              </a:lnSpc>
            </a:pPr>
            <a:r>
              <a:rPr lang="en-US" sz="14573" spc="145">
                <a:solidFill>
                  <a:srgbClr val="FFFFFF"/>
                </a:solidFill>
                <a:latin typeface="DM Sans Bold"/>
              </a:rPr>
              <a:t>THANK YOU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397950" y="1028700"/>
            <a:ext cx="1332858" cy="18354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773</Words>
  <Application>Microsoft Macintosh PowerPoint</Application>
  <PresentationFormat>Custom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Gotham Bold</vt:lpstr>
      <vt:lpstr>Open Sans</vt:lpstr>
      <vt:lpstr>Arial</vt:lpstr>
      <vt:lpstr>Open Sans Condensed</vt:lpstr>
      <vt:lpstr>DM Sans Bold</vt:lpstr>
      <vt:lpstr>Calibri</vt:lpstr>
      <vt:lpstr>Open Sans Condensed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NFL Innovation Framework Final V3</dc:title>
  <cp:lastModifiedBy>tyehayes</cp:lastModifiedBy>
  <cp:revision>6</cp:revision>
  <dcterms:created xsi:type="dcterms:W3CDTF">2006-08-16T00:00:00Z</dcterms:created>
  <dcterms:modified xsi:type="dcterms:W3CDTF">2023-05-02T00:47:41Z</dcterms:modified>
  <dc:identifier>DAFgm8B0n6E</dc:identifier>
</cp:coreProperties>
</file>