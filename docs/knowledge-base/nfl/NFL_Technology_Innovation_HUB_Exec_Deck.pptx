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Lst>
  <p:sldSz cx="18288000" cy="10287000"/>
  <p:notesSz cx="6858000" cy="9144000"/>
  <p:embeddedFontLst>
    <p:embeddedFont>
      <p:font typeface="Arial" panose="020B0604020202020204" pitchFamily="34" charset="0"/>
      <p:regular r:id="rId22"/>
    </p:embeddedFont>
    <p:embeddedFont>
      <p:font typeface="Arial Bold" panose="020B0802020202020204" pitchFamily="34" charset="77"/>
      <p:regular r:id="rId23"/>
      <p:bold r:id="rId24"/>
    </p:embeddedFont>
    <p:embeddedFont>
      <p:font typeface="Arimo Bold" panose="020B0704020202020204" pitchFamily="34" charset="0"/>
      <p:regular r:id="rId25"/>
      <p:bold r:id="rId26"/>
    </p:embeddedFont>
    <p:embeddedFont>
      <p:font typeface="DM Sans Bold" pitchFamily="2" charset="77"/>
      <p:regular r:id="rId27"/>
      <p:bold r:id="rId28"/>
    </p:embeddedFont>
    <p:embeddedFont>
      <p:font typeface="Montserrat" pitchFamily="2" charset="77"/>
      <p:regular r:id="rId29"/>
      <p:bold r:id="rId30"/>
      <p:italic r:id="rId31"/>
      <p:boldItalic r:id="rId32"/>
    </p:embeddedFont>
    <p:embeddedFont>
      <p:font typeface="Montserrat Bold" pitchFamily="2" charset="77"/>
      <p:regular r:id="rId33"/>
      <p:bold r:id="rId34"/>
    </p:embeddedFont>
    <p:embeddedFont>
      <p:font typeface="Montserrat Bold Italics" pitchFamily="2" charset="77"/>
      <p:regular r:id="rId35"/>
      <p:bold r:id="rId36"/>
      <p:italic r:id="rId37"/>
      <p:boldItalic r:id="rId38"/>
    </p:embeddedFont>
    <p:embeddedFont>
      <p:font typeface="Open Sans 1" pitchFamily="2" charset="0"/>
      <p:regular r:id="rId39"/>
      <p:bold r:id="rId40"/>
      <p:italic r:id="rId41"/>
      <p:boldItalic r:id="rId42"/>
    </p:embeddedFont>
    <p:embeddedFont>
      <p:font typeface="Open Sans 1 Bold" pitchFamily="2" charset="0"/>
      <p:regular r:id="rId43"/>
      <p:bold r:id="rId44"/>
      <p:italic r:id="rId45"/>
      <p:boldItalic r:id="rId46"/>
    </p:embeddedFont>
    <p:embeddedFont>
      <p:font typeface="Open Sans 1 Bold Italics" pitchFamily="2" charset="0"/>
      <p:regular r:id="rId47"/>
      <p:bold r:id="rId48"/>
      <p:italic r:id="rId49"/>
      <p:boldItalic r:id="rId50"/>
    </p:embeddedFont>
    <p:embeddedFont>
      <p:font typeface="Open Sans 1 Italics" pitchFamily="2" charset="0"/>
      <p:regular r:id="rId51"/>
      <p:bold r:id="rId52"/>
      <p:italic r:id="rId53"/>
      <p:boldItalic r:id="rId54"/>
    </p:embeddedFont>
    <p:embeddedFont>
      <p:font typeface="Open Sans 2" pitchFamily="2" charset="0"/>
      <p:regular r:id="rId55"/>
      <p:bold r:id="rId56"/>
      <p:italic r:id="rId57"/>
      <p:boldItalic r:id="rId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94" autoAdjust="0"/>
  </p:normalViewPr>
  <p:slideViewPr>
    <p:cSldViewPr>
      <p:cViewPr varScale="1">
        <p:scale>
          <a:sx n="80" d="100"/>
          <a:sy n="80" d="100"/>
        </p:scale>
        <p:origin x="824"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50" Type="http://schemas.openxmlformats.org/officeDocument/2006/relationships/font" Target="fonts/font29.fntdata"/><Relationship Id="rId55" Type="http://schemas.openxmlformats.org/officeDocument/2006/relationships/font" Target="fonts/font3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3" Type="http://schemas.openxmlformats.org/officeDocument/2006/relationships/font" Target="fonts/font32.fntdata"/><Relationship Id="rId58" Type="http://schemas.openxmlformats.org/officeDocument/2006/relationships/font" Target="fonts/font37.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font" Target="fonts/font27.fntdata"/><Relationship Id="rId56" Type="http://schemas.openxmlformats.org/officeDocument/2006/relationships/font" Target="fonts/font35.fntdata"/><Relationship Id="rId8" Type="http://schemas.openxmlformats.org/officeDocument/2006/relationships/slide" Target="slides/slide7.xml"/><Relationship Id="rId51" Type="http://schemas.openxmlformats.org/officeDocument/2006/relationships/font" Target="fonts/font3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font" Target="fonts/font3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font" Target="fonts/font28.fntdata"/><Relationship Id="rId57" Type="http://schemas.openxmlformats.org/officeDocument/2006/relationships/font" Target="fonts/font36.fntdata"/><Relationship Id="rId10" Type="http://schemas.openxmlformats.org/officeDocument/2006/relationships/slide" Target="slides/slide9.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font" Target="fonts/font31.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19.12.2023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12/19/23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12/19/23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12/19/23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12/19/23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12/19/23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12/19/23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12/19/23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6.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notesSlide" Target="../notesSlides/notesSlide9.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7.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17796" y="0"/>
            <a:ext cx="12869601" cy="6638759"/>
          </a:xfrm>
          <a:custGeom>
            <a:avLst/>
            <a:gdLst/>
            <a:ahLst/>
            <a:cxnLst/>
            <a:rect l="l" t="t" r="r" b="b"/>
            <a:pathLst>
              <a:path w="12869601" h="6638759">
                <a:moveTo>
                  <a:pt x="0" y="0"/>
                </a:moveTo>
                <a:lnTo>
                  <a:pt x="12869601" y="0"/>
                </a:lnTo>
                <a:lnTo>
                  <a:pt x="12869601" y="6638759"/>
                </a:lnTo>
                <a:lnTo>
                  <a:pt x="0" y="6638759"/>
                </a:lnTo>
                <a:lnTo>
                  <a:pt x="0" y="0"/>
                </a:lnTo>
                <a:close/>
              </a:path>
            </a:pathLst>
          </a:custGeom>
          <a:blipFill>
            <a:blip r:embed="rId3"/>
            <a:stretch>
              <a:fillRect t="-4521" b="-4521"/>
            </a:stretch>
          </a:blipFill>
        </p:spPr>
      </p:sp>
      <p:sp>
        <p:nvSpPr>
          <p:cNvPr id="3" name="TextBox 3"/>
          <p:cNvSpPr txBox="1"/>
          <p:nvPr/>
        </p:nvSpPr>
        <p:spPr>
          <a:xfrm>
            <a:off x="9084231" y="7539825"/>
            <a:ext cx="8438391" cy="985778"/>
          </a:xfrm>
          <a:prstGeom prst="rect">
            <a:avLst/>
          </a:prstGeom>
        </p:spPr>
        <p:txBody>
          <a:bodyPr lIns="0" tIns="0" rIns="0" bIns="0" rtlCol="0" anchor="t">
            <a:spAutoFit/>
          </a:bodyPr>
          <a:lstStyle/>
          <a:p>
            <a:pPr algn="l">
              <a:lnSpc>
                <a:spcPts val="3840"/>
              </a:lnSpc>
            </a:pPr>
            <a:r>
              <a:rPr lang="en-US" sz="3200">
                <a:solidFill>
                  <a:srgbClr val="000000"/>
                </a:solidFill>
                <a:latin typeface="Open Sans 1"/>
              </a:rPr>
              <a:t>Gary Brantley | SVP Information Technology</a:t>
            </a:r>
          </a:p>
          <a:p>
            <a:pPr algn="l">
              <a:lnSpc>
                <a:spcPts val="3840"/>
              </a:lnSpc>
            </a:pPr>
            <a:r>
              <a:rPr lang="en-US" sz="3200">
                <a:solidFill>
                  <a:srgbClr val="000000"/>
                </a:solidFill>
                <a:latin typeface="Open Sans 1"/>
              </a:rPr>
              <a:t>July 24, 2023</a:t>
            </a:r>
          </a:p>
        </p:txBody>
      </p:sp>
      <p:sp>
        <p:nvSpPr>
          <p:cNvPr id="4" name="AutoShape 4"/>
          <p:cNvSpPr/>
          <p:nvPr/>
        </p:nvSpPr>
        <p:spPr>
          <a:xfrm rot="10770351">
            <a:off x="-27329" y="6970571"/>
            <a:ext cx="18342657" cy="0"/>
          </a:xfrm>
          <a:prstGeom prst="line">
            <a:avLst/>
          </a:prstGeom>
          <a:ln w="38100" cap="rnd">
            <a:solidFill>
              <a:srgbClr val="003A74"/>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698" y="3718759"/>
            <a:ext cx="15382376" cy="3348490"/>
          </a:xfrm>
          <a:prstGeom prst="rect">
            <a:avLst/>
          </a:prstGeom>
        </p:spPr>
        <p:txBody>
          <a:bodyPr lIns="0" tIns="0" rIns="0" bIns="0" rtlCol="0" anchor="t">
            <a:spAutoFit/>
          </a:bodyPr>
          <a:lstStyle/>
          <a:p>
            <a:pPr algn="ctr">
              <a:lnSpc>
                <a:spcPts val="7777"/>
              </a:lnSpc>
            </a:pPr>
            <a:r>
              <a:rPr lang="en-US" sz="5400">
                <a:solidFill>
                  <a:srgbClr val="003A74"/>
                </a:solidFill>
                <a:latin typeface="Montserrat Bold"/>
              </a:rPr>
              <a:t>NFL Strategic Business Outcomes </a:t>
            </a:r>
          </a:p>
          <a:p>
            <a:pPr algn="ctr">
              <a:lnSpc>
                <a:spcPts val="9595"/>
              </a:lnSpc>
            </a:pPr>
            <a:r>
              <a:rPr lang="en-US" sz="6662">
                <a:solidFill>
                  <a:srgbClr val="003A74"/>
                </a:solidFill>
                <a:latin typeface="Montserrat Bold"/>
              </a:rPr>
              <a:t>+</a:t>
            </a:r>
          </a:p>
          <a:p>
            <a:pPr algn="ctr">
              <a:lnSpc>
                <a:spcPts val="7777"/>
              </a:lnSpc>
            </a:pPr>
            <a:r>
              <a:rPr lang="en-US" sz="5400">
                <a:solidFill>
                  <a:srgbClr val="003A74"/>
                </a:solidFill>
                <a:latin typeface="Montserrat Bold"/>
              </a:rPr>
              <a:t>NFL Tech Innovation Framework</a:t>
            </a:r>
          </a:p>
        </p:txBody>
      </p:sp>
      <p:sp>
        <p:nvSpPr>
          <p:cNvPr id="3" name="TextBox 3"/>
          <p:cNvSpPr txBox="1"/>
          <p:nvPr/>
        </p:nvSpPr>
        <p:spPr>
          <a:xfrm>
            <a:off x="1028700" y="440158"/>
            <a:ext cx="11505887" cy="1380720"/>
          </a:xfrm>
          <a:prstGeom prst="rect">
            <a:avLst/>
          </a:prstGeom>
        </p:spPr>
        <p:txBody>
          <a:bodyPr lIns="0" tIns="0" rIns="0" bIns="0" rtlCol="0" anchor="t">
            <a:spAutoFit/>
          </a:bodyPr>
          <a:lstStyle/>
          <a:p>
            <a:pPr algn="l">
              <a:lnSpc>
                <a:spcPts val="9504"/>
              </a:lnSpc>
            </a:pPr>
            <a:r>
              <a:rPr lang="en-US" sz="6600">
                <a:solidFill>
                  <a:srgbClr val="003A74"/>
                </a:solidFill>
                <a:latin typeface="Montserrat Bold"/>
              </a:rPr>
              <a:t>The</a:t>
            </a:r>
            <a:r>
              <a:rPr lang="en-US" sz="6600">
                <a:solidFill>
                  <a:srgbClr val="C00000"/>
                </a:solidFill>
                <a:latin typeface="Montserrat Bold"/>
              </a:rPr>
              <a:t> Foundation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5704" y="698337"/>
            <a:ext cx="15620367" cy="1540702"/>
          </a:xfrm>
          <a:prstGeom prst="rect">
            <a:avLst/>
          </a:prstGeom>
        </p:spPr>
        <p:txBody>
          <a:bodyPr lIns="0" tIns="0" rIns="0" bIns="0" rtlCol="0" anchor="t">
            <a:spAutoFit/>
          </a:bodyPr>
          <a:lstStyle/>
          <a:p>
            <a:pPr algn="ctr">
              <a:lnSpc>
                <a:spcPts val="7200"/>
              </a:lnSpc>
            </a:pPr>
            <a:r>
              <a:rPr lang="en-US" sz="6000">
                <a:solidFill>
                  <a:srgbClr val="003A74"/>
                </a:solidFill>
                <a:latin typeface="Montserrat Bold"/>
              </a:rPr>
              <a:t>NFL Technology Innovation Hub</a:t>
            </a:r>
          </a:p>
          <a:p>
            <a:pPr algn="ctr">
              <a:lnSpc>
                <a:spcPts val="7200"/>
              </a:lnSpc>
            </a:pPr>
            <a:r>
              <a:rPr lang="en-US" sz="6000">
                <a:solidFill>
                  <a:srgbClr val="C00000"/>
                </a:solidFill>
                <a:latin typeface="Montserrat Bold"/>
              </a:rPr>
              <a:t>Mission &amp; Goals</a:t>
            </a:r>
          </a:p>
        </p:txBody>
      </p:sp>
      <p:sp>
        <p:nvSpPr>
          <p:cNvPr id="3" name="Freeform 3"/>
          <p:cNvSpPr/>
          <p:nvPr/>
        </p:nvSpPr>
        <p:spPr>
          <a:xfrm>
            <a:off x="3189220" y="4002701"/>
            <a:ext cx="681842" cy="681842"/>
          </a:xfrm>
          <a:custGeom>
            <a:avLst/>
            <a:gdLst/>
            <a:ahLst/>
            <a:cxnLst/>
            <a:rect l="l" t="t" r="r" b="b"/>
            <a:pathLst>
              <a:path w="681842" h="681842">
                <a:moveTo>
                  <a:pt x="0" y="0"/>
                </a:moveTo>
                <a:lnTo>
                  <a:pt x="681842" y="0"/>
                </a:lnTo>
                <a:lnTo>
                  <a:pt x="681842" y="681842"/>
                </a:lnTo>
                <a:lnTo>
                  <a:pt x="0" y="681842"/>
                </a:lnTo>
                <a:lnTo>
                  <a:pt x="0" y="0"/>
                </a:lnTo>
                <a:close/>
              </a:path>
            </a:pathLst>
          </a:custGeom>
          <a:blipFill>
            <a:blip r:embed="rId2"/>
            <a:stretch>
              <a:fillRect/>
            </a:stretch>
          </a:blipFill>
        </p:spPr>
      </p:sp>
      <p:sp>
        <p:nvSpPr>
          <p:cNvPr id="4" name="Freeform 4"/>
          <p:cNvSpPr/>
          <p:nvPr/>
        </p:nvSpPr>
        <p:spPr>
          <a:xfrm>
            <a:off x="3051364" y="6143260"/>
            <a:ext cx="964268" cy="964268"/>
          </a:xfrm>
          <a:custGeom>
            <a:avLst/>
            <a:gdLst/>
            <a:ahLst/>
            <a:cxnLst/>
            <a:rect l="l" t="t" r="r" b="b"/>
            <a:pathLst>
              <a:path w="964268" h="964268">
                <a:moveTo>
                  <a:pt x="0" y="0"/>
                </a:moveTo>
                <a:lnTo>
                  <a:pt x="964268" y="0"/>
                </a:lnTo>
                <a:lnTo>
                  <a:pt x="964268" y="964268"/>
                </a:lnTo>
                <a:lnTo>
                  <a:pt x="0" y="964268"/>
                </a:lnTo>
                <a:lnTo>
                  <a:pt x="0" y="0"/>
                </a:lnTo>
                <a:close/>
              </a:path>
            </a:pathLst>
          </a:custGeom>
          <a:blipFill>
            <a:blip r:embed="rId3"/>
            <a:stretch>
              <a:fillRect/>
            </a:stretch>
          </a:blipFill>
        </p:spPr>
      </p:sp>
      <p:sp>
        <p:nvSpPr>
          <p:cNvPr id="5" name="Freeform 5"/>
          <p:cNvSpPr/>
          <p:nvPr/>
        </p:nvSpPr>
        <p:spPr>
          <a:xfrm>
            <a:off x="3125913" y="7348406"/>
            <a:ext cx="852819" cy="852819"/>
          </a:xfrm>
          <a:custGeom>
            <a:avLst/>
            <a:gdLst/>
            <a:ahLst/>
            <a:cxnLst/>
            <a:rect l="l" t="t" r="r" b="b"/>
            <a:pathLst>
              <a:path w="852819" h="852819">
                <a:moveTo>
                  <a:pt x="0" y="0"/>
                </a:moveTo>
                <a:lnTo>
                  <a:pt x="852819" y="0"/>
                </a:lnTo>
                <a:lnTo>
                  <a:pt x="852819" y="852819"/>
                </a:lnTo>
                <a:lnTo>
                  <a:pt x="0" y="852819"/>
                </a:lnTo>
                <a:lnTo>
                  <a:pt x="0" y="0"/>
                </a:lnTo>
                <a:close/>
              </a:path>
            </a:pathLst>
          </a:custGeom>
          <a:blipFill>
            <a:blip r:embed="rId4"/>
            <a:stretch>
              <a:fillRect/>
            </a:stretch>
          </a:blipFill>
        </p:spPr>
      </p:sp>
      <p:sp>
        <p:nvSpPr>
          <p:cNvPr id="6" name="Freeform 6"/>
          <p:cNvSpPr/>
          <p:nvPr/>
        </p:nvSpPr>
        <p:spPr>
          <a:xfrm>
            <a:off x="3048005" y="5058553"/>
            <a:ext cx="964268" cy="964268"/>
          </a:xfrm>
          <a:custGeom>
            <a:avLst/>
            <a:gdLst/>
            <a:ahLst/>
            <a:cxnLst/>
            <a:rect l="l" t="t" r="r" b="b"/>
            <a:pathLst>
              <a:path w="964268" h="964268">
                <a:moveTo>
                  <a:pt x="0" y="0"/>
                </a:moveTo>
                <a:lnTo>
                  <a:pt x="964268" y="0"/>
                </a:lnTo>
                <a:lnTo>
                  <a:pt x="964268" y="964268"/>
                </a:lnTo>
                <a:lnTo>
                  <a:pt x="0" y="964268"/>
                </a:lnTo>
                <a:lnTo>
                  <a:pt x="0" y="0"/>
                </a:lnTo>
                <a:close/>
              </a:path>
            </a:pathLst>
          </a:custGeom>
          <a:blipFill>
            <a:blip r:embed="rId5"/>
            <a:stretch>
              <a:fillRect/>
            </a:stretch>
          </a:blipFill>
        </p:spPr>
      </p:sp>
      <p:graphicFrame>
        <p:nvGraphicFramePr>
          <p:cNvPr id="7" name="Table 7"/>
          <p:cNvGraphicFramePr>
            <a:graphicFrameLocks noGrp="1"/>
          </p:cNvGraphicFramePr>
          <p:nvPr/>
        </p:nvGraphicFramePr>
        <p:xfrm>
          <a:off x="3520442" y="3401427"/>
          <a:ext cx="11391900" cy="4622800"/>
        </p:xfrm>
        <a:graphic>
          <a:graphicData uri="http://schemas.openxmlformats.org/drawingml/2006/table">
            <a:tbl>
              <a:tblPr/>
              <a:tblGrid>
                <a:gridCol w="1297386">
                  <a:extLst>
                    <a:ext uri="{9D8B030D-6E8A-4147-A177-3AD203B41FA5}">
                      <a16:colId xmlns:a16="http://schemas.microsoft.com/office/drawing/2014/main" val="20000"/>
                    </a:ext>
                  </a:extLst>
                </a:gridCol>
                <a:gridCol w="2211050">
                  <a:extLst>
                    <a:ext uri="{9D8B030D-6E8A-4147-A177-3AD203B41FA5}">
                      <a16:colId xmlns:a16="http://schemas.microsoft.com/office/drawing/2014/main" val="20001"/>
                    </a:ext>
                  </a:extLst>
                </a:gridCol>
                <a:gridCol w="7883464">
                  <a:extLst>
                    <a:ext uri="{9D8B030D-6E8A-4147-A177-3AD203B41FA5}">
                      <a16:colId xmlns:a16="http://schemas.microsoft.com/office/drawing/2014/main" val="20002"/>
                    </a:ext>
                  </a:extLst>
                </a:gridCol>
              </a:tblGrid>
              <a:tr h="1155700">
                <a:tc>
                  <a:txBody>
                    <a:bodyPr/>
                    <a:lstStyle/>
                    <a:p>
                      <a:pPr algn="l">
                        <a:lnSpc>
                          <a:spcPts val="1679"/>
                        </a:lnSpc>
                        <a:defRPr/>
                      </a:pP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17315D"/>
                    </a:solidFill>
                  </a:tcPr>
                </a:tc>
                <a:tc>
                  <a:txBody>
                    <a:bodyPr/>
                    <a:lstStyle/>
                    <a:p>
                      <a:pPr algn="ctr">
                        <a:lnSpc>
                          <a:spcPts val="2520"/>
                        </a:lnSpc>
                        <a:defRPr/>
                      </a:pPr>
                      <a:r>
                        <a:rPr lang="en-US" sz="2100">
                          <a:solidFill>
                            <a:srgbClr val="1E417C"/>
                          </a:solidFill>
                          <a:latin typeface="Arial Bold"/>
                        </a:rPr>
                        <a:t>Strategic Alignment</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D9D9D9"/>
                    </a:solidFill>
                  </a:tcPr>
                </a:tc>
                <a:tc>
                  <a:txBody>
                    <a:bodyPr/>
                    <a:lstStyle/>
                    <a:p>
                      <a:pPr algn="l">
                        <a:lnSpc>
                          <a:spcPts val="2520"/>
                        </a:lnSpc>
                        <a:defRPr/>
                      </a:pPr>
                      <a:r>
                        <a:rPr lang="en-US" sz="2100">
                          <a:solidFill>
                            <a:srgbClr val="4F81BD"/>
                          </a:solidFill>
                          <a:latin typeface="Arial"/>
                        </a:rPr>
                        <a:t>Align the NFL’s portfolio of innovation investments with its critical business outcomes</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55700">
                <a:tc>
                  <a:txBody>
                    <a:bodyPr/>
                    <a:lstStyle/>
                    <a:p>
                      <a:pPr algn="l">
                        <a:lnSpc>
                          <a:spcPts val="1679"/>
                        </a:lnSpc>
                        <a:defRPr/>
                      </a:pP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17315D"/>
                    </a:solidFill>
                  </a:tcPr>
                </a:tc>
                <a:tc>
                  <a:txBody>
                    <a:bodyPr/>
                    <a:lstStyle/>
                    <a:p>
                      <a:pPr algn="ctr">
                        <a:lnSpc>
                          <a:spcPts val="2520"/>
                        </a:lnSpc>
                        <a:defRPr/>
                      </a:pPr>
                      <a:r>
                        <a:rPr lang="en-US" sz="2100">
                          <a:solidFill>
                            <a:srgbClr val="1E417C"/>
                          </a:solidFill>
                          <a:latin typeface="Arial Bold"/>
                        </a:rPr>
                        <a:t>Consistency</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D9D9D9"/>
                    </a:solidFill>
                  </a:tcPr>
                </a:tc>
                <a:tc>
                  <a:txBody>
                    <a:bodyPr/>
                    <a:lstStyle/>
                    <a:p>
                      <a:pPr algn="l">
                        <a:lnSpc>
                          <a:spcPts val="2520"/>
                        </a:lnSpc>
                        <a:defRPr/>
                      </a:pPr>
                      <a:r>
                        <a:rPr lang="en-US" sz="2100">
                          <a:solidFill>
                            <a:srgbClr val="4F81BD"/>
                          </a:solidFill>
                          <a:latin typeface="Arial"/>
                        </a:rPr>
                        <a:t>Provide a consistent, enterprise-wide approach to identify, prioritize, measure, and successfully deliver major innovation initiatives and projects</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55700">
                <a:tc>
                  <a:txBody>
                    <a:bodyPr/>
                    <a:lstStyle/>
                    <a:p>
                      <a:pPr algn="l">
                        <a:lnSpc>
                          <a:spcPts val="1679"/>
                        </a:lnSpc>
                        <a:defRPr/>
                      </a:pP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17315D"/>
                    </a:solidFill>
                  </a:tcPr>
                </a:tc>
                <a:tc>
                  <a:txBody>
                    <a:bodyPr/>
                    <a:lstStyle/>
                    <a:p>
                      <a:pPr algn="ctr">
                        <a:lnSpc>
                          <a:spcPts val="2520"/>
                        </a:lnSpc>
                        <a:defRPr/>
                      </a:pPr>
                      <a:r>
                        <a:rPr lang="en-US" sz="2100">
                          <a:solidFill>
                            <a:srgbClr val="1E417C"/>
                          </a:solidFill>
                          <a:latin typeface="Arial Bold"/>
                        </a:rPr>
                        <a:t>Accountability</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D9D9D9"/>
                    </a:solidFill>
                  </a:tcPr>
                </a:tc>
                <a:tc>
                  <a:txBody>
                    <a:bodyPr/>
                    <a:lstStyle/>
                    <a:p>
                      <a:pPr algn="l">
                        <a:lnSpc>
                          <a:spcPts val="2520"/>
                        </a:lnSpc>
                        <a:defRPr/>
                      </a:pPr>
                      <a:r>
                        <a:rPr lang="en-US" sz="2100">
                          <a:solidFill>
                            <a:srgbClr val="4F81BD"/>
                          </a:solidFill>
                          <a:latin typeface="Arial"/>
                        </a:rPr>
                        <a:t>Utilize venture investment metrics to measure innovation project performance and delivery timetable</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55700">
                <a:tc>
                  <a:txBody>
                    <a:bodyPr/>
                    <a:lstStyle/>
                    <a:p>
                      <a:pPr algn="l">
                        <a:lnSpc>
                          <a:spcPts val="1679"/>
                        </a:lnSpc>
                        <a:defRPr/>
                      </a:pP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17315D"/>
                    </a:solidFill>
                  </a:tcPr>
                </a:tc>
                <a:tc>
                  <a:txBody>
                    <a:bodyPr/>
                    <a:lstStyle/>
                    <a:p>
                      <a:pPr algn="ctr">
                        <a:lnSpc>
                          <a:spcPts val="2520"/>
                        </a:lnSpc>
                        <a:defRPr/>
                      </a:pPr>
                      <a:r>
                        <a:rPr lang="en-US" sz="2100">
                          <a:solidFill>
                            <a:srgbClr val="1E417C"/>
                          </a:solidFill>
                          <a:latin typeface="Arial Bold"/>
                        </a:rPr>
                        <a:t>Repeatability</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D9D9D9"/>
                    </a:solidFill>
                  </a:tcPr>
                </a:tc>
                <a:tc>
                  <a:txBody>
                    <a:bodyPr/>
                    <a:lstStyle/>
                    <a:p>
                      <a:pPr algn="l">
                        <a:lnSpc>
                          <a:spcPts val="2520"/>
                        </a:lnSpc>
                        <a:defRPr/>
                      </a:pPr>
                      <a:r>
                        <a:rPr lang="en-US" sz="2100">
                          <a:solidFill>
                            <a:srgbClr val="4F81BD"/>
                          </a:solidFill>
                          <a:latin typeface="Arial"/>
                        </a:rPr>
                        <a:t>Create a standardized and repeatable demand management, capacity planning and project prioritization management framework, vocabulary, and toolset</a:t>
                      </a:r>
                      <a:endParaRPr lang="en-US" sz="1100"/>
                    </a:p>
                  </a:txBody>
                  <a:tcPr marL="102870" marR="102870" marT="102870" marB="102870" anchor="ctr">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Freeform 8"/>
          <p:cNvSpPr/>
          <p:nvPr/>
        </p:nvSpPr>
        <p:spPr>
          <a:xfrm>
            <a:off x="3797000" y="3644215"/>
            <a:ext cx="681842" cy="681842"/>
          </a:xfrm>
          <a:custGeom>
            <a:avLst/>
            <a:gdLst/>
            <a:ahLst/>
            <a:cxnLst/>
            <a:rect l="l" t="t" r="r" b="b"/>
            <a:pathLst>
              <a:path w="681842" h="681842">
                <a:moveTo>
                  <a:pt x="0" y="0"/>
                </a:moveTo>
                <a:lnTo>
                  <a:pt x="681842" y="0"/>
                </a:lnTo>
                <a:lnTo>
                  <a:pt x="681842" y="681842"/>
                </a:lnTo>
                <a:lnTo>
                  <a:pt x="0" y="681842"/>
                </a:lnTo>
                <a:lnTo>
                  <a:pt x="0" y="0"/>
                </a:lnTo>
                <a:close/>
              </a:path>
            </a:pathLst>
          </a:custGeom>
          <a:blipFill>
            <a:blip r:embed="rId2"/>
            <a:stretch>
              <a:fillRect/>
            </a:stretch>
          </a:blipFill>
        </p:spPr>
      </p:sp>
      <p:sp>
        <p:nvSpPr>
          <p:cNvPr id="9" name="Freeform 9"/>
          <p:cNvSpPr/>
          <p:nvPr/>
        </p:nvSpPr>
        <p:spPr>
          <a:xfrm>
            <a:off x="3659144" y="5784775"/>
            <a:ext cx="964268" cy="964268"/>
          </a:xfrm>
          <a:custGeom>
            <a:avLst/>
            <a:gdLst/>
            <a:ahLst/>
            <a:cxnLst/>
            <a:rect l="l" t="t" r="r" b="b"/>
            <a:pathLst>
              <a:path w="964268" h="964268">
                <a:moveTo>
                  <a:pt x="0" y="0"/>
                </a:moveTo>
                <a:lnTo>
                  <a:pt x="964268" y="0"/>
                </a:lnTo>
                <a:lnTo>
                  <a:pt x="964268" y="964268"/>
                </a:lnTo>
                <a:lnTo>
                  <a:pt x="0" y="964268"/>
                </a:lnTo>
                <a:lnTo>
                  <a:pt x="0" y="0"/>
                </a:lnTo>
                <a:close/>
              </a:path>
            </a:pathLst>
          </a:custGeom>
          <a:blipFill>
            <a:blip r:embed="rId3"/>
            <a:stretch>
              <a:fillRect/>
            </a:stretch>
          </a:blipFill>
        </p:spPr>
      </p:sp>
      <p:sp>
        <p:nvSpPr>
          <p:cNvPr id="10" name="Freeform 10"/>
          <p:cNvSpPr/>
          <p:nvPr/>
        </p:nvSpPr>
        <p:spPr>
          <a:xfrm>
            <a:off x="3733694" y="6989919"/>
            <a:ext cx="852819" cy="852819"/>
          </a:xfrm>
          <a:custGeom>
            <a:avLst/>
            <a:gdLst/>
            <a:ahLst/>
            <a:cxnLst/>
            <a:rect l="l" t="t" r="r" b="b"/>
            <a:pathLst>
              <a:path w="852819" h="852819">
                <a:moveTo>
                  <a:pt x="0" y="0"/>
                </a:moveTo>
                <a:lnTo>
                  <a:pt x="852819" y="0"/>
                </a:lnTo>
                <a:lnTo>
                  <a:pt x="852819" y="852819"/>
                </a:lnTo>
                <a:lnTo>
                  <a:pt x="0" y="852819"/>
                </a:lnTo>
                <a:lnTo>
                  <a:pt x="0" y="0"/>
                </a:lnTo>
                <a:close/>
              </a:path>
            </a:pathLst>
          </a:custGeom>
          <a:blipFill>
            <a:blip r:embed="rId4"/>
            <a:stretch>
              <a:fillRect/>
            </a:stretch>
          </a:blipFill>
        </p:spPr>
      </p:sp>
      <p:sp>
        <p:nvSpPr>
          <p:cNvPr id="11" name="Freeform 11"/>
          <p:cNvSpPr/>
          <p:nvPr/>
        </p:nvSpPr>
        <p:spPr>
          <a:xfrm>
            <a:off x="3655786" y="4700068"/>
            <a:ext cx="964268" cy="964268"/>
          </a:xfrm>
          <a:custGeom>
            <a:avLst/>
            <a:gdLst/>
            <a:ahLst/>
            <a:cxnLst/>
            <a:rect l="l" t="t" r="r" b="b"/>
            <a:pathLst>
              <a:path w="964268" h="964268">
                <a:moveTo>
                  <a:pt x="0" y="0"/>
                </a:moveTo>
                <a:lnTo>
                  <a:pt x="964268" y="0"/>
                </a:lnTo>
                <a:lnTo>
                  <a:pt x="964268" y="964268"/>
                </a:lnTo>
                <a:lnTo>
                  <a:pt x="0" y="964268"/>
                </a:lnTo>
                <a:lnTo>
                  <a:pt x="0" y="0"/>
                </a:lnTo>
                <a:close/>
              </a:path>
            </a:pathLst>
          </a:custGeom>
          <a:blipFill>
            <a:blip r:embed="rId5"/>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68733"/>
            <a:ext cx="13442674" cy="1241346"/>
          </a:xfrm>
          <a:prstGeom prst="rect">
            <a:avLst/>
          </a:prstGeom>
        </p:spPr>
        <p:txBody>
          <a:bodyPr lIns="0" tIns="0" rIns="0" bIns="0" rtlCol="0" anchor="t">
            <a:spAutoFit/>
          </a:bodyPr>
          <a:lstStyle/>
          <a:p>
            <a:pPr algn="l">
              <a:lnSpc>
                <a:spcPts val="8640"/>
              </a:lnSpc>
            </a:pPr>
            <a:r>
              <a:rPr lang="en-US" sz="6000">
                <a:solidFill>
                  <a:srgbClr val="003A74"/>
                </a:solidFill>
                <a:latin typeface="Montserrat Bold"/>
              </a:rPr>
              <a:t>Why an </a:t>
            </a:r>
            <a:r>
              <a:rPr lang="en-US" sz="6000">
                <a:solidFill>
                  <a:srgbClr val="C00000"/>
                </a:solidFill>
                <a:latin typeface="Montserrat Bold"/>
              </a:rPr>
              <a:t>Innovation</a:t>
            </a:r>
            <a:r>
              <a:rPr lang="en-US" sz="6000">
                <a:solidFill>
                  <a:srgbClr val="090F10"/>
                </a:solidFill>
                <a:latin typeface="Montserrat Bold"/>
              </a:rPr>
              <a:t> </a:t>
            </a:r>
            <a:r>
              <a:rPr lang="en-US" sz="6000">
                <a:solidFill>
                  <a:srgbClr val="003A74"/>
                </a:solidFill>
                <a:latin typeface="Montserrat Bold"/>
              </a:rPr>
              <a:t>Framework?</a:t>
            </a:r>
          </a:p>
        </p:txBody>
      </p:sp>
      <p:sp>
        <p:nvSpPr>
          <p:cNvPr id="3" name="TextBox 3"/>
          <p:cNvSpPr txBox="1"/>
          <p:nvPr/>
        </p:nvSpPr>
        <p:spPr>
          <a:xfrm>
            <a:off x="1028700" y="2351546"/>
            <a:ext cx="13224013" cy="2439924"/>
          </a:xfrm>
          <a:prstGeom prst="rect">
            <a:avLst/>
          </a:prstGeom>
        </p:spPr>
        <p:txBody>
          <a:bodyPr lIns="0" tIns="0" rIns="0" bIns="0" rtlCol="0" anchor="t">
            <a:spAutoFit/>
          </a:bodyPr>
          <a:lstStyle/>
          <a:p>
            <a:pPr algn="l">
              <a:lnSpc>
                <a:spcPts val="4608"/>
              </a:lnSpc>
            </a:pPr>
            <a:r>
              <a:rPr lang="en-US" sz="3200">
                <a:solidFill>
                  <a:srgbClr val="003A74"/>
                </a:solidFill>
                <a:latin typeface="Open Sans 1"/>
              </a:rPr>
              <a:t>Having an innovation framework is crucial in the digital transformation process as it allows an organization to discover, cultivate, and execute innovative and inventive concepts to drive strategic success.</a:t>
            </a:r>
          </a:p>
        </p:txBody>
      </p:sp>
      <p:sp>
        <p:nvSpPr>
          <p:cNvPr id="4" name="TextBox 4"/>
          <p:cNvSpPr txBox="1"/>
          <p:nvPr/>
        </p:nvSpPr>
        <p:spPr>
          <a:xfrm>
            <a:off x="1028700" y="5327776"/>
            <a:ext cx="13442674" cy="1638073"/>
          </a:xfrm>
          <a:prstGeom prst="rect">
            <a:avLst/>
          </a:prstGeom>
        </p:spPr>
        <p:txBody>
          <a:bodyPr lIns="0" tIns="0" rIns="0" bIns="0" rtlCol="0" anchor="t">
            <a:spAutoFit/>
          </a:bodyPr>
          <a:lstStyle/>
          <a:p>
            <a:pPr marL="599103" lvl="2" indent="-199701" algn="l">
              <a:lnSpc>
                <a:spcPts val="3286"/>
              </a:lnSpc>
              <a:buFont typeface="Arial"/>
              <a:buChar char="⚬"/>
            </a:pPr>
            <a:r>
              <a:rPr lang="en-US" sz="2799">
                <a:solidFill>
                  <a:srgbClr val="558ED5"/>
                </a:solidFill>
                <a:latin typeface="Open Sans 1"/>
              </a:rPr>
              <a:t>Benefits the discovery of new and imaginative approaches</a:t>
            </a:r>
          </a:p>
          <a:p>
            <a:pPr marL="599103" lvl="2" indent="-199701" algn="l">
              <a:lnSpc>
                <a:spcPts val="3286"/>
              </a:lnSpc>
              <a:buFont typeface="Arial"/>
              <a:buChar char="⚬"/>
            </a:pPr>
            <a:r>
              <a:rPr lang="en-US" sz="2799">
                <a:solidFill>
                  <a:srgbClr val="558ED5"/>
                </a:solidFill>
                <a:latin typeface="Open Sans 1"/>
              </a:rPr>
              <a:t>Reviews the positive and negative aspects of each option</a:t>
            </a:r>
          </a:p>
          <a:p>
            <a:pPr marL="599103" lvl="2" indent="-199701" algn="l">
              <a:lnSpc>
                <a:spcPts val="3286"/>
              </a:lnSpc>
              <a:buFont typeface="Arial"/>
              <a:buChar char="⚬"/>
            </a:pPr>
            <a:r>
              <a:rPr lang="en-US" sz="2799">
                <a:solidFill>
                  <a:srgbClr val="558ED5"/>
                </a:solidFill>
                <a:latin typeface="Open Sans 1"/>
              </a:rPr>
              <a:t>Makes decisions based on accurate and reliable information</a:t>
            </a:r>
          </a:p>
          <a:p>
            <a:pPr marL="599103" lvl="2" indent="-199701" algn="l">
              <a:lnSpc>
                <a:spcPts val="3286"/>
              </a:lnSpc>
              <a:buFont typeface="Arial"/>
              <a:buChar char="⚬"/>
            </a:pPr>
            <a:r>
              <a:rPr lang="en-US" sz="2799">
                <a:solidFill>
                  <a:srgbClr val="558ED5"/>
                </a:solidFill>
                <a:latin typeface="Open Sans 1"/>
              </a:rPr>
              <a:t>Develops strategies to translate ideas into business opportunities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886" y="8733665"/>
            <a:ext cx="2655302" cy="776879"/>
          </a:xfrm>
          <a:custGeom>
            <a:avLst/>
            <a:gdLst/>
            <a:ahLst/>
            <a:cxnLst/>
            <a:rect l="l" t="t" r="r" b="b"/>
            <a:pathLst>
              <a:path w="2655302" h="776879">
                <a:moveTo>
                  <a:pt x="0" y="0"/>
                </a:moveTo>
                <a:lnTo>
                  <a:pt x="2655302" y="0"/>
                </a:lnTo>
                <a:lnTo>
                  <a:pt x="2655302" y="776879"/>
                </a:lnTo>
                <a:lnTo>
                  <a:pt x="0" y="776879"/>
                </a:lnTo>
                <a:lnTo>
                  <a:pt x="0" y="0"/>
                </a:lnTo>
                <a:close/>
              </a:path>
            </a:pathLst>
          </a:custGeom>
          <a:blipFill>
            <a:blip r:embed="rId3"/>
            <a:stretch>
              <a:fillRect/>
            </a:stretch>
          </a:blipFill>
        </p:spPr>
      </p:sp>
      <p:sp>
        <p:nvSpPr>
          <p:cNvPr id="3" name="TextBox 3"/>
          <p:cNvSpPr txBox="1"/>
          <p:nvPr/>
        </p:nvSpPr>
        <p:spPr>
          <a:xfrm>
            <a:off x="1028700" y="885825"/>
            <a:ext cx="11505887" cy="2349341"/>
          </a:xfrm>
          <a:prstGeom prst="rect">
            <a:avLst/>
          </a:prstGeom>
        </p:spPr>
        <p:txBody>
          <a:bodyPr lIns="0" tIns="0" rIns="0" bIns="0" rtlCol="0" anchor="t">
            <a:spAutoFit/>
          </a:bodyPr>
          <a:lstStyle/>
          <a:p>
            <a:pPr algn="l">
              <a:lnSpc>
                <a:spcPts val="8640"/>
              </a:lnSpc>
            </a:pPr>
            <a:r>
              <a:rPr lang="en-US" sz="6000">
                <a:solidFill>
                  <a:srgbClr val="003A74"/>
                </a:solidFill>
                <a:latin typeface="Montserrat Bold"/>
              </a:rPr>
              <a:t>Why is a </a:t>
            </a:r>
            <a:r>
              <a:rPr lang="en-US" sz="6000">
                <a:solidFill>
                  <a:srgbClr val="C00000"/>
                </a:solidFill>
                <a:latin typeface="Montserrat Bold"/>
              </a:rPr>
              <a:t>framework </a:t>
            </a:r>
            <a:r>
              <a:rPr lang="en-US" sz="6000">
                <a:solidFill>
                  <a:srgbClr val="003A74"/>
                </a:solidFill>
                <a:latin typeface="Montserrat Bold"/>
              </a:rPr>
              <a:t>needed at the NFL?</a:t>
            </a:r>
          </a:p>
        </p:txBody>
      </p:sp>
      <p:sp>
        <p:nvSpPr>
          <p:cNvPr id="4" name="TextBox 4"/>
          <p:cNvSpPr txBox="1"/>
          <p:nvPr/>
        </p:nvSpPr>
        <p:spPr>
          <a:xfrm>
            <a:off x="1028700" y="3792895"/>
            <a:ext cx="14734761" cy="4626840"/>
          </a:xfrm>
          <a:prstGeom prst="rect">
            <a:avLst/>
          </a:prstGeom>
        </p:spPr>
        <p:txBody>
          <a:bodyPr lIns="0" tIns="0" rIns="0" bIns="0" rtlCol="0" anchor="t">
            <a:spAutoFit/>
          </a:bodyPr>
          <a:lstStyle/>
          <a:p>
            <a:pPr marL="788191" lvl="2" indent="-262730" algn="l">
              <a:lnSpc>
                <a:spcPts val="4608"/>
              </a:lnSpc>
              <a:buFont typeface="Arial"/>
              <a:buChar char="⚬"/>
            </a:pPr>
            <a:r>
              <a:rPr lang="en-US" sz="3200">
                <a:solidFill>
                  <a:srgbClr val="003A74"/>
                </a:solidFill>
                <a:latin typeface="Open Sans 1"/>
              </a:rPr>
              <a:t>To address the lack of </a:t>
            </a:r>
            <a:r>
              <a:rPr lang="en-US" sz="3200">
                <a:solidFill>
                  <a:srgbClr val="558ED5"/>
                </a:solidFill>
                <a:latin typeface="Open Sans 1"/>
              </a:rPr>
              <a:t>monitoring and measuring </a:t>
            </a:r>
            <a:r>
              <a:rPr lang="en-US" sz="3200">
                <a:solidFill>
                  <a:srgbClr val="003A74"/>
                </a:solidFill>
                <a:latin typeface="Open Sans 1"/>
              </a:rPr>
              <a:t>of technology innovation projects and ideas</a:t>
            </a:r>
          </a:p>
          <a:p>
            <a:pPr marL="788191" lvl="2" indent="-262730" algn="l">
              <a:lnSpc>
                <a:spcPts val="4608"/>
              </a:lnSpc>
              <a:buFont typeface="Arial"/>
              <a:buChar char="⚬"/>
            </a:pPr>
            <a:r>
              <a:rPr lang="en-US" sz="3200">
                <a:solidFill>
                  <a:srgbClr val="558ED5"/>
                </a:solidFill>
                <a:latin typeface="Open Sans 1"/>
              </a:rPr>
              <a:t>Eliminate siloed </a:t>
            </a:r>
            <a:r>
              <a:rPr lang="en-US" sz="3200">
                <a:solidFill>
                  <a:srgbClr val="003A74"/>
                </a:solidFill>
                <a:latin typeface="Open Sans 1"/>
              </a:rPr>
              <a:t>pockets of innovation and redundant projects</a:t>
            </a:r>
          </a:p>
          <a:p>
            <a:pPr marL="788191" lvl="2" indent="-262730" algn="l">
              <a:lnSpc>
                <a:spcPts val="4608"/>
              </a:lnSpc>
              <a:buFont typeface="Arial"/>
              <a:buChar char="⚬"/>
            </a:pPr>
            <a:r>
              <a:rPr lang="en-US" sz="3200">
                <a:solidFill>
                  <a:srgbClr val="558ED5"/>
                </a:solidFill>
                <a:latin typeface="Open Sans 1"/>
              </a:rPr>
              <a:t>Leverage ideas </a:t>
            </a:r>
            <a:r>
              <a:rPr lang="en-US" sz="3200">
                <a:solidFill>
                  <a:srgbClr val="003A74"/>
                </a:solidFill>
                <a:latin typeface="Open Sans 1"/>
              </a:rPr>
              <a:t>from all levels of the organization</a:t>
            </a:r>
          </a:p>
          <a:p>
            <a:pPr marL="788191" lvl="2" indent="-262730" algn="l">
              <a:lnSpc>
                <a:spcPts val="4608"/>
              </a:lnSpc>
              <a:buFont typeface="Arial"/>
              <a:buChar char="⚬"/>
            </a:pPr>
            <a:r>
              <a:rPr lang="en-US" sz="3200">
                <a:solidFill>
                  <a:srgbClr val="003A74"/>
                </a:solidFill>
                <a:latin typeface="Open Sans 1"/>
              </a:rPr>
              <a:t>Strengthen brain power through </a:t>
            </a:r>
            <a:r>
              <a:rPr lang="en-US" sz="3200">
                <a:solidFill>
                  <a:srgbClr val="558ED5"/>
                </a:solidFill>
                <a:latin typeface="Open Sans 1"/>
              </a:rPr>
              <a:t>increased collaboration</a:t>
            </a:r>
          </a:p>
          <a:p>
            <a:pPr marL="788191" lvl="2" indent="-262730" algn="l">
              <a:lnSpc>
                <a:spcPts val="4608"/>
              </a:lnSpc>
              <a:buFont typeface="Arial"/>
              <a:buChar char="⚬"/>
            </a:pPr>
            <a:r>
              <a:rPr lang="en-US" sz="3200">
                <a:solidFill>
                  <a:srgbClr val="558ED5"/>
                </a:solidFill>
                <a:latin typeface="Open Sans 1"/>
              </a:rPr>
              <a:t>Foster creativity </a:t>
            </a:r>
            <a:r>
              <a:rPr lang="en-US" sz="3200">
                <a:solidFill>
                  <a:srgbClr val="003A74"/>
                </a:solidFill>
                <a:latin typeface="Open Sans 1"/>
              </a:rPr>
              <a:t>by working as a connected NFL (networked, flexible, and learning) organization</a:t>
            </a:r>
          </a:p>
          <a:p>
            <a:pPr marL="788191" lvl="2" indent="-262730" algn="l">
              <a:lnSpc>
                <a:spcPts val="4608"/>
              </a:lnSpc>
              <a:buFont typeface="Arial"/>
              <a:buChar char="⚬"/>
            </a:pPr>
            <a:r>
              <a:rPr lang="en-US" sz="3200">
                <a:solidFill>
                  <a:srgbClr val="003A74"/>
                </a:solidFill>
                <a:latin typeface="Open Sans 1"/>
              </a:rPr>
              <a:t>Solve complex business problems </a:t>
            </a:r>
            <a:r>
              <a:rPr lang="en-US" sz="3200">
                <a:solidFill>
                  <a:srgbClr val="558ED5"/>
                </a:solidFill>
                <a:latin typeface="Open Sans 1"/>
              </a:rPr>
              <a:t>collectively</a:t>
            </a:r>
            <a:r>
              <a:rPr lang="en-US" sz="3200">
                <a:solidFill>
                  <a:srgbClr val="231F20"/>
                </a:solidFill>
                <a:latin typeface="Open Sans 1"/>
              </a:rPr>
              <a:t> to </a:t>
            </a:r>
            <a:r>
              <a:rPr lang="en-US" sz="3200">
                <a:solidFill>
                  <a:srgbClr val="003A74"/>
                </a:solidFill>
                <a:latin typeface="Open Sans 1"/>
              </a:rPr>
              <a:t>enhance the game.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886" y="8733665"/>
            <a:ext cx="2655302" cy="776879"/>
          </a:xfrm>
          <a:custGeom>
            <a:avLst/>
            <a:gdLst/>
            <a:ahLst/>
            <a:cxnLst/>
            <a:rect l="l" t="t" r="r" b="b"/>
            <a:pathLst>
              <a:path w="2655302" h="776879">
                <a:moveTo>
                  <a:pt x="0" y="0"/>
                </a:moveTo>
                <a:lnTo>
                  <a:pt x="2655302" y="0"/>
                </a:lnTo>
                <a:lnTo>
                  <a:pt x="2655302" y="776879"/>
                </a:lnTo>
                <a:lnTo>
                  <a:pt x="0" y="776879"/>
                </a:lnTo>
                <a:lnTo>
                  <a:pt x="0" y="0"/>
                </a:lnTo>
                <a:close/>
              </a:path>
            </a:pathLst>
          </a:custGeom>
          <a:blipFill>
            <a:blip r:embed="rId3"/>
            <a:stretch>
              <a:fillRect/>
            </a:stretch>
          </a:blipFill>
        </p:spPr>
      </p:sp>
      <p:sp>
        <p:nvSpPr>
          <p:cNvPr id="3" name="TextBox 3"/>
          <p:cNvSpPr txBox="1"/>
          <p:nvPr/>
        </p:nvSpPr>
        <p:spPr>
          <a:xfrm>
            <a:off x="879773" y="707213"/>
            <a:ext cx="16523905" cy="1241346"/>
          </a:xfrm>
          <a:prstGeom prst="rect">
            <a:avLst/>
          </a:prstGeom>
        </p:spPr>
        <p:txBody>
          <a:bodyPr lIns="0" tIns="0" rIns="0" bIns="0" rtlCol="0" anchor="t">
            <a:spAutoFit/>
          </a:bodyPr>
          <a:lstStyle/>
          <a:p>
            <a:pPr algn="l">
              <a:lnSpc>
                <a:spcPts val="8639"/>
              </a:lnSpc>
            </a:pPr>
            <a:r>
              <a:rPr lang="en-US" sz="6000">
                <a:solidFill>
                  <a:srgbClr val="003A74"/>
                </a:solidFill>
                <a:latin typeface="Montserrat Bold"/>
              </a:rPr>
              <a:t>4 Zones Model: </a:t>
            </a:r>
            <a:r>
              <a:rPr lang="en-US" sz="6000">
                <a:solidFill>
                  <a:srgbClr val="C00000"/>
                </a:solidFill>
                <a:latin typeface="Montserrat Bold"/>
              </a:rPr>
              <a:t>Business Value Creation</a:t>
            </a:r>
          </a:p>
        </p:txBody>
      </p:sp>
      <p:sp>
        <p:nvSpPr>
          <p:cNvPr id="4" name="AutoShape 4"/>
          <p:cNvSpPr/>
          <p:nvPr/>
        </p:nvSpPr>
        <p:spPr>
          <a:xfrm rot="19544">
            <a:off x="5585792" y="4742821"/>
            <a:ext cx="8376822" cy="0"/>
          </a:xfrm>
          <a:prstGeom prst="line">
            <a:avLst/>
          </a:prstGeom>
          <a:ln w="38100" cap="rnd">
            <a:solidFill>
              <a:srgbClr val="000000"/>
            </a:solidFill>
            <a:prstDash val="solid"/>
            <a:headEnd type="none" w="sm" len="sm"/>
            <a:tailEnd type="none" w="sm" len="sm"/>
          </a:ln>
        </p:spPr>
      </p:sp>
      <p:sp>
        <p:nvSpPr>
          <p:cNvPr id="5" name="AutoShape 5"/>
          <p:cNvSpPr/>
          <p:nvPr/>
        </p:nvSpPr>
        <p:spPr>
          <a:xfrm rot="5357908">
            <a:off x="7829291" y="4766634"/>
            <a:ext cx="3889824" cy="0"/>
          </a:xfrm>
          <a:prstGeom prst="line">
            <a:avLst/>
          </a:prstGeom>
          <a:ln w="38100" cap="rnd">
            <a:solidFill>
              <a:srgbClr val="000000"/>
            </a:solidFill>
            <a:prstDash val="solid"/>
            <a:headEnd type="none" w="sm" len="sm"/>
            <a:tailEnd type="none" w="sm" len="sm"/>
          </a:ln>
        </p:spPr>
      </p:sp>
      <p:sp>
        <p:nvSpPr>
          <p:cNvPr id="6" name="TextBox 6"/>
          <p:cNvSpPr txBox="1"/>
          <p:nvPr/>
        </p:nvSpPr>
        <p:spPr>
          <a:xfrm>
            <a:off x="5305605" y="2676291"/>
            <a:ext cx="4292245" cy="511115"/>
          </a:xfrm>
          <a:prstGeom prst="rect">
            <a:avLst/>
          </a:prstGeom>
        </p:spPr>
        <p:txBody>
          <a:bodyPr lIns="0" tIns="0" rIns="0" bIns="0" rtlCol="0" anchor="t">
            <a:spAutoFit/>
          </a:bodyPr>
          <a:lstStyle/>
          <a:p>
            <a:pPr algn="l">
              <a:lnSpc>
                <a:spcPts val="3694"/>
              </a:lnSpc>
            </a:pPr>
            <a:r>
              <a:rPr lang="en-US" sz="2720">
                <a:solidFill>
                  <a:srgbClr val="003A74"/>
                </a:solidFill>
                <a:latin typeface="Montserrat Bold"/>
              </a:rPr>
              <a:t>Transformation Zone</a:t>
            </a:r>
          </a:p>
        </p:txBody>
      </p:sp>
      <p:sp>
        <p:nvSpPr>
          <p:cNvPr id="7" name="TextBox 7"/>
          <p:cNvSpPr txBox="1"/>
          <p:nvPr/>
        </p:nvSpPr>
        <p:spPr>
          <a:xfrm>
            <a:off x="10132042" y="2667000"/>
            <a:ext cx="3679475" cy="511115"/>
          </a:xfrm>
          <a:prstGeom prst="rect">
            <a:avLst/>
          </a:prstGeom>
        </p:spPr>
        <p:txBody>
          <a:bodyPr lIns="0" tIns="0" rIns="0" bIns="0" rtlCol="0" anchor="t">
            <a:spAutoFit/>
          </a:bodyPr>
          <a:lstStyle/>
          <a:p>
            <a:pPr algn="ctr">
              <a:lnSpc>
                <a:spcPts val="3694"/>
              </a:lnSpc>
            </a:pPr>
            <a:r>
              <a:rPr lang="en-US" sz="2720">
                <a:solidFill>
                  <a:srgbClr val="558ED5"/>
                </a:solidFill>
                <a:latin typeface="Montserrat Bold"/>
              </a:rPr>
              <a:t>Performance Zone</a:t>
            </a:r>
          </a:p>
        </p:txBody>
      </p:sp>
      <p:sp>
        <p:nvSpPr>
          <p:cNvPr id="8" name="TextBox 8"/>
          <p:cNvSpPr txBox="1"/>
          <p:nvPr/>
        </p:nvSpPr>
        <p:spPr>
          <a:xfrm>
            <a:off x="10132042" y="5014721"/>
            <a:ext cx="3679475" cy="511115"/>
          </a:xfrm>
          <a:prstGeom prst="rect">
            <a:avLst/>
          </a:prstGeom>
        </p:spPr>
        <p:txBody>
          <a:bodyPr lIns="0" tIns="0" rIns="0" bIns="0" rtlCol="0" anchor="t">
            <a:spAutoFit/>
          </a:bodyPr>
          <a:lstStyle/>
          <a:p>
            <a:pPr algn="ctr">
              <a:lnSpc>
                <a:spcPts val="3694"/>
              </a:lnSpc>
            </a:pPr>
            <a:r>
              <a:rPr lang="en-US" sz="2720">
                <a:solidFill>
                  <a:srgbClr val="558ED5"/>
                </a:solidFill>
                <a:latin typeface="Montserrat Bold"/>
              </a:rPr>
              <a:t>Productivity Zone</a:t>
            </a:r>
          </a:p>
        </p:txBody>
      </p:sp>
      <p:sp>
        <p:nvSpPr>
          <p:cNvPr id="9" name="TextBox 9"/>
          <p:cNvSpPr txBox="1"/>
          <p:nvPr/>
        </p:nvSpPr>
        <p:spPr>
          <a:xfrm>
            <a:off x="5689264" y="5014721"/>
            <a:ext cx="3679475" cy="511115"/>
          </a:xfrm>
          <a:prstGeom prst="rect">
            <a:avLst/>
          </a:prstGeom>
        </p:spPr>
        <p:txBody>
          <a:bodyPr lIns="0" tIns="0" rIns="0" bIns="0" rtlCol="0" anchor="t">
            <a:spAutoFit/>
          </a:bodyPr>
          <a:lstStyle/>
          <a:p>
            <a:pPr algn="ctr">
              <a:lnSpc>
                <a:spcPts val="3694"/>
              </a:lnSpc>
            </a:pPr>
            <a:r>
              <a:rPr lang="en-US" sz="2720">
                <a:solidFill>
                  <a:srgbClr val="003A74"/>
                </a:solidFill>
                <a:latin typeface="Montserrat Bold"/>
              </a:rPr>
              <a:t>Incubation Zone</a:t>
            </a:r>
          </a:p>
        </p:txBody>
      </p:sp>
      <p:grpSp>
        <p:nvGrpSpPr>
          <p:cNvPr id="10" name="Group 10"/>
          <p:cNvGrpSpPr/>
          <p:nvPr/>
        </p:nvGrpSpPr>
        <p:grpSpPr>
          <a:xfrm>
            <a:off x="884321" y="3021984"/>
            <a:ext cx="3449140" cy="1284069"/>
            <a:chOff x="0" y="0"/>
            <a:chExt cx="4598853" cy="1712092"/>
          </a:xfrm>
        </p:grpSpPr>
        <p:sp>
          <p:nvSpPr>
            <p:cNvPr id="11" name="Freeform 11"/>
            <p:cNvSpPr/>
            <p:nvPr/>
          </p:nvSpPr>
          <p:spPr>
            <a:xfrm>
              <a:off x="0" y="0"/>
              <a:ext cx="4598797" cy="1712087"/>
            </a:xfrm>
            <a:custGeom>
              <a:avLst/>
              <a:gdLst/>
              <a:ahLst/>
              <a:cxnLst/>
              <a:rect l="l" t="t" r="r" b="b"/>
              <a:pathLst>
                <a:path w="4598797" h="1712087">
                  <a:moveTo>
                    <a:pt x="0" y="0"/>
                  </a:moveTo>
                  <a:lnTo>
                    <a:pt x="4598797" y="0"/>
                  </a:lnTo>
                  <a:lnTo>
                    <a:pt x="4598797" y="1712087"/>
                  </a:lnTo>
                  <a:lnTo>
                    <a:pt x="0" y="1712087"/>
                  </a:lnTo>
                  <a:close/>
                </a:path>
              </a:pathLst>
            </a:custGeom>
            <a:solidFill>
              <a:srgbClr val="D9D9D9"/>
            </a:solidFill>
          </p:spPr>
        </p:sp>
        <p:sp>
          <p:nvSpPr>
            <p:cNvPr id="12" name="TextBox 12"/>
            <p:cNvSpPr txBox="1"/>
            <p:nvPr/>
          </p:nvSpPr>
          <p:spPr>
            <a:xfrm>
              <a:off x="0" y="-142875"/>
              <a:ext cx="4598853" cy="1854967"/>
            </a:xfrm>
            <a:prstGeom prst="rect">
              <a:avLst/>
            </a:prstGeom>
          </p:spPr>
          <p:txBody>
            <a:bodyPr lIns="50800" tIns="50800" rIns="50800" bIns="50800" rtlCol="0" anchor="t"/>
            <a:lstStyle/>
            <a:p>
              <a:pPr algn="ctr">
                <a:lnSpc>
                  <a:spcPts val="4995"/>
                </a:lnSpc>
              </a:pPr>
              <a:r>
                <a:rPr lang="en-US" sz="2799">
                  <a:solidFill>
                    <a:srgbClr val="003A74"/>
                  </a:solidFill>
                  <a:latin typeface="Montserrat Bold"/>
                </a:rPr>
                <a:t>NFL Goals &amp;</a:t>
              </a:r>
            </a:p>
            <a:p>
              <a:pPr algn="ctr">
                <a:lnSpc>
                  <a:spcPts val="4995"/>
                </a:lnSpc>
              </a:pPr>
              <a:r>
                <a:rPr lang="en-US" sz="2799">
                  <a:solidFill>
                    <a:srgbClr val="003A74"/>
                  </a:solidFill>
                  <a:latin typeface="Montserrat Bold"/>
                </a:rPr>
                <a:t>Focus Area</a:t>
              </a:r>
            </a:p>
          </p:txBody>
        </p:sp>
      </p:grpSp>
      <p:grpSp>
        <p:nvGrpSpPr>
          <p:cNvPr id="13" name="Group 13"/>
          <p:cNvGrpSpPr/>
          <p:nvPr/>
        </p:nvGrpSpPr>
        <p:grpSpPr>
          <a:xfrm>
            <a:off x="879773" y="5052821"/>
            <a:ext cx="3447776" cy="1284069"/>
            <a:chOff x="0" y="0"/>
            <a:chExt cx="4597035" cy="1712092"/>
          </a:xfrm>
        </p:grpSpPr>
        <p:sp>
          <p:nvSpPr>
            <p:cNvPr id="14" name="Freeform 14"/>
            <p:cNvSpPr/>
            <p:nvPr/>
          </p:nvSpPr>
          <p:spPr>
            <a:xfrm>
              <a:off x="0" y="0"/>
              <a:ext cx="4597019" cy="1712087"/>
            </a:xfrm>
            <a:custGeom>
              <a:avLst/>
              <a:gdLst/>
              <a:ahLst/>
              <a:cxnLst/>
              <a:rect l="l" t="t" r="r" b="b"/>
              <a:pathLst>
                <a:path w="4597019" h="1712087">
                  <a:moveTo>
                    <a:pt x="0" y="0"/>
                  </a:moveTo>
                  <a:lnTo>
                    <a:pt x="4597019" y="0"/>
                  </a:lnTo>
                  <a:lnTo>
                    <a:pt x="4597019" y="1712087"/>
                  </a:lnTo>
                  <a:lnTo>
                    <a:pt x="0" y="1712087"/>
                  </a:lnTo>
                  <a:close/>
                </a:path>
              </a:pathLst>
            </a:custGeom>
            <a:solidFill>
              <a:srgbClr val="D9D9D9"/>
            </a:solidFill>
          </p:spPr>
        </p:sp>
        <p:sp>
          <p:nvSpPr>
            <p:cNvPr id="15" name="TextBox 15"/>
            <p:cNvSpPr txBox="1"/>
            <p:nvPr/>
          </p:nvSpPr>
          <p:spPr>
            <a:xfrm>
              <a:off x="0" y="-142875"/>
              <a:ext cx="4597035" cy="1854967"/>
            </a:xfrm>
            <a:prstGeom prst="rect">
              <a:avLst/>
            </a:prstGeom>
          </p:spPr>
          <p:txBody>
            <a:bodyPr lIns="50800" tIns="50800" rIns="50800" bIns="50800" rtlCol="0" anchor="t"/>
            <a:lstStyle/>
            <a:p>
              <a:pPr algn="ctr">
                <a:lnSpc>
                  <a:spcPts val="4995"/>
                </a:lnSpc>
              </a:pPr>
              <a:r>
                <a:rPr lang="en-US" sz="2799">
                  <a:solidFill>
                    <a:srgbClr val="003A74"/>
                  </a:solidFill>
                  <a:latin typeface="Montserrat Bold"/>
                </a:rPr>
                <a:t>Enabling</a:t>
              </a:r>
            </a:p>
            <a:p>
              <a:pPr algn="ctr">
                <a:lnSpc>
                  <a:spcPts val="4995"/>
                </a:lnSpc>
              </a:pPr>
              <a:r>
                <a:rPr lang="en-US" sz="2799">
                  <a:solidFill>
                    <a:srgbClr val="003A74"/>
                  </a:solidFill>
                  <a:latin typeface="Montserrat Bold"/>
                </a:rPr>
                <a:t>Investments</a:t>
              </a:r>
            </a:p>
          </p:txBody>
        </p:sp>
      </p:grpSp>
      <p:sp>
        <p:nvSpPr>
          <p:cNvPr id="16" name="TextBox 16"/>
          <p:cNvSpPr txBox="1"/>
          <p:nvPr/>
        </p:nvSpPr>
        <p:spPr>
          <a:xfrm>
            <a:off x="884322" y="7924913"/>
            <a:ext cx="16764864" cy="1764826"/>
          </a:xfrm>
          <a:prstGeom prst="rect">
            <a:avLst/>
          </a:prstGeom>
        </p:spPr>
        <p:txBody>
          <a:bodyPr lIns="0" tIns="0" rIns="0" bIns="0" rtlCol="0" anchor="t">
            <a:spAutoFit/>
          </a:bodyPr>
          <a:lstStyle/>
          <a:p>
            <a:pPr algn="l">
              <a:lnSpc>
                <a:spcPts val="2880"/>
              </a:lnSpc>
            </a:pPr>
            <a:r>
              <a:rPr lang="en-US" sz="2000">
                <a:solidFill>
                  <a:srgbClr val="558ED5"/>
                </a:solidFill>
                <a:latin typeface="Open Sans 1 Bold"/>
              </a:rPr>
              <a:t>Sustaining innovation:  </a:t>
            </a:r>
            <a:r>
              <a:rPr lang="en-US" sz="2000">
                <a:solidFill>
                  <a:srgbClr val="000000"/>
                </a:solidFill>
                <a:latin typeface="Open Sans 1"/>
              </a:rPr>
              <a:t>extension and improvements to already existing innovations inside the organizations</a:t>
            </a:r>
          </a:p>
          <a:p>
            <a:pPr algn="l">
              <a:lnSpc>
                <a:spcPts val="2880"/>
              </a:lnSpc>
            </a:pPr>
            <a:endParaRPr lang="en-US" sz="2000">
              <a:solidFill>
                <a:srgbClr val="000000"/>
              </a:solidFill>
              <a:latin typeface="Open Sans 1"/>
            </a:endParaRPr>
          </a:p>
          <a:p>
            <a:pPr algn="l">
              <a:lnSpc>
                <a:spcPts val="2880"/>
              </a:lnSpc>
            </a:pPr>
            <a:r>
              <a:rPr lang="en-US" sz="2000">
                <a:solidFill>
                  <a:srgbClr val="003A74"/>
                </a:solidFill>
                <a:latin typeface="Open Sans 1 Bold"/>
              </a:rPr>
              <a:t>Disruptive innovation:  </a:t>
            </a:r>
            <a:r>
              <a:rPr lang="en-US" sz="2000">
                <a:solidFill>
                  <a:srgbClr val="000000"/>
                </a:solidFill>
                <a:latin typeface="Open Sans 1"/>
              </a:rPr>
              <a:t>new business models and operating models</a:t>
            </a:r>
          </a:p>
          <a:p>
            <a:pPr algn="l">
              <a:lnSpc>
                <a:spcPts val="2880"/>
              </a:lnSpc>
            </a:pPr>
            <a:endParaRPr lang="en-US" sz="2000">
              <a:solidFill>
                <a:srgbClr val="000000"/>
              </a:solidFill>
              <a:latin typeface="Open Sans 1"/>
            </a:endParaRPr>
          </a:p>
        </p:txBody>
      </p:sp>
      <p:sp>
        <p:nvSpPr>
          <p:cNvPr id="17" name="TextBox 17"/>
          <p:cNvSpPr txBox="1"/>
          <p:nvPr/>
        </p:nvSpPr>
        <p:spPr>
          <a:xfrm>
            <a:off x="5540210" y="3293725"/>
            <a:ext cx="4142568" cy="1099404"/>
          </a:xfrm>
          <a:prstGeom prst="rect">
            <a:avLst/>
          </a:prstGeom>
        </p:spPr>
        <p:txBody>
          <a:bodyPr lIns="0" tIns="0" rIns="0" bIns="0" rtlCol="0" anchor="t">
            <a:spAutoFit/>
          </a:bodyPr>
          <a:lstStyle/>
          <a:p>
            <a:pPr algn="ctr">
              <a:lnSpc>
                <a:spcPts val="2160"/>
              </a:lnSpc>
            </a:pPr>
            <a:r>
              <a:rPr lang="en-US" sz="1800">
                <a:solidFill>
                  <a:srgbClr val="4F4F51"/>
                </a:solidFill>
                <a:latin typeface="Open Sans 1 Italics"/>
              </a:rPr>
              <a:t>Scale material net new lines of business</a:t>
            </a:r>
          </a:p>
          <a:p>
            <a:pPr algn="ctr">
              <a:lnSpc>
                <a:spcPts val="2160"/>
              </a:lnSpc>
            </a:pPr>
            <a:endParaRPr lang="en-US" sz="1800">
              <a:solidFill>
                <a:srgbClr val="4F4F51"/>
              </a:solidFill>
              <a:latin typeface="Open Sans 1 Italics"/>
            </a:endParaRPr>
          </a:p>
          <a:p>
            <a:pPr algn="ctr">
              <a:lnSpc>
                <a:spcPts val="2160"/>
              </a:lnSpc>
            </a:pPr>
            <a:r>
              <a:rPr lang="en-US" sz="1800">
                <a:solidFill>
                  <a:srgbClr val="4F4F51"/>
                </a:solidFill>
                <a:latin typeface="Open Sans 1 Italics"/>
              </a:rPr>
              <a:t>Utilize digital technologies to enter adjacent markets</a:t>
            </a:r>
          </a:p>
        </p:txBody>
      </p:sp>
      <p:sp>
        <p:nvSpPr>
          <p:cNvPr id="18" name="TextBox 18"/>
          <p:cNvSpPr txBox="1"/>
          <p:nvPr/>
        </p:nvSpPr>
        <p:spPr>
          <a:xfrm>
            <a:off x="10014168" y="3233612"/>
            <a:ext cx="5505211" cy="2207399"/>
          </a:xfrm>
          <a:prstGeom prst="rect">
            <a:avLst/>
          </a:prstGeom>
        </p:spPr>
        <p:txBody>
          <a:bodyPr lIns="0" tIns="0" rIns="0" bIns="0" rtlCol="0" anchor="t">
            <a:spAutoFit/>
          </a:bodyPr>
          <a:lstStyle/>
          <a:p>
            <a:pPr algn="ctr">
              <a:lnSpc>
                <a:spcPts val="2160"/>
              </a:lnSpc>
            </a:pPr>
            <a:r>
              <a:rPr lang="en-US" sz="1800">
                <a:solidFill>
                  <a:srgbClr val="4F4F51"/>
                </a:solidFill>
                <a:latin typeface="Open Sans 1 Italics"/>
              </a:rPr>
              <a:t>Develop &amp; deploy systems of engagement to increase customer experience value</a:t>
            </a:r>
          </a:p>
          <a:p>
            <a:pPr algn="ctr">
              <a:lnSpc>
                <a:spcPts val="2160"/>
              </a:lnSpc>
            </a:pPr>
            <a:endParaRPr lang="en-US" sz="1800">
              <a:solidFill>
                <a:srgbClr val="4F4F51"/>
              </a:solidFill>
              <a:latin typeface="Open Sans 1 Italics"/>
            </a:endParaRPr>
          </a:p>
          <a:p>
            <a:pPr algn="ctr">
              <a:lnSpc>
                <a:spcPts val="2160"/>
              </a:lnSpc>
            </a:pPr>
            <a:r>
              <a:rPr lang="en-US" sz="1800">
                <a:solidFill>
                  <a:srgbClr val="4F4F51"/>
                </a:solidFill>
                <a:latin typeface="Open Sans 1 Italics"/>
              </a:rPr>
              <a:t>Utilize systems of intelligence to better understand and deliver new customer value</a:t>
            </a:r>
          </a:p>
          <a:p>
            <a:pPr algn="ctr">
              <a:lnSpc>
                <a:spcPts val="2160"/>
              </a:lnSpc>
            </a:pPr>
            <a:endParaRPr lang="en-US" sz="1800">
              <a:solidFill>
                <a:srgbClr val="4F4F51"/>
              </a:solidFill>
              <a:latin typeface="Open Sans 1 Italics"/>
            </a:endParaRPr>
          </a:p>
          <a:p>
            <a:pPr algn="ctr">
              <a:lnSpc>
                <a:spcPts val="2160"/>
              </a:lnSpc>
            </a:pPr>
            <a:endParaRPr lang="en-US" sz="1800">
              <a:solidFill>
                <a:srgbClr val="4F4F51"/>
              </a:solidFill>
              <a:latin typeface="Open Sans 1 Italics"/>
            </a:endParaRPr>
          </a:p>
          <a:p>
            <a:pPr algn="ctr">
              <a:lnSpc>
                <a:spcPts val="2160"/>
              </a:lnSpc>
            </a:pPr>
            <a:endParaRPr lang="en-US" sz="1800">
              <a:solidFill>
                <a:srgbClr val="4F4F51"/>
              </a:solidFill>
              <a:latin typeface="Open Sans 1 Italics"/>
            </a:endParaRPr>
          </a:p>
        </p:txBody>
      </p:sp>
      <p:sp>
        <p:nvSpPr>
          <p:cNvPr id="19" name="TextBox 19"/>
          <p:cNvSpPr txBox="1"/>
          <p:nvPr/>
        </p:nvSpPr>
        <p:spPr>
          <a:xfrm>
            <a:off x="5535350" y="5605800"/>
            <a:ext cx="4050625" cy="1930400"/>
          </a:xfrm>
          <a:prstGeom prst="rect">
            <a:avLst/>
          </a:prstGeom>
        </p:spPr>
        <p:txBody>
          <a:bodyPr lIns="0" tIns="0" rIns="0" bIns="0" rtlCol="0" anchor="t">
            <a:spAutoFit/>
          </a:bodyPr>
          <a:lstStyle/>
          <a:p>
            <a:pPr algn="ctr">
              <a:lnSpc>
                <a:spcPts val="2160"/>
              </a:lnSpc>
            </a:pPr>
            <a:r>
              <a:rPr lang="en-US" sz="1800">
                <a:solidFill>
                  <a:srgbClr val="4F4F51"/>
                </a:solidFill>
                <a:latin typeface="Open Sans 1 Italics"/>
              </a:rPr>
              <a:t>Utilize Agile, Lean &amp; DevOps to increase time to value</a:t>
            </a:r>
          </a:p>
          <a:p>
            <a:pPr algn="ctr">
              <a:lnSpc>
                <a:spcPts val="2160"/>
              </a:lnSpc>
            </a:pPr>
            <a:endParaRPr lang="en-US" sz="1800">
              <a:solidFill>
                <a:srgbClr val="4F4F51"/>
              </a:solidFill>
              <a:latin typeface="Open Sans 1 Italics"/>
            </a:endParaRPr>
          </a:p>
          <a:p>
            <a:pPr algn="ctr">
              <a:lnSpc>
                <a:spcPts val="2160"/>
              </a:lnSpc>
            </a:pPr>
            <a:r>
              <a:rPr lang="en-US" sz="1800">
                <a:solidFill>
                  <a:srgbClr val="4F4F51"/>
                </a:solidFill>
                <a:latin typeface="Open Sans 1 Italics"/>
              </a:rPr>
              <a:t>Identify, test &amp; validate next generation products, services and new business ideas</a:t>
            </a:r>
          </a:p>
          <a:p>
            <a:pPr algn="ctr">
              <a:lnSpc>
                <a:spcPts val="2160"/>
              </a:lnSpc>
            </a:pPr>
            <a:endParaRPr lang="en-US" sz="1800">
              <a:solidFill>
                <a:srgbClr val="4F4F51"/>
              </a:solidFill>
              <a:latin typeface="Open Sans 1 Italics"/>
            </a:endParaRPr>
          </a:p>
        </p:txBody>
      </p:sp>
      <p:sp>
        <p:nvSpPr>
          <p:cNvPr id="20" name="TextBox 20"/>
          <p:cNvSpPr txBox="1"/>
          <p:nvPr/>
        </p:nvSpPr>
        <p:spPr>
          <a:xfrm>
            <a:off x="9988348" y="5628764"/>
            <a:ext cx="5604566" cy="1653401"/>
          </a:xfrm>
          <a:prstGeom prst="rect">
            <a:avLst/>
          </a:prstGeom>
        </p:spPr>
        <p:txBody>
          <a:bodyPr lIns="0" tIns="0" rIns="0" bIns="0" rtlCol="0" anchor="t">
            <a:spAutoFit/>
          </a:bodyPr>
          <a:lstStyle/>
          <a:p>
            <a:pPr algn="ctr">
              <a:lnSpc>
                <a:spcPts val="2160"/>
              </a:lnSpc>
            </a:pPr>
            <a:r>
              <a:rPr lang="en-US" sz="1800">
                <a:solidFill>
                  <a:srgbClr val="4F4F51"/>
                </a:solidFill>
                <a:latin typeface="Open Sans 1 Italics"/>
              </a:rPr>
              <a:t> Recover trapped value by consolidating, replacing or eliminating systems of record</a:t>
            </a:r>
          </a:p>
          <a:p>
            <a:pPr algn="ctr">
              <a:lnSpc>
                <a:spcPts val="2160"/>
              </a:lnSpc>
            </a:pPr>
            <a:endParaRPr lang="en-US" sz="1800">
              <a:solidFill>
                <a:srgbClr val="4F4F51"/>
              </a:solidFill>
              <a:latin typeface="Open Sans 1 Italics"/>
            </a:endParaRPr>
          </a:p>
          <a:p>
            <a:pPr algn="ctr">
              <a:lnSpc>
                <a:spcPts val="2160"/>
              </a:lnSpc>
            </a:pPr>
            <a:r>
              <a:rPr lang="en-US" sz="1800">
                <a:solidFill>
                  <a:srgbClr val="4F4F51"/>
                </a:solidFill>
                <a:latin typeface="Open Sans 1 Italics"/>
              </a:rPr>
              <a:t>Optimize SOR maintenance costs and reduce technical debt</a:t>
            </a:r>
          </a:p>
          <a:p>
            <a:pPr algn="ctr">
              <a:lnSpc>
                <a:spcPts val="2160"/>
              </a:lnSpc>
            </a:pPr>
            <a:endParaRPr lang="en-US" sz="1800">
              <a:solidFill>
                <a:srgbClr val="4F4F51"/>
              </a:solidFill>
              <a:latin typeface="Open Sans 1 Itali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886" y="8733665"/>
            <a:ext cx="2655302" cy="776879"/>
          </a:xfrm>
          <a:custGeom>
            <a:avLst/>
            <a:gdLst/>
            <a:ahLst/>
            <a:cxnLst/>
            <a:rect l="l" t="t" r="r" b="b"/>
            <a:pathLst>
              <a:path w="2655302" h="776879">
                <a:moveTo>
                  <a:pt x="0" y="0"/>
                </a:moveTo>
                <a:lnTo>
                  <a:pt x="2655302" y="0"/>
                </a:lnTo>
                <a:lnTo>
                  <a:pt x="2655302" y="776879"/>
                </a:lnTo>
                <a:lnTo>
                  <a:pt x="0" y="776879"/>
                </a:lnTo>
                <a:lnTo>
                  <a:pt x="0" y="0"/>
                </a:lnTo>
                <a:close/>
              </a:path>
            </a:pathLst>
          </a:custGeom>
          <a:blipFill>
            <a:blip r:embed="rId3"/>
            <a:stretch>
              <a:fillRect/>
            </a:stretch>
          </a:blipFill>
        </p:spPr>
      </p:sp>
      <p:sp>
        <p:nvSpPr>
          <p:cNvPr id="3" name="AutoShape 3"/>
          <p:cNvSpPr/>
          <p:nvPr/>
        </p:nvSpPr>
        <p:spPr>
          <a:xfrm rot="5371485">
            <a:off x="2322383" y="5867641"/>
            <a:ext cx="5741771" cy="0"/>
          </a:xfrm>
          <a:prstGeom prst="line">
            <a:avLst/>
          </a:prstGeom>
          <a:ln w="38100" cap="rnd">
            <a:solidFill>
              <a:srgbClr val="C00000"/>
            </a:solidFill>
            <a:prstDash val="solid"/>
            <a:headEnd type="none" w="sm" len="sm"/>
            <a:tailEnd type="none" w="sm" len="sm"/>
          </a:ln>
        </p:spPr>
      </p:sp>
      <p:sp>
        <p:nvSpPr>
          <p:cNvPr id="4" name="TextBox 4"/>
          <p:cNvSpPr txBox="1"/>
          <p:nvPr/>
        </p:nvSpPr>
        <p:spPr>
          <a:xfrm>
            <a:off x="5550456" y="3074917"/>
            <a:ext cx="11137342" cy="2485835"/>
          </a:xfrm>
          <a:prstGeom prst="rect">
            <a:avLst/>
          </a:prstGeom>
        </p:spPr>
        <p:txBody>
          <a:bodyPr lIns="0" tIns="0" rIns="0" bIns="0" rtlCol="0" anchor="t">
            <a:spAutoFit/>
          </a:bodyPr>
          <a:lstStyle/>
          <a:p>
            <a:pPr marL="640611" lvl="2" indent="-213537" algn="l">
              <a:lnSpc>
                <a:spcPts val="4036"/>
              </a:lnSpc>
              <a:buFont typeface="Arial"/>
              <a:buChar char="⚬"/>
            </a:pPr>
            <a:r>
              <a:rPr lang="en-US" sz="2299">
                <a:solidFill>
                  <a:srgbClr val="231F20"/>
                </a:solidFill>
                <a:latin typeface="Open Sans 1"/>
              </a:rPr>
              <a:t>Technology that drives the execution of League Strategic Goals</a:t>
            </a:r>
          </a:p>
          <a:p>
            <a:pPr marL="640611" lvl="2" indent="-213537" algn="l">
              <a:lnSpc>
                <a:spcPts val="4036"/>
              </a:lnSpc>
              <a:buFont typeface="Arial"/>
              <a:buChar char="⚬"/>
            </a:pPr>
            <a:r>
              <a:rPr lang="en-US" sz="2299">
                <a:solidFill>
                  <a:srgbClr val="000000"/>
                </a:solidFill>
                <a:latin typeface="Open Sans 1"/>
              </a:rPr>
              <a:t>Charged with serving the organization’s customers and creating near-term financial returns. It represents the revenue generation arm of your business today. It provides the operating income to fund both your current and future operations</a:t>
            </a:r>
          </a:p>
        </p:txBody>
      </p:sp>
      <p:sp>
        <p:nvSpPr>
          <p:cNvPr id="5" name="TextBox 5"/>
          <p:cNvSpPr txBox="1"/>
          <p:nvPr/>
        </p:nvSpPr>
        <p:spPr>
          <a:xfrm>
            <a:off x="1156605" y="3263144"/>
            <a:ext cx="3679475" cy="511115"/>
          </a:xfrm>
          <a:prstGeom prst="rect">
            <a:avLst/>
          </a:prstGeom>
        </p:spPr>
        <p:txBody>
          <a:bodyPr lIns="0" tIns="0" rIns="0" bIns="0" rtlCol="0" anchor="t">
            <a:spAutoFit/>
          </a:bodyPr>
          <a:lstStyle/>
          <a:p>
            <a:pPr algn="ctr">
              <a:lnSpc>
                <a:spcPts val="3694"/>
              </a:lnSpc>
            </a:pPr>
            <a:r>
              <a:rPr lang="en-US" sz="2720">
                <a:solidFill>
                  <a:srgbClr val="558ED5"/>
                </a:solidFill>
                <a:latin typeface="Montserrat Bold"/>
              </a:rPr>
              <a:t>Performance Zone</a:t>
            </a:r>
          </a:p>
        </p:txBody>
      </p:sp>
      <p:sp>
        <p:nvSpPr>
          <p:cNvPr id="6" name="TextBox 6"/>
          <p:cNvSpPr txBox="1"/>
          <p:nvPr/>
        </p:nvSpPr>
        <p:spPr>
          <a:xfrm>
            <a:off x="1156605" y="6228029"/>
            <a:ext cx="3679475" cy="511115"/>
          </a:xfrm>
          <a:prstGeom prst="rect">
            <a:avLst/>
          </a:prstGeom>
        </p:spPr>
        <p:txBody>
          <a:bodyPr lIns="0" tIns="0" rIns="0" bIns="0" rtlCol="0" anchor="t">
            <a:spAutoFit/>
          </a:bodyPr>
          <a:lstStyle/>
          <a:p>
            <a:pPr algn="ctr">
              <a:lnSpc>
                <a:spcPts val="3694"/>
              </a:lnSpc>
            </a:pPr>
            <a:r>
              <a:rPr lang="en-US" sz="2720">
                <a:solidFill>
                  <a:srgbClr val="558ED5"/>
                </a:solidFill>
                <a:latin typeface="Montserrat Bold"/>
              </a:rPr>
              <a:t>Productivity Zone</a:t>
            </a:r>
          </a:p>
        </p:txBody>
      </p:sp>
      <p:sp>
        <p:nvSpPr>
          <p:cNvPr id="7" name="TextBox 7"/>
          <p:cNvSpPr txBox="1"/>
          <p:nvPr/>
        </p:nvSpPr>
        <p:spPr>
          <a:xfrm>
            <a:off x="5558477" y="5920459"/>
            <a:ext cx="12474392" cy="4221862"/>
          </a:xfrm>
          <a:prstGeom prst="rect">
            <a:avLst/>
          </a:prstGeom>
        </p:spPr>
        <p:txBody>
          <a:bodyPr lIns="0" tIns="0" rIns="0" bIns="0" rtlCol="0" anchor="t">
            <a:spAutoFit/>
          </a:bodyPr>
          <a:lstStyle/>
          <a:p>
            <a:pPr marL="668463" lvl="2" indent="-222821" algn="l">
              <a:lnSpc>
                <a:spcPts val="4211"/>
              </a:lnSpc>
              <a:buFont typeface="Arial"/>
              <a:buChar char="⚬"/>
            </a:pPr>
            <a:r>
              <a:rPr lang="en-US" sz="2399">
                <a:solidFill>
                  <a:srgbClr val="231F20"/>
                </a:solidFill>
                <a:latin typeface="Open Sans 1"/>
              </a:rPr>
              <a:t>Shared service investments and programs that serve to optimize the core business.</a:t>
            </a:r>
          </a:p>
          <a:p>
            <a:pPr marL="668463" lvl="2" indent="-222821" algn="l">
              <a:lnSpc>
                <a:spcPts val="4211"/>
              </a:lnSpc>
              <a:buFont typeface="Arial"/>
              <a:buChar char="⚬"/>
            </a:pPr>
            <a:r>
              <a:rPr lang="en-US" sz="2399">
                <a:solidFill>
                  <a:srgbClr val="231F20"/>
                </a:solidFill>
                <a:latin typeface="Open Sans 1"/>
              </a:rPr>
              <a:t>Maintains efficiency and compliance and delivers optimization</a:t>
            </a:r>
          </a:p>
          <a:p>
            <a:pPr marL="668463" lvl="2" indent="-222821" algn="l">
              <a:lnSpc>
                <a:spcPts val="4211"/>
              </a:lnSpc>
              <a:buFont typeface="Arial"/>
              <a:buChar char="⚬"/>
            </a:pPr>
            <a:r>
              <a:rPr lang="en-US" sz="2399">
                <a:solidFill>
                  <a:srgbClr val="000000"/>
                </a:solidFill>
                <a:latin typeface="Open Sans 1"/>
              </a:rPr>
              <a:t>Charged with making the performance zone more efficient and more effective as well as insuring it complies with all regulations. It consists of all the cost-center functions that provide these services, an expense that is subtracted from your performance zone revenue, along with the latter’s cost of goods, to produce your operating income.</a:t>
            </a:r>
          </a:p>
          <a:p>
            <a:pPr marL="668463" lvl="2" indent="-222821" algn="l">
              <a:lnSpc>
                <a:spcPts val="4211"/>
              </a:lnSpc>
            </a:pPr>
            <a:endParaRPr lang="en-US" sz="2399">
              <a:solidFill>
                <a:srgbClr val="000000"/>
              </a:solidFill>
              <a:latin typeface="Open Sans 1"/>
            </a:endParaRPr>
          </a:p>
        </p:txBody>
      </p:sp>
      <p:sp>
        <p:nvSpPr>
          <p:cNvPr id="8" name="TextBox 8"/>
          <p:cNvSpPr txBox="1"/>
          <p:nvPr/>
        </p:nvSpPr>
        <p:spPr>
          <a:xfrm>
            <a:off x="1028699" y="895350"/>
            <a:ext cx="16404529" cy="1241346"/>
          </a:xfrm>
          <a:prstGeom prst="rect">
            <a:avLst/>
          </a:prstGeom>
        </p:spPr>
        <p:txBody>
          <a:bodyPr lIns="0" tIns="0" rIns="0" bIns="0" rtlCol="0" anchor="t">
            <a:spAutoFit/>
          </a:bodyPr>
          <a:lstStyle/>
          <a:p>
            <a:pPr algn="l">
              <a:lnSpc>
                <a:spcPts val="8639"/>
              </a:lnSpc>
            </a:pPr>
            <a:r>
              <a:rPr lang="en-US" sz="6000">
                <a:solidFill>
                  <a:srgbClr val="558ED5"/>
                </a:solidFill>
                <a:latin typeface="Montserrat Bold"/>
              </a:rPr>
              <a:t>Sustaining Innovation:</a:t>
            </a:r>
            <a:r>
              <a:rPr lang="en-US" sz="6000">
                <a:solidFill>
                  <a:srgbClr val="558ED5"/>
                </a:solidFill>
                <a:latin typeface="Montserrat"/>
              </a:rPr>
              <a:t> </a:t>
            </a:r>
            <a:r>
              <a:rPr lang="en-US" sz="6000">
                <a:solidFill>
                  <a:srgbClr val="090F10"/>
                </a:solidFill>
                <a:latin typeface="Montserrat Bold Italics"/>
              </a:rPr>
              <a:t>Run the Business</a:t>
            </a:r>
          </a:p>
        </p:txBody>
      </p:sp>
      <p:sp>
        <p:nvSpPr>
          <p:cNvPr id="9" name="AutoShape 9"/>
          <p:cNvSpPr/>
          <p:nvPr/>
        </p:nvSpPr>
        <p:spPr>
          <a:xfrm rot="20234">
            <a:off x="1004829" y="5916851"/>
            <a:ext cx="12136723" cy="0"/>
          </a:xfrm>
          <a:prstGeom prst="line">
            <a:avLst/>
          </a:prstGeom>
          <a:ln w="38100" cap="rnd">
            <a:solidFill>
              <a:srgbClr val="C00000"/>
            </a:solidFill>
            <a:prstDash val="solid"/>
            <a:headEnd type="none" w="sm" len="sm"/>
            <a:tailEnd type="none" w="sm" len="sm"/>
          </a:ln>
        </p:spPr>
      </p:sp>
      <p:sp>
        <p:nvSpPr>
          <p:cNvPr id="10" name="TextBox 10"/>
          <p:cNvSpPr txBox="1"/>
          <p:nvPr/>
        </p:nvSpPr>
        <p:spPr>
          <a:xfrm>
            <a:off x="496961" y="4082914"/>
            <a:ext cx="4403074" cy="1617869"/>
          </a:xfrm>
          <a:prstGeom prst="rect">
            <a:avLst/>
          </a:prstGeom>
        </p:spPr>
        <p:txBody>
          <a:bodyPr lIns="0" tIns="0" rIns="0" bIns="0" rtlCol="0" anchor="t">
            <a:spAutoFit/>
          </a:bodyPr>
          <a:lstStyle/>
          <a:p>
            <a:pPr algn="ctr">
              <a:lnSpc>
                <a:spcPts val="3922"/>
              </a:lnSpc>
            </a:pPr>
            <a:r>
              <a:rPr lang="en-US" sz="2724">
                <a:solidFill>
                  <a:srgbClr val="231F20"/>
                </a:solidFill>
                <a:latin typeface="Open Sans 1 Bold"/>
              </a:rPr>
              <a:t>Increase Consumption | Fan Growth | Grow Key Demographics</a:t>
            </a:r>
          </a:p>
          <a:p>
            <a:pPr algn="ctr">
              <a:lnSpc>
                <a:spcPts val="1362"/>
              </a:lnSpc>
            </a:pPr>
            <a:endParaRPr lang="en-US" sz="2724">
              <a:solidFill>
                <a:srgbClr val="231F20"/>
              </a:solidFill>
              <a:latin typeface="Open Sans 1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886" y="8733665"/>
            <a:ext cx="2655302" cy="776879"/>
          </a:xfrm>
          <a:custGeom>
            <a:avLst/>
            <a:gdLst/>
            <a:ahLst/>
            <a:cxnLst/>
            <a:rect l="l" t="t" r="r" b="b"/>
            <a:pathLst>
              <a:path w="2655302" h="776879">
                <a:moveTo>
                  <a:pt x="0" y="0"/>
                </a:moveTo>
                <a:lnTo>
                  <a:pt x="2655302" y="0"/>
                </a:lnTo>
                <a:lnTo>
                  <a:pt x="2655302" y="776879"/>
                </a:lnTo>
                <a:lnTo>
                  <a:pt x="0" y="776879"/>
                </a:lnTo>
                <a:lnTo>
                  <a:pt x="0" y="0"/>
                </a:lnTo>
                <a:close/>
              </a:path>
            </a:pathLst>
          </a:custGeom>
          <a:blipFill>
            <a:blip r:embed="rId3"/>
            <a:stretch>
              <a:fillRect/>
            </a:stretch>
          </a:blipFill>
        </p:spPr>
      </p:sp>
      <p:sp>
        <p:nvSpPr>
          <p:cNvPr id="3" name="TextBox 3"/>
          <p:cNvSpPr txBox="1"/>
          <p:nvPr/>
        </p:nvSpPr>
        <p:spPr>
          <a:xfrm>
            <a:off x="772130" y="895350"/>
            <a:ext cx="17006346" cy="1241346"/>
          </a:xfrm>
          <a:prstGeom prst="rect">
            <a:avLst/>
          </a:prstGeom>
        </p:spPr>
        <p:txBody>
          <a:bodyPr lIns="0" tIns="0" rIns="0" bIns="0" rtlCol="0" anchor="t">
            <a:spAutoFit/>
          </a:bodyPr>
          <a:lstStyle/>
          <a:p>
            <a:pPr algn="l">
              <a:lnSpc>
                <a:spcPts val="8639"/>
              </a:lnSpc>
            </a:pPr>
            <a:r>
              <a:rPr lang="en-US" sz="6000">
                <a:solidFill>
                  <a:srgbClr val="003A74"/>
                </a:solidFill>
                <a:latin typeface="Montserrat Bold"/>
              </a:rPr>
              <a:t>Disruptive Innovation: </a:t>
            </a:r>
            <a:r>
              <a:rPr lang="en-US" sz="6000">
                <a:solidFill>
                  <a:srgbClr val="090F10"/>
                </a:solidFill>
                <a:latin typeface="Montserrat Bold Italics"/>
              </a:rPr>
              <a:t>Grow the Business</a:t>
            </a:r>
          </a:p>
        </p:txBody>
      </p:sp>
      <p:sp>
        <p:nvSpPr>
          <p:cNvPr id="4" name="AutoShape 4"/>
          <p:cNvSpPr/>
          <p:nvPr/>
        </p:nvSpPr>
        <p:spPr>
          <a:xfrm rot="20234">
            <a:off x="1004772" y="5601923"/>
            <a:ext cx="12136723" cy="0"/>
          </a:xfrm>
          <a:prstGeom prst="line">
            <a:avLst/>
          </a:prstGeom>
          <a:ln w="38100" cap="rnd">
            <a:solidFill>
              <a:srgbClr val="C00000"/>
            </a:solidFill>
            <a:prstDash val="solid"/>
            <a:headEnd type="none" w="sm" len="sm"/>
            <a:tailEnd type="none" w="sm" len="sm"/>
          </a:ln>
        </p:spPr>
      </p:sp>
      <p:sp>
        <p:nvSpPr>
          <p:cNvPr id="5" name="AutoShape 5"/>
          <p:cNvSpPr/>
          <p:nvPr/>
        </p:nvSpPr>
        <p:spPr>
          <a:xfrm rot="5373399">
            <a:off x="2111583" y="5433238"/>
            <a:ext cx="6154992" cy="0"/>
          </a:xfrm>
          <a:prstGeom prst="line">
            <a:avLst/>
          </a:prstGeom>
          <a:ln w="38100" cap="rnd">
            <a:solidFill>
              <a:srgbClr val="C00000"/>
            </a:solidFill>
            <a:prstDash val="solid"/>
            <a:headEnd type="none" w="sm" len="sm"/>
            <a:tailEnd type="none" w="sm" len="sm"/>
          </a:ln>
        </p:spPr>
      </p:sp>
      <p:sp>
        <p:nvSpPr>
          <p:cNvPr id="6" name="TextBox 6"/>
          <p:cNvSpPr txBox="1"/>
          <p:nvPr/>
        </p:nvSpPr>
        <p:spPr>
          <a:xfrm>
            <a:off x="5570072" y="3325820"/>
            <a:ext cx="11689228" cy="1554861"/>
          </a:xfrm>
          <a:prstGeom prst="rect">
            <a:avLst/>
          </a:prstGeom>
        </p:spPr>
        <p:txBody>
          <a:bodyPr lIns="0" tIns="0" rIns="0" bIns="0" rtlCol="0" anchor="t">
            <a:spAutoFit/>
          </a:bodyPr>
          <a:lstStyle/>
          <a:p>
            <a:pPr marL="605314" lvl="2" indent="-201771" algn="l">
              <a:lnSpc>
                <a:spcPts val="4212"/>
              </a:lnSpc>
              <a:buFont typeface="Arial"/>
              <a:buChar char="⚬"/>
            </a:pPr>
            <a:r>
              <a:rPr lang="en-US" sz="2400">
                <a:solidFill>
                  <a:srgbClr val="231F20"/>
                </a:solidFill>
                <a:latin typeface="Open Sans 1"/>
              </a:rPr>
              <a:t>The goal is to undertake a transformational initiative to put the NFL on a significantly different trajectory</a:t>
            </a:r>
          </a:p>
          <a:p>
            <a:pPr marL="605314" lvl="2" indent="-201771" algn="l">
              <a:lnSpc>
                <a:spcPts val="4212"/>
              </a:lnSpc>
            </a:pPr>
            <a:endParaRPr lang="en-US" sz="2400">
              <a:solidFill>
                <a:srgbClr val="231F20"/>
              </a:solidFill>
              <a:latin typeface="Open Sans 1"/>
            </a:endParaRPr>
          </a:p>
        </p:txBody>
      </p:sp>
      <p:sp>
        <p:nvSpPr>
          <p:cNvPr id="7" name="TextBox 7"/>
          <p:cNvSpPr txBox="1"/>
          <p:nvPr/>
        </p:nvSpPr>
        <p:spPr>
          <a:xfrm>
            <a:off x="1212180" y="2420229"/>
            <a:ext cx="3807381" cy="984128"/>
          </a:xfrm>
          <a:prstGeom prst="rect">
            <a:avLst/>
          </a:prstGeom>
        </p:spPr>
        <p:txBody>
          <a:bodyPr lIns="0" tIns="0" rIns="0" bIns="0" rtlCol="0" anchor="t">
            <a:spAutoFit/>
          </a:bodyPr>
          <a:lstStyle/>
          <a:p>
            <a:pPr algn="ctr">
              <a:lnSpc>
                <a:spcPts val="3694"/>
              </a:lnSpc>
            </a:pPr>
            <a:r>
              <a:rPr lang="en-US" sz="2720">
                <a:solidFill>
                  <a:srgbClr val="003A74"/>
                </a:solidFill>
                <a:latin typeface="Montserrat Bold"/>
              </a:rPr>
              <a:t>Transformation Zone </a:t>
            </a:r>
          </a:p>
        </p:txBody>
      </p:sp>
      <p:sp>
        <p:nvSpPr>
          <p:cNvPr id="8" name="TextBox 8"/>
          <p:cNvSpPr txBox="1"/>
          <p:nvPr/>
        </p:nvSpPr>
        <p:spPr>
          <a:xfrm>
            <a:off x="1152417" y="6831477"/>
            <a:ext cx="3679475" cy="511115"/>
          </a:xfrm>
          <a:prstGeom prst="rect">
            <a:avLst/>
          </a:prstGeom>
        </p:spPr>
        <p:txBody>
          <a:bodyPr lIns="0" tIns="0" rIns="0" bIns="0" rtlCol="0" anchor="t">
            <a:spAutoFit/>
          </a:bodyPr>
          <a:lstStyle/>
          <a:p>
            <a:pPr algn="ctr">
              <a:lnSpc>
                <a:spcPts val="3694"/>
              </a:lnSpc>
            </a:pPr>
            <a:r>
              <a:rPr lang="en-US" sz="2720">
                <a:solidFill>
                  <a:srgbClr val="003A74"/>
                </a:solidFill>
                <a:latin typeface="Montserrat Bold"/>
              </a:rPr>
              <a:t>Incubation Zone</a:t>
            </a:r>
          </a:p>
        </p:txBody>
      </p:sp>
      <p:sp>
        <p:nvSpPr>
          <p:cNvPr id="9" name="TextBox 9"/>
          <p:cNvSpPr txBox="1"/>
          <p:nvPr/>
        </p:nvSpPr>
        <p:spPr>
          <a:xfrm>
            <a:off x="5550455" y="5686511"/>
            <a:ext cx="11882769" cy="3898576"/>
          </a:xfrm>
          <a:prstGeom prst="rect">
            <a:avLst/>
          </a:prstGeom>
        </p:spPr>
        <p:txBody>
          <a:bodyPr lIns="0" tIns="0" rIns="0" bIns="0" rtlCol="0" anchor="t">
            <a:spAutoFit/>
          </a:bodyPr>
          <a:lstStyle/>
          <a:p>
            <a:pPr marL="605314" lvl="2" indent="-201771" algn="l">
              <a:lnSpc>
                <a:spcPts val="4212"/>
              </a:lnSpc>
              <a:buFont typeface="Arial"/>
              <a:buChar char="⚬"/>
            </a:pPr>
            <a:r>
              <a:rPr lang="en-US" sz="2400">
                <a:solidFill>
                  <a:srgbClr val="231F20"/>
                </a:solidFill>
                <a:latin typeface="Open Sans 1"/>
              </a:rPr>
              <a:t>New offers and products in emerging and/or fast-growing markets that could someday be a game changer for the business.</a:t>
            </a:r>
          </a:p>
          <a:p>
            <a:pPr marL="605314" lvl="2" indent="-201771" algn="l">
              <a:lnSpc>
                <a:spcPts val="4212"/>
              </a:lnSpc>
              <a:buFont typeface="Arial"/>
              <a:buChar char="⚬"/>
            </a:pPr>
            <a:r>
              <a:rPr lang="en-US" sz="2400">
                <a:solidFill>
                  <a:srgbClr val="000000"/>
                </a:solidFill>
                <a:latin typeface="Open Sans 1"/>
              </a:rPr>
              <a:t>Charged with exploring new products, services and businesses that can leverage new digital technologies and potentially have a significant impact on future business growth opportunities. It also serves as the staging area for all innovation projects.  Includes: project prioritization, demand management and governance processes.</a:t>
            </a:r>
          </a:p>
        </p:txBody>
      </p:sp>
      <p:sp>
        <p:nvSpPr>
          <p:cNvPr id="10" name="TextBox 10"/>
          <p:cNvSpPr txBox="1"/>
          <p:nvPr/>
        </p:nvSpPr>
        <p:spPr>
          <a:xfrm>
            <a:off x="772131" y="3586541"/>
            <a:ext cx="4187668" cy="1617869"/>
          </a:xfrm>
          <a:prstGeom prst="rect">
            <a:avLst/>
          </a:prstGeom>
        </p:spPr>
        <p:txBody>
          <a:bodyPr lIns="0" tIns="0" rIns="0" bIns="0" rtlCol="0" anchor="t">
            <a:spAutoFit/>
          </a:bodyPr>
          <a:lstStyle/>
          <a:p>
            <a:pPr algn="ctr">
              <a:lnSpc>
                <a:spcPts val="3922"/>
              </a:lnSpc>
            </a:pPr>
            <a:r>
              <a:rPr lang="en-US" sz="2724">
                <a:solidFill>
                  <a:srgbClr val="231F20"/>
                </a:solidFill>
                <a:latin typeface="Open Sans 1 Bold"/>
              </a:rPr>
              <a:t>Increase Consumption | Fan Growth | Grow Key Demographics</a:t>
            </a:r>
          </a:p>
          <a:p>
            <a:pPr algn="ctr">
              <a:lnSpc>
                <a:spcPts val="1362"/>
              </a:lnSpc>
            </a:pPr>
            <a:endParaRPr lang="en-US" sz="2724">
              <a:solidFill>
                <a:srgbClr val="231F20"/>
              </a:solidFill>
              <a:latin typeface="Open Sans 1 Bo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770330" y="2812712"/>
            <a:ext cx="13339027" cy="7452400"/>
          </a:xfrm>
          <a:prstGeom prst="rect">
            <a:avLst/>
          </a:prstGeom>
        </p:spPr>
        <p:txBody>
          <a:bodyPr lIns="0" tIns="0" rIns="0" bIns="0" rtlCol="0" anchor="t">
            <a:spAutoFit/>
          </a:bodyPr>
          <a:lstStyle/>
          <a:p>
            <a:pPr marL="452120" lvl="1" indent="-226060" algn="l">
              <a:lnSpc>
                <a:spcPts val="3359"/>
              </a:lnSpc>
              <a:buFont typeface="Arial"/>
              <a:buChar char="•"/>
            </a:pPr>
            <a:r>
              <a:rPr lang="en-US" sz="2799">
                <a:solidFill>
                  <a:srgbClr val="003A74"/>
                </a:solidFill>
                <a:latin typeface="Open Sans 1"/>
              </a:rPr>
              <a:t>The </a:t>
            </a:r>
            <a:r>
              <a:rPr lang="en-US" sz="2799">
                <a:solidFill>
                  <a:srgbClr val="C00000"/>
                </a:solidFill>
                <a:latin typeface="Open Sans 1 Bold Italics"/>
              </a:rPr>
              <a:t>NFL Tech Innovation HUB </a:t>
            </a:r>
            <a:r>
              <a:rPr lang="en-US" sz="2799">
                <a:solidFill>
                  <a:srgbClr val="003A74"/>
                </a:solidFill>
                <a:latin typeface="Open Sans 1"/>
              </a:rPr>
              <a:t>is charged with exploring new products, services and businesses that can leverage new digital technologies and potentially have an significant impact on future business growth opportunities. It also serves as the staging area for all major projects and includes project prioritization, demand management and resource allocation governance processes.</a:t>
            </a:r>
          </a:p>
          <a:p>
            <a:pPr marL="452120" lvl="1" indent="-226060" algn="l">
              <a:lnSpc>
                <a:spcPts val="3359"/>
              </a:lnSpc>
            </a:pPr>
            <a:endParaRPr lang="en-US" sz="2799">
              <a:solidFill>
                <a:srgbClr val="003A74"/>
              </a:solidFill>
              <a:latin typeface="Open Sans 1"/>
            </a:endParaRPr>
          </a:p>
          <a:p>
            <a:pPr marL="452120" lvl="1" indent="-226060" algn="l">
              <a:lnSpc>
                <a:spcPts val="3359"/>
              </a:lnSpc>
              <a:buFont typeface="Arial"/>
              <a:buChar char="•"/>
            </a:pPr>
            <a:r>
              <a:rPr lang="en-US" sz="2799">
                <a:solidFill>
                  <a:srgbClr val="003A74"/>
                </a:solidFill>
                <a:latin typeface="Open Sans 1"/>
              </a:rPr>
              <a:t>Accelerate the organization’s ability to identify, test and validate next generation product and service ideas and leverage digital technology enabled innovation to develop and deliver them</a:t>
            </a:r>
          </a:p>
          <a:p>
            <a:pPr marL="452120" lvl="1" indent="-226060" algn="l">
              <a:lnSpc>
                <a:spcPts val="3359"/>
              </a:lnSpc>
            </a:pPr>
            <a:endParaRPr lang="en-US" sz="2799">
              <a:solidFill>
                <a:srgbClr val="003A74"/>
              </a:solidFill>
              <a:latin typeface="Open Sans 1"/>
            </a:endParaRPr>
          </a:p>
          <a:p>
            <a:pPr marL="452120" lvl="1" indent="-226060" algn="l">
              <a:lnSpc>
                <a:spcPts val="3359"/>
              </a:lnSpc>
              <a:buFont typeface="Arial"/>
              <a:buChar char="•"/>
            </a:pPr>
            <a:r>
              <a:rPr lang="en-US" sz="2799">
                <a:solidFill>
                  <a:srgbClr val="003A74"/>
                </a:solidFill>
                <a:latin typeface="Open Sans 1"/>
              </a:rPr>
              <a:t>Learning faster for sustainable competitive advantage</a:t>
            </a:r>
          </a:p>
          <a:p>
            <a:pPr marL="452120" lvl="1" indent="-226060" algn="l">
              <a:lnSpc>
                <a:spcPts val="3359"/>
              </a:lnSpc>
            </a:pPr>
            <a:endParaRPr lang="en-US" sz="2799">
              <a:solidFill>
                <a:srgbClr val="003A74"/>
              </a:solidFill>
              <a:latin typeface="Open Sans 1"/>
            </a:endParaRPr>
          </a:p>
        </p:txBody>
      </p:sp>
      <p:sp>
        <p:nvSpPr>
          <p:cNvPr id="3" name="TextBox 3"/>
          <p:cNvSpPr txBox="1"/>
          <p:nvPr/>
        </p:nvSpPr>
        <p:spPr>
          <a:xfrm>
            <a:off x="3215625" y="6402050"/>
            <a:ext cx="2712750" cy="273725"/>
          </a:xfrm>
          <a:prstGeom prst="rect">
            <a:avLst/>
          </a:prstGeom>
        </p:spPr>
        <p:txBody>
          <a:bodyPr lIns="0" tIns="0" rIns="0" bIns="0" rtlCol="0" anchor="t">
            <a:spAutoFit/>
          </a:bodyPr>
          <a:lstStyle/>
          <a:p>
            <a:pPr algn="ctr">
              <a:lnSpc>
                <a:spcPts val="1439"/>
              </a:lnSpc>
            </a:pPr>
            <a:r>
              <a:rPr lang="en-US" sz="1200" spc="-47">
                <a:solidFill>
                  <a:srgbClr val="888888"/>
                </a:solidFill>
                <a:latin typeface="Open Sans 2"/>
              </a:rPr>
              <a:t>9</a:t>
            </a:r>
          </a:p>
        </p:txBody>
      </p:sp>
      <p:sp>
        <p:nvSpPr>
          <p:cNvPr id="4" name="TextBox 4"/>
          <p:cNvSpPr txBox="1"/>
          <p:nvPr/>
        </p:nvSpPr>
        <p:spPr>
          <a:xfrm>
            <a:off x="1028700" y="238125"/>
            <a:ext cx="16026848" cy="818768"/>
          </a:xfrm>
          <a:prstGeom prst="rect">
            <a:avLst/>
          </a:prstGeom>
        </p:spPr>
        <p:txBody>
          <a:bodyPr lIns="0" tIns="0" rIns="0" bIns="0" rtlCol="0" anchor="t">
            <a:spAutoFit/>
          </a:bodyPr>
          <a:lstStyle/>
          <a:p>
            <a:pPr algn="l">
              <a:lnSpc>
                <a:spcPts val="6768"/>
              </a:lnSpc>
            </a:pPr>
            <a:r>
              <a:rPr lang="en-US" sz="4700">
                <a:solidFill>
                  <a:srgbClr val="C00000"/>
                </a:solidFill>
                <a:latin typeface="Montserrat Bold"/>
              </a:rPr>
              <a:t>NFL Tech Innovation Framework</a:t>
            </a:r>
            <a:r>
              <a:rPr lang="en-US" sz="4700">
                <a:solidFill>
                  <a:srgbClr val="003A74"/>
                </a:solidFill>
                <a:latin typeface="Montserrat Bold"/>
              </a:rPr>
              <a:t> - Incubation Zone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15625" y="6402050"/>
            <a:ext cx="2712750" cy="273725"/>
          </a:xfrm>
          <a:prstGeom prst="rect">
            <a:avLst/>
          </a:prstGeom>
        </p:spPr>
        <p:txBody>
          <a:bodyPr lIns="0" tIns="0" rIns="0" bIns="0" rtlCol="0" anchor="t">
            <a:spAutoFit/>
          </a:bodyPr>
          <a:lstStyle/>
          <a:p>
            <a:pPr algn="ctr">
              <a:lnSpc>
                <a:spcPts val="1439"/>
              </a:lnSpc>
            </a:pPr>
            <a:r>
              <a:rPr lang="en-US" sz="1200" spc="-47">
                <a:solidFill>
                  <a:srgbClr val="888888"/>
                </a:solidFill>
                <a:latin typeface="Open Sans 2"/>
              </a:rPr>
              <a:t>9</a:t>
            </a:r>
          </a:p>
        </p:txBody>
      </p:sp>
      <p:sp>
        <p:nvSpPr>
          <p:cNvPr id="3" name="TextBox 3"/>
          <p:cNvSpPr txBox="1"/>
          <p:nvPr/>
        </p:nvSpPr>
        <p:spPr>
          <a:xfrm>
            <a:off x="761292" y="219075"/>
            <a:ext cx="16926731" cy="940308"/>
          </a:xfrm>
          <a:prstGeom prst="rect">
            <a:avLst/>
          </a:prstGeom>
        </p:spPr>
        <p:txBody>
          <a:bodyPr lIns="0" tIns="0" rIns="0" bIns="0" rtlCol="0" anchor="t">
            <a:spAutoFit/>
          </a:bodyPr>
          <a:lstStyle/>
          <a:p>
            <a:pPr algn="l">
              <a:lnSpc>
                <a:spcPts val="7776"/>
              </a:lnSpc>
            </a:pPr>
            <a:r>
              <a:rPr lang="en-US" sz="5400">
                <a:solidFill>
                  <a:srgbClr val="C00000"/>
                </a:solidFill>
                <a:latin typeface="Montserrat Bold"/>
              </a:rPr>
              <a:t>NFL Tech Innovation HUB </a:t>
            </a:r>
            <a:r>
              <a:rPr lang="en-US" sz="5400">
                <a:solidFill>
                  <a:srgbClr val="003A74"/>
                </a:solidFill>
                <a:latin typeface="Montserrat Bold"/>
              </a:rPr>
              <a:t>- The Next Big Wave</a:t>
            </a:r>
          </a:p>
        </p:txBody>
      </p:sp>
      <p:sp>
        <p:nvSpPr>
          <p:cNvPr id="4" name="Freeform 4"/>
          <p:cNvSpPr/>
          <p:nvPr/>
        </p:nvSpPr>
        <p:spPr>
          <a:xfrm>
            <a:off x="5744506" y="4068669"/>
            <a:ext cx="6364852" cy="5910218"/>
          </a:xfrm>
          <a:custGeom>
            <a:avLst/>
            <a:gdLst/>
            <a:ahLst/>
            <a:cxnLst/>
            <a:rect l="l" t="t" r="r" b="b"/>
            <a:pathLst>
              <a:path w="6364852" h="5910218">
                <a:moveTo>
                  <a:pt x="0" y="0"/>
                </a:moveTo>
                <a:lnTo>
                  <a:pt x="6364852" y="0"/>
                </a:lnTo>
                <a:lnTo>
                  <a:pt x="6364852" y="5910218"/>
                </a:lnTo>
                <a:lnTo>
                  <a:pt x="0" y="5910218"/>
                </a:lnTo>
                <a:lnTo>
                  <a:pt x="0" y="0"/>
                </a:lnTo>
                <a:close/>
              </a:path>
            </a:pathLst>
          </a:custGeom>
          <a:blipFill>
            <a:blip r:embed="rId2"/>
            <a:stretch>
              <a:fillRect l="-26670" r="-38347"/>
            </a:stretch>
          </a:blipFill>
        </p:spPr>
      </p:sp>
      <p:sp>
        <p:nvSpPr>
          <p:cNvPr id="5" name="TextBox 5"/>
          <p:cNvSpPr txBox="1"/>
          <p:nvPr/>
        </p:nvSpPr>
        <p:spPr>
          <a:xfrm>
            <a:off x="463340" y="1271131"/>
            <a:ext cx="17224683" cy="2394587"/>
          </a:xfrm>
          <a:prstGeom prst="rect">
            <a:avLst/>
          </a:prstGeom>
        </p:spPr>
        <p:txBody>
          <a:bodyPr lIns="0" tIns="0" rIns="0" bIns="0" rtlCol="0" anchor="t">
            <a:spAutoFit/>
          </a:bodyPr>
          <a:lstStyle/>
          <a:p>
            <a:pPr algn="just">
              <a:lnSpc>
                <a:spcPts val="4859"/>
              </a:lnSpc>
              <a:spcBef>
                <a:spcPct val="0"/>
              </a:spcBef>
            </a:pPr>
            <a:r>
              <a:rPr lang="en-US" sz="2699">
                <a:solidFill>
                  <a:srgbClr val="000000"/>
                </a:solidFill>
                <a:latin typeface="Open Sans 1"/>
              </a:rPr>
              <a:t>In the rapidly evolving technological landscape, businesses need a nucleus of innovation to drive competitive advantage. The </a:t>
            </a:r>
            <a:r>
              <a:rPr lang="en-US" sz="2699">
                <a:solidFill>
                  <a:srgbClr val="C00000"/>
                </a:solidFill>
                <a:latin typeface="Open Sans 1 Bold"/>
              </a:rPr>
              <a:t>NFL Tech Innovation HUB</a:t>
            </a:r>
            <a:r>
              <a:rPr lang="en-US" sz="2699">
                <a:solidFill>
                  <a:srgbClr val="000000"/>
                </a:solidFill>
                <a:latin typeface="Open Sans 1"/>
              </a:rPr>
              <a:t> is conceived as a cutting-edge initiative integrating disruptive technology with business strategy, offering an environment for incubating future business ideas while ensuring robust governance </a:t>
            </a:r>
            <a:r>
              <a:rPr lang="en-US" sz="2699">
                <a:solidFill>
                  <a:srgbClr val="C00000"/>
                </a:solidFill>
                <a:latin typeface="Open Sans 1 Bold"/>
              </a:rPr>
              <a:t>(NFL  Innovation Framework)</a:t>
            </a:r>
            <a:r>
              <a:rPr lang="en-US" sz="2699">
                <a:solidFill>
                  <a:srgbClr val="000000"/>
                </a:solidFill>
                <a:latin typeface="Open Sans 1"/>
              </a:rPr>
              <a:t> and a collaborative approach.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1292" y="1584967"/>
            <a:ext cx="15906131" cy="7543800"/>
          </a:xfrm>
          <a:prstGeom prst="rect">
            <a:avLst/>
          </a:prstGeom>
        </p:spPr>
        <p:txBody>
          <a:bodyPr lIns="0" tIns="0" rIns="0" bIns="0" rtlCol="0" anchor="t">
            <a:spAutoFit/>
          </a:bodyPr>
          <a:lstStyle/>
          <a:p>
            <a:pPr>
              <a:lnSpc>
                <a:spcPts val="3359"/>
              </a:lnSpc>
            </a:pPr>
            <a:endParaRPr/>
          </a:p>
          <a:p>
            <a:pPr>
              <a:lnSpc>
                <a:spcPts val="3359"/>
              </a:lnSpc>
            </a:pPr>
            <a:r>
              <a:rPr lang="en-US" sz="2799">
                <a:solidFill>
                  <a:srgbClr val="003A74"/>
                </a:solidFill>
                <a:latin typeface="Open Sans 1 Bold"/>
              </a:rPr>
              <a:t>1. Alignment of Technology and Business Strategy:</a:t>
            </a:r>
            <a:r>
              <a:rPr lang="en-US" sz="2799">
                <a:solidFill>
                  <a:srgbClr val="C00000"/>
                </a:solidFill>
                <a:latin typeface="Open Sans 1"/>
              </a:rPr>
              <a:t> </a:t>
            </a:r>
            <a:r>
              <a:rPr lang="en-US" sz="2799">
                <a:solidFill>
                  <a:srgbClr val="4F81BD"/>
                </a:solidFill>
                <a:latin typeface="Open Sans 1"/>
              </a:rPr>
              <a:t>The hub ensures that technological advancements are congruent with business goals, offering a seamless path for businesses to adopt, adapt, and scale new technologies effectively.</a:t>
            </a:r>
          </a:p>
          <a:p>
            <a:pPr>
              <a:lnSpc>
                <a:spcPts val="3359"/>
              </a:lnSpc>
            </a:pPr>
            <a:endParaRPr lang="en-US" sz="2799">
              <a:solidFill>
                <a:srgbClr val="4F81BD"/>
              </a:solidFill>
              <a:latin typeface="Open Sans 1"/>
            </a:endParaRPr>
          </a:p>
          <a:p>
            <a:pPr>
              <a:lnSpc>
                <a:spcPts val="3359"/>
              </a:lnSpc>
            </a:pPr>
            <a:r>
              <a:rPr lang="en-US" sz="2799">
                <a:solidFill>
                  <a:srgbClr val="003A74"/>
                </a:solidFill>
                <a:latin typeface="Open Sans 1 Bold"/>
              </a:rPr>
              <a:t>2. Incubation of Future Business Strategies:</a:t>
            </a:r>
            <a:r>
              <a:rPr lang="en-US" sz="2799">
                <a:solidFill>
                  <a:srgbClr val="C00000"/>
                </a:solidFill>
                <a:latin typeface="Open Sans 1"/>
              </a:rPr>
              <a:t> </a:t>
            </a:r>
            <a:r>
              <a:rPr lang="en-US" sz="2799">
                <a:solidFill>
                  <a:srgbClr val="4F81BD"/>
                </a:solidFill>
                <a:latin typeface="Open Sans 1"/>
              </a:rPr>
              <a:t>By serving as a birthplace for innovative ideas, the hub fosters an environment where fledgling business strategies can be tested, refined, and matured, using technology as a driving force.</a:t>
            </a:r>
          </a:p>
          <a:p>
            <a:pPr>
              <a:lnSpc>
                <a:spcPts val="3359"/>
              </a:lnSpc>
            </a:pPr>
            <a:endParaRPr lang="en-US" sz="2799">
              <a:solidFill>
                <a:srgbClr val="4F81BD"/>
              </a:solidFill>
              <a:latin typeface="Open Sans 1"/>
            </a:endParaRPr>
          </a:p>
          <a:p>
            <a:pPr>
              <a:lnSpc>
                <a:spcPts val="3359"/>
              </a:lnSpc>
            </a:pPr>
            <a:r>
              <a:rPr lang="en-US" sz="2799">
                <a:solidFill>
                  <a:srgbClr val="003A74"/>
                </a:solidFill>
                <a:latin typeface="Open Sans 1 Bold"/>
              </a:rPr>
              <a:t>3. Collaborative Ecosystem for Innovation:</a:t>
            </a:r>
            <a:r>
              <a:rPr lang="en-US" sz="2799">
                <a:solidFill>
                  <a:srgbClr val="C00000"/>
                </a:solidFill>
                <a:latin typeface="Open Sans 1"/>
              </a:rPr>
              <a:t> </a:t>
            </a:r>
            <a:r>
              <a:rPr lang="en-US" sz="2799">
                <a:solidFill>
                  <a:srgbClr val="4F81BD"/>
                </a:solidFill>
                <a:latin typeface="Open Sans 1"/>
              </a:rPr>
              <a:t>The introduction of an innovation steering committee guarantees that stakeholders, including tech innovation partners, are aligned, have a voice, and work collaboratively towards shared objectives.</a:t>
            </a:r>
          </a:p>
          <a:p>
            <a:pPr>
              <a:lnSpc>
                <a:spcPts val="3359"/>
              </a:lnSpc>
            </a:pPr>
            <a:endParaRPr lang="en-US" sz="2799">
              <a:solidFill>
                <a:srgbClr val="4F81BD"/>
              </a:solidFill>
              <a:latin typeface="Open Sans 1"/>
            </a:endParaRPr>
          </a:p>
          <a:p>
            <a:pPr>
              <a:lnSpc>
                <a:spcPts val="3359"/>
              </a:lnSpc>
            </a:pPr>
            <a:r>
              <a:rPr lang="en-US" sz="2799">
                <a:solidFill>
                  <a:srgbClr val="003A74"/>
                </a:solidFill>
                <a:latin typeface="Open Sans 1 Bold"/>
              </a:rPr>
              <a:t>4. Robust Governance Model:</a:t>
            </a:r>
            <a:r>
              <a:rPr lang="en-US" sz="2799">
                <a:solidFill>
                  <a:srgbClr val="C00000"/>
                </a:solidFill>
                <a:latin typeface="Open Sans 1"/>
              </a:rPr>
              <a:t> </a:t>
            </a:r>
            <a:r>
              <a:rPr lang="en-US" sz="2799">
                <a:solidFill>
                  <a:srgbClr val="4F81BD"/>
                </a:solidFill>
                <a:latin typeface="Open Sans 1"/>
              </a:rPr>
              <a:t>The hub's customized framework ensures that the adoption and adaptation of disruptive technologies are executed within a structured, risk-mitigated environment, ensuring compliance, security, and optimal utilization.</a:t>
            </a:r>
          </a:p>
          <a:p>
            <a:pPr>
              <a:lnSpc>
                <a:spcPts val="3359"/>
              </a:lnSpc>
            </a:pPr>
            <a:endParaRPr lang="en-US" sz="2799">
              <a:solidFill>
                <a:srgbClr val="4F81BD"/>
              </a:solidFill>
              <a:latin typeface="Open Sans 1"/>
            </a:endParaRPr>
          </a:p>
          <a:p>
            <a:pPr marL="452120" lvl="1" indent="-226060" algn="l">
              <a:lnSpc>
                <a:spcPts val="3359"/>
              </a:lnSpc>
            </a:pPr>
            <a:endParaRPr lang="en-US" sz="2799">
              <a:solidFill>
                <a:srgbClr val="4F81BD"/>
              </a:solidFill>
              <a:latin typeface="Open Sans 1"/>
            </a:endParaRPr>
          </a:p>
        </p:txBody>
      </p:sp>
      <p:sp>
        <p:nvSpPr>
          <p:cNvPr id="3" name="TextBox 3"/>
          <p:cNvSpPr txBox="1"/>
          <p:nvPr/>
        </p:nvSpPr>
        <p:spPr>
          <a:xfrm>
            <a:off x="3215625" y="6402050"/>
            <a:ext cx="2712750" cy="273725"/>
          </a:xfrm>
          <a:prstGeom prst="rect">
            <a:avLst/>
          </a:prstGeom>
        </p:spPr>
        <p:txBody>
          <a:bodyPr lIns="0" tIns="0" rIns="0" bIns="0" rtlCol="0" anchor="t">
            <a:spAutoFit/>
          </a:bodyPr>
          <a:lstStyle/>
          <a:p>
            <a:pPr algn="ctr">
              <a:lnSpc>
                <a:spcPts val="1439"/>
              </a:lnSpc>
            </a:pPr>
            <a:r>
              <a:rPr lang="en-US" sz="1200" spc="-47">
                <a:solidFill>
                  <a:srgbClr val="888888"/>
                </a:solidFill>
                <a:latin typeface="Open Sans 2"/>
              </a:rPr>
              <a:t>9</a:t>
            </a:r>
          </a:p>
        </p:txBody>
      </p:sp>
      <p:sp>
        <p:nvSpPr>
          <p:cNvPr id="4" name="TextBox 4"/>
          <p:cNvSpPr txBox="1"/>
          <p:nvPr/>
        </p:nvSpPr>
        <p:spPr>
          <a:xfrm>
            <a:off x="761292" y="219075"/>
            <a:ext cx="16926731" cy="924305"/>
          </a:xfrm>
          <a:prstGeom prst="rect">
            <a:avLst/>
          </a:prstGeom>
        </p:spPr>
        <p:txBody>
          <a:bodyPr lIns="0" tIns="0" rIns="0" bIns="0" rtlCol="0" anchor="t">
            <a:spAutoFit/>
          </a:bodyPr>
          <a:lstStyle/>
          <a:p>
            <a:pPr algn="l">
              <a:lnSpc>
                <a:spcPts val="7632"/>
              </a:lnSpc>
            </a:pPr>
            <a:r>
              <a:rPr lang="en-US" sz="5300">
                <a:solidFill>
                  <a:srgbClr val="C00000"/>
                </a:solidFill>
                <a:latin typeface="Montserrat Bold"/>
              </a:rPr>
              <a:t>NFL Tech Innovation HUB </a:t>
            </a:r>
            <a:r>
              <a:rPr lang="en-US" sz="5300">
                <a:solidFill>
                  <a:srgbClr val="003A74"/>
                </a:solidFill>
                <a:latin typeface="Montserrat Bold"/>
              </a:rPr>
              <a:t>- Strategic Outcomes</a:t>
            </a:r>
          </a:p>
        </p:txBody>
      </p:sp>
      <p:sp>
        <p:nvSpPr>
          <p:cNvPr id="5" name="Freeform 5"/>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2"/>
            <a:stretch>
              <a:fillRect l="-26670" r="-38347"/>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1292" y="1584967"/>
            <a:ext cx="15906131" cy="7543800"/>
          </a:xfrm>
          <a:prstGeom prst="rect">
            <a:avLst/>
          </a:prstGeom>
        </p:spPr>
        <p:txBody>
          <a:bodyPr lIns="0" tIns="0" rIns="0" bIns="0" rtlCol="0" anchor="t">
            <a:spAutoFit/>
          </a:bodyPr>
          <a:lstStyle/>
          <a:p>
            <a:pPr>
              <a:lnSpc>
                <a:spcPts val="3359"/>
              </a:lnSpc>
            </a:pPr>
            <a:r>
              <a:rPr lang="en-US" sz="2799">
                <a:solidFill>
                  <a:srgbClr val="C00000"/>
                </a:solidFill>
                <a:latin typeface="Open Sans 1"/>
              </a:rPr>
              <a:t>The NFL Tech Innovation HUB</a:t>
            </a:r>
            <a:r>
              <a:rPr lang="en-US" sz="2799">
                <a:solidFill>
                  <a:srgbClr val="000000"/>
                </a:solidFill>
                <a:latin typeface="Open Sans 1"/>
              </a:rPr>
              <a:t> can be leveraged to develop new value propositions and take them from concept to thriving startup. The goal is for the framework/HUB is to act as a catalyst tool to stimulate innovation and create a pipeline of successful new ventures.</a:t>
            </a:r>
          </a:p>
          <a:p>
            <a:pPr>
              <a:lnSpc>
                <a:spcPts val="3359"/>
              </a:lnSpc>
            </a:pPr>
            <a:endParaRPr lang="en-US" sz="2799">
              <a:solidFill>
                <a:srgbClr val="000000"/>
              </a:solidFill>
              <a:latin typeface="Open Sans 1"/>
            </a:endParaRPr>
          </a:p>
          <a:p>
            <a:pPr>
              <a:lnSpc>
                <a:spcPts val="3359"/>
              </a:lnSpc>
            </a:pPr>
            <a:endParaRPr lang="en-US" sz="2799">
              <a:solidFill>
                <a:srgbClr val="000000"/>
              </a:solidFill>
              <a:latin typeface="Open Sans 1"/>
            </a:endParaRPr>
          </a:p>
          <a:p>
            <a:pPr algn="just">
              <a:lnSpc>
                <a:spcPts val="3359"/>
              </a:lnSpc>
            </a:pPr>
            <a:r>
              <a:rPr lang="en-US" sz="2799" spc="27">
                <a:solidFill>
                  <a:srgbClr val="000000"/>
                </a:solidFill>
                <a:latin typeface="Open Sans 1"/>
              </a:rPr>
              <a:t>    New ventures are developed strategically using existing corporate assets, including internal</a:t>
            </a:r>
          </a:p>
          <a:p>
            <a:pPr algn="just">
              <a:lnSpc>
                <a:spcPts val="3359"/>
              </a:lnSpc>
            </a:pPr>
            <a:r>
              <a:rPr lang="en-US" sz="2799" spc="27">
                <a:solidFill>
                  <a:srgbClr val="000000"/>
                </a:solidFill>
                <a:latin typeface="Open Sans 1"/>
              </a:rPr>
              <a:t>    expertise, infrastructure, networks, funding and other resources.</a:t>
            </a:r>
          </a:p>
          <a:p>
            <a:pPr algn="just">
              <a:lnSpc>
                <a:spcPts val="3359"/>
              </a:lnSpc>
            </a:pPr>
            <a:endParaRPr lang="en-US" sz="2799" spc="27">
              <a:solidFill>
                <a:srgbClr val="000000"/>
              </a:solidFill>
              <a:latin typeface="Open Sans 1"/>
            </a:endParaRPr>
          </a:p>
          <a:p>
            <a:pPr algn="just">
              <a:lnSpc>
                <a:spcPts val="3359"/>
              </a:lnSpc>
            </a:pPr>
            <a:endParaRPr lang="en-US" sz="2799" spc="27">
              <a:solidFill>
                <a:srgbClr val="000000"/>
              </a:solidFill>
              <a:latin typeface="Open Sans 1"/>
            </a:endParaRPr>
          </a:p>
          <a:p>
            <a:pPr algn="just">
              <a:lnSpc>
                <a:spcPts val="3359"/>
              </a:lnSpc>
            </a:pPr>
            <a:r>
              <a:rPr lang="en-US" sz="2799" spc="27">
                <a:solidFill>
                  <a:srgbClr val="000000"/>
                </a:solidFill>
                <a:latin typeface="Open Sans 1"/>
              </a:rPr>
              <a:t>    The new ventures provide a wide range of return on investment, including:</a:t>
            </a:r>
          </a:p>
          <a:p>
            <a:pPr marL="1209039" lvl="2" indent="-403013" algn="just">
              <a:lnSpc>
                <a:spcPts val="3359"/>
              </a:lnSpc>
              <a:buFont typeface="Arial"/>
              <a:buChar char="⚬"/>
            </a:pPr>
            <a:r>
              <a:rPr lang="en-US" sz="2799">
                <a:solidFill>
                  <a:srgbClr val="4F81BD"/>
                </a:solidFill>
                <a:latin typeface="Open Sans 1"/>
              </a:rPr>
              <a:t>Access to new markets and technologies</a:t>
            </a:r>
          </a:p>
          <a:p>
            <a:pPr marL="1209039" lvl="2" indent="-403013" algn="just">
              <a:lnSpc>
                <a:spcPts val="3359"/>
              </a:lnSpc>
              <a:buFont typeface="Arial"/>
              <a:buChar char="⚬"/>
            </a:pPr>
            <a:r>
              <a:rPr lang="en-US" sz="2799">
                <a:solidFill>
                  <a:srgbClr val="4F81BD"/>
                </a:solidFill>
                <a:latin typeface="Open Sans 1"/>
              </a:rPr>
              <a:t>New revenue streams</a:t>
            </a:r>
          </a:p>
          <a:p>
            <a:pPr marL="1209039" lvl="2" indent="-403013" algn="just">
              <a:lnSpc>
                <a:spcPts val="3359"/>
              </a:lnSpc>
              <a:buFont typeface="Arial"/>
              <a:buChar char="⚬"/>
            </a:pPr>
            <a:r>
              <a:rPr lang="en-US" sz="2799">
                <a:solidFill>
                  <a:srgbClr val="4F81BD"/>
                </a:solidFill>
                <a:latin typeface="Open Sans 1"/>
              </a:rPr>
              <a:t>The opportunity to try out new business models</a:t>
            </a:r>
          </a:p>
          <a:p>
            <a:pPr marL="1209039" lvl="2" indent="-403013" algn="just">
              <a:lnSpc>
                <a:spcPts val="3359"/>
              </a:lnSpc>
              <a:buFont typeface="Arial"/>
              <a:buChar char="⚬"/>
            </a:pPr>
            <a:r>
              <a:rPr lang="en-US" sz="2799">
                <a:solidFill>
                  <a:srgbClr val="4F81BD"/>
                </a:solidFill>
                <a:latin typeface="Open Sans 1"/>
              </a:rPr>
              <a:t>Expansion beyond core business offerings</a:t>
            </a:r>
          </a:p>
          <a:p>
            <a:pPr marL="1209039" lvl="2" indent="-403013" algn="just">
              <a:lnSpc>
                <a:spcPts val="3359"/>
              </a:lnSpc>
              <a:buFont typeface="Arial"/>
              <a:buChar char="⚬"/>
            </a:pPr>
            <a:r>
              <a:rPr lang="en-US" sz="2799">
                <a:solidFill>
                  <a:srgbClr val="4F81BD"/>
                </a:solidFill>
                <a:latin typeface="Open Sans 1"/>
              </a:rPr>
              <a:t>Valuable insights into sponsor and vendor roadmaps</a:t>
            </a:r>
          </a:p>
          <a:p>
            <a:pPr algn="just">
              <a:lnSpc>
                <a:spcPts val="3359"/>
              </a:lnSpc>
            </a:pPr>
            <a:endParaRPr lang="en-US" sz="2799">
              <a:solidFill>
                <a:srgbClr val="4F81BD"/>
              </a:solidFill>
              <a:latin typeface="Open Sans 1"/>
            </a:endParaRPr>
          </a:p>
          <a:p>
            <a:pPr>
              <a:lnSpc>
                <a:spcPts val="3359"/>
              </a:lnSpc>
            </a:pPr>
            <a:endParaRPr lang="en-US" sz="2799">
              <a:solidFill>
                <a:srgbClr val="4F81BD"/>
              </a:solidFill>
              <a:latin typeface="Open Sans 1"/>
            </a:endParaRPr>
          </a:p>
          <a:p>
            <a:pPr marL="452120" lvl="1" indent="-226060" algn="l">
              <a:lnSpc>
                <a:spcPts val="3359"/>
              </a:lnSpc>
            </a:pPr>
            <a:endParaRPr lang="en-US" sz="2799">
              <a:solidFill>
                <a:srgbClr val="4F81BD"/>
              </a:solidFill>
              <a:latin typeface="Open Sans 1"/>
            </a:endParaRPr>
          </a:p>
        </p:txBody>
      </p:sp>
      <p:sp>
        <p:nvSpPr>
          <p:cNvPr id="3" name="TextBox 3"/>
          <p:cNvSpPr txBox="1"/>
          <p:nvPr/>
        </p:nvSpPr>
        <p:spPr>
          <a:xfrm>
            <a:off x="3215625" y="6402050"/>
            <a:ext cx="2712750" cy="273725"/>
          </a:xfrm>
          <a:prstGeom prst="rect">
            <a:avLst/>
          </a:prstGeom>
        </p:spPr>
        <p:txBody>
          <a:bodyPr lIns="0" tIns="0" rIns="0" bIns="0" rtlCol="0" anchor="t">
            <a:spAutoFit/>
          </a:bodyPr>
          <a:lstStyle/>
          <a:p>
            <a:pPr algn="ctr">
              <a:lnSpc>
                <a:spcPts val="1439"/>
              </a:lnSpc>
            </a:pPr>
            <a:r>
              <a:rPr lang="en-US" sz="1200" spc="-47">
                <a:solidFill>
                  <a:srgbClr val="888888"/>
                </a:solidFill>
                <a:latin typeface="Open Sans 2"/>
              </a:rPr>
              <a:t>9</a:t>
            </a:r>
          </a:p>
        </p:txBody>
      </p:sp>
      <p:sp>
        <p:nvSpPr>
          <p:cNvPr id="4" name="TextBox 4"/>
          <p:cNvSpPr txBox="1"/>
          <p:nvPr/>
        </p:nvSpPr>
        <p:spPr>
          <a:xfrm>
            <a:off x="761292" y="219075"/>
            <a:ext cx="16926731" cy="940308"/>
          </a:xfrm>
          <a:prstGeom prst="rect">
            <a:avLst/>
          </a:prstGeom>
        </p:spPr>
        <p:txBody>
          <a:bodyPr lIns="0" tIns="0" rIns="0" bIns="0" rtlCol="0" anchor="t">
            <a:spAutoFit/>
          </a:bodyPr>
          <a:lstStyle/>
          <a:p>
            <a:pPr algn="l">
              <a:lnSpc>
                <a:spcPts val="7776"/>
              </a:lnSpc>
            </a:pPr>
            <a:r>
              <a:rPr lang="en-US" sz="5400">
                <a:solidFill>
                  <a:srgbClr val="C00000"/>
                </a:solidFill>
                <a:latin typeface="Montserrat Bold"/>
              </a:rPr>
              <a:t>NFL Tech Innovation HUB </a:t>
            </a:r>
            <a:r>
              <a:rPr lang="en-US" sz="5400">
                <a:solidFill>
                  <a:srgbClr val="003A74"/>
                </a:solidFill>
                <a:latin typeface="Montserrat Bold"/>
              </a:rPr>
              <a:t>- The Next Big Wave</a:t>
            </a:r>
          </a:p>
        </p:txBody>
      </p:sp>
      <p:sp>
        <p:nvSpPr>
          <p:cNvPr id="5" name="Freeform 5"/>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2"/>
            <a:stretch>
              <a:fillRect l="-26670" r="-38347"/>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2"/>
            <a:stretch>
              <a:fillRect l="-26670" r="-38347"/>
            </a:stretch>
          </a:blipFill>
        </p:spPr>
      </p:sp>
      <p:sp>
        <p:nvSpPr>
          <p:cNvPr id="3" name="TextBox 3"/>
          <p:cNvSpPr txBox="1"/>
          <p:nvPr/>
        </p:nvSpPr>
        <p:spPr>
          <a:xfrm>
            <a:off x="778411" y="1273161"/>
            <a:ext cx="15489015" cy="8323731"/>
          </a:xfrm>
          <a:prstGeom prst="rect">
            <a:avLst/>
          </a:prstGeom>
        </p:spPr>
        <p:txBody>
          <a:bodyPr lIns="0" tIns="0" rIns="0" bIns="0" rtlCol="0" anchor="t">
            <a:spAutoFit/>
          </a:bodyPr>
          <a:lstStyle/>
          <a:p>
            <a:pPr marL="1073404" lvl="2" indent="-357801" algn="just">
              <a:lnSpc>
                <a:spcPts val="2983"/>
              </a:lnSpc>
              <a:buFont typeface="Arial"/>
              <a:buChar char="⚬"/>
            </a:pPr>
            <a:r>
              <a:rPr lang="en-US" sz="2485">
                <a:solidFill>
                  <a:srgbClr val="003A74"/>
                </a:solidFill>
                <a:latin typeface="Open Sans 1 Bold"/>
              </a:rPr>
              <a:t>Enhanced Market Positioning:</a:t>
            </a:r>
            <a:r>
              <a:rPr lang="en-US" sz="2485">
                <a:solidFill>
                  <a:srgbClr val="000000"/>
                </a:solidFill>
                <a:latin typeface="Open Sans 1"/>
              </a:rPr>
              <a:t> By fostering technological innovations that resonate with market demands, the NFL can secure a leading edge in their respective sectors, ensuring increased market share and brand loyalty.</a:t>
            </a:r>
          </a:p>
          <a:p>
            <a:pPr algn="just">
              <a:lnSpc>
                <a:spcPts val="3212"/>
              </a:lnSpc>
            </a:pPr>
            <a:endParaRPr lang="en-US" sz="2485">
              <a:solidFill>
                <a:srgbClr val="000000"/>
              </a:solidFill>
              <a:latin typeface="Open Sans 1"/>
            </a:endParaRPr>
          </a:p>
          <a:p>
            <a:pPr marL="1073404" lvl="2" indent="-357801" algn="just">
              <a:lnSpc>
                <a:spcPts val="2983"/>
              </a:lnSpc>
              <a:buFont typeface="Arial"/>
              <a:buChar char="⚬"/>
            </a:pPr>
            <a:r>
              <a:rPr lang="en-US" sz="2485">
                <a:solidFill>
                  <a:srgbClr val="003A74"/>
                </a:solidFill>
                <a:latin typeface="Open Sans 1 Bold"/>
              </a:rPr>
              <a:t>Revenue Growth</a:t>
            </a:r>
            <a:r>
              <a:rPr lang="en-US" sz="2485">
                <a:solidFill>
                  <a:srgbClr val="000000"/>
                </a:solidFill>
                <a:latin typeface="Open Sans 1"/>
              </a:rPr>
              <a:t>: The continuous incubation of novel business strategies means that the NFL always has a pipeline of new products, services, or solutions, ensuring diversified revenue streams and reduced reliance on singular income sources.</a:t>
            </a:r>
          </a:p>
          <a:p>
            <a:pPr algn="just">
              <a:lnSpc>
                <a:spcPts val="2983"/>
              </a:lnSpc>
            </a:pPr>
            <a:endParaRPr lang="en-US" sz="2485">
              <a:solidFill>
                <a:srgbClr val="000000"/>
              </a:solidFill>
              <a:latin typeface="Open Sans 1"/>
            </a:endParaRPr>
          </a:p>
          <a:p>
            <a:pPr marL="1073404" lvl="2" indent="-357801" algn="just">
              <a:lnSpc>
                <a:spcPts val="2983"/>
              </a:lnSpc>
              <a:buFont typeface="Arial"/>
              <a:buChar char="⚬"/>
            </a:pPr>
            <a:r>
              <a:rPr lang="en-US" sz="2485">
                <a:solidFill>
                  <a:srgbClr val="003A74"/>
                </a:solidFill>
                <a:latin typeface="Open Sans 1 Bold"/>
              </a:rPr>
              <a:t>Operational Efficiency:</a:t>
            </a:r>
            <a:r>
              <a:rPr lang="en-US" sz="2485">
                <a:solidFill>
                  <a:srgbClr val="000000"/>
                </a:solidFill>
                <a:latin typeface="Open Sans 1"/>
              </a:rPr>
              <a:t> As technology is leveraged and streamlined with business goals, operational redundancies are reduced, and processes become more agile, leading to cost savings and improved profitability.</a:t>
            </a:r>
          </a:p>
          <a:p>
            <a:pPr algn="just">
              <a:lnSpc>
                <a:spcPts val="2983"/>
              </a:lnSpc>
            </a:pPr>
            <a:endParaRPr lang="en-US" sz="2485">
              <a:solidFill>
                <a:srgbClr val="000000"/>
              </a:solidFill>
              <a:latin typeface="Open Sans 1"/>
            </a:endParaRPr>
          </a:p>
          <a:p>
            <a:pPr marL="1073404" lvl="2" indent="-357801" algn="just">
              <a:lnSpc>
                <a:spcPts val="2983"/>
              </a:lnSpc>
              <a:buFont typeface="Arial"/>
              <a:buChar char="⚬"/>
            </a:pPr>
            <a:r>
              <a:rPr lang="en-US" sz="2485">
                <a:solidFill>
                  <a:srgbClr val="003A74"/>
                </a:solidFill>
                <a:latin typeface="Open Sans 1 Bold"/>
              </a:rPr>
              <a:t>Partner and Stakeholder Engagement:</a:t>
            </a:r>
            <a:r>
              <a:rPr lang="en-US" sz="2485">
                <a:solidFill>
                  <a:srgbClr val="000000"/>
                </a:solidFill>
                <a:latin typeface="Open Sans 1"/>
              </a:rPr>
              <a:t> The collaborative nature of the hub ensures that tech innovation partners, vendors, and other stakeholders are deeply engaged, opening avenues for joint ventures, co-creation opportunities, and shared profits.</a:t>
            </a:r>
          </a:p>
          <a:p>
            <a:pPr algn="just">
              <a:lnSpc>
                <a:spcPts val="2983"/>
              </a:lnSpc>
            </a:pPr>
            <a:endParaRPr lang="en-US" sz="2485">
              <a:solidFill>
                <a:srgbClr val="000000"/>
              </a:solidFill>
              <a:latin typeface="Open Sans 1"/>
            </a:endParaRPr>
          </a:p>
          <a:p>
            <a:pPr marL="1073404" lvl="2" indent="-357801" algn="just">
              <a:lnSpc>
                <a:spcPts val="2983"/>
              </a:lnSpc>
              <a:buFont typeface="Arial"/>
              <a:buChar char="⚬"/>
            </a:pPr>
            <a:r>
              <a:rPr lang="en-US" sz="2485">
                <a:solidFill>
                  <a:srgbClr val="003A74"/>
                </a:solidFill>
                <a:latin typeface="Open Sans 1 Bold"/>
              </a:rPr>
              <a:t>Long-Term Sustainability:</a:t>
            </a:r>
            <a:r>
              <a:rPr lang="en-US" sz="2485">
                <a:solidFill>
                  <a:srgbClr val="000000"/>
                </a:solidFill>
                <a:latin typeface="Open Sans 1"/>
              </a:rPr>
              <a:t> In an era where technological redundancy is a significant concern, the hub's proactive approach ensures businesses stay relevant, adaptable, and sustainable, offering long-term profit horizons.</a:t>
            </a:r>
          </a:p>
          <a:p>
            <a:pPr algn="just">
              <a:lnSpc>
                <a:spcPts val="3212"/>
              </a:lnSpc>
            </a:pPr>
            <a:endParaRPr lang="en-US" sz="2485">
              <a:solidFill>
                <a:srgbClr val="000000"/>
              </a:solidFill>
              <a:latin typeface="Open Sans 1"/>
            </a:endParaRPr>
          </a:p>
          <a:p>
            <a:pPr algn="just">
              <a:lnSpc>
                <a:spcPts val="3212"/>
              </a:lnSpc>
            </a:pPr>
            <a:endParaRPr lang="en-US" sz="2485">
              <a:solidFill>
                <a:srgbClr val="000000"/>
              </a:solidFill>
              <a:latin typeface="Open Sans 1"/>
            </a:endParaRPr>
          </a:p>
          <a:p>
            <a:pPr algn="l">
              <a:lnSpc>
                <a:spcPts val="3212"/>
              </a:lnSpc>
            </a:pPr>
            <a:endParaRPr lang="en-US" sz="2485">
              <a:solidFill>
                <a:srgbClr val="000000"/>
              </a:solidFill>
              <a:latin typeface="Open Sans 1"/>
            </a:endParaRPr>
          </a:p>
        </p:txBody>
      </p:sp>
      <p:sp>
        <p:nvSpPr>
          <p:cNvPr id="4" name="TextBox 4"/>
          <p:cNvSpPr txBox="1"/>
          <p:nvPr/>
        </p:nvSpPr>
        <p:spPr>
          <a:xfrm>
            <a:off x="3215625" y="6402050"/>
            <a:ext cx="2712750" cy="273725"/>
          </a:xfrm>
          <a:prstGeom prst="rect">
            <a:avLst/>
          </a:prstGeom>
        </p:spPr>
        <p:txBody>
          <a:bodyPr lIns="0" tIns="0" rIns="0" bIns="0" rtlCol="0" anchor="t">
            <a:spAutoFit/>
          </a:bodyPr>
          <a:lstStyle/>
          <a:p>
            <a:pPr algn="ctr">
              <a:lnSpc>
                <a:spcPts val="1439"/>
              </a:lnSpc>
            </a:pPr>
            <a:r>
              <a:rPr lang="en-US" sz="1200" spc="-47">
                <a:solidFill>
                  <a:srgbClr val="888888"/>
                </a:solidFill>
                <a:latin typeface="Open Sans 2"/>
              </a:rPr>
              <a:t>9</a:t>
            </a:r>
          </a:p>
        </p:txBody>
      </p:sp>
      <p:sp>
        <p:nvSpPr>
          <p:cNvPr id="5" name="TextBox 5"/>
          <p:cNvSpPr txBox="1"/>
          <p:nvPr/>
        </p:nvSpPr>
        <p:spPr>
          <a:xfrm>
            <a:off x="1028700" y="238125"/>
            <a:ext cx="16026848" cy="889253"/>
          </a:xfrm>
          <a:prstGeom prst="rect">
            <a:avLst/>
          </a:prstGeom>
        </p:spPr>
        <p:txBody>
          <a:bodyPr lIns="0" tIns="0" rIns="0" bIns="0" rtlCol="0" anchor="t">
            <a:spAutoFit/>
          </a:bodyPr>
          <a:lstStyle/>
          <a:p>
            <a:pPr algn="l">
              <a:lnSpc>
                <a:spcPts val="7488"/>
              </a:lnSpc>
            </a:pPr>
            <a:r>
              <a:rPr lang="en-US" sz="5200">
                <a:solidFill>
                  <a:srgbClr val="C00000"/>
                </a:solidFill>
                <a:latin typeface="Montserrat Bold"/>
              </a:rPr>
              <a:t>NFL Tech Innovation HUB </a:t>
            </a:r>
            <a:r>
              <a:rPr lang="en-US" sz="5200">
                <a:solidFill>
                  <a:srgbClr val="003A74"/>
                </a:solidFill>
                <a:latin typeface="Montserrat Bold"/>
              </a:rPr>
              <a:t>- Growth Strategies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2"/>
            <a:stretch>
              <a:fillRect l="-26670" r="-38347"/>
            </a:stretch>
          </a:blipFill>
        </p:spPr>
      </p:sp>
      <p:sp>
        <p:nvSpPr>
          <p:cNvPr id="3" name="TextBox 3"/>
          <p:cNvSpPr txBox="1"/>
          <p:nvPr/>
        </p:nvSpPr>
        <p:spPr>
          <a:xfrm>
            <a:off x="761292" y="1584967"/>
            <a:ext cx="15273656" cy="8382000"/>
          </a:xfrm>
          <a:prstGeom prst="rect">
            <a:avLst/>
          </a:prstGeom>
        </p:spPr>
        <p:txBody>
          <a:bodyPr lIns="0" tIns="0" rIns="0" bIns="0" rtlCol="0" anchor="t">
            <a:spAutoFit/>
          </a:bodyPr>
          <a:lstStyle/>
          <a:p>
            <a:pPr marL="604519" lvl="1" indent="-302260" algn="just">
              <a:lnSpc>
                <a:spcPts val="3359"/>
              </a:lnSpc>
              <a:buFont typeface="Arial"/>
              <a:buChar char="•"/>
            </a:pPr>
            <a:r>
              <a:rPr lang="en-US" sz="2799">
                <a:solidFill>
                  <a:srgbClr val="000000"/>
                </a:solidFill>
                <a:latin typeface="Open Sans 1"/>
              </a:rPr>
              <a:t>Each entity in the NFL Tech Innovation HUB operates as an Independent Opportunity Unit (IOU) with its own dedicated resources for business and product development.​</a:t>
            </a:r>
          </a:p>
          <a:p>
            <a:pPr algn="just">
              <a:lnSpc>
                <a:spcPts val="3359"/>
              </a:lnSpc>
            </a:pPr>
            <a:endParaRPr lang="en-US" sz="2799">
              <a:solidFill>
                <a:srgbClr val="000000"/>
              </a:solidFill>
              <a:latin typeface="Open Sans 1"/>
            </a:endParaRPr>
          </a:p>
          <a:p>
            <a:pPr marL="604519" lvl="1" indent="-302260" algn="just">
              <a:lnSpc>
                <a:spcPts val="3359"/>
              </a:lnSpc>
              <a:buFont typeface="Arial"/>
              <a:buChar char="•"/>
            </a:pPr>
            <a:r>
              <a:rPr lang="en-US" sz="2799">
                <a:solidFill>
                  <a:srgbClr val="000000"/>
                </a:solidFill>
                <a:latin typeface="Open Sans 1"/>
              </a:rPr>
              <a:t>The incubation zone as a whole is governed by a “venture board” made up of steering committee members that determine what areas of innovation to invest in, which business plans get funded, which IOUs get follow-on funding.​</a:t>
            </a:r>
          </a:p>
          <a:p>
            <a:pPr algn="just">
              <a:lnSpc>
                <a:spcPts val="3359"/>
              </a:lnSpc>
            </a:pPr>
            <a:endParaRPr lang="en-US" sz="2799">
              <a:solidFill>
                <a:srgbClr val="000000"/>
              </a:solidFill>
              <a:latin typeface="Open Sans 1"/>
            </a:endParaRPr>
          </a:p>
          <a:p>
            <a:pPr marL="604519" lvl="1" indent="-302260" algn="just">
              <a:lnSpc>
                <a:spcPts val="3359"/>
              </a:lnSpc>
              <a:buFont typeface="Arial"/>
              <a:buChar char="•"/>
            </a:pPr>
            <a:r>
              <a:rPr lang="en-US" sz="2799">
                <a:solidFill>
                  <a:srgbClr val="000000"/>
                </a:solidFill>
                <a:latin typeface="Open Sans 1"/>
              </a:rPr>
              <a:t>The entire portfolio of IOUs in the incubation zone is supported by a small cross-functional team from various shared services in the productivity zone.​</a:t>
            </a:r>
          </a:p>
          <a:p>
            <a:pPr algn="just">
              <a:lnSpc>
                <a:spcPts val="3359"/>
              </a:lnSpc>
            </a:pPr>
            <a:endParaRPr lang="en-US" sz="2799">
              <a:solidFill>
                <a:srgbClr val="000000"/>
              </a:solidFill>
              <a:latin typeface="Open Sans 1"/>
            </a:endParaRPr>
          </a:p>
          <a:p>
            <a:pPr marL="604519" lvl="1" indent="-302260" algn="just">
              <a:lnSpc>
                <a:spcPts val="3359"/>
              </a:lnSpc>
              <a:buFont typeface="Arial"/>
              <a:buChar char="•"/>
            </a:pPr>
            <a:r>
              <a:rPr lang="en-US" sz="2799">
                <a:solidFill>
                  <a:srgbClr val="000000"/>
                </a:solidFill>
                <a:latin typeface="Open Sans 1 Bold"/>
              </a:rPr>
              <a:t>Each IOU is subject to a venture-funding discipline that requires meeting specific milestones in order to secure the next round,</a:t>
            </a:r>
            <a:r>
              <a:rPr lang="en-US" sz="2799">
                <a:solidFill>
                  <a:srgbClr val="000000"/>
                </a:solidFill>
                <a:latin typeface="Open Sans 1"/>
              </a:rPr>
              <a:t> </a:t>
            </a:r>
            <a:r>
              <a:rPr lang="en-US" sz="2799">
                <a:solidFill>
                  <a:srgbClr val="000000"/>
                </a:solidFill>
                <a:latin typeface="Open Sans 1 Italics"/>
              </a:rPr>
              <a:t>typically along the following lines:</a:t>
            </a:r>
            <a:r>
              <a:rPr lang="en-US" sz="2799">
                <a:solidFill>
                  <a:srgbClr val="000000"/>
                </a:solidFill>
                <a:latin typeface="Open Sans 1"/>
              </a:rPr>
              <a:t> ​</a:t>
            </a:r>
          </a:p>
          <a:p>
            <a:pPr algn="just">
              <a:lnSpc>
                <a:spcPts val="3359"/>
              </a:lnSpc>
            </a:pPr>
            <a:endParaRPr lang="en-US" sz="2799">
              <a:solidFill>
                <a:srgbClr val="000000"/>
              </a:solidFill>
              <a:latin typeface="Open Sans 1"/>
            </a:endParaRPr>
          </a:p>
          <a:p>
            <a:pPr marL="1209039" lvl="2" indent="-403013" algn="just">
              <a:lnSpc>
                <a:spcPts val="3359"/>
              </a:lnSpc>
              <a:buFont typeface="Arial"/>
              <a:buChar char="⚬"/>
            </a:pPr>
            <a:r>
              <a:rPr lang="en-US" sz="2799">
                <a:solidFill>
                  <a:srgbClr val="4F81BD"/>
                </a:solidFill>
                <a:latin typeface="Open Sans 1 Bold"/>
              </a:rPr>
              <a:t>Initial seed round</a:t>
            </a:r>
            <a:r>
              <a:rPr lang="en-US" sz="2799">
                <a:solidFill>
                  <a:srgbClr val="000000"/>
                </a:solidFill>
                <a:latin typeface="Open Sans 1"/>
              </a:rPr>
              <a:t>: Validate the technology, outline potential market opportunity ​</a:t>
            </a:r>
          </a:p>
          <a:p>
            <a:pPr marL="1209039" lvl="2" indent="-403013" algn="just">
              <a:lnSpc>
                <a:spcPts val="3359"/>
              </a:lnSpc>
              <a:buFont typeface="Arial"/>
              <a:buChar char="⚬"/>
            </a:pPr>
            <a:r>
              <a:rPr lang="en-US" sz="2799">
                <a:solidFill>
                  <a:srgbClr val="4F81BD"/>
                </a:solidFill>
                <a:latin typeface="Open Sans 1 Bold"/>
              </a:rPr>
              <a:t>Series A round:</a:t>
            </a:r>
            <a:r>
              <a:rPr lang="en-US" sz="2799">
                <a:solidFill>
                  <a:srgbClr val="000000"/>
                </a:solidFill>
                <a:latin typeface="Open Sans 1"/>
              </a:rPr>
              <a:t> Build a minimum viable product, confirm market opportunity​</a:t>
            </a:r>
          </a:p>
          <a:p>
            <a:pPr marL="1209039" lvl="2" indent="-403013" algn="just">
              <a:lnSpc>
                <a:spcPts val="3359"/>
              </a:lnSpc>
              <a:buFont typeface="Arial"/>
              <a:buChar char="⚬"/>
            </a:pPr>
            <a:r>
              <a:rPr lang="en-US" sz="2799">
                <a:solidFill>
                  <a:srgbClr val="4F81BD"/>
                </a:solidFill>
                <a:latin typeface="Open Sans 1 Bold"/>
              </a:rPr>
              <a:t>Series B round:</a:t>
            </a:r>
            <a:r>
              <a:rPr lang="en-US" sz="2799">
                <a:solidFill>
                  <a:srgbClr val="000000"/>
                </a:solidFill>
                <a:latin typeface="Open Sans 1"/>
              </a:rPr>
              <a:t> Mature product for release at scale and production support​</a:t>
            </a:r>
          </a:p>
          <a:p>
            <a:pPr marL="1209039" lvl="2" indent="-403013" algn="just">
              <a:lnSpc>
                <a:spcPts val="3359"/>
              </a:lnSpc>
              <a:buFont typeface="Arial"/>
              <a:buChar char="⚬"/>
            </a:pPr>
            <a:r>
              <a:rPr lang="en-US" sz="2799">
                <a:solidFill>
                  <a:srgbClr val="4F81BD"/>
                </a:solidFill>
                <a:latin typeface="Open Sans 1 Bold"/>
              </a:rPr>
              <a:t>Series C round:</a:t>
            </a:r>
            <a:r>
              <a:rPr lang="en-US" sz="2799">
                <a:solidFill>
                  <a:srgbClr val="000000"/>
                </a:solidFill>
                <a:latin typeface="Open Sans 1"/>
              </a:rPr>
              <a:t> Meet performance metrics set by venture board (revenue, impact, value)​</a:t>
            </a:r>
          </a:p>
          <a:p>
            <a:pPr algn="just">
              <a:lnSpc>
                <a:spcPts val="3359"/>
              </a:lnSpc>
            </a:pPr>
            <a:endParaRPr lang="en-US" sz="2799">
              <a:solidFill>
                <a:srgbClr val="000000"/>
              </a:solidFill>
              <a:latin typeface="Open Sans 1"/>
            </a:endParaRPr>
          </a:p>
          <a:p>
            <a:pPr algn="l">
              <a:lnSpc>
                <a:spcPts val="3359"/>
              </a:lnSpc>
            </a:pPr>
            <a:endParaRPr lang="en-US" sz="2799">
              <a:solidFill>
                <a:srgbClr val="000000"/>
              </a:solidFill>
              <a:latin typeface="Open Sans 1"/>
            </a:endParaRPr>
          </a:p>
        </p:txBody>
      </p:sp>
      <p:sp>
        <p:nvSpPr>
          <p:cNvPr id="4" name="TextBox 4"/>
          <p:cNvSpPr txBox="1"/>
          <p:nvPr/>
        </p:nvSpPr>
        <p:spPr>
          <a:xfrm>
            <a:off x="3215625" y="6402050"/>
            <a:ext cx="2712750" cy="273725"/>
          </a:xfrm>
          <a:prstGeom prst="rect">
            <a:avLst/>
          </a:prstGeom>
        </p:spPr>
        <p:txBody>
          <a:bodyPr lIns="0" tIns="0" rIns="0" bIns="0" rtlCol="0" anchor="t">
            <a:spAutoFit/>
          </a:bodyPr>
          <a:lstStyle/>
          <a:p>
            <a:pPr algn="ctr">
              <a:lnSpc>
                <a:spcPts val="1439"/>
              </a:lnSpc>
            </a:pPr>
            <a:r>
              <a:rPr lang="en-US" sz="1200" spc="-47">
                <a:solidFill>
                  <a:srgbClr val="888888"/>
                </a:solidFill>
                <a:latin typeface="Open Sans 2"/>
              </a:rPr>
              <a:t>9</a:t>
            </a:r>
          </a:p>
        </p:txBody>
      </p:sp>
      <p:sp>
        <p:nvSpPr>
          <p:cNvPr id="5" name="TextBox 5"/>
          <p:cNvSpPr txBox="1"/>
          <p:nvPr/>
        </p:nvSpPr>
        <p:spPr>
          <a:xfrm>
            <a:off x="1028700" y="219075"/>
            <a:ext cx="16026848" cy="940308"/>
          </a:xfrm>
          <a:prstGeom prst="rect">
            <a:avLst/>
          </a:prstGeom>
        </p:spPr>
        <p:txBody>
          <a:bodyPr lIns="0" tIns="0" rIns="0" bIns="0" rtlCol="0" anchor="t">
            <a:spAutoFit/>
          </a:bodyPr>
          <a:lstStyle/>
          <a:p>
            <a:pPr algn="l">
              <a:lnSpc>
                <a:spcPts val="7776"/>
              </a:lnSpc>
            </a:pPr>
            <a:r>
              <a:rPr lang="en-US" sz="5400">
                <a:solidFill>
                  <a:srgbClr val="C00000"/>
                </a:solidFill>
                <a:latin typeface="Montserrat Bold"/>
              </a:rPr>
              <a:t>NFL Tech Innovation HUB </a:t>
            </a:r>
            <a:r>
              <a:rPr lang="en-US" sz="5400">
                <a:solidFill>
                  <a:srgbClr val="003A74"/>
                </a:solidFill>
                <a:latin typeface="Montserrat Bold"/>
              </a:rPr>
              <a:t>- Investments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38325" y="575567"/>
            <a:ext cx="15520975" cy="1758369"/>
          </a:xfrm>
          <a:prstGeom prst="rect">
            <a:avLst/>
          </a:prstGeom>
        </p:spPr>
        <p:txBody>
          <a:bodyPr lIns="0" tIns="0" rIns="0" bIns="0" rtlCol="0" anchor="t">
            <a:spAutoFit/>
          </a:bodyPr>
          <a:lstStyle/>
          <a:p>
            <a:pPr algn="ctr">
              <a:lnSpc>
                <a:spcPts val="5759"/>
              </a:lnSpc>
            </a:pPr>
            <a:r>
              <a:rPr lang="en-US" sz="4800">
                <a:solidFill>
                  <a:srgbClr val="003A74"/>
                </a:solidFill>
                <a:latin typeface="Open Sans 1"/>
              </a:rPr>
              <a:t>NFL Technology Innovation Hub Governance Structure</a:t>
            </a:r>
          </a:p>
        </p:txBody>
      </p:sp>
      <p:graphicFrame>
        <p:nvGraphicFramePr>
          <p:cNvPr id="3" name="Table 3"/>
          <p:cNvGraphicFramePr>
            <a:graphicFrameLocks noGrp="1"/>
          </p:cNvGraphicFramePr>
          <p:nvPr/>
        </p:nvGraphicFramePr>
        <p:xfrm>
          <a:off x="4000367" y="3675623"/>
          <a:ext cx="10467585" cy="4440881"/>
        </p:xfrm>
        <a:graphic>
          <a:graphicData uri="http://schemas.openxmlformats.org/drawingml/2006/table">
            <a:tbl>
              <a:tblPr/>
              <a:tblGrid>
                <a:gridCol w="2580723">
                  <a:extLst>
                    <a:ext uri="{9D8B030D-6E8A-4147-A177-3AD203B41FA5}">
                      <a16:colId xmlns:a16="http://schemas.microsoft.com/office/drawing/2014/main" val="20000"/>
                    </a:ext>
                  </a:extLst>
                </a:gridCol>
                <a:gridCol w="908796">
                  <a:extLst>
                    <a:ext uri="{9D8B030D-6E8A-4147-A177-3AD203B41FA5}">
                      <a16:colId xmlns:a16="http://schemas.microsoft.com/office/drawing/2014/main" val="20001"/>
                    </a:ext>
                  </a:extLst>
                </a:gridCol>
                <a:gridCol w="1653453">
                  <a:extLst>
                    <a:ext uri="{9D8B030D-6E8A-4147-A177-3AD203B41FA5}">
                      <a16:colId xmlns:a16="http://schemas.microsoft.com/office/drawing/2014/main" val="20002"/>
                    </a:ext>
                  </a:extLst>
                </a:gridCol>
                <a:gridCol w="2230051">
                  <a:extLst>
                    <a:ext uri="{9D8B030D-6E8A-4147-A177-3AD203B41FA5}">
                      <a16:colId xmlns:a16="http://schemas.microsoft.com/office/drawing/2014/main" val="20003"/>
                    </a:ext>
                  </a:extLst>
                </a:gridCol>
                <a:gridCol w="3094563">
                  <a:extLst>
                    <a:ext uri="{9D8B030D-6E8A-4147-A177-3AD203B41FA5}">
                      <a16:colId xmlns:a16="http://schemas.microsoft.com/office/drawing/2014/main" val="20004"/>
                    </a:ext>
                  </a:extLst>
                </a:gridCol>
              </a:tblGrid>
              <a:tr h="2162272">
                <a:tc>
                  <a:txBody>
                    <a:bodyPr/>
                    <a:lstStyle/>
                    <a:p>
                      <a:pPr algn="ctr">
                        <a:lnSpc>
                          <a:spcPts val="2520"/>
                        </a:lnSpc>
                        <a:defRPr/>
                      </a:pPr>
                      <a:r>
                        <a:rPr lang="en-US" sz="2100">
                          <a:solidFill>
                            <a:srgbClr val="FFFFFF"/>
                          </a:solidFill>
                          <a:latin typeface="Arial"/>
                        </a:rPr>
                        <a:t>Strategic Planning</a:t>
                      </a:r>
                      <a:endParaRPr lang="en-US" sz="1100"/>
                    </a:p>
                    <a:p>
                      <a:pPr algn="ctr">
                        <a:lnSpc>
                          <a:spcPts val="2520"/>
                        </a:lnSpc>
                      </a:pPr>
                      <a:r>
                        <a:rPr lang="en-US" sz="2100">
                          <a:solidFill>
                            <a:srgbClr val="FFFFFF"/>
                          </a:solidFill>
                          <a:latin typeface="Arial"/>
                        </a:rPr>
                        <a:t>(Zone to Win)</a:t>
                      </a:r>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1E417C"/>
                    </a:solidFill>
                  </a:tcPr>
                </a:tc>
                <a:tc gridSpan="2">
                  <a:txBody>
                    <a:bodyPr/>
                    <a:lstStyle/>
                    <a:p>
                      <a:pPr algn="ctr">
                        <a:lnSpc>
                          <a:spcPts val="2520"/>
                        </a:lnSpc>
                        <a:defRPr/>
                      </a:pPr>
                      <a:r>
                        <a:rPr lang="en-US" sz="2100">
                          <a:solidFill>
                            <a:srgbClr val="000000"/>
                          </a:solidFill>
                          <a:latin typeface="Arial"/>
                        </a:rPr>
                        <a:t>Project Management Office</a:t>
                      </a: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A6A6A6"/>
                    </a:solidFill>
                  </a:tcPr>
                </a:tc>
                <a:tc hMerge="1">
                  <a:txBody>
                    <a:bodyPr/>
                    <a:lstStyle/>
                    <a:p>
                      <a:pPr algn="ctr">
                        <a:lnSpc>
                          <a:spcPts val="2520"/>
                        </a:lnSpc>
                        <a:defRPr/>
                      </a:pPr>
                      <a:r>
                        <a:rPr lang="en-US" sz="2100">
                          <a:solidFill>
                            <a:srgbClr val="000000"/>
                          </a:solidFill>
                          <a:latin typeface="Arial"/>
                        </a:rPr>
                        <a:t>Project Management Office</a:t>
                      </a: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A6A6A6"/>
                    </a:solidFill>
                  </a:tcPr>
                </a:tc>
                <a:tc>
                  <a:txBody>
                    <a:bodyPr/>
                    <a:lstStyle/>
                    <a:p>
                      <a:pPr algn="ctr">
                        <a:lnSpc>
                          <a:spcPts val="2520"/>
                        </a:lnSpc>
                        <a:defRPr/>
                      </a:pPr>
                      <a:r>
                        <a:rPr lang="en-US" sz="2100">
                          <a:solidFill>
                            <a:srgbClr val="000000"/>
                          </a:solidFill>
                          <a:latin typeface="Arial"/>
                        </a:rPr>
                        <a:t>Enterprise Architecture</a:t>
                      </a: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A6A6A6"/>
                    </a:solidFill>
                  </a:tcPr>
                </a:tc>
                <a:tc>
                  <a:txBody>
                    <a:bodyPr/>
                    <a:lstStyle/>
                    <a:p>
                      <a:pPr algn="ctr">
                        <a:lnSpc>
                          <a:spcPts val="2520"/>
                        </a:lnSpc>
                        <a:defRPr/>
                      </a:pPr>
                      <a:r>
                        <a:rPr lang="en-US" sz="2100">
                          <a:solidFill>
                            <a:srgbClr val="000000"/>
                          </a:solidFill>
                          <a:latin typeface="Arial"/>
                        </a:rPr>
                        <a:t>Service Delivery</a:t>
                      </a: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1118024">
                <a:tc gridSpan="2">
                  <a:txBody>
                    <a:bodyPr/>
                    <a:lstStyle/>
                    <a:p>
                      <a:pPr algn="ctr">
                        <a:lnSpc>
                          <a:spcPts val="2639"/>
                        </a:lnSpc>
                        <a:defRPr/>
                      </a:pPr>
                      <a:r>
                        <a:rPr lang="en-US" sz="2199">
                          <a:solidFill>
                            <a:srgbClr val="000000"/>
                          </a:solidFill>
                          <a:latin typeface="Arial Bold"/>
                        </a:rPr>
                        <a:t>PLAN</a:t>
                      </a:r>
                      <a:endParaRPr lang="en-US" sz="1100"/>
                    </a:p>
                    <a:p>
                      <a:pPr algn="ctr">
                        <a:lnSpc>
                          <a:spcPts val="2400"/>
                        </a:lnSpc>
                      </a:pPr>
                      <a:r>
                        <a:rPr lang="en-US" sz="2000">
                          <a:solidFill>
                            <a:srgbClr val="000000"/>
                          </a:solidFill>
                          <a:latin typeface="Arial"/>
                        </a:rPr>
                        <a:t>Do the right things.</a:t>
                      </a:r>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CDCED0"/>
                    </a:solidFill>
                  </a:tcPr>
                </a:tc>
                <a:tc hMerge="1">
                  <a:txBody>
                    <a:bodyPr/>
                    <a:lstStyle/>
                    <a:p>
                      <a:pPr algn="ctr">
                        <a:lnSpc>
                          <a:spcPts val="2639"/>
                        </a:lnSpc>
                        <a:defRPr/>
                      </a:pPr>
                      <a:r>
                        <a:rPr lang="en-US" sz="2199">
                          <a:solidFill>
                            <a:srgbClr val="000000"/>
                          </a:solidFill>
                          <a:latin typeface="Arial Bold"/>
                        </a:rPr>
                        <a:t>PLAN</a:t>
                      </a:r>
                      <a:endParaRPr lang="en-US" sz="1100"/>
                    </a:p>
                    <a:p>
                      <a:pPr algn="ctr">
                        <a:lnSpc>
                          <a:spcPts val="2400"/>
                        </a:lnSpc>
                      </a:pPr>
                      <a:r>
                        <a:rPr lang="en-US" sz="2000">
                          <a:solidFill>
                            <a:srgbClr val="000000"/>
                          </a:solidFill>
                          <a:latin typeface="Arial"/>
                        </a:rPr>
                        <a:t>Do the right things.</a:t>
                      </a:r>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CDCED0"/>
                    </a:solidFill>
                  </a:tcPr>
                </a:tc>
                <a:tc gridSpan="2">
                  <a:txBody>
                    <a:bodyPr/>
                    <a:lstStyle/>
                    <a:p>
                      <a:pPr algn="ctr">
                        <a:lnSpc>
                          <a:spcPts val="2639"/>
                        </a:lnSpc>
                        <a:defRPr/>
                      </a:pPr>
                      <a:r>
                        <a:rPr lang="en-US" sz="2199">
                          <a:solidFill>
                            <a:srgbClr val="000000"/>
                          </a:solidFill>
                          <a:latin typeface="Arial Bold"/>
                        </a:rPr>
                        <a:t>BUILD</a:t>
                      </a:r>
                      <a:endParaRPr lang="en-US" sz="1100"/>
                    </a:p>
                    <a:p>
                      <a:pPr algn="ctr">
                        <a:lnSpc>
                          <a:spcPts val="2400"/>
                        </a:lnSpc>
                      </a:pPr>
                      <a:r>
                        <a:rPr lang="en-US" sz="2000">
                          <a:solidFill>
                            <a:srgbClr val="000000"/>
                          </a:solidFill>
                          <a:latin typeface="Arial"/>
                        </a:rPr>
                        <a:t>Do things right.</a:t>
                      </a:r>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CDCED0"/>
                    </a:solidFill>
                  </a:tcPr>
                </a:tc>
                <a:tc hMerge="1">
                  <a:txBody>
                    <a:bodyPr/>
                    <a:lstStyle/>
                    <a:p>
                      <a:pPr algn="ctr">
                        <a:lnSpc>
                          <a:spcPts val="2639"/>
                        </a:lnSpc>
                        <a:defRPr/>
                      </a:pPr>
                      <a:r>
                        <a:rPr lang="en-US" sz="2199">
                          <a:solidFill>
                            <a:srgbClr val="000000"/>
                          </a:solidFill>
                          <a:latin typeface="Arial Bold"/>
                        </a:rPr>
                        <a:t>BUILD</a:t>
                      </a:r>
                      <a:endParaRPr lang="en-US" sz="1100"/>
                    </a:p>
                    <a:p>
                      <a:pPr algn="ctr">
                        <a:lnSpc>
                          <a:spcPts val="2400"/>
                        </a:lnSpc>
                      </a:pPr>
                      <a:r>
                        <a:rPr lang="en-US" sz="2000">
                          <a:solidFill>
                            <a:srgbClr val="000000"/>
                          </a:solidFill>
                          <a:latin typeface="Arial"/>
                        </a:rPr>
                        <a:t>Do things right.</a:t>
                      </a:r>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CDCED0"/>
                    </a:solidFill>
                  </a:tcPr>
                </a:tc>
                <a:tc>
                  <a:txBody>
                    <a:bodyPr/>
                    <a:lstStyle/>
                    <a:p>
                      <a:pPr algn="ctr">
                        <a:lnSpc>
                          <a:spcPts val="2639"/>
                        </a:lnSpc>
                        <a:defRPr/>
                      </a:pPr>
                      <a:r>
                        <a:rPr lang="en-US" sz="2199">
                          <a:solidFill>
                            <a:srgbClr val="000000"/>
                          </a:solidFill>
                          <a:latin typeface="Arial Bold"/>
                        </a:rPr>
                        <a:t>RUN</a:t>
                      </a:r>
                      <a:endParaRPr lang="en-US" sz="1100"/>
                    </a:p>
                    <a:p>
                      <a:pPr algn="l">
                        <a:lnSpc>
                          <a:spcPts val="2400"/>
                        </a:lnSpc>
                      </a:pPr>
                      <a:r>
                        <a:rPr lang="en-US" sz="2000">
                          <a:solidFill>
                            <a:srgbClr val="000000"/>
                          </a:solidFill>
                          <a:latin typeface="Arial"/>
                        </a:rPr>
                        <a:t>Measure and Improve.</a:t>
                      </a:r>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762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0001"/>
                  </a:ext>
                </a:extLst>
              </a:tr>
              <a:tr h="500308">
                <a:tc gridSpan="5">
                  <a:txBody>
                    <a:bodyPr/>
                    <a:lstStyle/>
                    <a:p>
                      <a:pPr algn="l">
                        <a:lnSpc>
                          <a:spcPts val="1679"/>
                        </a:lnSpc>
                        <a:defRPr/>
                      </a:pP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rgbClr val="1E417C"/>
                      </a:solidFill>
                      <a:prstDash val="solid"/>
                      <a:round/>
                      <a:headEnd type="none" w="med" len="med"/>
                      <a:tailEnd type="none" w="med" len="med"/>
                    </a:lnB>
                  </a:tcPr>
                </a:tc>
                <a:tc hMerge="1">
                  <a:txBody>
                    <a:bodyPr/>
                    <a:lstStyle/>
                    <a:p>
                      <a:pPr algn="l">
                        <a:lnSpc>
                          <a:spcPts val="1679"/>
                        </a:lnSpc>
                        <a:defRPr/>
                      </a:pP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rgbClr val="1E417C"/>
                      </a:solidFill>
                      <a:prstDash val="solid"/>
                      <a:round/>
                      <a:headEnd type="none" w="med" len="med"/>
                      <a:tailEnd type="none" w="med" len="med"/>
                    </a:lnB>
                  </a:tcPr>
                </a:tc>
                <a:tc hMerge="1">
                  <a:txBody>
                    <a:bodyPr/>
                    <a:lstStyle/>
                    <a:p>
                      <a:pPr algn="l">
                        <a:lnSpc>
                          <a:spcPts val="1679"/>
                        </a:lnSpc>
                        <a:defRPr/>
                      </a:pP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rgbClr val="1E417C"/>
                      </a:solidFill>
                      <a:prstDash val="solid"/>
                      <a:round/>
                      <a:headEnd type="none" w="med" len="med"/>
                      <a:tailEnd type="none" w="med" len="med"/>
                    </a:lnB>
                  </a:tcPr>
                </a:tc>
                <a:tc hMerge="1">
                  <a:txBody>
                    <a:bodyPr/>
                    <a:lstStyle/>
                    <a:p>
                      <a:pPr algn="l">
                        <a:lnSpc>
                          <a:spcPts val="1679"/>
                        </a:lnSpc>
                        <a:defRPr/>
                      </a:pP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rgbClr val="1E417C"/>
                      </a:solidFill>
                      <a:prstDash val="solid"/>
                      <a:round/>
                      <a:headEnd type="none" w="med" len="med"/>
                      <a:tailEnd type="none" w="med" len="med"/>
                    </a:lnB>
                  </a:tcPr>
                </a:tc>
                <a:tc hMerge="1">
                  <a:txBody>
                    <a:bodyPr/>
                    <a:lstStyle/>
                    <a:p>
                      <a:pPr algn="l">
                        <a:lnSpc>
                          <a:spcPts val="1679"/>
                        </a:lnSpc>
                        <a:defRPr/>
                      </a:pPr>
                      <a:endParaRPr lang="en-US" sz="1100"/>
                    </a:p>
                  </a:txBody>
                  <a:tcPr marL="102870" marR="102870" marT="102870" marB="102870" anchor="ctr">
                    <a:lnL w="76200" cap="flat" cmpd="sng" algn="ctr">
                      <a:solidFill>
                        <a:srgbClr val="FFFFFF"/>
                      </a:solidFill>
                      <a:prstDash val="solid"/>
                      <a:round/>
                      <a:headEnd type="none" w="med" len="med"/>
                      <a:tailEnd type="none" w="med" len="med"/>
                    </a:lnL>
                    <a:lnR w="76200" cap="flat" cmpd="sng" algn="ctr">
                      <a:solidFill>
                        <a:srgbClr val="FFFFFF"/>
                      </a:solidFill>
                      <a:prstDash val="solid"/>
                      <a:round/>
                      <a:headEnd type="none" w="med" len="med"/>
                      <a:tailEnd type="none" w="med" len="med"/>
                    </a:lnR>
                    <a:lnT w="76200" cap="flat" cmpd="sng" algn="ctr">
                      <a:solidFill>
                        <a:srgbClr val="FFFFFF"/>
                      </a:solidFill>
                      <a:prstDash val="solid"/>
                      <a:round/>
                      <a:headEnd type="none" w="med" len="med"/>
                      <a:tailEnd type="none" w="med" len="med"/>
                    </a:lnT>
                    <a:lnB w="12700" cap="flat" cmpd="sng" algn="ctr">
                      <a:solidFill>
                        <a:srgbClr val="1E417C"/>
                      </a:solidFill>
                      <a:prstDash val="solid"/>
                      <a:round/>
                      <a:headEnd type="none" w="med" len="med"/>
                      <a:tailEnd type="none" w="med" len="med"/>
                    </a:lnB>
                  </a:tcPr>
                </a:tc>
                <a:extLst>
                  <a:ext uri="{0D108BD9-81ED-4DB2-BD59-A6C34878D82A}">
                    <a16:rowId xmlns:a16="http://schemas.microsoft.com/office/drawing/2014/main" val="10002"/>
                  </a:ext>
                </a:extLst>
              </a:tr>
              <a:tr h="660278">
                <a:tc gridSpan="5">
                  <a:txBody>
                    <a:bodyPr/>
                    <a:lstStyle/>
                    <a:p>
                      <a:pPr algn="ctr">
                        <a:lnSpc>
                          <a:spcPts val="2520"/>
                        </a:lnSpc>
                        <a:defRPr/>
                      </a:pPr>
                      <a:r>
                        <a:rPr lang="en-US" sz="2100">
                          <a:solidFill>
                            <a:srgbClr val="000000"/>
                          </a:solidFill>
                          <a:latin typeface="Arial Bold"/>
                        </a:rPr>
                        <a:t>Business Outcomes Driven Decisions</a:t>
                      </a:r>
                      <a:endParaRPr lang="en-US" sz="1100"/>
                    </a:p>
                  </a:txBody>
                  <a:tcPr marL="102870" marR="102870" marT="102870" marB="102870" anchor="ctr">
                    <a:lnL w="12700" cap="flat" cmpd="sng" algn="ctr">
                      <a:solidFill>
                        <a:srgbClr val="1E417C"/>
                      </a:solidFill>
                      <a:prstDash val="solid"/>
                      <a:round/>
                      <a:headEnd type="none" w="med" len="med"/>
                      <a:tailEnd type="none" w="med" len="med"/>
                    </a:lnL>
                    <a:lnR w="12700" cap="flat" cmpd="sng" algn="ctr">
                      <a:solidFill>
                        <a:srgbClr val="1E417C"/>
                      </a:solidFill>
                      <a:prstDash val="solid"/>
                      <a:round/>
                      <a:headEnd type="none" w="med" len="med"/>
                      <a:tailEnd type="none" w="med" len="med"/>
                    </a:lnR>
                    <a:lnT w="12700" cap="flat" cmpd="sng" algn="ctr">
                      <a:solidFill>
                        <a:srgbClr val="1E417C"/>
                      </a:solidFill>
                      <a:prstDash val="solid"/>
                      <a:round/>
                      <a:headEnd type="none" w="med" len="med"/>
                      <a:tailEnd type="none" w="med" len="med"/>
                    </a:lnT>
                    <a:lnB w="12700" cap="flat" cmpd="sng" algn="ctr">
                      <a:solidFill>
                        <a:srgbClr val="1E417C"/>
                      </a:solidFill>
                      <a:prstDash val="solid"/>
                      <a:round/>
                      <a:headEnd type="none" w="med" len="med"/>
                      <a:tailEnd type="none" w="med" len="med"/>
                    </a:lnB>
                    <a:solidFill>
                      <a:srgbClr val="CBE3F9"/>
                    </a:solidFill>
                  </a:tcPr>
                </a:tc>
                <a:tc hMerge="1">
                  <a:txBody>
                    <a:bodyPr/>
                    <a:lstStyle/>
                    <a:p>
                      <a:pPr algn="ctr">
                        <a:lnSpc>
                          <a:spcPts val="2520"/>
                        </a:lnSpc>
                        <a:defRPr/>
                      </a:pPr>
                      <a:r>
                        <a:rPr lang="en-US" sz="2100">
                          <a:solidFill>
                            <a:srgbClr val="000000"/>
                          </a:solidFill>
                          <a:latin typeface="Arial Bold"/>
                        </a:rPr>
                        <a:t>Business Outcomes Driven Decisions</a:t>
                      </a:r>
                      <a:endParaRPr lang="en-US" sz="1100"/>
                    </a:p>
                  </a:txBody>
                  <a:tcPr marL="102870" marR="102870" marT="102870" marB="102870" anchor="ctr">
                    <a:lnL w="12700" cap="flat" cmpd="sng" algn="ctr">
                      <a:solidFill>
                        <a:srgbClr val="1E417C"/>
                      </a:solidFill>
                      <a:prstDash val="solid"/>
                      <a:round/>
                      <a:headEnd type="none" w="med" len="med"/>
                      <a:tailEnd type="none" w="med" len="med"/>
                    </a:lnL>
                    <a:lnR w="12700" cap="flat" cmpd="sng" algn="ctr">
                      <a:solidFill>
                        <a:srgbClr val="1E417C"/>
                      </a:solidFill>
                      <a:prstDash val="solid"/>
                      <a:round/>
                      <a:headEnd type="none" w="med" len="med"/>
                      <a:tailEnd type="none" w="med" len="med"/>
                    </a:lnR>
                    <a:lnT w="12700" cap="flat" cmpd="sng" algn="ctr">
                      <a:solidFill>
                        <a:srgbClr val="1E417C"/>
                      </a:solidFill>
                      <a:prstDash val="solid"/>
                      <a:round/>
                      <a:headEnd type="none" w="med" len="med"/>
                      <a:tailEnd type="none" w="med" len="med"/>
                    </a:lnT>
                    <a:lnB w="12700" cap="flat" cmpd="sng" algn="ctr">
                      <a:solidFill>
                        <a:srgbClr val="1E417C"/>
                      </a:solidFill>
                      <a:prstDash val="solid"/>
                      <a:round/>
                      <a:headEnd type="none" w="med" len="med"/>
                      <a:tailEnd type="none" w="med" len="med"/>
                    </a:lnB>
                    <a:solidFill>
                      <a:srgbClr val="CBE3F9"/>
                    </a:solidFill>
                  </a:tcPr>
                </a:tc>
                <a:tc hMerge="1">
                  <a:txBody>
                    <a:bodyPr/>
                    <a:lstStyle/>
                    <a:p>
                      <a:pPr algn="ctr">
                        <a:lnSpc>
                          <a:spcPts val="2520"/>
                        </a:lnSpc>
                        <a:defRPr/>
                      </a:pPr>
                      <a:r>
                        <a:rPr lang="en-US" sz="2100">
                          <a:solidFill>
                            <a:srgbClr val="000000"/>
                          </a:solidFill>
                          <a:latin typeface="Arial Bold"/>
                        </a:rPr>
                        <a:t>Business Outcomes Driven Decisions</a:t>
                      </a:r>
                      <a:endParaRPr lang="en-US" sz="1100"/>
                    </a:p>
                  </a:txBody>
                  <a:tcPr marL="102870" marR="102870" marT="102870" marB="102870" anchor="ctr">
                    <a:lnL w="12700" cap="flat" cmpd="sng" algn="ctr">
                      <a:solidFill>
                        <a:srgbClr val="1E417C"/>
                      </a:solidFill>
                      <a:prstDash val="solid"/>
                      <a:round/>
                      <a:headEnd type="none" w="med" len="med"/>
                      <a:tailEnd type="none" w="med" len="med"/>
                    </a:lnL>
                    <a:lnR w="12700" cap="flat" cmpd="sng" algn="ctr">
                      <a:solidFill>
                        <a:srgbClr val="1E417C"/>
                      </a:solidFill>
                      <a:prstDash val="solid"/>
                      <a:round/>
                      <a:headEnd type="none" w="med" len="med"/>
                      <a:tailEnd type="none" w="med" len="med"/>
                    </a:lnR>
                    <a:lnT w="12700" cap="flat" cmpd="sng" algn="ctr">
                      <a:solidFill>
                        <a:srgbClr val="1E417C"/>
                      </a:solidFill>
                      <a:prstDash val="solid"/>
                      <a:round/>
                      <a:headEnd type="none" w="med" len="med"/>
                      <a:tailEnd type="none" w="med" len="med"/>
                    </a:lnT>
                    <a:lnB w="12700" cap="flat" cmpd="sng" algn="ctr">
                      <a:solidFill>
                        <a:srgbClr val="1E417C"/>
                      </a:solidFill>
                      <a:prstDash val="solid"/>
                      <a:round/>
                      <a:headEnd type="none" w="med" len="med"/>
                      <a:tailEnd type="none" w="med" len="med"/>
                    </a:lnB>
                    <a:solidFill>
                      <a:srgbClr val="CBE3F9"/>
                    </a:solidFill>
                  </a:tcPr>
                </a:tc>
                <a:tc hMerge="1">
                  <a:txBody>
                    <a:bodyPr/>
                    <a:lstStyle/>
                    <a:p>
                      <a:pPr algn="ctr">
                        <a:lnSpc>
                          <a:spcPts val="2520"/>
                        </a:lnSpc>
                        <a:defRPr/>
                      </a:pPr>
                      <a:r>
                        <a:rPr lang="en-US" sz="2100">
                          <a:solidFill>
                            <a:srgbClr val="000000"/>
                          </a:solidFill>
                          <a:latin typeface="Arial Bold"/>
                        </a:rPr>
                        <a:t>Business Outcomes Driven Decisions</a:t>
                      </a:r>
                      <a:endParaRPr lang="en-US" sz="1100"/>
                    </a:p>
                  </a:txBody>
                  <a:tcPr marL="102870" marR="102870" marT="102870" marB="102870" anchor="ctr">
                    <a:lnL w="12700" cap="flat" cmpd="sng" algn="ctr">
                      <a:solidFill>
                        <a:srgbClr val="1E417C"/>
                      </a:solidFill>
                      <a:prstDash val="solid"/>
                      <a:round/>
                      <a:headEnd type="none" w="med" len="med"/>
                      <a:tailEnd type="none" w="med" len="med"/>
                    </a:lnL>
                    <a:lnR w="12700" cap="flat" cmpd="sng" algn="ctr">
                      <a:solidFill>
                        <a:srgbClr val="1E417C"/>
                      </a:solidFill>
                      <a:prstDash val="solid"/>
                      <a:round/>
                      <a:headEnd type="none" w="med" len="med"/>
                      <a:tailEnd type="none" w="med" len="med"/>
                    </a:lnR>
                    <a:lnT w="12700" cap="flat" cmpd="sng" algn="ctr">
                      <a:solidFill>
                        <a:srgbClr val="1E417C"/>
                      </a:solidFill>
                      <a:prstDash val="solid"/>
                      <a:round/>
                      <a:headEnd type="none" w="med" len="med"/>
                      <a:tailEnd type="none" w="med" len="med"/>
                    </a:lnT>
                    <a:lnB w="12700" cap="flat" cmpd="sng" algn="ctr">
                      <a:solidFill>
                        <a:srgbClr val="1E417C"/>
                      </a:solidFill>
                      <a:prstDash val="solid"/>
                      <a:round/>
                      <a:headEnd type="none" w="med" len="med"/>
                      <a:tailEnd type="none" w="med" len="med"/>
                    </a:lnB>
                    <a:solidFill>
                      <a:srgbClr val="CBE3F9"/>
                    </a:solidFill>
                  </a:tcPr>
                </a:tc>
                <a:tc hMerge="1">
                  <a:txBody>
                    <a:bodyPr/>
                    <a:lstStyle/>
                    <a:p>
                      <a:pPr algn="ctr">
                        <a:lnSpc>
                          <a:spcPts val="2520"/>
                        </a:lnSpc>
                        <a:defRPr/>
                      </a:pPr>
                      <a:r>
                        <a:rPr lang="en-US" sz="2100">
                          <a:solidFill>
                            <a:srgbClr val="000000"/>
                          </a:solidFill>
                          <a:latin typeface="Arial Bold"/>
                        </a:rPr>
                        <a:t>Business Outcomes Driven Decisions</a:t>
                      </a:r>
                      <a:endParaRPr lang="en-US" sz="1100"/>
                    </a:p>
                  </a:txBody>
                  <a:tcPr marL="102870" marR="102870" marT="102870" marB="102870" anchor="ctr">
                    <a:lnL w="12700" cap="flat" cmpd="sng" algn="ctr">
                      <a:solidFill>
                        <a:srgbClr val="1E417C"/>
                      </a:solidFill>
                      <a:prstDash val="solid"/>
                      <a:round/>
                      <a:headEnd type="none" w="med" len="med"/>
                      <a:tailEnd type="none" w="med" len="med"/>
                    </a:lnL>
                    <a:lnR w="12700" cap="flat" cmpd="sng" algn="ctr">
                      <a:solidFill>
                        <a:srgbClr val="1E417C"/>
                      </a:solidFill>
                      <a:prstDash val="solid"/>
                      <a:round/>
                      <a:headEnd type="none" w="med" len="med"/>
                      <a:tailEnd type="none" w="med" len="med"/>
                    </a:lnR>
                    <a:lnT w="12700" cap="flat" cmpd="sng" algn="ctr">
                      <a:solidFill>
                        <a:srgbClr val="1E417C"/>
                      </a:solidFill>
                      <a:prstDash val="solid"/>
                      <a:round/>
                      <a:headEnd type="none" w="med" len="med"/>
                      <a:tailEnd type="none" w="med" len="med"/>
                    </a:lnT>
                    <a:lnB w="12700" cap="flat" cmpd="sng" algn="ctr">
                      <a:solidFill>
                        <a:srgbClr val="1E417C"/>
                      </a:solidFill>
                      <a:prstDash val="solid"/>
                      <a:round/>
                      <a:headEnd type="none" w="med" len="med"/>
                      <a:tailEnd type="none" w="med" len="med"/>
                    </a:lnB>
                    <a:solidFill>
                      <a:srgbClr val="CBE3F9"/>
                    </a:solidFill>
                  </a:tcPr>
                </a:tc>
                <a:extLst>
                  <a:ext uri="{0D108BD9-81ED-4DB2-BD59-A6C34878D82A}">
                    <a16:rowId xmlns:a16="http://schemas.microsoft.com/office/drawing/2014/main" val="10003"/>
                  </a:ext>
                </a:extLst>
              </a:tr>
            </a:tbl>
          </a:graphicData>
        </a:graphic>
      </p:graphicFrame>
      <p:grpSp>
        <p:nvGrpSpPr>
          <p:cNvPr id="4" name="Group 4"/>
          <p:cNvGrpSpPr/>
          <p:nvPr/>
        </p:nvGrpSpPr>
        <p:grpSpPr>
          <a:xfrm rot="5400000">
            <a:off x="13090240" y="6086364"/>
            <a:ext cx="3324238" cy="560367"/>
            <a:chOff x="0" y="0"/>
            <a:chExt cx="4432317" cy="747156"/>
          </a:xfrm>
        </p:grpSpPr>
        <p:sp>
          <p:nvSpPr>
            <p:cNvPr id="5" name="Freeform 5"/>
            <p:cNvSpPr/>
            <p:nvPr/>
          </p:nvSpPr>
          <p:spPr>
            <a:xfrm>
              <a:off x="8509" y="8509"/>
              <a:ext cx="4415409" cy="730123"/>
            </a:xfrm>
            <a:custGeom>
              <a:avLst/>
              <a:gdLst/>
              <a:ahLst/>
              <a:cxnLst/>
              <a:rect l="l" t="t" r="r" b="b"/>
              <a:pathLst>
                <a:path w="4415409" h="730123">
                  <a:moveTo>
                    <a:pt x="0" y="730123"/>
                  </a:moveTo>
                  <a:lnTo>
                    <a:pt x="0" y="319405"/>
                  </a:lnTo>
                  <a:cubicBezTo>
                    <a:pt x="0" y="143002"/>
                    <a:pt x="145796" y="0"/>
                    <a:pt x="325628" y="0"/>
                  </a:cubicBezTo>
                  <a:lnTo>
                    <a:pt x="3996690" y="0"/>
                  </a:lnTo>
                  <a:cubicBezTo>
                    <a:pt x="4176522" y="0"/>
                    <a:pt x="4322318" y="143002"/>
                    <a:pt x="4322318" y="319532"/>
                  </a:cubicBezTo>
                  <a:lnTo>
                    <a:pt x="4322318" y="526161"/>
                  </a:lnTo>
                  <a:lnTo>
                    <a:pt x="4415409" y="526161"/>
                  </a:lnTo>
                  <a:lnTo>
                    <a:pt x="4229227" y="730123"/>
                  </a:lnTo>
                  <a:lnTo>
                    <a:pt x="4043172" y="526161"/>
                  </a:lnTo>
                  <a:lnTo>
                    <a:pt x="4136263" y="526161"/>
                  </a:lnTo>
                  <a:lnTo>
                    <a:pt x="4136263" y="319405"/>
                  </a:lnTo>
                  <a:cubicBezTo>
                    <a:pt x="4136263" y="243840"/>
                    <a:pt x="4073779" y="182499"/>
                    <a:pt x="3996690" y="182499"/>
                  </a:cubicBezTo>
                  <a:lnTo>
                    <a:pt x="325628" y="182499"/>
                  </a:lnTo>
                  <a:cubicBezTo>
                    <a:pt x="248539" y="182499"/>
                    <a:pt x="186055" y="243840"/>
                    <a:pt x="186055" y="319405"/>
                  </a:cubicBezTo>
                  <a:lnTo>
                    <a:pt x="186055" y="730123"/>
                  </a:lnTo>
                  <a:close/>
                </a:path>
              </a:pathLst>
            </a:custGeom>
            <a:solidFill>
              <a:srgbClr val="BFBFBF"/>
            </a:solidFill>
          </p:spPr>
        </p:sp>
        <p:sp>
          <p:nvSpPr>
            <p:cNvPr id="6" name="Freeform 6"/>
            <p:cNvSpPr/>
            <p:nvPr/>
          </p:nvSpPr>
          <p:spPr>
            <a:xfrm>
              <a:off x="0" y="0"/>
              <a:ext cx="4433062" cy="747141"/>
            </a:xfrm>
            <a:custGeom>
              <a:avLst/>
              <a:gdLst/>
              <a:ahLst/>
              <a:cxnLst/>
              <a:rect l="l" t="t" r="r" b="b"/>
              <a:pathLst>
                <a:path w="4433062" h="747141">
                  <a:moveTo>
                    <a:pt x="0" y="738632"/>
                  </a:moveTo>
                  <a:lnTo>
                    <a:pt x="0" y="327914"/>
                  </a:lnTo>
                  <a:lnTo>
                    <a:pt x="8509" y="327914"/>
                  </a:lnTo>
                  <a:lnTo>
                    <a:pt x="0" y="327914"/>
                  </a:lnTo>
                  <a:cubicBezTo>
                    <a:pt x="0" y="146685"/>
                    <a:pt x="149733" y="0"/>
                    <a:pt x="334137" y="0"/>
                  </a:cubicBezTo>
                  <a:lnTo>
                    <a:pt x="4005199" y="0"/>
                  </a:lnTo>
                  <a:lnTo>
                    <a:pt x="4005199" y="8509"/>
                  </a:lnTo>
                  <a:lnTo>
                    <a:pt x="4005199" y="0"/>
                  </a:lnTo>
                  <a:cubicBezTo>
                    <a:pt x="4189603" y="0"/>
                    <a:pt x="4339336" y="146685"/>
                    <a:pt x="4339336" y="327914"/>
                  </a:cubicBezTo>
                  <a:lnTo>
                    <a:pt x="4330827" y="327914"/>
                  </a:lnTo>
                  <a:lnTo>
                    <a:pt x="4339336" y="327914"/>
                  </a:lnTo>
                  <a:lnTo>
                    <a:pt x="4339336" y="534670"/>
                  </a:lnTo>
                  <a:lnTo>
                    <a:pt x="4330827" y="534670"/>
                  </a:lnTo>
                  <a:lnTo>
                    <a:pt x="4330827" y="526161"/>
                  </a:lnTo>
                  <a:lnTo>
                    <a:pt x="4423918" y="526161"/>
                  </a:lnTo>
                  <a:cubicBezTo>
                    <a:pt x="4427220" y="526161"/>
                    <a:pt x="4430268" y="528193"/>
                    <a:pt x="4431665" y="531241"/>
                  </a:cubicBezTo>
                  <a:cubicBezTo>
                    <a:pt x="4433062" y="534289"/>
                    <a:pt x="4432427" y="537845"/>
                    <a:pt x="4430141" y="540385"/>
                  </a:cubicBezTo>
                  <a:lnTo>
                    <a:pt x="4244086" y="744347"/>
                  </a:lnTo>
                  <a:cubicBezTo>
                    <a:pt x="4242435" y="746125"/>
                    <a:pt x="4240149" y="747141"/>
                    <a:pt x="4237863" y="747141"/>
                  </a:cubicBezTo>
                  <a:cubicBezTo>
                    <a:pt x="4235577" y="747141"/>
                    <a:pt x="4233164" y="746125"/>
                    <a:pt x="4231640" y="744347"/>
                  </a:cubicBezTo>
                  <a:lnTo>
                    <a:pt x="4045458" y="540385"/>
                  </a:lnTo>
                  <a:cubicBezTo>
                    <a:pt x="4043172" y="537845"/>
                    <a:pt x="4042664" y="534289"/>
                    <a:pt x="4043934" y="531241"/>
                  </a:cubicBezTo>
                  <a:cubicBezTo>
                    <a:pt x="4045204" y="528193"/>
                    <a:pt x="4048379" y="526161"/>
                    <a:pt x="4051681" y="526161"/>
                  </a:cubicBezTo>
                  <a:lnTo>
                    <a:pt x="4144772" y="526161"/>
                  </a:lnTo>
                  <a:lnTo>
                    <a:pt x="4144772" y="534670"/>
                  </a:lnTo>
                  <a:lnTo>
                    <a:pt x="4136263" y="534670"/>
                  </a:lnTo>
                  <a:lnTo>
                    <a:pt x="4136263" y="327914"/>
                  </a:lnTo>
                  <a:lnTo>
                    <a:pt x="4144772" y="327914"/>
                  </a:lnTo>
                  <a:lnTo>
                    <a:pt x="4136263" y="327914"/>
                  </a:lnTo>
                  <a:cubicBezTo>
                    <a:pt x="4136263" y="257175"/>
                    <a:pt x="4077716" y="199517"/>
                    <a:pt x="4005199" y="199517"/>
                  </a:cubicBezTo>
                  <a:lnTo>
                    <a:pt x="4005199" y="191008"/>
                  </a:lnTo>
                  <a:lnTo>
                    <a:pt x="4005199" y="199517"/>
                  </a:lnTo>
                  <a:lnTo>
                    <a:pt x="334137" y="199517"/>
                  </a:lnTo>
                  <a:lnTo>
                    <a:pt x="334137" y="191008"/>
                  </a:lnTo>
                  <a:lnTo>
                    <a:pt x="334137" y="182499"/>
                  </a:lnTo>
                  <a:cubicBezTo>
                    <a:pt x="338836" y="182499"/>
                    <a:pt x="342646" y="186309"/>
                    <a:pt x="342646" y="191008"/>
                  </a:cubicBezTo>
                  <a:cubicBezTo>
                    <a:pt x="342646" y="195707"/>
                    <a:pt x="338836" y="199517"/>
                    <a:pt x="334137" y="199517"/>
                  </a:cubicBezTo>
                  <a:cubicBezTo>
                    <a:pt x="261620" y="199517"/>
                    <a:pt x="203073" y="257175"/>
                    <a:pt x="203073" y="327914"/>
                  </a:cubicBezTo>
                  <a:lnTo>
                    <a:pt x="203073" y="738632"/>
                  </a:lnTo>
                  <a:cubicBezTo>
                    <a:pt x="203073" y="743331"/>
                    <a:pt x="199263" y="747141"/>
                    <a:pt x="194564" y="747141"/>
                  </a:cubicBezTo>
                  <a:lnTo>
                    <a:pt x="8509" y="747141"/>
                  </a:lnTo>
                  <a:cubicBezTo>
                    <a:pt x="3810" y="747141"/>
                    <a:pt x="0" y="743331"/>
                    <a:pt x="0" y="738632"/>
                  </a:cubicBezTo>
                  <a:moveTo>
                    <a:pt x="16891" y="738632"/>
                  </a:moveTo>
                  <a:lnTo>
                    <a:pt x="8509" y="738632"/>
                  </a:lnTo>
                  <a:lnTo>
                    <a:pt x="8509" y="730250"/>
                  </a:lnTo>
                  <a:lnTo>
                    <a:pt x="194564" y="730250"/>
                  </a:lnTo>
                  <a:lnTo>
                    <a:pt x="194564" y="738759"/>
                  </a:lnTo>
                  <a:lnTo>
                    <a:pt x="186055" y="738759"/>
                  </a:lnTo>
                  <a:lnTo>
                    <a:pt x="186055" y="327914"/>
                  </a:lnTo>
                  <a:lnTo>
                    <a:pt x="194564" y="327914"/>
                  </a:lnTo>
                  <a:lnTo>
                    <a:pt x="186055" y="327914"/>
                  </a:lnTo>
                  <a:cubicBezTo>
                    <a:pt x="186055" y="247523"/>
                    <a:pt x="252476" y="182499"/>
                    <a:pt x="334137" y="182499"/>
                  </a:cubicBezTo>
                  <a:lnTo>
                    <a:pt x="334137" y="191008"/>
                  </a:lnTo>
                  <a:lnTo>
                    <a:pt x="334137" y="199517"/>
                  </a:lnTo>
                  <a:cubicBezTo>
                    <a:pt x="329438" y="199517"/>
                    <a:pt x="325628" y="195707"/>
                    <a:pt x="325628" y="191008"/>
                  </a:cubicBezTo>
                  <a:cubicBezTo>
                    <a:pt x="325628" y="186309"/>
                    <a:pt x="329438" y="182499"/>
                    <a:pt x="334137" y="182499"/>
                  </a:cubicBezTo>
                  <a:lnTo>
                    <a:pt x="4005199" y="182499"/>
                  </a:lnTo>
                  <a:cubicBezTo>
                    <a:pt x="4086860" y="182499"/>
                    <a:pt x="4153281" y="247396"/>
                    <a:pt x="4153281" y="327914"/>
                  </a:cubicBezTo>
                  <a:lnTo>
                    <a:pt x="4153281" y="534670"/>
                  </a:lnTo>
                  <a:cubicBezTo>
                    <a:pt x="4153281" y="539369"/>
                    <a:pt x="4149471" y="543179"/>
                    <a:pt x="4144772" y="543179"/>
                  </a:cubicBezTo>
                  <a:lnTo>
                    <a:pt x="4051681" y="543179"/>
                  </a:lnTo>
                  <a:lnTo>
                    <a:pt x="4051681" y="534670"/>
                  </a:lnTo>
                  <a:lnTo>
                    <a:pt x="4057904" y="528955"/>
                  </a:lnTo>
                  <a:lnTo>
                    <a:pt x="4243959" y="732917"/>
                  </a:lnTo>
                  <a:lnTo>
                    <a:pt x="4237736" y="738632"/>
                  </a:lnTo>
                  <a:lnTo>
                    <a:pt x="4231513" y="732917"/>
                  </a:lnTo>
                  <a:lnTo>
                    <a:pt x="4417568" y="528955"/>
                  </a:lnTo>
                  <a:lnTo>
                    <a:pt x="4423791" y="534670"/>
                  </a:lnTo>
                  <a:lnTo>
                    <a:pt x="4423791" y="543179"/>
                  </a:lnTo>
                  <a:lnTo>
                    <a:pt x="4330700" y="543179"/>
                  </a:lnTo>
                  <a:cubicBezTo>
                    <a:pt x="4326001" y="543179"/>
                    <a:pt x="4322191" y="539369"/>
                    <a:pt x="4322191" y="534670"/>
                  </a:cubicBezTo>
                  <a:lnTo>
                    <a:pt x="4322191" y="327914"/>
                  </a:lnTo>
                  <a:cubicBezTo>
                    <a:pt x="4322191" y="156337"/>
                    <a:pt x="4180332" y="16891"/>
                    <a:pt x="4005072" y="16891"/>
                  </a:cubicBezTo>
                  <a:lnTo>
                    <a:pt x="334137" y="16891"/>
                  </a:lnTo>
                  <a:lnTo>
                    <a:pt x="334137" y="8509"/>
                  </a:lnTo>
                  <a:lnTo>
                    <a:pt x="334137" y="17018"/>
                  </a:lnTo>
                  <a:cubicBezTo>
                    <a:pt x="158750" y="16891"/>
                    <a:pt x="16891" y="156337"/>
                    <a:pt x="16891" y="327914"/>
                  </a:cubicBezTo>
                  <a:lnTo>
                    <a:pt x="16891" y="738632"/>
                  </a:lnTo>
                  <a:close/>
                </a:path>
              </a:pathLst>
            </a:custGeom>
            <a:solidFill>
              <a:srgbClr val="BFBFBF"/>
            </a:solidFill>
          </p:spPr>
        </p:sp>
      </p:grpSp>
      <p:sp>
        <p:nvSpPr>
          <p:cNvPr id="7" name="TextBox 7"/>
          <p:cNvSpPr txBox="1"/>
          <p:nvPr/>
        </p:nvSpPr>
        <p:spPr>
          <a:xfrm>
            <a:off x="11250672" y="8278429"/>
            <a:ext cx="2959327" cy="268367"/>
          </a:xfrm>
          <a:prstGeom prst="rect">
            <a:avLst/>
          </a:prstGeom>
        </p:spPr>
        <p:txBody>
          <a:bodyPr lIns="0" tIns="0" rIns="0" bIns="0" rtlCol="0" anchor="t">
            <a:spAutoFit/>
          </a:bodyPr>
          <a:lstStyle/>
          <a:p>
            <a:pPr algn="ctr">
              <a:lnSpc>
                <a:spcPts val="2160"/>
              </a:lnSpc>
            </a:pPr>
            <a:r>
              <a:rPr lang="en-US" sz="1800" spc="-71">
                <a:solidFill>
                  <a:srgbClr val="797979"/>
                </a:solidFill>
                <a:latin typeface="Open Sans 2"/>
              </a:rPr>
              <a:t>Continuous Improvement Cycle</a:t>
            </a:r>
          </a:p>
        </p:txBody>
      </p:sp>
      <p:grpSp>
        <p:nvGrpSpPr>
          <p:cNvPr id="8" name="Group 8"/>
          <p:cNvGrpSpPr/>
          <p:nvPr/>
        </p:nvGrpSpPr>
        <p:grpSpPr>
          <a:xfrm>
            <a:off x="4289373" y="8240329"/>
            <a:ext cx="6426421" cy="482449"/>
            <a:chOff x="0" y="0"/>
            <a:chExt cx="8568561" cy="643265"/>
          </a:xfrm>
        </p:grpSpPr>
        <p:sp>
          <p:nvSpPr>
            <p:cNvPr id="9" name="Freeform 9"/>
            <p:cNvSpPr/>
            <p:nvPr/>
          </p:nvSpPr>
          <p:spPr>
            <a:xfrm>
              <a:off x="8509" y="14588"/>
              <a:ext cx="8551545" cy="614208"/>
            </a:xfrm>
            <a:custGeom>
              <a:avLst/>
              <a:gdLst/>
              <a:ahLst/>
              <a:cxnLst/>
              <a:rect l="l" t="t" r="r" b="b"/>
              <a:pathLst>
                <a:path w="8551545" h="614208">
                  <a:moveTo>
                    <a:pt x="0" y="306995"/>
                  </a:moveTo>
                  <a:lnTo>
                    <a:pt x="187198" y="0"/>
                  </a:lnTo>
                  <a:lnTo>
                    <a:pt x="187198" y="153497"/>
                  </a:lnTo>
                  <a:lnTo>
                    <a:pt x="8551545" y="153497"/>
                  </a:lnTo>
                  <a:lnTo>
                    <a:pt x="8551545" y="460710"/>
                  </a:lnTo>
                  <a:lnTo>
                    <a:pt x="187198" y="460710"/>
                  </a:lnTo>
                  <a:lnTo>
                    <a:pt x="187198" y="614208"/>
                  </a:lnTo>
                  <a:close/>
                </a:path>
              </a:pathLst>
            </a:custGeom>
            <a:solidFill>
              <a:srgbClr val="BFBFBF"/>
            </a:solidFill>
          </p:spPr>
        </p:sp>
        <p:sp>
          <p:nvSpPr>
            <p:cNvPr id="10" name="Freeform 10"/>
            <p:cNvSpPr/>
            <p:nvPr/>
          </p:nvSpPr>
          <p:spPr>
            <a:xfrm>
              <a:off x="0" y="-762"/>
              <a:ext cx="8568563" cy="644604"/>
            </a:xfrm>
            <a:custGeom>
              <a:avLst/>
              <a:gdLst/>
              <a:ahLst/>
              <a:cxnLst/>
              <a:rect l="l" t="t" r="r" b="b"/>
              <a:pathLst>
                <a:path w="8568563" h="644604">
                  <a:moveTo>
                    <a:pt x="2667" y="311894"/>
                  </a:moveTo>
                  <a:lnTo>
                    <a:pt x="189865" y="4681"/>
                  </a:lnTo>
                  <a:cubicBezTo>
                    <a:pt x="192278" y="762"/>
                    <a:pt x="195961" y="0"/>
                    <a:pt x="199009" y="1851"/>
                  </a:cubicBezTo>
                  <a:cubicBezTo>
                    <a:pt x="202057" y="4246"/>
                    <a:pt x="204089" y="9471"/>
                    <a:pt x="204089" y="15132"/>
                  </a:cubicBezTo>
                  <a:lnTo>
                    <a:pt x="204089" y="168847"/>
                  </a:lnTo>
                  <a:lnTo>
                    <a:pt x="195580" y="168847"/>
                  </a:lnTo>
                  <a:lnTo>
                    <a:pt x="195580" y="154260"/>
                  </a:lnTo>
                  <a:lnTo>
                    <a:pt x="8560054" y="154260"/>
                  </a:lnTo>
                  <a:cubicBezTo>
                    <a:pt x="8564753" y="154260"/>
                    <a:pt x="8568563" y="160791"/>
                    <a:pt x="8568563" y="168847"/>
                  </a:cubicBezTo>
                  <a:lnTo>
                    <a:pt x="8568563" y="476060"/>
                  </a:lnTo>
                  <a:cubicBezTo>
                    <a:pt x="8568563" y="484116"/>
                    <a:pt x="8564753" y="490648"/>
                    <a:pt x="8560054" y="490648"/>
                  </a:cubicBezTo>
                  <a:lnTo>
                    <a:pt x="195707" y="490648"/>
                  </a:lnTo>
                  <a:lnTo>
                    <a:pt x="195707" y="476060"/>
                  </a:lnTo>
                  <a:lnTo>
                    <a:pt x="204216" y="476060"/>
                  </a:lnTo>
                  <a:lnTo>
                    <a:pt x="204216" y="629558"/>
                  </a:lnTo>
                  <a:cubicBezTo>
                    <a:pt x="204216" y="635437"/>
                    <a:pt x="202184" y="640662"/>
                    <a:pt x="199136" y="642839"/>
                  </a:cubicBezTo>
                  <a:cubicBezTo>
                    <a:pt x="196088" y="644604"/>
                    <a:pt x="192405" y="643928"/>
                    <a:pt x="189992" y="640009"/>
                  </a:cubicBezTo>
                  <a:lnTo>
                    <a:pt x="2667" y="332796"/>
                  </a:lnTo>
                  <a:cubicBezTo>
                    <a:pt x="1016" y="329965"/>
                    <a:pt x="0" y="326264"/>
                    <a:pt x="0" y="322345"/>
                  </a:cubicBezTo>
                  <a:cubicBezTo>
                    <a:pt x="0" y="318426"/>
                    <a:pt x="889" y="314507"/>
                    <a:pt x="2667" y="311894"/>
                  </a:cubicBezTo>
                  <a:moveTo>
                    <a:pt x="14351" y="332796"/>
                  </a:moveTo>
                  <a:lnTo>
                    <a:pt x="8509" y="322345"/>
                  </a:lnTo>
                  <a:lnTo>
                    <a:pt x="14351" y="311894"/>
                  </a:lnTo>
                  <a:lnTo>
                    <a:pt x="201549" y="619107"/>
                  </a:lnTo>
                  <a:lnTo>
                    <a:pt x="195707" y="629558"/>
                  </a:lnTo>
                  <a:lnTo>
                    <a:pt x="187198" y="629558"/>
                  </a:lnTo>
                  <a:lnTo>
                    <a:pt x="187198" y="476060"/>
                  </a:lnTo>
                  <a:cubicBezTo>
                    <a:pt x="187198" y="468004"/>
                    <a:pt x="191008" y="461473"/>
                    <a:pt x="195707" y="461473"/>
                  </a:cubicBezTo>
                  <a:lnTo>
                    <a:pt x="8560054" y="461473"/>
                  </a:lnTo>
                  <a:lnTo>
                    <a:pt x="8560054" y="476060"/>
                  </a:lnTo>
                  <a:lnTo>
                    <a:pt x="8551545" y="476060"/>
                  </a:lnTo>
                  <a:lnTo>
                    <a:pt x="8551545" y="168847"/>
                  </a:lnTo>
                  <a:lnTo>
                    <a:pt x="8560054" y="168847"/>
                  </a:lnTo>
                  <a:lnTo>
                    <a:pt x="8560054" y="183435"/>
                  </a:lnTo>
                  <a:lnTo>
                    <a:pt x="195707" y="183435"/>
                  </a:lnTo>
                  <a:cubicBezTo>
                    <a:pt x="191008" y="183435"/>
                    <a:pt x="187198" y="176903"/>
                    <a:pt x="187198" y="168847"/>
                  </a:cubicBezTo>
                  <a:lnTo>
                    <a:pt x="187198" y="15350"/>
                  </a:lnTo>
                  <a:lnTo>
                    <a:pt x="195707" y="15350"/>
                  </a:lnTo>
                  <a:lnTo>
                    <a:pt x="201549" y="25801"/>
                  </a:lnTo>
                  <a:lnTo>
                    <a:pt x="14351" y="332796"/>
                  </a:lnTo>
                  <a:close/>
                </a:path>
              </a:pathLst>
            </a:custGeom>
            <a:solidFill>
              <a:srgbClr val="BFBFBF"/>
            </a:solidFill>
          </p:spPr>
        </p:sp>
      </p:grpSp>
      <p:grpSp>
        <p:nvGrpSpPr>
          <p:cNvPr id="11" name="Group 11"/>
          <p:cNvGrpSpPr/>
          <p:nvPr/>
        </p:nvGrpSpPr>
        <p:grpSpPr>
          <a:xfrm rot="-5400000">
            <a:off x="1914156" y="5987787"/>
            <a:ext cx="3324238" cy="560367"/>
            <a:chOff x="0" y="0"/>
            <a:chExt cx="4432317" cy="747156"/>
          </a:xfrm>
        </p:grpSpPr>
        <p:sp>
          <p:nvSpPr>
            <p:cNvPr id="12" name="Freeform 12"/>
            <p:cNvSpPr/>
            <p:nvPr/>
          </p:nvSpPr>
          <p:spPr>
            <a:xfrm>
              <a:off x="8509" y="8509"/>
              <a:ext cx="4415409" cy="730123"/>
            </a:xfrm>
            <a:custGeom>
              <a:avLst/>
              <a:gdLst/>
              <a:ahLst/>
              <a:cxnLst/>
              <a:rect l="l" t="t" r="r" b="b"/>
              <a:pathLst>
                <a:path w="4415409" h="730123">
                  <a:moveTo>
                    <a:pt x="0" y="730123"/>
                  </a:moveTo>
                  <a:lnTo>
                    <a:pt x="0" y="319405"/>
                  </a:lnTo>
                  <a:cubicBezTo>
                    <a:pt x="0" y="143002"/>
                    <a:pt x="145796" y="0"/>
                    <a:pt x="325628" y="0"/>
                  </a:cubicBezTo>
                  <a:lnTo>
                    <a:pt x="3996690" y="0"/>
                  </a:lnTo>
                  <a:cubicBezTo>
                    <a:pt x="4176522" y="0"/>
                    <a:pt x="4322318" y="143002"/>
                    <a:pt x="4322318" y="319532"/>
                  </a:cubicBezTo>
                  <a:lnTo>
                    <a:pt x="4322318" y="526161"/>
                  </a:lnTo>
                  <a:lnTo>
                    <a:pt x="4415409" y="526161"/>
                  </a:lnTo>
                  <a:lnTo>
                    <a:pt x="4229227" y="730123"/>
                  </a:lnTo>
                  <a:lnTo>
                    <a:pt x="4043172" y="526161"/>
                  </a:lnTo>
                  <a:lnTo>
                    <a:pt x="4136263" y="526161"/>
                  </a:lnTo>
                  <a:lnTo>
                    <a:pt x="4136263" y="319405"/>
                  </a:lnTo>
                  <a:cubicBezTo>
                    <a:pt x="4136263" y="243840"/>
                    <a:pt x="4073779" y="182499"/>
                    <a:pt x="3996690" y="182499"/>
                  </a:cubicBezTo>
                  <a:lnTo>
                    <a:pt x="325628" y="182499"/>
                  </a:lnTo>
                  <a:cubicBezTo>
                    <a:pt x="248539" y="182499"/>
                    <a:pt x="186055" y="243840"/>
                    <a:pt x="186055" y="319405"/>
                  </a:cubicBezTo>
                  <a:lnTo>
                    <a:pt x="186055" y="730123"/>
                  </a:lnTo>
                  <a:close/>
                </a:path>
              </a:pathLst>
            </a:custGeom>
            <a:solidFill>
              <a:srgbClr val="BFBFBF"/>
            </a:solidFill>
          </p:spPr>
        </p:sp>
        <p:sp>
          <p:nvSpPr>
            <p:cNvPr id="13" name="Freeform 13"/>
            <p:cNvSpPr/>
            <p:nvPr/>
          </p:nvSpPr>
          <p:spPr>
            <a:xfrm>
              <a:off x="0" y="0"/>
              <a:ext cx="4433062" cy="747141"/>
            </a:xfrm>
            <a:custGeom>
              <a:avLst/>
              <a:gdLst/>
              <a:ahLst/>
              <a:cxnLst/>
              <a:rect l="l" t="t" r="r" b="b"/>
              <a:pathLst>
                <a:path w="4433062" h="747141">
                  <a:moveTo>
                    <a:pt x="0" y="738632"/>
                  </a:moveTo>
                  <a:lnTo>
                    <a:pt x="0" y="327914"/>
                  </a:lnTo>
                  <a:lnTo>
                    <a:pt x="8509" y="327914"/>
                  </a:lnTo>
                  <a:lnTo>
                    <a:pt x="0" y="327914"/>
                  </a:lnTo>
                  <a:cubicBezTo>
                    <a:pt x="0" y="146685"/>
                    <a:pt x="149733" y="0"/>
                    <a:pt x="334137" y="0"/>
                  </a:cubicBezTo>
                  <a:lnTo>
                    <a:pt x="4005199" y="0"/>
                  </a:lnTo>
                  <a:lnTo>
                    <a:pt x="4005199" y="8509"/>
                  </a:lnTo>
                  <a:lnTo>
                    <a:pt x="4005199" y="0"/>
                  </a:lnTo>
                  <a:cubicBezTo>
                    <a:pt x="4189603" y="0"/>
                    <a:pt x="4339336" y="146685"/>
                    <a:pt x="4339336" y="327914"/>
                  </a:cubicBezTo>
                  <a:lnTo>
                    <a:pt x="4330827" y="327914"/>
                  </a:lnTo>
                  <a:lnTo>
                    <a:pt x="4339336" y="327914"/>
                  </a:lnTo>
                  <a:lnTo>
                    <a:pt x="4339336" y="534670"/>
                  </a:lnTo>
                  <a:lnTo>
                    <a:pt x="4330827" y="534670"/>
                  </a:lnTo>
                  <a:lnTo>
                    <a:pt x="4330827" y="526161"/>
                  </a:lnTo>
                  <a:lnTo>
                    <a:pt x="4423918" y="526161"/>
                  </a:lnTo>
                  <a:cubicBezTo>
                    <a:pt x="4427220" y="526161"/>
                    <a:pt x="4430268" y="528193"/>
                    <a:pt x="4431665" y="531241"/>
                  </a:cubicBezTo>
                  <a:cubicBezTo>
                    <a:pt x="4433062" y="534289"/>
                    <a:pt x="4432427" y="537845"/>
                    <a:pt x="4430141" y="540385"/>
                  </a:cubicBezTo>
                  <a:lnTo>
                    <a:pt x="4244086" y="744347"/>
                  </a:lnTo>
                  <a:cubicBezTo>
                    <a:pt x="4242435" y="746125"/>
                    <a:pt x="4240149" y="747141"/>
                    <a:pt x="4237863" y="747141"/>
                  </a:cubicBezTo>
                  <a:cubicBezTo>
                    <a:pt x="4235577" y="747141"/>
                    <a:pt x="4233164" y="746125"/>
                    <a:pt x="4231640" y="744347"/>
                  </a:cubicBezTo>
                  <a:lnTo>
                    <a:pt x="4045458" y="540385"/>
                  </a:lnTo>
                  <a:cubicBezTo>
                    <a:pt x="4043172" y="537845"/>
                    <a:pt x="4042664" y="534289"/>
                    <a:pt x="4043934" y="531241"/>
                  </a:cubicBezTo>
                  <a:cubicBezTo>
                    <a:pt x="4045204" y="528193"/>
                    <a:pt x="4048379" y="526161"/>
                    <a:pt x="4051681" y="526161"/>
                  </a:cubicBezTo>
                  <a:lnTo>
                    <a:pt x="4144772" y="526161"/>
                  </a:lnTo>
                  <a:lnTo>
                    <a:pt x="4144772" y="534670"/>
                  </a:lnTo>
                  <a:lnTo>
                    <a:pt x="4136263" y="534670"/>
                  </a:lnTo>
                  <a:lnTo>
                    <a:pt x="4136263" y="327914"/>
                  </a:lnTo>
                  <a:lnTo>
                    <a:pt x="4144772" y="327914"/>
                  </a:lnTo>
                  <a:lnTo>
                    <a:pt x="4136263" y="327914"/>
                  </a:lnTo>
                  <a:cubicBezTo>
                    <a:pt x="4136263" y="257175"/>
                    <a:pt x="4077716" y="199517"/>
                    <a:pt x="4005199" y="199517"/>
                  </a:cubicBezTo>
                  <a:lnTo>
                    <a:pt x="4005199" y="191008"/>
                  </a:lnTo>
                  <a:lnTo>
                    <a:pt x="4005199" y="199517"/>
                  </a:lnTo>
                  <a:lnTo>
                    <a:pt x="334137" y="199517"/>
                  </a:lnTo>
                  <a:lnTo>
                    <a:pt x="334137" y="191008"/>
                  </a:lnTo>
                  <a:lnTo>
                    <a:pt x="334137" y="182499"/>
                  </a:lnTo>
                  <a:cubicBezTo>
                    <a:pt x="338836" y="182499"/>
                    <a:pt x="342646" y="186309"/>
                    <a:pt x="342646" y="191008"/>
                  </a:cubicBezTo>
                  <a:cubicBezTo>
                    <a:pt x="342646" y="195707"/>
                    <a:pt x="338836" y="199517"/>
                    <a:pt x="334137" y="199517"/>
                  </a:cubicBezTo>
                  <a:cubicBezTo>
                    <a:pt x="261620" y="199517"/>
                    <a:pt x="203073" y="257175"/>
                    <a:pt x="203073" y="327914"/>
                  </a:cubicBezTo>
                  <a:lnTo>
                    <a:pt x="203073" y="738632"/>
                  </a:lnTo>
                  <a:cubicBezTo>
                    <a:pt x="203073" y="743331"/>
                    <a:pt x="199263" y="747141"/>
                    <a:pt x="194564" y="747141"/>
                  </a:cubicBezTo>
                  <a:lnTo>
                    <a:pt x="8509" y="747141"/>
                  </a:lnTo>
                  <a:cubicBezTo>
                    <a:pt x="3810" y="747141"/>
                    <a:pt x="0" y="743331"/>
                    <a:pt x="0" y="738632"/>
                  </a:cubicBezTo>
                  <a:moveTo>
                    <a:pt x="16891" y="738632"/>
                  </a:moveTo>
                  <a:lnTo>
                    <a:pt x="8509" y="738632"/>
                  </a:lnTo>
                  <a:lnTo>
                    <a:pt x="8509" y="730250"/>
                  </a:lnTo>
                  <a:lnTo>
                    <a:pt x="194564" y="730250"/>
                  </a:lnTo>
                  <a:lnTo>
                    <a:pt x="194564" y="738759"/>
                  </a:lnTo>
                  <a:lnTo>
                    <a:pt x="186055" y="738759"/>
                  </a:lnTo>
                  <a:lnTo>
                    <a:pt x="186055" y="327914"/>
                  </a:lnTo>
                  <a:lnTo>
                    <a:pt x="194564" y="327914"/>
                  </a:lnTo>
                  <a:lnTo>
                    <a:pt x="186055" y="327914"/>
                  </a:lnTo>
                  <a:cubicBezTo>
                    <a:pt x="186055" y="247523"/>
                    <a:pt x="252476" y="182499"/>
                    <a:pt x="334137" y="182499"/>
                  </a:cubicBezTo>
                  <a:lnTo>
                    <a:pt x="334137" y="191008"/>
                  </a:lnTo>
                  <a:lnTo>
                    <a:pt x="334137" y="199517"/>
                  </a:lnTo>
                  <a:cubicBezTo>
                    <a:pt x="329438" y="199517"/>
                    <a:pt x="325628" y="195707"/>
                    <a:pt x="325628" y="191008"/>
                  </a:cubicBezTo>
                  <a:cubicBezTo>
                    <a:pt x="325628" y="186309"/>
                    <a:pt x="329438" y="182499"/>
                    <a:pt x="334137" y="182499"/>
                  </a:cubicBezTo>
                  <a:lnTo>
                    <a:pt x="4005199" y="182499"/>
                  </a:lnTo>
                  <a:cubicBezTo>
                    <a:pt x="4086860" y="182499"/>
                    <a:pt x="4153281" y="247396"/>
                    <a:pt x="4153281" y="327914"/>
                  </a:cubicBezTo>
                  <a:lnTo>
                    <a:pt x="4153281" y="534670"/>
                  </a:lnTo>
                  <a:cubicBezTo>
                    <a:pt x="4153281" y="539369"/>
                    <a:pt x="4149471" y="543179"/>
                    <a:pt x="4144772" y="543179"/>
                  </a:cubicBezTo>
                  <a:lnTo>
                    <a:pt x="4051681" y="543179"/>
                  </a:lnTo>
                  <a:lnTo>
                    <a:pt x="4051681" y="534670"/>
                  </a:lnTo>
                  <a:lnTo>
                    <a:pt x="4057904" y="528955"/>
                  </a:lnTo>
                  <a:lnTo>
                    <a:pt x="4243959" y="732917"/>
                  </a:lnTo>
                  <a:lnTo>
                    <a:pt x="4237736" y="738632"/>
                  </a:lnTo>
                  <a:lnTo>
                    <a:pt x="4231513" y="732917"/>
                  </a:lnTo>
                  <a:lnTo>
                    <a:pt x="4417568" y="528955"/>
                  </a:lnTo>
                  <a:lnTo>
                    <a:pt x="4423791" y="534670"/>
                  </a:lnTo>
                  <a:lnTo>
                    <a:pt x="4423791" y="543179"/>
                  </a:lnTo>
                  <a:lnTo>
                    <a:pt x="4330700" y="543179"/>
                  </a:lnTo>
                  <a:cubicBezTo>
                    <a:pt x="4326001" y="543179"/>
                    <a:pt x="4322191" y="539369"/>
                    <a:pt x="4322191" y="534670"/>
                  </a:cubicBezTo>
                  <a:lnTo>
                    <a:pt x="4322191" y="327914"/>
                  </a:lnTo>
                  <a:cubicBezTo>
                    <a:pt x="4322191" y="156337"/>
                    <a:pt x="4180332" y="16891"/>
                    <a:pt x="4005072" y="16891"/>
                  </a:cubicBezTo>
                  <a:lnTo>
                    <a:pt x="334137" y="16891"/>
                  </a:lnTo>
                  <a:lnTo>
                    <a:pt x="334137" y="8509"/>
                  </a:lnTo>
                  <a:lnTo>
                    <a:pt x="334137" y="17018"/>
                  </a:lnTo>
                  <a:cubicBezTo>
                    <a:pt x="158750" y="16891"/>
                    <a:pt x="16891" y="156337"/>
                    <a:pt x="16891" y="327914"/>
                  </a:cubicBezTo>
                  <a:lnTo>
                    <a:pt x="16891" y="738632"/>
                  </a:lnTo>
                  <a:close/>
                </a:path>
              </a:pathLst>
            </a:custGeom>
            <a:solidFill>
              <a:srgbClr val="BFBFBF"/>
            </a:solidFill>
          </p:spPr>
        </p:sp>
      </p:grpSp>
      <p:grpSp>
        <p:nvGrpSpPr>
          <p:cNvPr id="14" name="Group 14"/>
          <p:cNvGrpSpPr/>
          <p:nvPr/>
        </p:nvGrpSpPr>
        <p:grpSpPr>
          <a:xfrm>
            <a:off x="4102529" y="2935840"/>
            <a:ext cx="10266312" cy="722466"/>
            <a:chOff x="0" y="0"/>
            <a:chExt cx="13688415" cy="963288"/>
          </a:xfrm>
        </p:grpSpPr>
        <p:sp>
          <p:nvSpPr>
            <p:cNvPr id="15" name="Freeform 15"/>
            <p:cNvSpPr/>
            <p:nvPr/>
          </p:nvSpPr>
          <p:spPr>
            <a:xfrm>
              <a:off x="16509" y="16509"/>
              <a:ext cx="13655323" cy="930241"/>
            </a:xfrm>
            <a:custGeom>
              <a:avLst/>
              <a:gdLst/>
              <a:ahLst/>
              <a:cxnLst/>
              <a:rect l="l" t="t" r="r" b="b"/>
              <a:pathLst>
                <a:path w="13655323" h="930241">
                  <a:moveTo>
                    <a:pt x="0" y="0"/>
                  </a:moveTo>
                  <a:lnTo>
                    <a:pt x="13655323" y="0"/>
                  </a:lnTo>
                  <a:lnTo>
                    <a:pt x="13655323" y="930241"/>
                  </a:lnTo>
                  <a:lnTo>
                    <a:pt x="0" y="930241"/>
                  </a:lnTo>
                  <a:close/>
                </a:path>
              </a:pathLst>
            </a:custGeom>
            <a:solidFill>
              <a:srgbClr val="4F81BD"/>
            </a:solidFill>
          </p:spPr>
        </p:sp>
        <p:sp>
          <p:nvSpPr>
            <p:cNvPr id="16" name="Freeform 16"/>
            <p:cNvSpPr/>
            <p:nvPr/>
          </p:nvSpPr>
          <p:spPr>
            <a:xfrm>
              <a:off x="0" y="0"/>
              <a:ext cx="13688341" cy="963260"/>
            </a:xfrm>
            <a:custGeom>
              <a:avLst/>
              <a:gdLst/>
              <a:ahLst/>
              <a:cxnLst/>
              <a:rect l="l" t="t" r="r" b="b"/>
              <a:pathLst>
                <a:path w="13688341" h="963260">
                  <a:moveTo>
                    <a:pt x="16509" y="0"/>
                  </a:moveTo>
                  <a:lnTo>
                    <a:pt x="13671832" y="0"/>
                  </a:lnTo>
                  <a:cubicBezTo>
                    <a:pt x="13681018" y="0"/>
                    <a:pt x="13688341" y="7448"/>
                    <a:pt x="13688341" y="16509"/>
                  </a:cubicBezTo>
                  <a:lnTo>
                    <a:pt x="13688341" y="946750"/>
                  </a:lnTo>
                  <a:cubicBezTo>
                    <a:pt x="13688341" y="955936"/>
                    <a:pt x="13680894" y="963260"/>
                    <a:pt x="13671832" y="963260"/>
                  </a:cubicBezTo>
                  <a:lnTo>
                    <a:pt x="16509" y="963260"/>
                  </a:lnTo>
                  <a:cubicBezTo>
                    <a:pt x="7448" y="963260"/>
                    <a:pt x="0" y="955936"/>
                    <a:pt x="0" y="946750"/>
                  </a:cubicBezTo>
                  <a:lnTo>
                    <a:pt x="0" y="16509"/>
                  </a:lnTo>
                  <a:cubicBezTo>
                    <a:pt x="0" y="7448"/>
                    <a:pt x="7448" y="0"/>
                    <a:pt x="16509" y="0"/>
                  </a:cubicBezTo>
                  <a:moveTo>
                    <a:pt x="16509" y="33143"/>
                  </a:moveTo>
                  <a:lnTo>
                    <a:pt x="16509" y="16509"/>
                  </a:lnTo>
                  <a:lnTo>
                    <a:pt x="33143" y="16509"/>
                  </a:lnTo>
                  <a:lnTo>
                    <a:pt x="33143" y="946750"/>
                  </a:lnTo>
                  <a:lnTo>
                    <a:pt x="16509" y="946750"/>
                  </a:lnTo>
                  <a:lnTo>
                    <a:pt x="16509" y="930241"/>
                  </a:lnTo>
                  <a:lnTo>
                    <a:pt x="13671832" y="930241"/>
                  </a:lnTo>
                  <a:lnTo>
                    <a:pt x="13671832" y="946750"/>
                  </a:lnTo>
                  <a:lnTo>
                    <a:pt x="13655323" y="946750"/>
                  </a:lnTo>
                  <a:lnTo>
                    <a:pt x="13655323" y="16509"/>
                  </a:lnTo>
                  <a:lnTo>
                    <a:pt x="13671832" y="16509"/>
                  </a:lnTo>
                  <a:lnTo>
                    <a:pt x="13671832" y="33143"/>
                  </a:lnTo>
                  <a:lnTo>
                    <a:pt x="16509" y="33143"/>
                  </a:lnTo>
                  <a:close/>
                </a:path>
              </a:pathLst>
            </a:custGeom>
            <a:solidFill>
              <a:srgbClr val="1C334E"/>
            </a:solidFill>
          </p:spPr>
        </p:sp>
        <p:sp>
          <p:nvSpPr>
            <p:cNvPr id="17" name="TextBox 17"/>
            <p:cNvSpPr txBox="1"/>
            <p:nvPr/>
          </p:nvSpPr>
          <p:spPr>
            <a:xfrm>
              <a:off x="0" y="-57150"/>
              <a:ext cx="14004747" cy="1042699"/>
            </a:xfrm>
            <a:prstGeom prst="rect">
              <a:avLst/>
            </a:prstGeom>
          </p:spPr>
          <p:txBody>
            <a:bodyPr lIns="50800" tIns="50800" rIns="50800" bIns="50800" rtlCol="0" anchor="ctr"/>
            <a:lstStyle/>
            <a:p>
              <a:pPr algn="ctr">
                <a:lnSpc>
                  <a:spcPts val="3359"/>
                </a:lnSpc>
              </a:pPr>
              <a:r>
                <a:rPr lang="en-US" sz="2799">
                  <a:solidFill>
                    <a:srgbClr val="FFFFFF"/>
                  </a:solidFill>
                  <a:latin typeface="Arial"/>
                </a:rPr>
                <a:t>PROGRAM STEERING COMMITTEE</a:t>
              </a:r>
            </a:p>
          </p:txBody>
        </p:sp>
      </p:grpSp>
      <p:sp>
        <p:nvSpPr>
          <p:cNvPr id="18" name="Freeform 18"/>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3"/>
            <a:stretch>
              <a:fillRect l="-26670" r="-38347"/>
            </a:stretch>
          </a:blipFill>
        </p:spPr>
      </p:sp>
      <p:grpSp>
        <p:nvGrpSpPr>
          <p:cNvPr id="19" name="Group 19"/>
          <p:cNvGrpSpPr/>
          <p:nvPr/>
        </p:nvGrpSpPr>
        <p:grpSpPr>
          <a:xfrm>
            <a:off x="4102530" y="2226695"/>
            <a:ext cx="10266312" cy="722466"/>
            <a:chOff x="0" y="0"/>
            <a:chExt cx="13688415" cy="963288"/>
          </a:xfrm>
        </p:grpSpPr>
        <p:sp>
          <p:nvSpPr>
            <p:cNvPr id="20" name="Freeform 20"/>
            <p:cNvSpPr/>
            <p:nvPr/>
          </p:nvSpPr>
          <p:spPr>
            <a:xfrm>
              <a:off x="16509" y="16509"/>
              <a:ext cx="13655323" cy="930241"/>
            </a:xfrm>
            <a:custGeom>
              <a:avLst/>
              <a:gdLst/>
              <a:ahLst/>
              <a:cxnLst/>
              <a:rect l="l" t="t" r="r" b="b"/>
              <a:pathLst>
                <a:path w="13655323" h="930241">
                  <a:moveTo>
                    <a:pt x="0" y="0"/>
                  </a:moveTo>
                  <a:lnTo>
                    <a:pt x="13655323" y="0"/>
                  </a:lnTo>
                  <a:lnTo>
                    <a:pt x="13655323" y="930241"/>
                  </a:lnTo>
                  <a:lnTo>
                    <a:pt x="0" y="930241"/>
                  </a:lnTo>
                  <a:close/>
                </a:path>
              </a:pathLst>
            </a:custGeom>
            <a:solidFill>
              <a:srgbClr val="BFBFBF"/>
            </a:solidFill>
          </p:spPr>
        </p:sp>
        <p:sp>
          <p:nvSpPr>
            <p:cNvPr id="21" name="Freeform 21"/>
            <p:cNvSpPr/>
            <p:nvPr/>
          </p:nvSpPr>
          <p:spPr>
            <a:xfrm>
              <a:off x="0" y="0"/>
              <a:ext cx="13688341" cy="963260"/>
            </a:xfrm>
            <a:custGeom>
              <a:avLst/>
              <a:gdLst/>
              <a:ahLst/>
              <a:cxnLst/>
              <a:rect l="l" t="t" r="r" b="b"/>
              <a:pathLst>
                <a:path w="13688341" h="963260">
                  <a:moveTo>
                    <a:pt x="16509" y="0"/>
                  </a:moveTo>
                  <a:lnTo>
                    <a:pt x="13671832" y="0"/>
                  </a:lnTo>
                  <a:cubicBezTo>
                    <a:pt x="13681018" y="0"/>
                    <a:pt x="13688341" y="7448"/>
                    <a:pt x="13688341" y="16509"/>
                  </a:cubicBezTo>
                  <a:lnTo>
                    <a:pt x="13688341" y="946750"/>
                  </a:lnTo>
                  <a:cubicBezTo>
                    <a:pt x="13688341" y="955936"/>
                    <a:pt x="13680894" y="963260"/>
                    <a:pt x="13671832" y="963260"/>
                  </a:cubicBezTo>
                  <a:lnTo>
                    <a:pt x="16509" y="963260"/>
                  </a:lnTo>
                  <a:cubicBezTo>
                    <a:pt x="7448" y="963260"/>
                    <a:pt x="0" y="955936"/>
                    <a:pt x="0" y="946750"/>
                  </a:cubicBezTo>
                  <a:lnTo>
                    <a:pt x="0" y="16509"/>
                  </a:lnTo>
                  <a:cubicBezTo>
                    <a:pt x="0" y="7448"/>
                    <a:pt x="7448" y="0"/>
                    <a:pt x="16509" y="0"/>
                  </a:cubicBezTo>
                  <a:moveTo>
                    <a:pt x="16509" y="33143"/>
                  </a:moveTo>
                  <a:lnTo>
                    <a:pt x="16509" y="16509"/>
                  </a:lnTo>
                  <a:lnTo>
                    <a:pt x="33143" y="16509"/>
                  </a:lnTo>
                  <a:lnTo>
                    <a:pt x="33143" y="946750"/>
                  </a:lnTo>
                  <a:lnTo>
                    <a:pt x="16509" y="946750"/>
                  </a:lnTo>
                  <a:lnTo>
                    <a:pt x="16509" y="930241"/>
                  </a:lnTo>
                  <a:lnTo>
                    <a:pt x="13671832" y="930241"/>
                  </a:lnTo>
                  <a:lnTo>
                    <a:pt x="13671832" y="946750"/>
                  </a:lnTo>
                  <a:lnTo>
                    <a:pt x="13655323" y="946750"/>
                  </a:lnTo>
                  <a:lnTo>
                    <a:pt x="13655323" y="16509"/>
                  </a:lnTo>
                  <a:lnTo>
                    <a:pt x="13671832" y="16509"/>
                  </a:lnTo>
                  <a:lnTo>
                    <a:pt x="13671832" y="33143"/>
                  </a:lnTo>
                  <a:lnTo>
                    <a:pt x="16509" y="33143"/>
                  </a:lnTo>
                  <a:close/>
                </a:path>
              </a:pathLst>
            </a:custGeom>
            <a:solidFill>
              <a:srgbClr val="1C334E"/>
            </a:solidFill>
          </p:spPr>
        </p:sp>
        <p:sp>
          <p:nvSpPr>
            <p:cNvPr id="22" name="TextBox 22"/>
            <p:cNvSpPr txBox="1"/>
            <p:nvPr/>
          </p:nvSpPr>
          <p:spPr>
            <a:xfrm>
              <a:off x="0" y="-57150"/>
              <a:ext cx="14004747" cy="1042699"/>
            </a:xfrm>
            <a:prstGeom prst="rect">
              <a:avLst/>
            </a:prstGeom>
          </p:spPr>
          <p:txBody>
            <a:bodyPr lIns="50800" tIns="50800" rIns="50800" bIns="50800" rtlCol="0" anchor="ctr"/>
            <a:lstStyle/>
            <a:p>
              <a:pPr algn="ctr">
                <a:lnSpc>
                  <a:spcPts val="3359"/>
                </a:lnSpc>
              </a:pPr>
              <a:r>
                <a:rPr lang="en-US" sz="2799">
                  <a:solidFill>
                    <a:srgbClr val="090F10"/>
                  </a:solidFill>
                  <a:latin typeface="Arial"/>
                </a:rPr>
                <a:t>EXECUTIVE STEERING COMMITTEE </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38374" y="696323"/>
            <a:ext cx="14005991" cy="657225"/>
          </a:xfrm>
          <a:prstGeom prst="rect">
            <a:avLst/>
          </a:prstGeom>
        </p:spPr>
        <p:txBody>
          <a:bodyPr lIns="0" tIns="0" rIns="0" bIns="0" rtlCol="0" anchor="t">
            <a:spAutoFit/>
          </a:bodyPr>
          <a:lstStyle/>
          <a:p>
            <a:pPr algn="ctr">
              <a:lnSpc>
                <a:spcPts val="5040"/>
              </a:lnSpc>
            </a:pPr>
            <a:r>
              <a:rPr lang="en-US" sz="4200">
                <a:solidFill>
                  <a:srgbClr val="595959"/>
                </a:solidFill>
                <a:latin typeface="Arimo Bold"/>
              </a:rPr>
              <a:t>TECH INNOVATION HUB PROGRAM STRUCTURE</a:t>
            </a:r>
          </a:p>
        </p:txBody>
      </p:sp>
      <p:grpSp>
        <p:nvGrpSpPr>
          <p:cNvPr id="3" name="Group 3"/>
          <p:cNvGrpSpPr/>
          <p:nvPr/>
        </p:nvGrpSpPr>
        <p:grpSpPr>
          <a:xfrm>
            <a:off x="3582599" y="2333246"/>
            <a:ext cx="11485947" cy="1543729"/>
            <a:chOff x="0" y="0"/>
            <a:chExt cx="15314596" cy="2058305"/>
          </a:xfrm>
        </p:grpSpPr>
        <p:sp>
          <p:nvSpPr>
            <p:cNvPr id="4" name="Freeform 4"/>
            <p:cNvSpPr/>
            <p:nvPr/>
          </p:nvSpPr>
          <p:spPr>
            <a:xfrm>
              <a:off x="0" y="0"/>
              <a:ext cx="15314549" cy="2058289"/>
            </a:xfrm>
            <a:custGeom>
              <a:avLst/>
              <a:gdLst/>
              <a:ahLst/>
              <a:cxnLst/>
              <a:rect l="l" t="t" r="r" b="b"/>
              <a:pathLst>
                <a:path w="15314549" h="2058289">
                  <a:moveTo>
                    <a:pt x="12700" y="0"/>
                  </a:moveTo>
                  <a:lnTo>
                    <a:pt x="15301849" y="0"/>
                  </a:lnTo>
                  <a:cubicBezTo>
                    <a:pt x="15308835" y="0"/>
                    <a:pt x="15314549" y="5715"/>
                    <a:pt x="15314549" y="12700"/>
                  </a:cubicBezTo>
                  <a:lnTo>
                    <a:pt x="15314549" y="2045589"/>
                  </a:lnTo>
                  <a:cubicBezTo>
                    <a:pt x="15314549" y="2052574"/>
                    <a:pt x="15308835" y="2058289"/>
                    <a:pt x="15301849" y="2058289"/>
                  </a:cubicBezTo>
                  <a:lnTo>
                    <a:pt x="12700" y="2058289"/>
                  </a:lnTo>
                  <a:cubicBezTo>
                    <a:pt x="5715" y="2058289"/>
                    <a:pt x="0" y="2052574"/>
                    <a:pt x="0" y="2045589"/>
                  </a:cubicBezTo>
                  <a:lnTo>
                    <a:pt x="0" y="12700"/>
                  </a:lnTo>
                  <a:cubicBezTo>
                    <a:pt x="0" y="5715"/>
                    <a:pt x="5715" y="0"/>
                    <a:pt x="12700" y="0"/>
                  </a:cubicBezTo>
                  <a:moveTo>
                    <a:pt x="12700" y="25400"/>
                  </a:moveTo>
                  <a:lnTo>
                    <a:pt x="12700" y="12700"/>
                  </a:lnTo>
                  <a:lnTo>
                    <a:pt x="25400" y="12700"/>
                  </a:lnTo>
                  <a:lnTo>
                    <a:pt x="25400" y="2045589"/>
                  </a:lnTo>
                  <a:lnTo>
                    <a:pt x="12700" y="2045589"/>
                  </a:lnTo>
                  <a:lnTo>
                    <a:pt x="12700" y="2032889"/>
                  </a:lnTo>
                  <a:lnTo>
                    <a:pt x="15301849" y="2032889"/>
                  </a:lnTo>
                  <a:lnTo>
                    <a:pt x="15301849" y="2045589"/>
                  </a:lnTo>
                  <a:lnTo>
                    <a:pt x="15289149" y="2045589"/>
                  </a:lnTo>
                  <a:lnTo>
                    <a:pt x="15289149" y="12700"/>
                  </a:lnTo>
                  <a:lnTo>
                    <a:pt x="15301849" y="12700"/>
                  </a:lnTo>
                  <a:lnTo>
                    <a:pt x="15301849" y="25400"/>
                  </a:lnTo>
                  <a:lnTo>
                    <a:pt x="12700" y="25400"/>
                  </a:lnTo>
                  <a:close/>
                </a:path>
              </a:pathLst>
            </a:custGeom>
            <a:solidFill>
              <a:srgbClr val="D9D9D9"/>
            </a:solidFill>
          </p:spPr>
        </p:sp>
      </p:grpSp>
      <p:grpSp>
        <p:nvGrpSpPr>
          <p:cNvPr id="5" name="Group 5"/>
          <p:cNvGrpSpPr/>
          <p:nvPr/>
        </p:nvGrpSpPr>
        <p:grpSpPr>
          <a:xfrm>
            <a:off x="3592124" y="2184217"/>
            <a:ext cx="11466901" cy="560072"/>
            <a:chOff x="0" y="0"/>
            <a:chExt cx="15289201" cy="746763"/>
          </a:xfrm>
        </p:grpSpPr>
        <p:sp>
          <p:nvSpPr>
            <p:cNvPr id="6" name="Freeform 6"/>
            <p:cNvSpPr/>
            <p:nvPr/>
          </p:nvSpPr>
          <p:spPr>
            <a:xfrm>
              <a:off x="0" y="0"/>
              <a:ext cx="15289149" cy="746760"/>
            </a:xfrm>
            <a:custGeom>
              <a:avLst/>
              <a:gdLst/>
              <a:ahLst/>
              <a:cxnLst/>
              <a:rect l="l" t="t" r="r" b="b"/>
              <a:pathLst>
                <a:path w="15289149" h="746760">
                  <a:moveTo>
                    <a:pt x="0" y="0"/>
                  </a:moveTo>
                  <a:lnTo>
                    <a:pt x="15289149" y="0"/>
                  </a:lnTo>
                  <a:lnTo>
                    <a:pt x="15289149" y="746760"/>
                  </a:lnTo>
                  <a:lnTo>
                    <a:pt x="0" y="746760"/>
                  </a:lnTo>
                  <a:close/>
                </a:path>
              </a:pathLst>
            </a:custGeom>
            <a:solidFill>
              <a:srgbClr val="003A74"/>
            </a:solidFill>
          </p:spPr>
        </p:sp>
        <p:sp>
          <p:nvSpPr>
            <p:cNvPr id="7" name="TextBox 7"/>
            <p:cNvSpPr txBox="1"/>
            <p:nvPr/>
          </p:nvSpPr>
          <p:spPr>
            <a:xfrm>
              <a:off x="0" y="9525"/>
              <a:ext cx="15289201" cy="737238"/>
            </a:xfrm>
            <a:prstGeom prst="rect">
              <a:avLst/>
            </a:prstGeom>
          </p:spPr>
          <p:txBody>
            <a:bodyPr lIns="50800" tIns="50800" rIns="50800" bIns="50800" rtlCol="0" anchor="ctr"/>
            <a:lstStyle/>
            <a:p>
              <a:pPr algn="ctr">
                <a:lnSpc>
                  <a:spcPts val="2879"/>
                </a:lnSpc>
              </a:pPr>
              <a:r>
                <a:rPr lang="en-US" sz="2400">
                  <a:solidFill>
                    <a:srgbClr val="FFFFFF"/>
                  </a:solidFill>
                  <a:latin typeface="Montserrat Bold"/>
                </a:rPr>
                <a:t>STEERING COMMITTEE</a:t>
              </a:r>
            </a:p>
          </p:txBody>
        </p:sp>
      </p:grpSp>
      <p:sp>
        <p:nvSpPr>
          <p:cNvPr id="8" name="TextBox 8"/>
          <p:cNvSpPr txBox="1"/>
          <p:nvPr/>
        </p:nvSpPr>
        <p:spPr>
          <a:xfrm>
            <a:off x="4062519" y="2821542"/>
            <a:ext cx="10447622" cy="1036320"/>
          </a:xfrm>
          <a:prstGeom prst="rect">
            <a:avLst/>
          </a:prstGeom>
        </p:spPr>
        <p:txBody>
          <a:bodyPr lIns="0" tIns="0" rIns="0" bIns="0" rtlCol="0" anchor="t">
            <a:spAutoFit/>
          </a:bodyPr>
          <a:lstStyle/>
          <a:p>
            <a:pPr algn="ctr">
              <a:lnSpc>
                <a:spcPts val="4320"/>
              </a:lnSpc>
            </a:pPr>
            <a:r>
              <a:rPr lang="en-US" sz="2400">
                <a:solidFill>
                  <a:srgbClr val="000000"/>
                </a:solidFill>
                <a:latin typeface="Open Sans 1 Bold"/>
              </a:rPr>
              <a:t>Information Technology, Player Health and Safety, Football Operations, NFL Media, Data &amp; Analytics, Finance, Sponsorship </a:t>
            </a:r>
          </a:p>
        </p:txBody>
      </p:sp>
      <p:grpSp>
        <p:nvGrpSpPr>
          <p:cNvPr id="9" name="Group 9"/>
          <p:cNvGrpSpPr/>
          <p:nvPr/>
        </p:nvGrpSpPr>
        <p:grpSpPr>
          <a:xfrm>
            <a:off x="3544941" y="5165370"/>
            <a:ext cx="11482778" cy="1883849"/>
            <a:chOff x="0" y="0"/>
            <a:chExt cx="15310371" cy="2511799"/>
          </a:xfrm>
        </p:grpSpPr>
        <p:sp>
          <p:nvSpPr>
            <p:cNvPr id="10" name="Freeform 10"/>
            <p:cNvSpPr/>
            <p:nvPr/>
          </p:nvSpPr>
          <p:spPr>
            <a:xfrm>
              <a:off x="0" y="0"/>
              <a:ext cx="15310358" cy="2511806"/>
            </a:xfrm>
            <a:custGeom>
              <a:avLst/>
              <a:gdLst/>
              <a:ahLst/>
              <a:cxnLst/>
              <a:rect l="l" t="t" r="r" b="b"/>
              <a:pathLst>
                <a:path w="15310358" h="2511806">
                  <a:moveTo>
                    <a:pt x="12700" y="0"/>
                  </a:moveTo>
                  <a:lnTo>
                    <a:pt x="15297658" y="0"/>
                  </a:lnTo>
                  <a:cubicBezTo>
                    <a:pt x="15304644" y="0"/>
                    <a:pt x="15310358" y="5715"/>
                    <a:pt x="15310358" y="12700"/>
                  </a:cubicBezTo>
                  <a:lnTo>
                    <a:pt x="15310358" y="2499106"/>
                  </a:lnTo>
                  <a:cubicBezTo>
                    <a:pt x="15310358" y="2506091"/>
                    <a:pt x="15304644" y="2511806"/>
                    <a:pt x="15297658" y="2511806"/>
                  </a:cubicBezTo>
                  <a:lnTo>
                    <a:pt x="12700" y="2511806"/>
                  </a:lnTo>
                  <a:cubicBezTo>
                    <a:pt x="5715" y="2511806"/>
                    <a:pt x="0" y="2506091"/>
                    <a:pt x="0" y="2499106"/>
                  </a:cubicBezTo>
                  <a:lnTo>
                    <a:pt x="0" y="12700"/>
                  </a:lnTo>
                  <a:cubicBezTo>
                    <a:pt x="0" y="5715"/>
                    <a:pt x="5715" y="0"/>
                    <a:pt x="12700" y="0"/>
                  </a:cubicBezTo>
                  <a:moveTo>
                    <a:pt x="12700" y="25400"/>
                  </a:moveTo>
                  <a:lnTo>
                    <a:pt x="12700" y="12700"/>
                  </a:lnTo>
                  <a:lnTo>
                    <a:pt x="25400" y="12700"/>
                  </a:lnTo>
                  <a:lnTo>
                    <a:pt x="25400" y="2499106"/>
                  </a:lnTo>
                  <a:lnTo>
                    <a:pt x="12700" y="2499106"/>
                  </a:lnTo>
                  <a:lnTo>
                    <a:pt x="12700" y="2486406"/>
                  </a:lnTo>
                  <a:lnTo>
                    <a:pt x="15297658" y="2486406"/>
                  </a:lnTo>
                  <a:lnTo>
                    <a:pt x="15297658" y="2499106"/>
                  </a:lnTo>
                  <a:lnTo>
                    <a:pt x="15284958" y="2499106"/>
                  </a:lnTo>
                  <a:lnTo>
                    <a:pt x="15284958" y="12700"/>
                  </a:lnTo>
                  <a:lnTo>
                    <a:pt x="15297658" y="12700"/>
                  </a:lnTo>
                  <a:lnTo>
                    <a:pt x="15297658" y="25400"/>
                  </a:lnTo>
                  <a:lnTo>
                    <a:pt x="12700" y="25400"/>
                  </a:lnTo>
                  <a:close/>
                </a:path>
              </a:pathLst>
            </a:custGeom>
            <a:solidFill>
              <a:srgbClr val="D9D9D9"/>
            </a:solidFill>
          </p:spPr>
        </p:sp>
      </p:grpSp>
      <p:grpSp>
        <p:nvGrpSpPr>
          <p:cNvPr id="11" name="Group 11"/>
          <p:cNvGrpSpPr/>
          <p:nvPr/>
        </p:nvGrpSpPr>
        <p:grpSpPr>
          <a:xfrm>
            <a:off x="3554466" y="4627043"/>
            <a:ext cx="11504551" cy="529898"/>
            <a:chOff x="0" y="0"/>
            <a:chExt cx="15339401" cy="706531"/>
          </a:xfrm>
        </p:grpSpPr>
        <p:sp>
          <p:nvSpPr>
            <p:cNvPr id="12" name="Freeform 12"/>
            <p:cNvSpPr/>
            <p:nvPr/>
          </p:nvSpPr>
          <p:spPr>
            <a:xfrm>
              <a:off x="0" y="0"/>
              <a:ext cx="15339440" cy="706501"/>
            </a:xfrm>
            <a:custGeom>
              <a:avLst/>
              <a:gdLst/>
              <a:ahLst/>
              <a:cxnLst/>
              <a:rect l="l" t="t" r="r" b="b"/>
              <a:pathLst>
                <a:path w="15339440" h="706501">
                  <a:moveTo>
                    <a:pt x="0" y="0"/>
                  </a:moveTo>
                  <a:lnTo>
                    <a:pt x="15339440" y="0"/>
                  </a:lnTo>
                  <a:lnTo>
                    <a:pt x="15339440" y="706501"/>
                  </a:lnTo>
                  <a:lnTo>
                    <a:pt x="0" y="706501"/>
                  </a:lnTo>
                  <a:close/>
                </a:path>
              </a:pathLst>
            </a:custGeom>
            <a:solidFill>
              <a:srgbClr val="003A74"/>
            </a:solidFill>
          </p:spPr>
        </p:sp>
        <p:sp>
          <p:nvSpPr>
            <p:cNvPr id="13" name="TextBox 13"/>
            <p:cNvSpPr txBox="1"/>
            <p:nvPr/>
          </p:nvSpPr>
          <p:spPr>
            <a:xfrm>
              <a:off x="0" y="9525"/>
              <a:ext cx="15339401" cy="697006"/>
            </a:xfrm>
            <a:prstGeom prst="rect">
              <a:avLst/>
            </a:prstGeom>
          </p:spPr>
          <p:txBody>
            <a:bodyPr lIns="50800" tIns="50800" rIns="50800" bIns="50800" rtlCol="0" anchor="ctr"/>
            <a:lstStyle/>
            <a:p>
              <a:pPr algn="ctr">
                <a:lnSpc>
                  <a:spcPts val="2879"/>
                </a:lnSpc>
              </a:pPr>
              <a:r>
                <a:rPr lang="en-US" sz="2400">
                  <a:solidFill>
                    <a:srgbClr val="FFFFFF"/>
                  </a:solidFill>
                  <a:latin typeface="Montserrat Bold"/>
                </a:rPr>
                <a:t>WORKING GROUP</a:t>
              </a:r>
            </a:p>
          </p:txBody>
        </p:sp>
      </p:grpSp>
      <p:sp>
        <p:nvSpPr>
          <p:cNvPr id="14" name="AutoShape 14"/>
          <p:cNvSpPr/>
          <p:nvPr/>
        </p:nvSpPr>
        <p:spPr>
          <a:xfrm rot="5354326">
            <a:off x="9259895" y="4221130"/>
            <a:ext cx="716949" cy="0"/>
          </a:xfrm>
          <a:prstGeom prst="line">
            <a:avLst/>
          </a:prstGeom>
          <a:ln w="9525" cap="rnd">
            <a:solidFill>
              <a:srgbClr val="FFFFFF"/>
            </a:solidFill>
            <a:prstDash val="solid"/>
            <a:headEnd type="none" w="sm" len="sm"/>
            <a:tailEnd type="none" w="sm" len="sm"/>
          </a:ln>
        </p:spPr>
      </p:sp>
      <p:grpSp>
        <p:nvGrpSpPr>
          <p:cNvPr id="15" name="Group 15"/>
          <p:cNvGrpSpPr/>
          <p:nvPr/>
        </p:nvGrpSpPr>
        <p:grpSpPr>
          <a:xfrm>
            <a:off x="3544941" y="8051764"/>
            <a:ext cx="11523601" cy="2018360"/>
            <a:chOff x="0" y="0"/>
            <a:chExt cx="15364801" cy="2691147"/>
          </a:xfrm>
        </p:grpSpPr>
        <p:sp>
          <p:nvSpPr>
            <p:cNvPr id="16" name="Freeform 16"/>
            <p:cNvSpPr/>
            <p:nvPr/>
          </p:nvSpPr>
          <p:spPr>
            <a:xfrm>
              <a:off x="0" y="0"/>
              <a:ext cx="15364840" cy="2691130"/>
            </a:xfrm>
            <a:custGeom>
              <a:avLst/>
              <a:gdLst/>
              <a:ahLst/>
              <a:cxnLst/>
              <a:rect l="l" t="t" r="r" b="b"/>
              <a:pathLst>
                <a:path w="15364840" h="2691130">
                  <a:moveTo>
                    <a:pt x="12700" y="0"/>
                  </a:moveTo>
                  <a:lnTo>
                    <a:pt x="15352140" y="0"/>
                  </a:lnTo>
                  <a:cubicBezTo>
                    <a:pt x="15359126" y="0"/>
                    <a:pt x="15364840" y="5715"/>
                    <a:pt x="15364840" y="12700"/>
                  </a:cubicBezTo>
                  <a:lnTo>
                    <a:pt x="15364840" y="2678430"/>
                  </a:lnTo>
                  <a:cubicBezTo>
                    <a:pt x="15364840" y="2685415"/>
                    <a:pt x="15359126" y="2691130"/>
                    <a:pt x="15352140" y="2691130"/>
                  </a:cubicBezTo>
                  <a:lnTo>
                    <a:pt x="12700" y="2691130"/>
                  </a:lnTo>
                  <a:cubicBezTo>
                    <a:pt x="5715" y="2691130"/>
                    <a:pt x="0" y="2685415"/>
                    <a:pt x="0" y="2678430"/>
                  </a:cubicBezTo>
                  <a:lnTo>
                    <a:pt x="0" y="12700"/>
                  </a:lnTo>
                  <a:cubicBezTo>
                    <a:pt x="0" y="5715"/>
                    <a:pt x="5715" y="0"/>
                    <a:pt x="12700" y="0"/>
                  </a:cubicBezTo>
                  <a:moveTo>
                    <a:pt x="12700" y="25400"/>
                  </a:moveTo>
                  <a:lnTo>
                    <a:pt x="12700" y="12700"/>
                  </a:lnTo>
                  <a:lnTo>
                    <a:pt x="25400" y="12700"/>
                  </a:lnTo>
                  <a:lnTo>
                    <a:pt x="25400" y="2678430"/>
                  </a:lnTo>
                  <a:lnTo>
                    <a:pt x="12700" y="2678430"/>
                  </a:lnTo>
                  <a:lnTo>
                    <a:pt x="12700" y="2665730"/>
                  </a:lnTo>
                  <a:lnTo>
                    <a:pt x="15352140" y="2665730"/>
                  </a:lnTo>
                  <a:lnTo>
                    <a:pt x="15352140" y="2678430"/>
                  </a:lnTo>
                  <a:lnTo>
                    <a:pt x="15339440" y="2678430"/>
                  </a:lnTo>
                  <a:lnTo>
                    <a:pt x="15339440" y="12700"/>
                  </a:lnTo>
                  <a:lnTo>
                    <a:pt x="15352140" y="12700"/>
                  </a:lnTo>
                  <a:lnTo>
                    <a:pt x="15352140" y="25400"/>
                  </a:lnTo>
                  <a:lnTo>
                    <a:pt x="12700" y="25400"/>
                  </a:lnTo>
                  <a:close/>
                </a:path>
              </a:pathLst>
            </a:custGeom>
            <a:solidFill>
              <a:srgbClr val="D9D9D9"/>
            </a:solidFill>
          </p:spPr>
        </p:sp>
      </p:grpSp>
      <p:grpSp>
        <p:nvGrpSpPr>
          <p:cNvPr id="17" name="Group 17"/>
          <p:cNvGrpSpPr/>
          <p:nvPr/>
        </p:nvGrpSpPr>
        <p:grpSpPr>
          <a:xfrm>
            <a:off x="3554466" y="7400810"/>
            <a:ext cx="11463728" cy="660479"/>
            <a:chOff x="0" y="0"/>
            <a:chExt cx="15284971" cy="880639"/>
          </a:xfrm>
        </p:grpSpPr>
        <p:sp>
          <p:nvSpPr>
            <p:cNvPr id="18" name="Freeform 18"/>
            <p:cNvSpPr/>
            <p:nvPr/>
          </p:nvSpPr>
          <p:spPr>
            <a:xfrm>
              <a:off x="0" y="0"/>
              <a:ext cx="15284958" cy="880618"/>
            </a:xfrm>
            <a:custGeom>
              <a:avLst/>
              <a:gdLst/>
              <a:ahLst/>
              <a:cxnLst/>
              <a:rect l="l" t="t" r="r" b="b"/>
              <a:pathLst>
                <a:path w="15284958" h="880618">
                  <a:moveTo>
                    <a:pt x="0" y="0"/>
                  </a:moveTo>
                  <a:lnTo>
                    <a:pt x="15284958" y="0"/>
                  </a:lnTo>
                  <a:lnTo>
                    <a:pt x="15284958" y="880618"/>
                  </a:lnTo>
                  <a:lnTo>
                    <a:pt x="0" y="880618"/>
                  </a:lnTo>
                  <a:close/>
                </a:path>
              </a:pathLst>
            </a:custGeom>
            <a:solidFill>
              <a:srgbClr val="558ED5"/>
            </a:solidFill>
          </p:spPr>
        </p:sp>
        <p:sp>
          <p:nvSpPr>
            <p:cNvPr id="19" name="TextBox 19"/>
            <p:cNvSpPr txBox="1"/>
            <p:nvPr/>
          </p:nvSpPr>
          <p:spPr>
            <a:xfrm>
              <a:off x="0" y="9525"/>
              <a:ext cx="15284971" cy="871114"/>
            </a:xfrm>
            <a:prstGeom prst="rect">
              <a:avLst/>
            </a:prstGeom>
          </p:spPr>
          <p:txBody>
            <a:bodyPr lIns="50800" tIns="50800" rIns="50800" bIns="50800" rtlCol="0" anchor="ctr"/>
            <a:lstStyle/>
            <a:p>
              <a:pPr algn="ctr">
                <a:lnSpc>
                  <a:spcPts val="2879"/>
                </a:lnSpc>
              </a:pPr>
              <a:r>
                <a:rPr lang="en-US" sz="2400">
                  <a:solidFill>
                    <a:srgbClr val="FFFFFF"/>
                  </a:solidFill>
                  <a:latin typeface="Montserrat Bold"/>
                </a:rPr>
                <a:t>PHASE I PROJECTS</a:t>
              </a:r>
            </a:p>
          </p:txBody>
        </p:sp>
      </p:grpSp>
      <p:sp>
        <p:nvSpPr>
          <p:cNvPr id="20" name="TextBox 20"/>
          <p:cNvSpPr txBox="1"/>
          <p:nvPr/>
        </p:nvSpPr>
        <p:spPr>
          <a:xfrm>
            <a:off x="3844370" y="5116939"/>
            <a:ext cx="5682560" cy="2415540"/>
          </a:xfrm>
          <a:prstGeom prst="rect">
            <a:avLst/>
          </a:prstGeom>
        </p:spPr>
        <p:txBody>
          <a:bodyPr lIns="0" tIns="0" rIns="0" bIns="0" rtlCol="0" anchor="t">
            <a:spAutoFit/>
          </a:bodyPr>
          <a:lstStyle/>
          <a:p>
            <a:pPr marL="216941" lvl="1" indent="-108471">
              <a:lnSpc>
                <a:spcPts val="3240"/>
              </a:lnSpc>
              <a:buFont typeface="Arial"/>
              <a:buChar char="•"/>
            </a:pPr>
            <a:r>
              <a:rPr lang="en-US" sz="1800">
                <a:solidFill>
                  <a:srgbClr val="000000"/>
                </a:solidFill>
                <a:latin typeface="Open Sans 1"/>
              </a:rPr>
              <a:t> IT​</a:t>
            </a:r>
          </a:p>
          <a:p>
            <a:pPr marL="216941" lvl="1" indent="-108471">
              <a:lnSpc>
                <a:spcPts val="3240"/>
              </a:lnSpc>
              <a:buFont typeface="Arial"/>
              <a:buChar char="•"/>
            </a:pPr>
            <a:r>
              <a:rPr lang="en-US" sz="1800">
                <a:solidFill>
                  <a:srgbClr val="000000"/>
                </a:solidFill>
                <a:latin typeface="Open Sans 1"/>
              </a:rPr>
              <a:t>ISO​</a:t>
            </a:r>
          </a:p>
          <a:p>
            <a:pPr marL="216941" lvl="1" indent="-108471">
              <a:lnSpc>
                <a:spcPts val="3240"/>
              </a:lnSpc>
              <a:buFont typeface="Arial"/>
              <a:buChar char="•"/>
            </a:pPr>
            <a:r>
              <a:rPr lang="en-US" sz="1800">
                <a:solidFill>
                  <a:srgbClr val="000000"/>
                </a:solidFill>
                <a:latin typeface="Open Sans 1"/>
              </a:rPr>
              <a:t>Broadcast ​</a:t>
            </a:r>
          </a:p>
          <a:p>
            <a:pPr marL="216941" lvl="1" indent="-108471">
              <a:lnSpc>
                <a:spcPts val="3240"/>
              </a:lnSpc>
              <a:buFont typeface="Arial"/>
              <a:buChar char="•"/>
            </a:pPr>
            <a:r>
              <a:rPr lang="en-US" sz="1800">
                <a:solidFill>
                  <a:srgbClr val="000000"/>
                </a:solidFill>
                <a:latin typeface="Open Sans 1"/>
              </a:rPr>
              <a:t>Player Health and Safety  </a:t>
            </a:r>
          </a:p>
          <a:p>
            <a:pPr algn="l">
              <a:lnSpc>
                <a:spcPts val="3240"/>
              </a:lnSpc>
            </a:pPr>
            <a:r>
              <a:rPr lang="en-US" sz="1800">
                <a:solidFill>
                  <a:srgbClr val="000000"/>
                </a:solidFill>
                <a:latin typeface="Open Sans 1"/>
              </a:rPr>
              <a:t>  </a:t>
            </a:r>
          </a:p>
          <a:p>
            <a:pPr marL="217170" lvl="1" indent="-108585" algn="l">
              <a:lnSpc>
                <a:spcPts val="3240"/>
              </a:lnSpc>
            </a:pPr>
            <a:endParaRPr lang="en-US" sz="1800">
              <a:solidFill>
                <a:srgbClr val="000000"/>
              </a:solidFill>
              <a:latin typeface="Open Sans 1"/>
            </a:endParaRPr>
          </a:p>
        </p:txBody>
      </p:sp>
      <p:sp>
        <p:nvSpPr>
          <p:cNvPr id="21" name="TextBox 21"/>
          <p:cNvSpPr txBox="1"/>
          <p:nvPr/>
        </p:nvSpPr>
        <p:spPr>
          <a:xfrm>
            <a:off x="9826891" y="5107411"/>
            <a:ext cx="5198937" cy="2825115"/>
          </a:xfrm>
          <a:prstGeom prst="rect">
            <a:avLst/>
          </a:prstGeom>
        </p:spPr>
        <p:txBody>
          <a:bodyPr lIns="0" tIns="0" rIns="0" bIns="0" rtlCol="0" anchor="t">
            <a:spAutoFit/>
          </a:bodyPr>
          <a:lstStyle/>
          <a:p>
            <a:pPr marL="216941" lvl="1" indent="-108471">
              <a:lnSpc>
                <a:spcPts val="3240"/>
              </a:lnSpc>
              <a:buFont typeface="Arial"/>
              <a:buChar char="•"/>
            </a:pPr>
            <a:r>
              <a:rPr lang="en-US" sz="1800">
                <a:solidFill>
                  <a:srgbClr val="000000"/>
                </a:solidFill>
                <a:latin typeface="Open Sans 1"/>
              </a:rPr>
              <a:t>Football Tech​</a:t>
            </a:r>
          </a:p>
          <a:p>
            <a:pPr marL="216941" lvl="1" indent="-108471">
              <a:lnSpc>
                <a:spcPts val="3240"/>
              </a:lnSpc>
              <a:buFont typeface="Arial"/>
              <a:buChar char="•"/>
            </a:pPr>
            <a:r>
              <a:rPr lang="en-US" sz="1800">
                <a:solidFill>
                  <a:srgbClr val="000000"/>
                </a:solidFill>
                <a:latin typeface="Open Sans 1"/>
              </a:rPr>
              <a:t>NGS​</a:t>
            </a:r>
          </a:p>
          <a:p>
            <a:pPr marL="216941" lvl="1" indent="-108471">
              <a:lnSpc>
                <a:spcPts val="3240"/>
              </a:lnSpc>
              <a:buFont typeface="Arial"/>
              <a:buChar char="•"/>
            </a:pPr>
            <a:r>
              <a:rPr lang="en-US" sz="1800">
                <a:solidFill>
                  <a:srgbClr val="000000"/>
                </a:solidFill>
                <a:latin typeface="Open Sans 1"/>
              </a:rPr>
              <a:t>Digital Media​</a:t>
            </a:r>
          </a:p>
          <a:p>
            <a:pPr marL="216941" lvl="1" indent="-108471">
              <a:lnSpc>
                <a:spcPts val="3240"/>
              </a:lnSpc>
              <a:buFont typeface="Arial"/>
              <a:buChar char="•"/>
            </a:pPr>
            <a:r>
              <a:rPr lang="en-US" sz="1800">
                <a:solidFill>
                  <a:srgbClr val="000000"/>
                </a:solidFill>
                <a:latin typeface="Open Sans 1"/>
              </a:rPr>
              <a:t>Football Business Strategy &amp; Ops</a:t>
            </a:r>
          </a:p>
          <a:p>
            <a:pPr algn="l">
              <a:lnSpc>
                <a:spcPts val="3240"/>
              </a:lnSpc>
            </a:pPr>
            <a:endParaRPr lang="en-US" sz="1800">
              <a:solidFill>
                <a:srgbClr val="000000"/>
              </a:solidFill>
              <a:latin typeface="Open Sans 1"/>
            </a:endParaRPr>
          </a:p>
          <a:p>
            <a:pPr marL="217170" lvl="1" indent="-108585" algn="l">
              <a:lnSpc>
                <a:spcPts val="3240"/>
              </a:lnSpc>
            </a:pPr>
            <a:endParaRPr lang="en-US" sz="1800">
              <a:solidFill>
                <a:srgbClr val="000000"/>
              </a:solidFill>
              <a:latin typeface="Open Sans 1"/>
            </a:endParaRPr>
          </a:p>
          <a:p>
            <a:pPr marL="217170" lvl="1" indent="-108585" algn="l">
              <a:lnSpc>
                <a:spcPts val="3240"/>
              </a:lnSpc>
            </a:pPr>
            <a:endParaRPr lang="en-US" sz="1800">
              <a:solidFill>
                <a:srgbClr val="000000"/>
              </a:solidFill>
              <a:latin typeface="Open Sans 1"/>
            </a:endParaRPr>
          </a:p>
        </p:txBody>
      </p:sp>
      <p:sp>
        <p:nvSpPr>
          <p:cNvPr id="22" name="TextBox 22"/>
          <p:cNvSpPr txBox="1"/>
          <p:nvPr/>
        </p:nvSpPr>
        <p:spPr>
          <a:xfrm>
            <a:off x="6108779" y="8273496"/>
            <a:ext cx="6859798" cy="1460468"/>
          </a:xfrm>
          <a:prstGeom prst="rect">
            <a:avLst/>
          </a:prstGeom>
        </p:spPr>
        <p:txBody>
          <a:bodyPr lIns="0" tIns="0" rIns="0" bIns="0" rtlCol="0" anchor="t">
            <a:spAutoFit/>
          </a:bodyPr>
          <a:lstStyle/>
          <a:p>
            <a:pPr marL="241300" lvl="1" indent="-120650" algn="l">
              <a:lnSpc>
                <a:spcPts val="3600"/>
              </a:lnSpc>
              <a:buFont typeface="Arial"/>
              <a:buChar char="•"/>
            </a:pPr>
            <a:r>
              <a:rPr lang="en-US" sz="2000">
                <a:solidFill>
                  <a:srgbClr val="000000"/>
                </a:solidFill>
                <a:latin typeface="Open Sans 1"/>
              </a:rPr>
              <a:t>OPTICAL TRACKING</a:t>
            </a:r>
          </a:p>
          <a:p>
            <a:pPr marL="241300" lvl="1" indent="-120650" algn="l">
              <a:lnSpc>
                <a:spcPts val="3600"/>
              </a:lnSpc>
              <a:buFont typeface="Arial"/>
              <a:buChar char="•"/>
            </a:pPr>
            <a:r>
              <a:rPr lang="en-US" sz="2000">
                <a:solidFill>
                  <a:srgbClr val="000000"/>
                </a:solidFill>
                <a:latin typeface="Open Sans 1"/>
              </a:rPr>
              <a:t>NFL VIEW</a:t>
            </a:r>
          </a:p>
          <a:p>
            <a:pPr marL="241300" lvl="1" indent="-120650" algn="l">
              <a:lnSpc>
                <a:spcPts val="3600"/>
              </a:lnSpc>
              <a:buFont typeface="Arial"/>
              <a:buChar char="•"/>
            </a:pPr>
            <a:r>
              <a:rPr lang="en-US" sz="2000">
                <a:solidFill>
                  <a:srgbClr val="000000"/>
                </a:solidFill>
                <a:latin typeface="Open Sans 1"/>
              </a:rPr>
              <a:t>NATURAL LANGUAGE PROCESSING, MEDIA INDEXING  </a:t>
            </a:r>
          </a:p>
        </p:txBody>
      </p:sp>
      <p:sp>
        <p:nvSpPr>
          <p:cNvPr id="23" name="Freeform 23"/>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2"/>
            <a:stretch>
              <a:fillRect l="-26670" r="-38347"/>
            </a:stretch>
          </a:blipFill>
        </p:spPr>
      </p:sp>
      <p:grpSp>
        <p:nvGrpSpPr>
          <p:cNvPr id="24" name="Group 24"/>
          <p:cNvGrpSpPr/>
          <p:nvPr/>
        </p:nvGrpSpPr>
        <p:grpSpPr>
          <a:xfrm>
            <a:off x="3601645" y="1566995"/>
            <a:ext cx="11466901" cy="560072"/>
            <a:chOff x="0" y="0"/>
            <a:chExt cx="15289201" cy="746763"/>
          </a:xfrm>
        </p:grpSpPr>
        <p:sp>
          <p:nvSpPr>
            <p:cNvPr id="25" name="Freeform 25"/>
            <p:cNvSpPr/>
            <p:nvPr/>
          </p:nvSpPr>
          <p:spPr>
            <a:xfrm>
              <a:off x="0" y="0"/>
              <a:ext cx="15289149" cy="746760"/>
            </a:xfrm>
            <a:custGeom>
              <a:avLst/>
              <a:gdLst/>
              <a:ahLst/>
              <a:cxnLst/>
              <a:rect l="l" t="t" r="r" b="b"/>
              <a:pathLst>
                <a:path w="15289149" h="746760">
                  <a:moveTo>
                    <a:pt x="0" y="0"/>
                  </a:moveTo>
                  <a:lnTo>
                    <a:pt x="15289149" y="0"/>
                  </a:lnTo>
                  <a:lnTo>
                    <a:pt x="15289149" y="746760"/>
                  </a:lnTo>
                  <a:lnTo>
                    <a:pt x="0" y="746760"/>
                  </a:lnTo>
                  <a:close/>
                </a:path>
              </a:pathLst>
            </a:custGeom>
            <a:solidFill>
              <a:srgbClr val="A6A6A6"/>
            </a:solidFill>
          </p:spPr>
        </p:sp>
        <p:sp>
          <p:nvSpPr>
            <p:cNvPr id="26" name="TextBox 26"/>
            <p:cNvSpPr txBox="1"/>
            <p:nvPr/>
          </p:nvSpPr>
          <p:spPr>
            <a:xfrm>
              <a:off x="0" y="9525"/>
              <a:ext cx="15289201" cy="737238"/>
            </a:xfrm>
            <a:prstGeom prst="rect">
              <a:avLst/>
            </a:prstGeom>
          </p:spPr>
          <p:txBody>
            <a:bodyPr lIns="50800" tIns="50800" rIns="50800" bIns="50800" rtlCol="0" anchor="ctr"/>
            <a:lstStyle/>
            <a:p>
              <a:pPr algn="ctr">
                <a:lnSpc>
                  <a:spcPts val="2879"/>
                </a:lnSpc>
              </a:pPr>
              <a:r>
                <a:rPr lang="en-US" sz="2400">
                  <a:solidFill>
                    <a:srgbClr val="090F10"/>
                  </a:solidFill>
                  <a:latin typeface="Montserrat Bold"/>
                </a:rPr>
                <a:t>EXECUTIVE STEERING COMMITTEE </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886" y="8733665"/>
            <a:ext cx="2655302" cy="776879"/>
          </a:xfrm>
          <a:custGeom>
            <a:avLst/>
            <a:gdLst/>
            <a:ahLst/>
            <a:cxnLst/>
            <a:rect l="l" t="t" r="r" b="b"/>
            <a:pathLst>
              <a:path w="2655302" h="776879">
                <a:moveTo>
                  <a:pt x="0" y="0"/>
                </a:moveTo>
                <a:lnTo>
                  <a:pt x="2655302" y="0"/>
                </a:lnTo>
                <a:lnTo>
                  <a:pt x="2655302" y="776879"/>
                </a:lnTo>
                <a:lnTo>
                  <a:pt x="0" y="776879"/>
                </a:lnTo>
                <a:lnTo>
                  <a:pt x="0" y="0"/>
                </a:lnTo>
                <a:close/>
              </a:path>
            </a:pathLst>
          </a:custGeom>
          <a:blipFill>
            <a:blip r:embed="rId3"/>
            <a:stretch>
              <a:fillRect/>
            </a:stretch>
          </a:blipFill>
        </p:spPr>
      </p:sp>
      <p:sp>
        <p:nvSpPr>
          <p:cNvPr id="3" name="Freeform 3"/>
          <p:cNvSpPr/>
          <p:nvPr/>
        </p:nvSpPr>
        <p:spPr>
          <a:xfrm>
            <a:off x="998302" y="4068665"/>
            <a:ext cx="1256773" cy="1256773"/>
          </a:xfrm>
          <a:custGeom>
            <a:avLst/>
            <a:gdLst/>
            <a:ahLst/>
            <a:cxnLst/>
            <a:rect l="l" t="t" r="r" b="b"/>
            <a:pathLst>
              <a:path w="1256773" h="1256773">
                <a:moveTo>
                  <a:pt x="0" y="0"/>
                </a:moveTo>
                <a:lnTo>
                  <a:pt x="1256773" y="0"/>
                </a:lnTo>
                <a:lnTo>
                  <a:pt x="1256773" y="1256773"/>
                </a:lnTo>
                <a:lnTo>
                  <a:pt x="0" y="1256773"/>
                </a:lnTo>
                <a:lnTo>
                  <a:pt x="0" y="0"/>
                </a:lnTo>
                <a:close/>
              </a:path>
            </a:pathLst>
          </a:custGeom>
          <a:blipFill>
            <a:blip r:embed="rId4"/>
            <a:stretch>
              <a:fillRect/>
            </a:stretch>
          </a:blipFill>
        </p:spPr>
      </p:sp>
      <p:sp>
        <p:nvSpPr>
          <p:cNvPr id="4" name="Freeform 4"/>
          <p:cNvSpPr/>
          <p:nvPr/>
        </p:nvSpPr>
        <p:spPr>
          <a:xfrm>
            <a:off x="3392882" y="4124189"/>
            <a:ext cx="1747831" cy="1222753"/>
          </a:xfrm>
          <a:custGeom>
            <a:avLst/>
            <a:gdLst/>
            <a:ahLst/>
            <a:cxnLst/>
            <a:rect l="l" t="t" r="r" b="b"/>
            <a:pathLst>
              <a:path w="1747831" h="1222753">
                <a:moveTo>
                  <a:pt x="0" y="0"/>
                </a:moveTo>
                <a:lnTo>
                  <a:pt x="1747831" y="0"/>
                </a:lnTo>
                <a:lnTo>
                  <a:pt x="1747831" y="1222753"/>
                </a:lnTo>
                <a:lnTo>
                  <a:pt x="0" y="1222753"/>
                </a:lnTo>
                <a:lnTo>
                  <a:pt x="0" y="0"/>
                </a:lnTo>
                <a:close/>
              </a:path>
            </a:pathLst>
          </a:custGeom>
          <a:blipFill>
            <a:blip r:embed="rId5"/>
            <a:stretch>
              <a:fillRect b="-227"/>
            </a:stretch>
          </a:blipFill>
        </p:spPr>
      </p:sp>
      <p:sp>
        <p:nvSpPr>
          <p:cNvPr id="5" name="Freeform 5"/>
          <p:cNvSpPr/>
          <p:nvPr/>
        </p:nvSpPr>
        <p:spPr>
          <a:xfrm>
            <a:off x="3506122" y="5883537"/>
            <a:ext cx="1521351" cy="1004092"/>
          </a:xfrm>
          <a:custGeom>
            <a:avLst/>
            <a:gdLst/>
            <a:ahLst/>
            <a:cxnLst/>
            <a:rect l="l" t="t" r="r" b="b"/>
            <a:pathLst>
              <a:path w="1521351" h="1004092">
                <a:moveTo>
                  <a:pt x="0" y="0"/>
                </a:moveTo>
                <a:lnTo>
                  <a:pt x="1521351" y="0"/>
                </a:lnTo>
                <a:lnTo>
                  <a:pt x="1521351" y="1004092"/>
                </a:lnTo>
                <a:lnTo>
                  <a:pt x="0" y="1004092"/>
                </a:lnTo>
                <a:lnTo>
                  <a:pt x="0" y="0"/>
                </a:lnTo>
                <a:close/>
              </a:path>
            </a:pathLst>
          </a:custGeom>
          <a:blipFill>
            <a:blip r:embed="rId6"/>
            <a:stretch>
              <a:fillRect/>
            </a:stretch>
          </a:blipFill>
        </p:spPr>
      </p:sp>
      <p:sp>
        <p:nvSpPr>
          <p:cNvPr id="6" name="Freeform 6"/>
          <p:cNvSpPr/>
          <p:nvPr/>
        </p:nvSpPr>
        <p:spPr>
          <a:xfrm>
            <a:off x="6237320" y="5762815"/>
            <a:ext cx="1224842" cy="1124814"/>
          </a:xfrm>
          <a:custGeom>
            <a:avLst/>
            <a:gdLst/>
            <a:ahLst/>
            <a:cxnLst/>
            <a:rect l="l" t="t" r="r" b="b"/>
            <a:pathLst>
              <a:path w="1224842" h="1124814">
                <a:moveTo>
                  <a:pt x="0" y="0"/>
                </a:moveTo>
                <a:lnTo>
                  <a:pt x="1224842" y="0"/>
                </a:lnTo>
                <a:lnTo>
                  <a:pt x="1224842" y="1124814"/>
                </a:lnTo>
                <a:lnTo>
                  <a:pt x="0" y="1124814"/>
                </a:lnTo>
                <a:lnTo>
                  <a:pt x="0" y="0"/>
                </a:lnTo>
                <a:close/>
              </a:path>
            </a:pathLst>
          </a:custGeom>
          <a:blipFill>
            <a:blip r:embed="rId7"/>
            <a:stretch>
              <a:fillRect b="-120"/>
            </a:stretch>
          </a:blipFill>
        </p:spPr>
      </p:sp>
      <p:sp>
        <p:nvSpPr>
          <p:cNvPr id="7" name="Freeform 7"/>
          <p:cNvSpPr/>
          <p:nvPr/>
        </p:nvSpPr>
        <p:spPr>
          <a:xfrm>
            <a:off x="11118871" y="7488254"/>
            <a:ext cx="2120473" cy="289155"/>
          </a:xfrm>
          <a:custGeom>
            <a:avLst/>
            <a:gdLst/>
            <a:ahLst/>
            <a:cxnLst/>
            <a:rect l="l" t="t" r="r" b="b"/>
            <a:pathLst>
              <a:path w="2120473" h="289155">
                <a:moveTo>
                  <a:pt x="0" y="0"/>
                </a:moveTo>
                <a:lnTo>
                  <a:pt x="2120473" y="0"/>
                </a:lnTo>
                <a:lnTo>
                  <a:pt x="2120473" y="289155"/>
                </a:lnTo>
                <a:lnTo>
                  <a:pt x="0" y="289155"/>
                </a:lnTo>
                <a:lnTo>
                  <a:pt x="0" y="0"/>
                </a:lnTo>
                <a:close/>
              </a:path>
            </a:pathLst>
          </a:custGeom>
          <a:blipFill>
            <a:blip r:embed="rId8"/>
            <a:stretch>
              <a:fillRect b="-1234"/>
            </a:stretch>
          </a:blipFill>
        </p:spPr>
      </p:sp>
      <p:sp>
        <p:nvSpPr>
          <p:cNvPr id="8" name="Freeform 8"/>
          <p:cNvSpPr/>
          <p:nvPr/>
        </p:nvSpPr>
        <p:spPr>
          <a:xfrm>
            <a:off x="5838623" y="7495029"/>
            <a:ext cx="2069733" cy="449108"/>
          </a:xfrm>
          <a:custGeom>
            <a:avLst/>
            <a:gdLst/>
            <a:ahLst/>
            <a:cxnLst/>
            <a:rect l="l" t="t" r="r" b="b"/>
            <a:pathLst>
              <a:path w="2069733" h="449108">
                <a:moveTo>
                  <a:pt x="0" y="0"/>
                </a:moveTo>
                <a:lnTo>
                  <a:pt x="2069733" y="0"/>
                </a:lnTo>
                <a:lnTo>
                  <a:pt x="2069733" y="449108"/>
                </a:lnTo>
                <a:lnTo>
                  <a:pt x="0" y="449108"/>
                </a:lnTo>
                <a:lnTo>
                  <a:pt x="0" y="0"/>
                </a:lnTo>
                <a:close/>
              </a:path>
            </a:pathLst>
          </a:custGeom>
          <a:blipFill>
            <a:blip r:embed="rId9"/>
            <a:stretch>
              <a:fillRect b="-700"/>
            </a:stretch>
          </a:blipFill>
        </p:spPr>
      </p:sp>
      <p:sp>
        <p:nvSpPr>
          <p:cNvPr id="9" name="Freeform 9"/>
          <p:cNvSpPr/>
          <p:nvPr/>
        </p:nvSpPr>
        <p:spPr>
          <a:xfrm>
            <a:off x="5960304" y="8816885"/>
            <a:ext cx="2258806" cy="451761"/>
          </a:xfrm>
          <a:custGeom>
            <a:avLst/>
            <a:gdLst/>
            <a:ahLst/>
            <a:cxnLst/>
            <a:rect l="l" t="t" r="r" b="b"/>
            <a:pathLst>
              <a:path w="2258806" h="451761">
                <a:moveTo>
                  <a:pt x="0" y="0"/>
                </a:moveTo>
                <a:lnTo>
                  <a:pt x="2258806" y="0"/>
                </a:lnTo>
                <a:lnTo>
                  <a:pt x="2258806" y="451761"/>
                </a:lnTo>
                <a:lnTo>
                  <a:pt x="0" y="451761"/>
                </a:lnTo>
                <a:lnTo>
                  <a:pt x="0" y="0"/>
                </a:lnTo>
                <a:close/>
              </a:path>
            </a:pathLst>
          </a:custGeom>
          <a:blipFill>
            <a:blip r:embed="rId10"/>
            <a:stretch>
              <a:fillRect b="-585"/>
            </a:stretch>
          </a:blipFill>
        </p:spPr>
      </p:sp>
      <p:sp>
        <p:nvSpPr>
          <p:cNvPr id="10" name="Freeform 10"/>
          <p:cNvSpPr/>
          <p:nvPr/>
        </p:nvSpPr>
        <p:spPr>
          <a:xfrm>
            <a:off x="556205" y="8749592"/>
            <a:ext cx="2258806" cy="586348"/>
          </a:xfrm>
          <a:custGeom>
            <a:avLst/>
            <a:gdLst/>
            <a:ahLst/>
            <a:cxnLst/>
            <a:rect l="l" t="t" r="r" b="b"/>
            <a:pathLst>
              <a:path w="2258806" h="586348">
                <a:moveTo>
                  <a:pt x="0" y="0"/>
                </a:moveTo>
                <a:lnTo>
                  <a:pt x="2258806" y="0"/>
                </a:lnTo>
                <a:lnTo>
                  <a:pt x="2258806" y="586348"/>
                </a:lnTo>
                <a:lnTo>
                  <a:pt x="0" y="586348"/>
                </a:lnTo>
                <a:lnTo>
                  <a:pt x="0" y="0"/>
                </a:lnTo>
                <a:close/>
              </a:path>
            </a:pathLst>
          </a:custGeom>
          <a:blipFill>
            <a:blip r:embed="rId11"/>
            <a:stretch>
              <a:fillRect b="-70"/>
            </a:stretch>
          </a:blipFill>
        </p:spPr>
      </p:sp>
      <p:sp>
        <p:nvSpPr>
          <p:cNvPr id="11" name="Freeform 11"/>
          <p:cNvSpPr/>
          <p:nvPr/>
        </p:nvSpPr>
        <p:spPr>
          <a:xfrm>
            <a:off x="8892180" y="8749592"/>
            <a:ext cx="1105767" cy="593428"/>
          </a:xfrm>
          <a:custGeom>
            <a:avLst/>
            <a:gdLst/>
            <a:ahLst/>
            <a:cxnLst/>
            <a:rect l="l" t="t" r="r" b="b"/>
            <a:pathLst>
              <a:path w="1105767" h="593428">
                <a:moveTo>
                  <a:pt x="0" y="0"/>
                </a:moveTo>
                <a:lnTo>
                  <a:pt x="1105767" y="0"/>
                </a:lnTo>
                <a:lnTo>
                  <a:pt x="1105767" y="593428"/>
                </a:lnTo>
                <a:lnTo>
                  <a:pt x="0" y="593428"/>
                </a:lnTo>
                <a:lnTo>
                  <a:pt x="0" y="0"/>
                </a:lnTo>
                <a:close/>
              </a:path>
            </a:pathLst>
          </a:custGeom>
          <a:blipFill>
            <a:blip r:embed="rId12"/>
            <a:stretch>
              <a:fillRect b="-155"/>
            </a:stretch>
          </a:blipFill>
        </p:spPr>
      </p:sp>
      <p:sp>
        <p:nvSpPr>
          <p:cNvPr id="12" name="Freeform 12"/>
          <p:cNvSpPr/>
          <p:nvPr/>
        </p:nvSpPr>
        <p:spPr>
          <a:xfrm>
            <a:off x="6276879" y="4124189"/>
            <a:ext cx="1145725" cy="1145725"/>
          </a:xfrm>
          <a:custGeom>
            <a:avLst/>
            <a:gdLst/>
            <a:ahLst/>
            <a:cxnLst/>
            <a:rect l="l" t="t" r="r" b="b"/>
            <a:pathLst>
              <a:path w="1145725" h="1145725">
                <a:moveTo>
                  <a:pt x="0" y="0"/>
                </a:moveTo>
                <a:lnTo>
                  <a:pt x="1145725" y="0"/>
                </a:lnTo>
                <a:lnTo>
                  <a:pt x="1145725" y="1145725"/>
                </a:lnTo>
                <a:lnTo>
                  <a:pt x="0" y="1145725"/>
                </a:lnTo>
                <a:lnTo>
                  <a:pt x="0" y="0"/>
                </a:lnTo>
                <a:close/>
              </a:path>
            </a:pathLst>
          </a:custGeom>
          <a:blipFill>
            <a:blip r:embed="rId13"/>
            <a:stretch>
              <a:fillRect/>
            </a:stretch>
          </a:blipFill>
        </p:spPr>
      </p:sp>
      <p:sp>
        <p:nvSpPr>
          <p:cNvPr id="13" name="Freeform 13"/>
          <p:cNvSpPr/>
          <p:nvPr/>
        </p:nvSpPr>
        <p:spPr>
          <a:xfrm>
            <a:off x="8516321" y="6126486"/>
            <a:ext cx="1749631" cy="259097"/>
          </a:xfrm>
          <a:custGeom>
            <a:avLst/>
            <a:gdLst/>
            <a:ahLst/>
            <a:cxnLst/>
            <a:rect l="l" t="t" r="r" b="b"/>
            <a:pathLst>
              <a:path w="1749631" h="259097">
                <a:moveTo>
                  <a:pt x="0" y="0"/>
                </a:moveTo>
                <a:lnTo>
                  <a:pt x="1749631" y="0"/>
                </a:lnTo>
                <a:lnTo>
                  <a:pt x="1749631" y="259097"/>
                </a:lnTo>
                <a:lnTo>
                  <a:pt x="0" y="259097"/>
                </a:lnTo>
                <a:lnTo>
                  <a:pt x="0" y="0"/>
                </a:lnTo>
                <a:close/>
              </a:path>
            </a:pathLst>
          </a:custGeom>
          <a:blipFill>
            <a:blip r:embed="rId14"/>
            <a:stretch>
              <a:fillRect b="-955"/>
            </a:stretch>
          </a:blipFill>
        </p:spPr>
      </p:sp>
      <p:sp>
        <p:nvSpPr>
          <p:cNvPr id="14" name="Freeform 14"/>
          <p:cNvSpPr/>
          <p:nvPr/>
        </p:nvSpPr>
        <p:spPr>
          <a:xfrm>
            <a:off x="8560410" y="4177147"/>
            <a:ext cx="1719579" cy="1039808"/>
          </a:xfrm>
          <a:custGeom>
            <a:avLst/>
            <a:gdLst/>
            <a:ahLst/>
            <a:cxnLst/>
            <a:rect l="l" t="t" r="r" b="b"/>
            <a:pathLst>
              <a:path w="1719579" h="1039808">
                <a:moveTo>
                  <a:pt x="0" y="0"/>
                </a:moveTo>
                <a:lnTo>
                  <a:pt x="1719579" y="0"/>
                </a:lnTo>
                <a:lnTo>
                  <a:pt x="1719579" y="1039808"/>
                </a:lnTo>
                <a:lnTo>
                  <a:pt x="0" y="1039808"/>
                </a:lnTo>
                <a:lnTo>
                  <a:pt x="0" y="0"/>
                </a:lnTo>
                <a:close/>
              </a:path>
            </a:pathLst>
          </a:custGeom>
          <a:blipFill>
            <a:blip r:embed="rId15"/>
            <a:stretch>
              <a:fillRect b="-344"/>
            </a:stretch>
          </a:blipFill>
        </p:spPr>
      </p:sp>
      <p:sp>
        <p:nvSpPr>
          <p:cNvPr id="15" name="Freeform 15"/>
          <p:cNvSpPr/>
          <p:nvPr/>
        </p:nvSpPr>
        <p:spPr>
          <a:xfrm>
            <a:off x="556205" y="7449100"/>
            <a:ext cx="2140968" cy="656619"/>
          </a:xfrm>
          <a:custGeom>
            <a:avLst/>
            <a:gdLst/>
            <a:ahLst/>
            <a:cxnLst/>
            <a:rect l="l" t="t" r="r" b="b"/>
            <a:pathLst>
              <a:path w="2140968" h="656619">
                <a:moveTo>
                  <a:pt x="0" y="0"/>
                </a:moveTo>
                <a:lnTo>
                  <a:pt x="2140968" y="0"/>
                </a:lnTo>
                <a:lnTo>
                  <a:pt x="2140968" y="656619"/>
                </a:lnTo>
                <a:lnTo>
                  <a:pt x="0" y="656619"/>
                </a:lnTo>
                <a:lnTo>
                  <a:pt x="0" y="0"/>
                </a:lnTo>
                <a:close/>
              </a:path>
            </a:pathLst>
          </a:custGeom>
          <a:blipFill>
            <a:blip r:embed="rId16"/>
            <a:stretch>
              <a:fillRect b="-217"/>
            </a:stretch>
          </a:blipFill>
        </p:spPr>
      </p:sp>
      <p:sp>
        <p:nvSpPr>
          <p:cNvPr id="16" name="Freeform 16"/>
          <p:cNvSpPr/>
          <p:nvPr/>
        </p:nvSpPr>
        <p:spPr>
          <a:xfrm>
            <a:off x="8735551" y="7174716"/>
            <a:ext cx="1369298" cy="1089733"/>
          </a:xfrm>
          <a:custGeom>
            <a:avLst/>
            <a:gdLst/>
            <a:ahLst/>
            <a:cxnLst/>
            <a:rect l="l" t="t" r="r" b="b"/>
            <a:pathLst>
              <a:path w="1369298" h="1089733">
                <a:moveTo>
                  <a:pt x="0" y="0"/>
                </a:moveTo>
                <a:lnTo>
                  <a:pt x="1369298" y="0"/>
                </a:lnTo>
                <a:lnTo>
                  <a:pt x="1369298" y="1089733"/>
                </a:lnTo>
                <a:lnTo>
                  <a:pt x="0" y="1089733"/>
                </a:lnTo>
                <a:lnTo>
                  <a:pt x="0" y="0"/>
                </a:lnTo>
                <a:close/>
              </a:path>
            </a:pathLst>
          </a:custGeom>
          <a:blipFill>
            <a:blip r:embed="rId17"/>
            <a:stretch>
              <a:fillRect b="-174"/>
            </a:stretch>
          </a:blipFill>
        </p:spPr>
      </p:sp>
      <p:sp>
        <p:nvSpPr>
          <p:cNvPr id="17" name="Freeform 17"/>
          <p:cNvSpPr/>
          <p:nvPr/>
        </p:nvSpPr>
        <p:spPr>
          <a:xfrm>
            <a:off x="3404225" y="8613347"/>
            <a:ext cx="1736488" cy="858838"/>
          </a:xfrm>
          <a:custGeom>
            <a:avLst/>
            <a:gdLst/>
            <a:ahLst/>
            <a:cxnLst/>
            <a:rect l="l" t="t" r="r" b="b"/>
            <a:pathLst>
              <a:path w="1736488" h="858838">
                <a:moveTo>
                  <a:pt x="0" y="0"/>
                </a:moveTo>
                <a:lnTo>
                  <a:pt x="1736488" y="0"/>
                </a:lnTo>
                <a:lnTo>
                  <a:pt x="1736488" y="858838"/>
                </a:lnTo>
                <a:lnTo>
                  <a:pt x="0" y="858838"/>
                </a:lnTo>
                <a:lnTo>
                  <a:pt x="0" y="0"/>
                </a:lnTo>
                <a:close/>
              </a:path>
            </a:pathLst>
          </a:custGeom>
          <a:blipFill>
            <a:blip r:embed="rId18"/>
            <a:stretch>
              <a:fillRect b="-305"/>
            </a:stretch>
          </a:blipFill>
        </p:spPr>
      </p:sp>
      <p:sp>
        <p:nvSpPr>
          <p:cNvPr id="18" name="Freeform 18"/>
          <p:cNvSpPr/>
          <p:nvPr/>
        </p:nvSpPr>
        <p:spPr>
          <a:xfrm>
            <a:off x="11118871" y="4470229"/>
            <a:ext cx="2258806" cy="453644"/>
          </a:xfrm>
          <a:custGeom>
            <a:avLst/>
            <a:gdLst/>
            <a:ahLst/>
            <a:cxnLst/>
            <a:rect l="l" t="t" r="r" b="b"/>
            <a:pathLst>
              <a:path w="2258806" h="453644">
                <a:moveTo>
                  <a:pt x="0" y="0"/>
                </a:moveTo>
                <a:lnTo>
                  <a:pt x="2258806" y="0"/>
                </a:lnTo>
                <a:lnTo>
                  <a:pt x="2258806" y="453644"/>
                </a:lnTo>
                <a:lnTo>
                  <a:pt x="0" y="453644"/>
                </a:lnTo>
                <a:lnTo>
                  <a:pt x="0" y="0"/>
                </a:lnTo>
                <a:close/>
              </a:path>
            </a:pathLst>
          </a:custGeom>
          <a:blipFill>
            <a:blip r:embed="rId19"/>
            <a:stretch>
              <a:fillRect b="-168"/>
            </a:stretch>
          </a:blipFill>
        </p:spPr>
      </p:sp>
      <p:sp>
        <p:nvSpPr>
          <p:cNvPr id="19" name="Freeform 19"/>
          <p:cNvSpPr/>
          <p:nvPr/>
        </p:nvSpPr>
        <p:spPr>
          <a:xfrm>
            <a:off x="3191158" y="6701770"/>
            <a:ext cx="2151278" cy="2151278"/>
          </a:xfrm>
          <a:custGeom>
            <a:avLst/>
            <a:gdLst/>
            <a:ahLst/>
            <a:cxnLst/>
            <a:rect l="l" t="t" r="r" b="b"/>
            <a:pathLst>
              <a:path w="2151278" h="2151278">
                <a:moveTo>
                  <a:pt x="0" y="0"/>
                </a:moveTo>
                <a:lnTo>
                  <a:pt x="2151278" y="0"/>
                </a:lnTo>
                <a:lnTo>
                  <a:pt x="2151278" y="2151278"/>
                </a:lnTo>
                <a:lnTo>
                  <a:pt x="0" y="2151278"/>
                </a:lnTo>
                <a:lnTo>
                  <a:pt x="0" y="0"/>
                </a:lnTo>
                <a:close/>
              </a:path>
            </a:pathLst>
          </a:custGeom>
          <a:blipFill>
            <a:blip r:embed="rId20"/>
            <a:stretch>
              <a:fillRect/>
            </a:stretch>
          </a:blipFill>
        </p:spPr>
      </p:sp>
      <p:sp>
        <p:nvSpPr>
          <p:cNvPr id="20" name="Freeform 20"/>
          <p:cNvSpPr/>
          <p:nvPr/>
        </p:nvSpPr>
        <p:spPr>
          <a:xfrm>
            <a:off x="11049705" y="8653818"/>
            <a:ext cx="2258806" cy="777897"/>
          </a:xfrm>
          <a:custGeom>
            <a:avLst/>
            <a:gdLst/>
            <a:ahLst/>
            <a:cxnLst/>
            <a:rect l="l" t="t" r="r" b="b"/>
            <a:pathLst>
              <a:path w="2258806" h="777897">
                <a:moveTo>
                  <a:pt x="0" y="0"/>
                </a:moveTo>
                <a:lnTo>
                  <a:pt x="2258806" y="0"/>
                </a:lnTo>
                <a:lnTo>
                  <a:pt x="2258806" y="777897"/>
                </a:lnTo>
                <a:lnTo>
                  <a:pt x="0" y="777897"/>
                </a:lnTo>
                <a:lnTo>
                  <a:pt x="0" y="0"/>
                </a:lnTo>
                <a:close/>
              </a:path>
            </a:pathLst>
          </a:custGeom>
          <a:blipFill>
            <a:blip r:embed="rId21"/>
            <a:stretch>
              <a:fillRect t="-34117" b="-29217"/>
            </a:stretch>
          </a:blipFill>
        </p:spPr>
      </p:sp>
      <p:sp>
        <p:nvSpPr>
          <p:cNvPr id="21" name="Freeform 21"/>
          <p:cNvSpPr/>
          <p:nvPr/>
        </p:nvSpPr>
        <p:spPr>
          <a:xfrm>
            <a:off x="11257205" y="5730579"/>
            <a:ext cx="1982140" cy="1189284"/>
          </a:xfrm>
          <a:custGeom>
            <a:avLst/>
            <a:gdLst/>
            <a:ahLst/>
            <a:cxnLst/>
            <a:rect l="l" t="t" r="r" b="b"/>
            <a:pathLst>
              <a:path w="1982140" h="1189284">
                <a:moveTo>
                  <a:pt x="0" y="0"/>
                </a:moveTo>
                <a:lnTo>
                  <a:pt x="1982140" y="0"/>
                </a:lnTo>
                <a:lnTo>
                  <a:pt x="1982140" y="1189284"/>
                </a:lnTo>
                <a:lnTo>
                  <a:pt x="0" y="1189284"/>
                </a:lnTo>
                <a:lnTo>
                  <a:pt x="0" y="0"/>
                </a:lnTo>
                <a:close/>
              </a:path>
            </a:pathLst>
          </a:custGeom>
          <a:blipFill>
            <a:blip r:embed="rId22"/>
            <a:stretch>
              <a:fillRect/>
            </a:stretch>
          </a:blipFill>
        </p:spPr>
      </p:sp>
      <p:sp>
        <p:nvSpPr>
          <p:cNvPr id="22" name="Freeform 22"/>
          <p:cNvSpPr/>
          <p:nvPr/>
        </p:nvSpPr>
        <p:spPr>
          <a:xfrm>
            <a:off x="497286" y="5989350"/>
            <a:ext cx="2258806" cy="792465"/>
          </a:xfrm>
          <a:custGeom>
            <a:avLst/>
            <a:gdLst/>
            <a:ahLst/>
            <a:cxnLst/>
            <a:rect l="l" t="t" r="r" b="b"/>
            <a:pathLst>
              <a:path w="2258806" h="792465">
                <a:moveTo>
                  <a:pt x="0" y="0"/>
                </a:moveTo>
                <a:lnTo>
                  <a:pt x="2258806" y="0"/>
                </a:lnTo>
                <a:lnTo>
                  <a:pt x="2258806" y="792465"/>
                </a:lnTo>
                <a:lnTo>
                  <a:pt x="0" y="792465"/>
                </a:lnTo>
                <a:lnTo>
                  <a:pt x="0" y="0"/>
                </a:lnTo>
                <a:close/>
              </a:path>
            </a:pathLst>
          </a:custGeom>
          <a:blipFill>
            <a:blip r:embed="rId23"/>
            <a:stretch>
              <a:fillRect r="-34"/>
            </a:stretch>
          </a:blipFill>
        </p:spPr>
      </p:sp>
      <p:sp>
        <p:nvSpPr>
          <p:cNvPr id="23" name="TextBox 23"/>
          <p:cNvSpPr txBox="1"/>
          <p:nvPr/>
        </p:nvSpPr>
        <p:spPr>
          <a:xfrm>
            <a:off x="1028699" y="762000"/>
            <a:ext cx="15470258" cy="1357797"/>
          </a:xfrm>
          <a:prstGeom prst="rect">
            <a:avLst/>
          </a:prstGeom>
        </p:spPr>
        <p:txBody>
          <a:bodyPr lIns="0" tIns="0" rIns="0" bIns="0" rtlCol="0" anchor="t">
            <a:spAutoFit/>
          </a:bodyPr>
          <a:lstStyle/>
          <a:p>
            <a:pPr algn="l">
              <a:lnSpc>
                <a:spcPts val="8582"/>
              </a:lnSpc>
            </a:pPr>
            <a:r>
              <a:rPr lang="en-US" sz="4800">
                <a:solidFill>
                  <a:srgbClr val="090F10"/>
                </a:solidFill>
                <a:latin typeface="Open Sans 1 Bold"/>
              </a:rPr>
              <a:t>Brands that have leveraged innovation framework</a:t>
            </a:r>
          </a:p>
        </p:txBody>
      </p:sp>
      <p:sp>
        <p:nvSpPr>
          <p:cNvPr id="24" name="Freeform 24"/>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24"/>
            <a:stretch>
              <a:fillRect l="-26670" r="-38347"/>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993886" y="8733665"/>
            <a:ext cx="2655302" cy="776879"/>
          </a:xfrm>
          <a:custGeom>
            <a:avLst/>
            <a:gdLst/>
            <a:ahLst/>
            <a:cxnLst/>
            <a:rect l="l" t="t" r="r" b="b"/>
            <a:pathLst>
              <a:path w="2655302" h="776879">
                <a:moveTo>
                  <a:pt x="0" y="0"/>
                </a:moveTo>
                <a:lnTo>
                  <a:pt x="2655302" y="0"/>
                </a:lnTo>
                <a:lnTo>
                  <a:pt x="2655302" y="776879"/>
                </a:lnTo>
                <a:lnTo>
                  <a:pt x="0" y="776879"/>
                </a:lnTo>
                <a:lnTo>
                  <a:pt x="0" y="0"/>
                </a:lnTo>
                <a:close/>
              </a:path>
            </a:pathLst>
          </a:custGeom>
          <a:blipFill>
            <a:blip r:embed="rId3"/>
            <a:stretch>
              <a:fillRect/>
            </a:stretch>
          </a:blipFill>
        </p:spPr>
      </p:sp>
      <p:sp>
        <p:nvSpPr>
          <p:cNvPr id="3" name="TextBox 3"/>
          <p:cNvSpPr txBox="1"/>
          <p:nvPr/>
        </p:nvSpPr>
        <p:spPr>
          <a:xfrm>
            <a:off x="1028700" y="866775"/>
            <a:ext cx="11505887" cy="1371195"/>
          </a:xfrm>
          <a:prstGeom prst="rect">
            <a:avLst/>
          </a:prstGeom>
        </p:spPr>
        <p:txBody>
          <a:bodyPr lIns="0" tIns="0" rIns="0" bIns="0" rtlCol="0" anchor="t">
            <a:spAutoFit/>
          </a:bodyPr>
          <a:lstStyle/>
          <a:p>
            <a:pPr algn="l">
              <a:lnSpc>
                <a:spcPts val="9504"/>
              </a:lnSpc>
            </a:pPr>
            <a:r>
              <a:rPr lang="en-US" sz="6600">
                <a:solidFill>
                  <a:srgbClr val="090F10"/>
                </a:solidFill>
                <a:latin typeface="Open Sans 1 Bold"/>
              </a:rPr>
              <a:t>Next Steps</a:t>
            </a:r>
          </a:p>
        </p:txBody>
      </p:sp>
      <p:sp>
        <p:nvSpPr>
          <p:cNvPr id="4" name="TextBox 4"/>
          <p:cNvSpPr txBox="1"/>
          <p:nvPr/>
        </p:nvSpPr>
        <p:spPr>
          <a:xfrm>
            <a:off x="2540647" y="2540690"/>
            <a:ext cx="13103544" cy="3847710"/>
          </a:xfrm>
          <a:prstGeom prst="rect">
            <a:avLst/>
          </a:prstGeom>
        </p:spPr>
        <p:txBody>
          <a:bodyPr lIns="0" tIns="0" rIns="0" bIns="0" rtlCol="0" anchor="t">
            <a:spAutoFit/>
          </a:bodyPr>
          <a:lstStyle/>
          <a:p>
            <a:pPr algn="l">
              <a:lnSpc>
                <a:spcPts val="4212"/>
              </a:lnSpc>
            </a:pPr>
            <a:r>
              <a:rPr lang="en-US" sz="2925">
                <a:solidFill>
                  <a:srgbClr val="2AACE3"/>
                </a:solidFill>
                <a:latin typeface="Montserrat Bold"/>
              </a:rPr>
              <a:t>Phase 1:</a:t>
            </a:r>
          </a:p>
          <a:p>
            <a:pPr marL="668655" lvl="2" indent="-222885" algn="l">
              <a:lnSpc>
                <a:spcPts val="4212"/>
              </a:lnSpc>
              <a:buFont typeface="Arial"/>
              <a:buChar char="⚬"/>
            </a:pPr>
            <a:r>
              <a:rPr lang="en-US" sz="2925">
                <a:solidFill>
                  <a:srgbClr val="231F20"/>
                </a:solidFill>
                <a:latin typeface="Open Sans 1"/>
              </a:rPr>
              <a:t>Identify cross-functional working group</a:t>
            </a:r>
          </a:p>
          <a:p>
            <a:pPr marL="668655" lvl="2" indent="-222885" algn="l">
              <a:lnSpc>
                <a:spcPts val="4212"/>
              </a:lnSpc>
              <a:buFont typeface="Arial"/>
              <a:buChar char="⚬"/>
            </a:pPr>
            <a:r>
              <a:rPr lang="en-US" sz="2925">
                <a:solidFill>
                  <a:srgbClr val="231F20"/>
                </a:solidFill>
                <a:latin typeface="Open Sans 1"/>
              </a:rPr>
              <a:t>Define program goals and objectives</a:t>
            </a:r>
          </a:p>
          <a:p>
            <a:pPr marL="668655" lvl="2" indent="-222885" algn="l">
              <a:lnSpc>
                <a:spcPts val="4212"/>
              </a:lnSpc>
              <a:buFont typeface="Arial"/>
              <a:buChar char="⚬"/>
            </a:pPr>
            <a:r>
              <a:rPr lang="en-US" sz="2925">
                <a:solidFill>
                  <a:srgbClr val="231F20"/>
                </a:solidFill>
                <a:latin typeface="Open Sans 1"/>
              </a:rPr>
              <a:t>Identify proof of concepts projects</a:t>
            </a:r>
          </a:p>
          <a:p>
            <a:pPr marL="668655" lvl="2" indent="-222885" algn="l">
              <a:lnSpc>
                <a:spcPts val="4212"/>
              </a:lnSpc>
              <a:buFont typeface="Arial"/>
              <a:buChar char="⚬"/>
            </a:pPr>
            <a:r>
              <a:rPr lang="en-US" sz="2925">
                <a:solidFill>
                  <a:srgbClr val="231F20"/>
                </a:solidFill>
                <a:latin typeface="Open Sans 1"/>
              </a:rPr>
              <a:t>Working group workshop (training, POC project review)</a:t>
            </a:r>
          </a:p>
          <a:p>
            <a:pPr marL="668655" lvl="2" indent="-222885" algn="l">
              <a:lnSpc>
                <a:spcPts val="4212"/>
              </a:lnSpc>
              <a:buFont typeface="Arial"/>
              <a:buChar char="⚬"/>
            </a:pPr>
            <a:r>
              <a:rPr lang="en-US" sz="2925">
                <a:solidFill>
                  <a:srgbClr val="231F20"/>
                </a:solidFill>
                <a:latin typeface="Open Sans 1"/>
              </a:rPr>
              <a:t>Develop communication strategy </a:t>
            </a:r>
          </a:p>
          <a:p>
            <a:pPr marL="668655" lvl="2" indent="-222885" algn="l">
              <a:lnSpc>
                <a:spcPts val="4212"/>
              </a:lnSpc>
              <a:buFont typeface="Arial"/>
              <a:buChar char="⚬"/>
            </a:pPr>
            <a:r>
              <a:rPr lang="en-US" sz="2925">
                <a:solidFill>
                  <a:srgbClr val="231F20"/>
                </a:solidFill>
                <a:latin typeface="Open Sans 1"/>
              </a:rPr>
              <a:t>Establish evaluation metrics</a:t>
            </a:r>
          </a:p>
        </p:txBody>
      </p:sp>
      <p:sp>
        <p:nvSpPr>
          <p:cNvPr id="5" name="Freeform 5"/>
          <p:cNvSpPr/>
          <p:nvPr/>
        </p:nvSpPr>
        <p:spPr>
          <a:xfrm>
            <a:off x="15744365" y="787850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4"/>
            <a:stretch>
              <a:fillRect l="-26670" r="-38347"/>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53" t="-857" b="-17747"/>
            </a:stretch>
          </a:blipFill>
        </p:spPr>
      </p:sp>
      <p:sp>
        <p:nvSpPr>
          <p:cNvPr id="3" name="TextBox 3"/>
          <p:cNvSpPr txBox="1"/>
          <p:nvPr/>
        </p:nvSpPr>
        <p:spPr>
          <a:xfrm>
            <a:off x="3134873" y="5735016"/>
            <a:ext cx="11859013" cy="1263905"/>
          </a:xfrm>
          <a:prstGeom prst="rect">
            <a:avLst/>
          </a:prstGeom>
        </p:spPr>
        <p:txBody>
          <a:bodyPr lIns="0" tIns="0" rIns="0" bIns="0" rtlCol="0" anchor="t">
            <a:spAutoFit/>
          </a:bodyPr>
          <a:lstStyle/>
          <a:p>
            <a:pPr algn="ctr">
              <a:lnSpc>
                <a:spcPts val="10598"/>
              </a:lnSpc>
            </a:pPr>
            <a:r>
              <a:rPr lang="en-US" sz="9600">
                <a:solidFill>
                  <a:srgbClr val="FFFFFF"/>
                </a:solidFill>
                <a:latin typeface="DM Sans Bold"/>
              </a:rPr>
              <a:t>THANK YOU</a:t>
            </a:r>
          </a:p>
        </p:txBody>
      </p:sp>
      <p:sp>
        <p:nvSpPr>
          <p:cNvPr id="4" name="Freeform 4"/>
          <p:cNvSpPr/>
          <p:nvPr/>
        </p:nvSpPr>
        <p:spPr>
          <a:xfrm>
            <a:off x="7256348" y="1596979"/>
            <a:ext cx="2504661" cy="2325756"/>
          </a:xfrm>
          <a:custGeom>
            <a:avLst/>
            <a:gdLst/>
            <a:ahLst/>
            <a:cxnLst/>
            <a:rect l="l" t="t" r="r" b="b"/>
            <a:pathLst>
              <a:path w="2504661" h="2325756">
                <a:moveTo>
                  <a:pt x="0" y="0"/>
                </a:moveTo>
                <a:lnTo>
                  <a:pt x="2504661" y="0"/>
                </a:lnTo>
                <a:lnTo>
                  <a:pt x="2504661" y="2325756"/>
                </a:lnTo>
                <a:lnTo>
                  <a:pt x="0" y="2325756"/>
                </a:lnTo>
                <a:lnTo>
                  <a:pt x="0" y="0"/>
                </a:lnTo>
                <a:close/>
              </a:path>
            </a:pathLst>
          </a:custGeom>
          <a:blipFill>
            <a:blip r:embed="rId4"/>
            <a:stretch>
              <a:fillRect l="-26670" r="-38347"/>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521</TotalTime>
  <Words>1623</Words>
  <Application>Microsoft Macintosh PowerPoint</Application>
  <PresentationFormat>Custom</PresentationFormat>
  <Paragraphs>200</Paragraphs>
  <Slides>19</Slides>
  <Notes>11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Montserrat Bold Italics</vt:lpstr>
      <vt:lpstr>Arial Bold</vt:lpstr>
      <vt:lpstr>Open Sans 1 Italics</vt:lpstr>
      <vt:lpstr>Open Sans 1 Bold Italics</vt:lpstr>
      <vt:lpstr>Calibri</vt:lpstr>
      <vt:lpstr>Open Sans 2</vt:lpstr>
      <vt:lpstr>DM Sans Bold</vt:lpstr>
      <vt:lpstr>Open Sans 1</vt:lpstr>
      <vt:lpstr>Arimo Bold</vt:lpstr>
      <vt:lpstr>Montserrat Bold</vt:lpstr>
      <vt:lpstr>Open Sans 1 Bold</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NFL Technology Innovation HUB_V2_Draft.pptx</dc:title>
  <cp:lastModifiedBy>Tye Hayes</cp:lastModifiedBy>
  <cp:revision>2</cp:revision>
  <dcterms:created xsi:type="dcterms:W3CDTF">2006-08-16T00:00:00Z</dcterms:created>
  <dcterms:modified xsi:type="dcterms:W3CDTF">2023-12-19T16:15:19Z</dcterms:modified>
  <dc:identifier>DAFqurfIfBA</dc:identifier>
</cp:coreProperties>
</file>