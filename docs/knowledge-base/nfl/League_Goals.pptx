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4" r:id="rId3"/>
    <p:sldId id="28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3"/>
    <p:restoredTop sz="96327"/>
  </p:normalViewPr>
  <p:slideViewPr>
    <p:cSldViewPr snapToGrid="0">
      <p:cViewPr varScale="1">
        <p:scale>
          <a:sx n="104" d="100"/>
          <a:sy n="104" d="100"/>
        </p:scale>
        <p:origin x="23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1A09-9A73-51E6-43F9-9B13D7A6E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3ACA9-A6A0-18C6-A2D9-C2864C1F0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AC84C-E49D-EFBA-BF24-C22F6655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6D51F-7CB5-C80E-0D86-15D930EA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46B4C-0408-9BD2-E9C0-AEEBB84D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8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3776-287D-3417-9D18-727B91B1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7D0A4-CD30-652B-E79A-5305FFCC1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E32C1-E9D8-DFEC-0BCB-F371705D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2C3BC-890D-772F-FB93-945F5729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A36D5-C3F6-D559-2305-A6864C57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6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27D5-DE76-C22E-44EC-1B2621C10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B06F2-C69C-A8CE-381A-AE9DE1C80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95C1B-5318-F8B5-8E36-C15F307D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81417-1141-D6F8-BA41-6955709FE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818D4-146A-37E8-507A-C77590A2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7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ACB0-F17F-73C3-91EF-AF916484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268B8-B51A-3828-BBB9-1EB9C1D79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787F1-1E8F-C335-7526-D295AA41F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C0867-3A52-33D5-EF57-273B32C7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E93BC-E38A-1C5E-B917-E3461EEB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6F8AD-A660-EEC4-1862-99789E1C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3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983A-E353-F36C-CF2B-703B7FA1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8DD39-7A09-30CD-60D4-ADFD93353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C58F1-860F-209C-2CF6-78C1B54D0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F78A1F-9AB8-CDF7-F42E-1B7319488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AE525-CDA7-429E-F5F7-DFB87CEE3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43AEF-CF20-DC27-47D9-1C80140A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777EB-F6BC-A063-2650-7CBE4BF7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34C94-B4B7-415B-8289-05805189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1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8CE27-5F0C-AD41-B652-98EC3CF4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6F8A6-58C8-8000-F2A1-A55FF069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08358-FF22-75DA-3279-296D2BDC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D5550-BE2B-B2E7-9E2F-1DE1AD77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19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FD33B-21E4-6D14-904A-52450697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37BFA-79D2-B320-F5ED-D86A2D75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7304B-8A4B-6C91-1E97-14502CF1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92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88ADB-6757-EDC3-D5CA-F31B794F3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4CC6C-29DF-91C0-80C5-7829993C7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17965-A8E9-3044-FFFC-13A9B6EA8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0E500-1D2E-EB49-6D75-155CA7973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11797-D03C-50CC-6A88-FC90D42C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D9B19-98F3-386E-C330-06DCD32E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8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3F0B-A1BF-210B-306E-98CBF968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9F080-CFCE-9993-78CE-66E28B205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4BCC3-9314-AE96-B469-03308923A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D1B39-4199-ABC8-E55B-1030DF33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06FA3-FAF0-445E-FAFF-1B0A8EDE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7B411-32F7-CE16-495D-ACF88A62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44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7A76-A9AA-EB9B-E57C-0DE2991A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F387D-7C2D-FAED-F20C-FED938842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54B88-5FE7-1000-4BC5-5D8C5F06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50241-F7C0-D446-2597-F56A1E51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D3667-DBCA-B5E8-D576-E4ABAC05F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4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A836A-5B26-371E-8314-948FCD30E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4A770-D346-1791-CEDB-DA756EF9F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EEBFB-1B58-8E30-6948-CEF58DC19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EEE8B-D5A2-6DBB-CA7F-24589C8F9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EDD5E-30D6-2D6C-AF8F-9465E1A0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2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40C93-3E6F-351B-46C8-A368982C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2962C-3F81-D6F4-2A31-3ABBD098B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0EB0-62AF-76AB-290E-7F985CCEB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677C4-991E-9242-9EBF-8AF904E44E46}" type="datetimeFigureOut">
              <a:rPr lang="en-US" smtClean="0"/>
              <a:t>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0C5DC-4FE6-C84C-7861-2AE6C04BC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F5DE4-4479-FDB0-4240-ED5F4A36F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A0747-A30B-2D45-A467-1F5115557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24" Type="http://schemas.openxmlformats.org/officeDocument/2006/relationships/image" Target="../media/image23.sv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jpeg"/><Relationship Id="rId36" Type="http://schemas.openxmlformats.org/officeDocument/2006/relationships/image" Target="../media/image35.svg"/><Relationship Id="rId10" Type="http://schemas.openxmlformats.org/officeDocument/2006/relationships/image" Target="../media/image9.jpeg"/><Relationship Id="rId19" Type="http://schemas.openxmlformats.org/officeDocument/2006/relationships/image" Target="../media/image18.svg"/><Relationship Id="rId31" Type="http://schemas.openxmlformats.org/officeDocument/2006/relationships/image" Target="../media/image30.png"/><Relationship Id="rId44" Type="http://schemas.openxmlformats.org/officeDocument/2006/relationships/image" Target="../media/image43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jpe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12" Type="http://schemas.openxmlformats.org/officeDocument/2006/relationships/image" Target="../media/image11.jpe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46" Type="http://schemas.openxmlformats.org/officeDocument/2006/relationships/image" Target="../media/image45.png"/><Relationship Id="rId20" Type="http://schemas.openxmlformats.org/officeDocument/2006/relationships/image" Target="../media/image19.jpeg"/><Relationship Id="rId41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7EF7-2741-E9D3-D0ED-437E147514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NFL Goals</a:t>
            </a:r>
            <a:br>
              <a:rPr lang="en-US" dirty="0"/>
            </a:br>
            <a:r>
              <a:rPr lang="en-US" dirty="0"/>
              <a:t>Innovation HUB</a:t>
            </a:r>
          </a:p>
        </p:txBody>
      </p:sp>
    </p:spTree>
    <p:extLst>
      <p:ext uri="{BB962C8B-B14F-4D97-AF65-F5344CB8AC3E}">
        <p14:creationId xmlns:p14="http://schemas.microsoft.com/office/powerpoint/2010/main" val="160197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E76F07-5B1E-FCE5-C5F2-645E0CA1427F}"/>
              </a:ext>
            </a:extLst>
          </p:cNvPr>
          <p:cNvSpPr/>
          <p:nvPr/>
        </p:nvSpPr>
        <p:spPr>
          <a:xfrm>
            <a:off x="1841992" y="2781326"/>
            <a:ext cx="1091184" cy="848563"/>
          </a:xfrm>
          <a:custGeom>
            <a:avLst/>
            <a:gdLst/>
            <a:ahLst/>
            <a:cxnLst/>
            <a:rect l="l" t="t" r="r" b="b"/>
            <a:pathLst>
              <a:path w="1091184" h="848563">
                <a:moveTo>
                  <a:pt x="0" y="0"/>
                </a:moveTo>
                <a:lnTo>
                  <a:pt x="1091184" y="0"/>
                </a:lnTo>
                <a:lnTo>
                  <a:pt x="1091184" y="848563"/>
                </a:lnTo>
                <a:lnTo>
                  <a:pt x="0" y="84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C74749-9EC9-2DBE-4C85-C4F50835FEDF}"/>
              </a:ext>
            </a:extLst>
          </p:cNvPr>
          <p:cNvSpPr/>
          <p:nvPr/>
        </p:nvSpPr>
        <p:spPr>
          <a:xfrm>
            <a:off x="9546117" y="3171470"/>
            <a:ext cx="481584" cy="580339"/>
          </a:xfrm>
          <a:custGeom>
            <a:avLst/>
            <a:gdLst/>
            <a:ahLst/>
            <a:cxnLst/>
            <a:rect l="l" t="t" r="r" b="b"/>
            <a:pathLst>
              <a:path w="481584" h="580339">
                <a:moveTo>
                  <a:pt x="0" y="0"/>
                </a:moveTo>
                <a:lnTo>
                  <a:pt x="481584" y="0"/>
                </a:lnTo>
                <a:lnTo>
                  <a:pt x="481584" y="580339"/>
                </a:lnTo>
                <a:lnTo>
                  <a:pt x="0" y="580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AAF74FA-4EBB-CA21-7AF6-062C87A08263}"/>
              </a:ext>
            </a:extLst>
          </p:cNvPr>
          <p:cNvSpPr/>
          <p:nvPr/>
        </p:nvSpPr>
        <p:spPr>
          <a:xfrm>
            <a:off x="1070490" y="1631872"/>
            <a:ext cx="9449509" cy="2195269"/>
          </a:xfrm>
          <a:custGeom>
            <a:avLst/>
            <a:gdLst/>
            <a:ahLst/>
            <a:cxnLst/>
            <a:rect l="l" t="t" r="r" b="b"/>
            <a:pathLst>
              <a:path w="9449509" h="2195269">
                <a:moveTo>
                  <a:pt x="0" y="0"/>
                </a:moveTo>
                <a:lnTo>
                  <a:pt x="9449508" y="0"/>
                </a:lnTo>
                <a:lnTo>
                  <a:pt x="9449508" y="2195268"/>
                </a:lnTo>
                <a:lnTo>
                  <a:pt x="0" y="2195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751A7AE-FDEB-7013-F045-B83C3048EFC6}"/>
              </a:ext>
            </a:extLst>
          </p:cNvPr>
          <p:cNvSpPr/>
          <p:nvPr/>
        </p:nvSpPr>
        <p:spPr>
          <a:xfrm>
            <a:off x="1232392" y="2789860"/>
            <a:ext cx="721766" cy="749808"/>
          </a:xfrm>
          <a:custGeom>
            <a:avLst/>
            <a:gdLst/>
            <a:ahLst/>
            <a:cxnLst/>
            <a:rect l="l" t="t" r="r" b="b"/>
            <a:pathLst>
              <a:path w="721766" h="749808">
                <a:moveTo>
                  <a:pt x="0" y="0"/>
                </a:moveTo>
                <a:lnTo>
                  <a:pt x="721766" y="0"/>
                </a:lnTo>
                <a:lnTo>
                  <a:pt x="721766" y="749808"/>
                </a:lnTo>
                <a:lnTo>
                  <a:pt x="0" y="749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958E8F2-41BC-1560-DAF4-1AA06C4F7E05}"/>
              </a:ext>
            </a:extLst>
          </p:cNvPr>
          <p:cNvSpPr/>
          <p:nvPr/>
        </p:nvSpPr>
        <p:spPr>
          <a:xfrm>
            <a:off x="4961925" y="2897150"/>
            <a:ext cx="898550" cy="551078"/>
          </a:xfrm>
          <a:custGeom>
            <a:avLst/>
            <a:gdLst/>
            <a:ahLst/>
            <a:cxnLst/>
            <a:rect l="l" t="t" r="r" b="b"/>
            <a:pathLst>
              <a:path w="898550" h="551078">
                <a:moveTo>
                  <a:pt x="0" y="0"/>
                </a:moveTo>
                <a:lnTo>
                  <a:pt x="898550" y="0"/>
                </a:lnTo>
                <a:lnTo>
                  <a:pt x="898550" y="551078"/>
                </a:lnTo>
                <a:lnTo>
                  <a:pt x="0" y="5510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DDBAC27-3316-2FE7-205F-46918E0634C4}"/>
              </a:ext>
            </a:extLst>
          </p:cNvPr>
          <p:cNvSpPr/>
          <p:nvPr/>
        </p:nvSpPr>
        <p:spPr>
          <a:xfrm>
            <a:off x="5922654" y="2853259"/>
            <a:ext cx="722986" cy="638861"/>
          </a:xfrm>
          <a:custGeom>
            <a:avLst/>
            <a:gdLst/>
            <a:ahLst/>
            <a:cxnLst/>
            <a:rect l="l" t="t" r="r" b="b"/>
            <a:pathLst>
              <a:path w="722986" h="638861">
                <a:moveTo>
                  <a:pt x="0" y="0"/>
                </a:moveTo>
                <a:lnTo>
                  <a:pt x="722986" y="0"/>
                </a:lnTo>
                <a:lnTo>
                  <a:pt x="722986" y="638860"/>
                </a:lnTo>
                <a:lnTo>
                  <a:pt x="0" y="63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4AA92CA-ACED-6A19-4350-054F292C8D46}"/>
              </a:ext>
            </a:extLst>
          </p:cNvPr>
          <p:cNvSpPr/>
          <p:nvPr/>
        </p:nvSpPr>
        <p:spPr>
          <a:xfrm>
            <a:off x="3070945" y="2730119"/>
            <a:ext cx="1627632" cy="903427"/>
          </a:xfrm>
          <a:custGeom>
            <a:avLst/>
            <a:gdLst/>
            <a:ahLst/>
            <a:cxnLst/>
            <a:rect l="l" t="t" r="r" b="b"/>
            <a:pathLst>
              <a:path w="1627632" h="903427">
                <a:moveTo>
                  <a:pt x="0" y="0"/>
                </a:moveTo>
                <a:lnTo>
                  <a:pt x="1627632" y="0"/>
                </a:lnTo>
                <a:lnTo>
                  <a:pt x="1627632" y="903428"/>
                </a:lnTo>
                <a:lnTo>
                  <a:pt x="0" y="9034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A0DB896-5B79-2AEF-B2C0-0577074984BE}"/>
              </a:ext>
            </a:extLst>
          </p:cNvPr>
          <p:cNvSpPr/>
          <p:nvPr/>
        </p:nvSpPr>
        <p:spPr>
          <a:xfrm>
            <a:off x="6794382" y="2904465"/>
            <a:ext cx="804672" cy="536448"/>
          </a:xfrm>
          <a:custGeom>
            <a:avLst/>
            <a:gdLst/>
            <a:ahLst/>
            <a:cxnLst/>
            <a:rect l="l" t="t" r="r" b="b"/>
            <a:pathLst>
              <a:path w="804672" h="536448">
                <a:moveTo>
                  <a:pt x="0" y="0"/>
                </a:moveTo>
                <a:lnTo>
                  <a:pt x="804672" y="0"/>
                </a:lnTo>
                <a:lnTo>
                  <a:pt x="804672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D317F1C-D991-F2A8-129A-F8796FD8B1BC}"/>
              </a:ext>
            </a:extLst>
          </p:cNvPr>
          <p:cNvSpPr/>
          <p:nvPr/>
        </p:nvSpPr>
        <p:spPr>
          <a:xfrm>
            <a:off x="7590520" y="2820340"/>
            <a:ext cx="846125" cy="280416"/>
          </a:xfrm>
          <a:custGeom>
            <a:avLst/>
            <a:gdLst/>
            <a:ahLst/>
            <a:cxnLst/>
            <a:rect l="l" t="t" r="r" b="b"/>
            <a:pathLst>
              <a:path w="846125" h="280416">
                <a:moveTo>
                  <a:pt x="0" y="0"/>
                </a:moveTo>
                <a:lnTo>
                  <a:pt x="846125" y="0"/>
                </a:lnTo>
                <a:lnTo>
                  <a:pt x="846125" y="280416"/>
                </a:lnTo>
                <a:lnTo>
                  <a:pt x="0" y="28041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6DC80B4-3CE3-10CC-85F1-D9C62C681B97}"/>
              </a:ext>
            </a:extLst>
          </p:cNvPr>
          <p:cNvSpPr/>
          <p:nvPr/>
        </p:nvSpPr>
        <p:spPr>
          <a:xfrm>
            <a:off x="7750235" y="3156839"/>
            <a:ext cx="566928" cy="280416"/>
          </a:xfrm>
          <a:custGeom>
            <a:avLst/>
            <a:gdLst/>
            <a:ahLst/>
            <a:cxnLst/>
            <a:rect l="l" t="t" r="r" b="b"/>
            <a:pathLst>
              <a:path w="566928" h="280416">
                <a:moveTo>
                  <a:pt x="0" y="0"/>
                </a:moveTo>
                <a:lnTo>
                  <a:pt x="566928" y="0"/>
                </a:lnTo>
                <a:lnTo>
                  <a:pt x="566928" y="280416"/>
                </a:lnTo>
                <a:lnTo>
                  <a:pt x="0" y="2804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44ADE50-EC47-4F63-E45B-C93A885BB160}"/>
              </a:ext>
            </a:extLst>
          </p:cNvPr>
          <p:cNvSpPr/>
          <p:nvPr/>
        </p:nvSpPr>
        <p:spPr>
          <a:xfrm>
            <a:off x="8881653" y="2703297"/>
            <a:ext cx="496214" cy="496214"/>
          </a:xfrm>
          <a:custGeom>
            <a:avLst/>
            <a:gdLst/>
            <a:ahLst/>
            <a:cxnLst/>
            <a:rect l="l" t="t" r="r" b="b"/>
            <a:pathLst>
              <a:path w="496214" h="496214">
                <a:moveTo>
                  <a:pt x="0" y="0"/>
                </a:moveTo>
                <a:lnTo>
                  <a:pt x="496214" y="0"/>
                </a:lnTo>
                <a:lnTo>
                  <a:pt x="496214" y="496214"/>
                </a:lnTo>
                <a:lnTo>
                  <a:pt x="0" y="4962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E73D7E2-BEAA-2CE2-6BBB-512E719574D3}"/>
              </a:ext>
            </a:extLst>
          </p:cNvPr>
          <p:cNvSpPr/>
          <p:nvPr/>
        </p:nvSpPr>
        <p:spPr>
          <a:xfrm>
            <a:off x="9705832" y="2695982"/>
            <a:ext cx="496214" cy="496214"/>
          </a:xfrm>
          <a:custGeom>
            <a:avLst/>
            <a:gdLst/>
            <a:ahLst/>
            <a:cxnLst/>
            <a:rect l="l" t="t" r="r" b="b"/>
            <a:pathLst>
              <a:path w="496214" h="496214">
                <a:moveTo>
                  <a:pt x="0" y="0"/>
                </a:moveTo>
                <a:lnTo>
                  <a:pt x="496214" y="0"/>
                </a:lnTo>
                <a:lnTo>
                  <a:pt x="496214" y="496214"/>
                </a:lnTo>
                <a:lnTo>
                  <a:pt x="0" y="4962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4720827-7AF5-0360-5FDA-691954E96557}"/>
              </a:ext>
            </a:extLst>
          </p:cNvPr>
          <p:cNvSpPr/>
          <p:nvPr/>
        </p:nvSpPr>
        <p:spPr>
          <a:xfrm>
            <a:off x="2985449" y="2126615"/>
            <a:ext cx="7620" cy="1560576"/>
          </a:xfrm>
          <a:custGeom>
            <a:avLst/>
            <a:gdLst/>
            <a:ahLst/>
            <a:cxnLst/>
            <a:rect l="l" t="t" r="r" b="b"/>
            <a:pathLst>
              <a:path w="7620" h="1560576">
                <a:moveTo>
                  <a:pt x="0" y="0"/>
                </a:moveTo>
                <a:lnTo>
                  <a:pt x="7620" y="0"/>
                </a:lnTo>
                <a:lnTo>
                  <a:pt x="7620" y="1560576"/>
                </a:lnTo>
                <a:lnTo>
                  <a:pt x="0" y="15605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D4E1466-5E11-DDC7-EA5E-D4E8406E3D6E}"/>
              </a:ext>
            </a:extLst>
          </p:cNvPr>
          <p:cNvSpPr/>
          <p:nvPr/>
        </p:nvSpPr>
        <p:spPr>
          <a:xfrm>
            <a:off x="4843510" y="2126615"/>
            <a:ext cx="7620" cy="1560576"/>
          </a:xfrm>
          <a:custGeom>
            <a:avLst/>
            <a:gdLst/>
            <a:ahLst/>
            <a:cxnLst/>
            <a:rect l="l" t="t" r="r" b="b"/>
            <a:pathLst>
              <a:path w="7620" h="1560576">
                <a:moveTo>
                  <a:pt x="0" y="0"/>
                </a:moveTo>
                <a:lnTo>
                  <a:pt x="7620" y="0"/>
                </a:lnTo>
                <a:lnTo>
                  <a:pt x="7620" y="1560576"/>
                </a:lnTo>
                <a:lnTo>
                  <a:pt x="0" y="15605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F8DD05E9-E43D-7F9A-95D5-8CBF9762657E}"/>
              </a:ext>
            </a:extLst>
          </p:cNvPr>
          <p:cNvSpPr/>
          <p:nvPr/>
        </p:nvSpPr>
        <p:spPr>
          <a:xfrm>
            <a:off x="1070490" y="2075813"/>
            <a:ext cx="9449509" cy="4076342"/>
          </a:xfrm>
          <a:custGeom>
            <a:avLst/>
            <a:gdLst/>
            <a:ahLst/>
            <a:cxnLst/>
            <a:rect l="l" t="t" r="r" b="b"/>
            <a:pathLst>
              <a:path w="9449509" h="4076342">
                <a:moveTo>
                  <a:pt x="0" y="0"/>
                </a:moveTo>
                <a:lnTo>
                  <a:pt x="9449508" y="0"/>
                </a:lnTo>
                <a:lnTo>
                  <a:pt x="9449508" y="4076342"/>
                </a:lnTo>
                <a:lnTo>
                  <a:pt x="0" y="407634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51F4E660-0370-D411-F79F-75055472E2C9}"/>
              </a:ext>
            </a:extLst>
          </p:cNvPr>
          <p:cNvSpPr/>
          <p:nvPr/>
        </p:nvSpPr>
        <p:spPr>
          <a:xfrm>
            <a:off x="1298229" y="5328235"/>
            <a:ext cx="908304" cy="512064"/>
          </a:xfrm>
          <a:custGeom>
            <a:avLst/>
            <a:gdLst/>
            <a:ahLst/>
            <a:cxnLst/>
            <a:rect l="l" t="t" r="r" b="b"/>
            <a:pathLst>
              <a:path w="908304" h="512064">
                <a:moveTo>
                  <a:pt x="0" y="0"/>
                </a:moveTo>
                <a:lnTo>
                  <a:pt x="908304" y="0"/>
                </a:lnTo>
                <a:lnTo>
                  <a:pt x="908304" y="512064"/>
                </a:lnTo>
                <a:lnTo>
                  <a:pt x="0" y="51206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A44F4E00-3BA1-0441-5971-A58923840FD5}"/>
              </a:ext>
            </a:extLst>
          </p:cNvPr>
          <p:cNvSpPr/>
          <p:nvPr/>
        </p:nvSpPr>
        <p:spPr>
          <a:xfrm>
            <a:off x="3183112" y="5278247"/>
            <a:ext cx="1149706" cy="515722"/>
          </a:xfrm>
          <a:custGeom>
            <a:avLst/>
            <a:gdLst/>
            <a:ahLst/>
            <a:cxnLst/>
            <a:rect l="l" t="t" r="r" b="b"/>
            <a:pathLst>
              <a:path w="1149706" h="515722">
                <a:moveTo>
                  <a:pt x="0" y="0"/>
                </a:moveTo>
                <a:lnTo>
                  <a:pt x="1149705" y="0"/>
                </a:lnTo>
                <a:lnTo>
                  <a:pt x="1149705" y="515722"/>
                </a:lnTo>
                <a:lnTo>
                  <a:pt x="0" y="51572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54FA0CCF-0FD8-4387-93C7-79137A4B123D}"/>
              </a:ext>
            </a:extLst>
          </p:cNvPr>
          <p:cNvSpPr/>
          <p:nvPr/>
        </p:nvSpPr>
        <p:spPr>
          <a:xfrm>
            <a:off x="2282123" y="5446497"/>
            <a:ext cx="736397" cy="252374"/>
          </a:xfrm>
          <a:custGeom>
            <a:avLst/>
            <a:gdLst/>
            <a:ahLst/>
            <a:cxnLst/>
            <a:rect l="l" t="t" r="r" b="b"/>
            <a:pathLst>
              <a:path w="736397" h="252374">
                <a:moveTo>
                  <a:pt x="0" y="0"/>
                </a:moveTo>
                <a:lnTo>
                  <a:pt x="736397" y="0"/>
                </a:lnTo>
                <a:lnTo>
                  <a:pt x="736397" y="252374"/>
                </a:lnTo>
                <a:lnTo>
                  <a:pt x="0" y="25237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65AAC73-D052-D9DB-00A6-4B7221A1FD30}"/>
              </a:ext>
            </a:extLst>
          </p:cNvPr>
          <p:cNvSpPr/>
          <p:nvPr/>
        </p:nvSpPr>
        <p:spPr>
          <a:xfrm>
            <a:off x="1209075" y="4589247"/>
            <a:ext cx="2933700" cy="294132"/>
          </a:xfrm>
          <a:custGeom>
            <a:avLst/>
            <a:gdLst/>
            <a:ahLst/>
            <a:cxnLst/>
            <a:rect l="l" t="t" r="r" b="b"/>
            <a:pathLst>
              <a:path w="2933700" h="294132">
                <a:moveTo>
                  <a:pt x="0" y="0"/>
                </a:moveTo>
                <a:lnTo>
                  <a:pt x="2933700" y="0"/>
                </a:lnTo>
                <a:lnTo>
                  <a:pt x="2933700" y="294132"/>
                </a:lnTo>
                <a:lnTo>
                  <a:pt x="0" y="29413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E59B33AF-F691-C16A-FEE3-C9B4D73AC2F2}"/>
              </a:ext>
            </a:extLst>
          </p:cNvPr>
          <p:cNvSpPr/>
          <p:nvPr/>
        </p:nvSpPr>
        <p:spPr>
          <a:xfrm>
            <a:off x="4335103" y="4589247"/>
            <a:ext cx="2933700" cy="294132"/>
          </a:xfrm>
          <a:custGeom>
            <a:avLst/>
            <a:gdLst/>
            <a:ahLst/>
            <a:cxnLst/>
            <a:rect l="l" t="t" r="r" b="b"/>
            <a:pathLst>
              <a:path w="2933700" h="294132">
                <a:moveTo>
                  <a:pt x="0" y="0"/>
                </a:moveTo>
                <a:lnTo>
                  <a:pt x="2933700" y="0"/>
                </a:lnTo>
                <a:lnTo>
                  <a:pt x="2933700" y="294132"/>
                </a:lnTo>
                <a:lnTo>
                  <a:pt x="0" y="29413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6D3A2676-AA86-A9C0-7F6D-232726CB910A}"/>
              </a:ext>
            </a:extLst>
          </p:cNvPr>
          <p:cNvSpPr/>
          <p:nvPr/>
        </p:nvSpPr>
        <p:spPr>
          <a:xfrm>
            <a:off x="7459913" y="4589247"/>
            <a:ext cx="2933700" cy="294132"/>
          </a:xfrm>
          <a:custGeom>
            <a:avLst/>
            <a:gdLst/>
            <a:ahLst/>
            <a:cxnLst/>
            <a:rect l="l" t="t" r="r" b="b"/>
            <a:pathLst>
              <a:path w="2933700" h="294132">
                <a:moveTo>
                  <a:pt x="0" y="0"/>
                </a:moveTo>
                <a:lnTo>
                  <a:pt x="2933700" y="0"/>
                </a:lnTo>
                <a:lnTo>
                  <a:pt x="2933700" y="294132"/>
                </a:lnTo>
                <a:lnTo>
                  <a:pt x="0" y="29413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CCD55BD-5D7D-36E3-8030-E43D72769FA6}"/>
              </a:ext>
            </a:extLst>
          </p:cNvPr>
          <p:cNvSpPr/>
          <p:nvPr/>
        </p:nvSpPr>
        <p:spPr>
          <a:xfrm>
            <a:off x="4769291" y="5318481"/>
            <a:ext cx="780288" cy="648614"/>
          </a:xfrm>
          <a:custGeom>
            <a:avLst/>
            <a:gdLst/>
            <a:ahLst/>
            <a:cxnLst/>
            <a:rect l="l" t="t" r="r" b="b"/>
            <a:pathLst>
              <a:path w="780288" h="648614">
                <a:moveTo>
                  <a:pt x="0" y="0"/>
                </a:moveTo>
                <a:lnTo>
                  <a:pt x="780288" y="0"/>
                </a:lnTo>
                <a:lnTo>
                  <a:pt x="780288" y="648614"/>
                </a:lnTo>
                <a:lnTo>
                  <a:pt x="0" y="64861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4D7FE54B-6E69-310C-5BE9-1B50EF7A183E}"/>
              </a:ext>
            </a:extLst>
          </p:cNvPr>
          <p:cNvSpPr/>
          <p:nvPr/>
        </p:nvSpPr>
        <p:spPr>
          <a:xfrm>
            <a:off x="5966545" y="5339207"/>
            <a:ext cx="950976" cy="635203"/>
          </a:xfrm>
          <a:custGeom>
            <a:avLst/>
            <a:gdLst/>
            <a:ahLst/>
            <a:cxnLst/>
            <a:rect l="l" t="t" r="r" b="b"/>
            <a:pathLst>
              <a:path w="950976" h="635203">
                <a:moveTo>
                  <a:pt x="0" y="0"/>
                </a:moveTo>
                <a:lnTo>
                  <a:pt x="950976" y="0"/>
                </a:lnTo>
                <a:lnTo>
                  <a:pt x="950976" y="635204"/>
                </a:lnTo>
                <a:lnTo>
                  <a:pt x="0" y="63520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CEE3648D-6B63-2216-45BE-7DF157A8ACA8}"/>
              </a:ext>
            </a:extLst>
          </p:cNvPr>
          <p:cNvSpPr/>
          <p:nvPr/>
        </p:nvSpPr>
        <p:spPr>
          <a:xfrm>
            <a:off x="9629022" y="5157547"/>
            <a:ext cx="769315" cy="709574"/>
          </a:xfrm>
          <a:custGeom>
            <a:avLst/>
            <a:gdLst/>
            <a:ahLst/>
            <a:cxnLst/>
            <a:rect l="l" t="t" r="r" b="b"/>
            <a:pathLst>
              <a:path w="769315" h="709574">
                <a:moveTo>
                  <a:pt x="0" y="0"/>
                </a:moveTo>
                <a:lnTo>
                  <a:pt x="769315" y="0"/>
                </a:lnTo>
                <a:lnTo>
                  <a:pt x="769315" y="709574"/>
                </a:lnTo>
                <a:lnTo>
                  <a:pt x="0" y="70957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CC6015B6-2D4D-B06C-A51E-666387ECAF0A}"/>
              </a:ext>
            </a:extLst>
          </p:cNvPr>
          <p:cNvSpPr/>
          <p:nvPr/>
        </p:nvSpPr>
        <p:spPr>
          <a:xfrm>
            <a:off x="8958462" y="5234356"/>
            <a:ext cx="523037" cy="602285"/>
          </a:xfrm>
          <a:custGeom>
            <a:avLst/>
            <a:gdLst/>
            <a:ahLst/>
            <a:cxnLst/>
            <a:rect l="l" t="t" r="r" b="b"/>
            <a:pathLst>
              <a:path w="523037" h="602285">
                <a:moveTo>
                  <a:pt x="0" y="0"/>
                </a:moveTo>
                <a:lnTo>
                  <a:pt x="523037" y="0"/>
                </a:lnTo>
                <a:lnTo>
                  <a:pt x="523037" y="602285"/>
                </a:lnTo>
                <a:lnTo>
                  <a:pt x="0" y="60228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C655F989-26A7-61E3-2B90-1A2132370E35}"/>
              </a:ext>
            </a:extLst>
          </p:cNvPr>
          <p:cNvSpPr/>
          <p:nvPr/>
        </p:nvSpPr>
        <p:spPr>
          <a:xfrm>
            <a:off x="7753893" y="5102683"/>
            <a:ext cx="960730" cy="547421"/>
          </a:xfrm>
          <a:custGeom>
            <a:avLst/>
            <a:gdLst/>
            <a:ahLst/>
            <a:cxnLst/>
            <a:rect l="l" t="t" r="r" b="b"/>
            <a:pathLst>
              <a:path w="960730" h="547421">
                <a:moveTo>
                  <a:pt x="0" y="0"/>
                </a:moveTo>
                <a:lnTo>
                  <a:pt x="960729" y="0"/>
                </a:lnTo>
                <a:lnTo>
                  <a:pt x="960729" y="547420"/>
                </a:lnTo>
                <a:lnTo>
                  <a:pt x="0" y="54742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7CFF25F5-44F5-B268-4B30-17639C27854B}"/>
              </a:ext>
            </a:extLst>
          </p:cNvPr>
          <p:cNvSpPr/>
          <p:nvPr/>
        </p:nvSpPr>
        <p:spPr>
          <a:xfrm>
            <a:off x="8067227" y="5576951"/>
            <a:ext cx="335280" cy="459638"/>
          </a:xfrm>
          <a:custGeom>
            <a:avLst/>
            <a:gdLst/>
            <a:ahLst/>
            <a:cxnLst/>
            <a:rect l="l" t="t" r="r" b="b"/>
            <a:pathLst>
              <a:path w="335280" h="459638">
                <a:moveTo>
                  <a:pt x="0" y="0"/>
                </a:moveTo>
                <a:lnTo>
                  <a:pt x="335280" y="0"/>
                </a:lnTo>
                <a:lnTo>
                  <a:pt x="335280" y="459639"/>
                </a:lnTo>
                <a:lnTo>
                  <a:pt x="0" y="45963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BA890403-249F-08ED-2301-A5CAA83D521B}"/>
              </a:ext>
            </a:extLst>
          </p:cNvPr>
          <p:cNvSpPr/>
          <p:nvPr/>
        </p:nvSpPr>
        <p:spPr>
          <a:xfrm>
            <a:off x="2456065" y="5186198"/>
            <a:ext cx="523037" cy="19507"/>
          </a:xfrm>
          <a:custGeom>
            <a:avLst/>
            <a:gdLst/>
            <a:ahLst/>
            <a:cxnLst/>
            <a:rect l="l" t="t" r="r" b="b"/>
            <a:pathLst>
              <a:path w="523037" h="19507">
                <a:moveTo>
                  <a:pt x="0" y="0"/>
                </a:moveTo>
                <a:lnTo>
                  <a:pt x="523037" y="0"/>
                </a:lnTo>
                <a:lnTo>
                  <a:pt x="523037" y="19507"/>
                </a:lnTo>
                <a:lnTo>
                  <a:pt x="0" y="1950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1E3D7780-51D4-5AC1-2CF2-14F8ABA6428E}"/>
              </a:ext>
            </a:extLst>
          </p:cNvPr>
          <p:cNvSpPr/>
          <p:nvPr/>
        </p:nvSpPr>
        <p:spPr>
          <a:xfrm>
            <a:off x="3378999" y="5186198"/>
            <a:ext cx="529133" cy="19507"/>
          </a:xfrm>
          <a:custGeom>
            <a:avLst/>
            <a:gdLst/>
            <a:ahLst/>
            <a:cxnLst/>
            <a:rect l="l" t="t" r="r" b="b"/>
            <a:pathLst>
              <a:path w="529133" h="19507">
                <a:moveTo>
                  <a:pt x="0" y="0"/>
                </a:moveTo>
                <a:lnTo>
                  <a:pt x="529133" y="0"/>
                </a:lnTo>
                <a:lnTo>
                  <a:pt x="529133" y="19507"/>
                </a:lnTo>
                <a:lnTo>
                  <a:pt x="0" y="1950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7DCF3CF8-3D0B-0F51-A581-111448B5B4D8}"/>
              </a:ext>
            </a:extLst>
          </p:cNvPr>
          <p:cNvSpPr/>
          <p:nvPr/>
        </p:nvSpPr>
        <p:spPr>
          <a:xfrm>
            <a:off x="4942417" y="5186198"/>
            <a:ext cx="401117" cy="19507"/>
          </a:xfrm>
          <a:custGeom>
            <a:avLst/>
            <a:gdLst/>
            <a:ahLst/>
            <a:cxnLst/>
            <a:rect l="l" t="t" r="r" b="b"/>
            <a:pathLst>
              <a:path w="401117" h="19507">
                <a:moveTo>
                  <a:pt x="0" y="0"/>
                </a:moveTo>
                <a:lnTo>
                  <a:pt x="401117" y="0"/>
                </a:lnTo>
                <a:lnTo>
                  <a:pt x="401117" y="19507"/>
                </a:lnTo>
                <a:lnTo>
                  <a:pt x="0" y="19507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>
            <a:extLst>
              <a:ext uri="{FF2B5EF4-FFF2-40B4-BE49-F238E27FC236}">
                <a16:creationId xmlns:a16="http://schemas.microsoft.com/office/drawing/2014/main" id="{50A569A8-802C-3625-C787-D6A94D0D4D32}"/>
              </a:ext>
            </a:extLst>
          </p:cNvPr>
          <p:cNvSpPr/>
          <p:nvPr/>
        </p:nvSpPr>
        <p:spPr>
          <a:xfrm>
            <a:off x="5832639" y="5186198"/>
            <a:ext cx="1238707" cy="19507"/>
          </a:xfrm>
          <a:custGeom>
            <a:avLst/>
            <a:gdLst/>
            <a:ahLst/>
            <a:cxnLst/>
            <a:rect l="l" t="t" r="r" b="b"/>
            <a:pathLst>
              <a:path w="1238707" h="19507">
                <a:moveTo>
                  <a:pt x="0" y="0"/>
                </a:moveTo>
                <a:lnTo>
                  <a:pt x="1238707" y="0"/>
                </a:lnTo>
                <a:lnTo>
                  <a:pt x="1238707" y="19507"/>
                </a:lnTo>
                <a:lnTo>
                  <a:pt x="0" y="19507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7230586D-0B96-F6DA-D750-30B54685108B}"/>
              </a:ext>
            </a:extLst>
          </p:cNvPr>
          <p:cNvSpPr/>
          <p:nvPr/>
        </p:nvSpPr>
        <p:spPr>
          <a:xfrm>
            <a:off x="8075860" y="5186198"/>
            <a:ext cx="316992" cy="19507"/>
          </a:xfrm>
          <a:custGeom>
            <a:avLst/>
            <a:gdLst/>
            <a:ahLst/>
            <a:cxnLst/>
            <a:rect l="l" t="t" r="r" b="b"/>
            <a:pathLst>
              <a:path w="316992" h="19507">
                <a:moveTo>
                  <a:pt x="0" y="0"/>
                </a:moveTo>
                <a:lnTo>
                  <a:pt x="316992" y="0"/>
                </a:lnTo>
                <a:lnTo>
                  <a:pt x="316992" y="19507"/>
                </a:lnTo>
                <a:lnTo>
                  <a:pt x="0" y="19507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026DA888-E38F-4ADF-88EB-06B9953125F0}"/>
              </a:ext>
            </a:extLst>
          </p:cNvPr>
          <p:cNvSpPr/>
          <p:nvPr/>
        </p:nvSpPr>
        <p:spPr>
          <a:xfrm>
            <a:off x="9086882" y="5162827"/>
            <a:ext cx="894893" cy="19507"/>
          </a:xfrm>
          <a:custGeom>
            <a:avLst/>
            <a:gdLst/>
            <a:ahLst/>
            <a:cxnLst/>
            <a:rect l="l" t="t" r="r" b="b"/>
            <a:pathLst>
              <a:path w="894893" h="19507">
                <a:moveTo>
                  <a:pt x="0" y="0"/>
                </a:moveTo>
                <a:lnTo>
                  <a:pt x="894893" y="0"/>
                </a:lnTo>
                <a:lnTo>
                  <a:pt x="894893" y="19507"/>
                </a:lnTo>
                <a:lnTo>
                  <a:pt x="0" y="19507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BE7F71A2-4401-8FF9-BE64-AD9A74410A29}"/>
              </a:ext>
            </a:extLst>
          </p:cNvPr>
          <p:cNvSpPr/>
          <p:nvPr/>
        </p:nvSpPr>
        <p:spPr>
          <a:xfrm>
            <a:off x="1139733" y="1073227"/>
            <a:ext cx="9404909" cy="640080"/>
          </a:xfrm>
          <a:custGeom>
            <a:avLst/>
            <a:gdLst/>
            <a:ahLst/>
            <a:cxnLst/>
            <a:rect l="l" t="t" r="r" b="b"/>
            <a:pathLst>
              <a:path w="9404909" h="640080">
                <a:moveTo>
                  <a:pt x="0" y="0"/>
                </a:moveTo>
                <a:lnTo>
                  <a:pt x="9404908" y="0"/>
                </a:lnTo>
                <a:lnTo>
                  <a:pt x="9404908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F67CACD4-552D-D0DB-4854-B3BD9F98E3FF}"/>
              </a:ext>
            </a:extLst>
          </p:cNvPr>
          <p:cNvSpPr/>
          <p:nvPr/>
        </p:nvSpPr>
        <p:spPr>
          <a:xfrm>
            <a:off x="2312603" y="1198797"/>
            <a:ext cx="7060387" cy="448673"/>
          </a:xfrm>
          <a:custGeom>
            <a:avLst/>
            <a:gdLst/>
            <a:ahLst/>
            <a:cxnLst/>
            <a:rect l="l" t="t" r="r" b="b"/>
            <a:pathLst>
              <a:path w="7060387" h="448673">
                <a:moveTo>
                  <a:pt x="0" y="0"/>
                </a:moveTo>
                <a:lnTo>
                  <a:pt x="7060387" y="0"/>
                </a:lnTo>
                <a:lnTo>
                  <a:pt x="7060387" y="448673"/>
                </a:lnTo>
                <a:lnTo>
                  <a:pt x="0" y="448673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>
            <a:extLst>
              <a:ext uri="{FF2B5EF4-FFF2-40B4-BE49-F238E27FC236}">
                <a16:creationId xmlns:a16="http://schemas.microsoft.com/office/drawing/2014/main" id="{8CAA7CA6-D690-586E-EB1B-8CEA2B3C7471}"/>
              </a:ext>
            </a:extLst>
          </p:cNvPr>
          <p:cNvSpPr/>
          <p:nvPr/>
        </p:nvSpPr>
        <p:spPr>
          <a:xfrm>
            <a:off x="1173573" y="1056409"/>
            <a:ext cx="9340291" cy="575462"/>
          </a:xfrm>
          <a:custGeom>
            <a:avLst/>
            <a:gdLst/>
            <a:ahLst/>
            <a:cxnLst/>
            <a:rect l="l" t="t" r="r" b="b"/>
            <a:pathLst>
              <a:path w="9340291" h="575462">
                <a:moveTo>
                  <a:pt x="0" y="0"/>
                </a:moveTo>
                <a:lnTo>
                  <a:pt x="9340291" y="0"/>
                </a:lnTo>
                <a:lnTo>
                  <a:pt x="9340291" y="575463"/>
                </a:lnTo>
                <a:lnTo>
                  <a:pt x="0" y="57546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A0D24976-9B3E-37ED-A04B-59FD7EB0CA63}"/>
              </a:ext>
            </a:extLst>
          </p:cNvPr>
          <p:cNvSpPr txBox="1"/>
          <p:nvPr/>
        </p:nvSpPr>
        <p:spPr>
          <a:xfrm>
            <a:off x="5149476" y="1708095"/>
            <a:ext cx="1291689" cy="28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708" spc="-5">
                <a:solidFill>
                  <a:srgbClr val="FFFFFF"/>
                </a:solidFill>
                <a:latin typeface="IBM Plex Sans"/>
              </a:rPr>
              <a:t>Focus Areas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27E8FA7-BC74-DD42-BB70-73DD02B17D58}"/>
              </a:ext>
            </a:extLst>
          </p:cNvPr>
          <p:cNvSpPr txBox="1"/>
          <p:nvPr/>
        </p:nvSpPr>
        <p:spPr>
          <a:xfrm>
            <a:off x="4453312" y="4189471"/>
            <a:ext cx="2682987" cy="28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708" spc="-5">
                <a:solidFill>
                  <a:srgbClr val="FFFFFF"/>
                </a:solidFill>
                <a:latin typeface="IBM Plex Sans"/>
              </a:rPr>
              <a:t>Foundational Investments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FCA7AC75-6650-AC24-B697-ACE7EB11FE0D}"/>
              </a:ext>
            </a:extLst>
          </p:cNvPr>
          <p:cNvSpPr txBox="1"/>
          <p:nvPr/>
        </p:nvSpPr>
        <p:spPr>
          <a:xfrm>
            <a:off x="1445020" y="4968784"/>
            <a:ext cx="643433" cy="2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Quality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EE14D692-DCF9-5C99-AD5F-44D2B86EFCCC}"/>
              </a:ext>
            </a:extLst>
          </p:cNvPr>
          <p:cNvSpPr txBox="1"/>
          <p:nvPr/>
        </p:nvSpPr>
        <p:spPr>
          <a:xfrm>
            <a:off x="1643018" y="2136179"/>
            <a:ext cx="846308" cy="2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 spc="-2">
                <a:solidFill>
                  <a:srgbClr val="000000"/>
                </a:solidFill>
                <a:latin typeface="IBM Plex Sans"/>
              </a:rPr>
              <a:t>Direct-to-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7A98BCE5-550A-F5EA-23C8-FFA15965508A}"/>
              </a:ext>
            </a:extLst>
          </p:cNvPr>
          <p:cNvSpPr txBox="1"/>
          <p:nvPr/>
        </p:nvSpPr>
        <p:spPr>
          <a:xfrm>
            <a:off x="2411358" y="4533431"/>
            <a:ext cx="568322" cy="67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27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Game Youth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07A805B9-F180-C4F5-1511-02C3B6F221C0}"/>
              </a:ext>
            </a:extLst>
          </p:cNvPr>
          <p:cNvSpPr txBox="1"/>
          <p:nvPr/>
        </p:nvSpPr>
        <p:spPr>
          <a:xfrm>
            <a:off x="3379197" y="4968784"/>
            <a:ext cx="529316" cy="2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 spc="-1">
                <a:solidFill>
                  <a:srgbClr val="000000"/>
                </a:solidFill>
                <a:latin typeface="IBM Plex Sans"/>
              </a:rPr>
              <a:t>PH&amp;S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A906C6C3-DFDC-6608-B9B5-3CBDB4678C58}"/>
              </a:ext>
            </a:extLst>
          </p:cNvPr>
          <p:cNvSpPr txBox="1"/>
          <p:nvPr/>
        </p:nvSpPr>
        <p:spPr>
          <a:xfrm>
            <a:off x="3354813" y="2249968"/>
            <a:ext cx="1140409" cy="2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International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1BA8615F-B3FA-E93C-B20A-B9C39BB3061E}"/>
              </a:ext>
            </a:extLst>
          </p:cNvPr>
          <p:cNvSpPr txBox="1"/>
          <p:nvPr/>
        </p:nvSpPr>
        <p:spPr>
          <a:xfrm>
            <a:off x="5330123" y="2136179"/>
            <a:ext cx="919025" cy="2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Legalized 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B16A18BD-154B-125A-93F8-4A1B48C6D05D}"/>
              </a:ext>
            </a:extLst>
          </p:cNvPr>
          <p:cNvSpPr txBox="1"/>
          <p:nvPr/>
        </p:nvSpPr>
        <p:spPr>
          <a:xfrm>
            <a:off x="4335103" y="4533431"/>
            <a:ext cx="2736593" cy="66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7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Fan Development </a:t>
            </a:r>
          </a:p>
          <a:p>
            <a:pPr algn="l">
              <a:lnSpc>
                <a:spcPts val="2827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             Avid            Youth / Latinx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46A2A937-6D3B-39C6-EE77-9EEBB075EE0F}"/>
              </a:ext>
            </a:extLst>
          </p:cNvPr>
          <p:cNvSpPr txBox="1"/>
          <p:nvPr/>
        </p:nvSpPr>
        <p:spPr>
          <a:xfrm>
            <a:off x="7134539" y="2136179"/>
            <a:ext cx="1014626" cy="2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Non-Game 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BE2A9723-8986-9138-5321-B58D48B56B68}"/>
              </a:ext>
            </a:extLst>
          </p:cNvPr>
          <p:cNvSpPr txBox="1"/>
          <p:nvPr/>
        </p:nvSpPr>
        <p:spPr>
          <a:xfrm>
            <a:off x="9268650" y="2136179"/>
            <a:ext cx="446578" cy="24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6"/>
              </a:lnSpc>
            </a:pPr>
            <a:r>
              <a:rPr lang="en-US" sz="1497" spc="2">
                <a:solidFill>
                  <a:srgbClr val="000000"/>
                </a:solidFill>
                <a:latin typeface="IBM Plex Sans"/>
              </a:rPr>
              <a:t>New </a:t>
            </a:r>
          </a:p>
        </p:txBody>
      </p:sp>
      <p:sp>
        <p:nvSpPr>
          <p:cNvPr id="50" name="TextBox 50">
            <a:extLst>
              <a:ext uri="{FF2B5EF4-FFF2-40B4-BE49-F238E27FC236}">
                <a16:creationId xmlns:a16="http://schemas.microsoft.com/office/drawing/2014/main" id="{BDFB0F92-D06D-92EF-4BCB-8452F7350CAA}"/>
              </a:ext>
            </a:extLst>
          </p:cNvPr>
          <p:cNvSpPr txBox="1"/>
          <p:nvPr/>
        </p:nvSpPr>
        <p:spPr>
          <a:xfrm>
            <a:off x="7552135" y="4465315"/>
            <a:ext cx="2846203" cy="66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7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Business Operations</a:t>
            </a:r>
          </a:p>
          <a:p>
            <a:pPr algn="ctr">
              <a:lnSpc>
                <a:spcPts val="2827"/>
              </a:lnSpc>
            </a:pPr>
            <a:r>
              <a:rPr lang="en-US" sz="1497" spc="-4">
                <a:solidFill>
                  <a:srgbClr val="000000"/>
                </a:solidFill>
                <a:latin typeface="IBM Plex Sans"/>
              </a:rPr>
              <a:t>DEI                Data/Tech</a:t>
            </a:r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0BC62721-7AA3-048D-8D1B-8C89C79FA9FC}"/>
              </a:ext>
            </a:extLst>
          </p:cNvPr>
          <p:cNvSpPr txBox="1"/>
          <p:nvPr/>
        </p:nvSpPr>
        <p:spPr>
          <a:xfrm>
            <a:off x="1595470" y="2363940"/>
            <a:ext cx="940956" cy="24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4">
                <a:solidFill>
                  <a:srgbClr val="000000"/>
                </a:solidFill>
                <a:latin typeface="IBM Plex Sans"/>
              </a:rPr>
              <a:t>Consumer</a:t>
            </a: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49F394A3-D7CC-C21C-4D9B-81EC4294D17B}"/>
              </a:ext>
            </a:extLst>
          </p:cNvPr>
          <p:cNvSpPr txBox="1"/>
          <p:nvPr/>
        </p:nvSpPr>
        <p:spPr>
          <a:xfrm>
            <a:off x="5109448" y="2363940"/>
            <a:ext cx="1307554" cy="24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4">
                <a:solidFill>
                  <a:srgbClr val="000000"/>
                </a:solidFill>
                <a:latin typeface="IBM Plex Sans"/>
              </a:rPr>
              <a:t>Sports Betting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C1A3696F-1C13-18FB-7C14-A09638330316}"/>
              </a:ext>
            </a:extLst>
          </p:cNvPr>
          <p:cNvSpPr txBox="1"/>
          <p:nvPr/>
        </p:nvSpPr>
        <p:spPr>
          <a:xfrm>
            <a:off x="6962632" y="2363940"/>
            <a:ext cx="1306220" cy="24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4">
                <a:solidFill>
                  <a:srgbClr val="000000"/>
                </a:solidFill>
                <a:latin typeface="IBM Plex Sans"/>
              </a:rPr>
              <a:t>Media Content</a:t>
            </a:r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D8CE62AD-EF1F-7A51-4DFA-935121F6B509}"/>
              </a:ext>
            </a:extLst>
          </p:cNvPr>
          <p:cNvSpPr txBox="1"/>
          <p:nvPr/>
        </p:nvSpPr>
        <p:spPr>
          <a:xfrm>
            <a:off x="8940685" y="2363940"/>
            <a:ext cx="1050463" cy="24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spc="-4">
                <a:solidFill>
                  <a:srgbClr val="000000"/>
                </a:solidFill>
                <a:latin typeface="IBM Plex Sans"/>
              </a:rPr>
              <a:t>Technology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57688519-C514-A397-84A2-83AB7D8E6BF6}"/>
              </a:ext>
            </a:extLst>
          </p:cNvPr>
          <p:cNvSpPr txBox="1"/>
          <p:nvPr/>
        </p:nvSpPr>
        <p:spPr>
          <a:xfrm>
            <a:off x="8746832" y="3192752"/>
            <a:ext cx="723344" cy="169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1"/>
              </a:lnSpc>
            </a:pPr>
            <a:r>
              <a:rPr lang="en-US" sz="1065" spc="7">
                <a:solidFill>
                  <a:srgbClr val="000000"/>
                </a:solidFill>
                <a:latin typeface="Open Sans 2 Italics"/>
              </a:rPr>
              <a:t>Blockchain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204458B0-F688-996B-A8B4-F361A4DC6DCE}"/>
              </a:ext>
            </a:extLst>
          </p:cNvPr>
          <p:cNvSpPr txBox="1"/>
          <p:nvPr/>
        </p:nvSpPr>
        <p:spPr>
          <a:xfrm>
            <a:off x="3094316" y="5744942"/>
            <a:ext cx="1082863" cy="21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276" spc="-3">
                <a:solidFill>
                  <a:srgbClr val="000000"/>
                </a:solidFill>
                <a:latin typeface="IBM Plex Sans"/>
              </a:rPr>
              <a:t>Digital Athlete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3048F40-9EF0-2900-3B97-9D20C1012165}"/>
              </a:ext>
            </a:extLst>
          </p:cNvPr>
          <p:cNvSpPr txBox="1"/>
          <p:nvPr/>
        </p:nvSpPr>
        <p:spPr>
          <a:xfrm>
            <a:off x="9254728" y="5847599"/>
            <a:ext cx="568185" cy="21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7"/>
              </a:lnSpc>
            </a:pPr>
            <a:r>
              <a:rPr lang="en-US" sz="1276" spc="-2">
                <a:solidFill>
                  <a:srgbClr val="000000"/>
                </a:solidFill>
                <a:latin typeface="IBM Plex Sans"/>
              </a:rPr>
              <a:t>Fan 1:1</a:t>
            </a:r>
          </a:p>
        </p:txBody>
      </p:sp>
      <p:sp>
        <p:nvSpPr>
          <p:cNvPr id="58" name="TextBox 59">
            <a:extLst>
              <a:ext uri="{FF2B5EF4-FFF2-40B4-BE49-F238E27FC236}">
                <a16:creationId xmlns:a16="http://schemas.microsoft.com/office/drawing/2014/main" id="{0A50B2FA-576C-C3C9-2EF9-DFFEE3B2C7D6}"/>
              </a:ext>
            </a:extLst>
          </p:cNvPr>
          <p:cNvSpPr txBox="1"/>
          <p:nvPr/>
        </p:nvSpPr>
        <p:spPr>
          <a:xfrm>
            <a:off x="1001475" y="6149285"/>
            <a:ext cx="2353338" cy="1452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883">
                <a:solidFill>
                  <a:srgbClr val="000000"/>
                </a:solidFill>
                <a:latin typeface="Calibri (MS) Italics"/>
              </a:rPr>
              <a:t>*League goals in no particular order</a:t>
            </a:r>
          </a:p>
        </p:txBody>
      </p:sp>
      <p:sp>
        <p:nvSpPr>
          <p:cNvPr id="59" name="TextBox 60">
            <a:extLst>
              <a:ext uri="{FF2B5EF4-FFF2-40B4-BE49-F238E27FC236}">
                <a16:creationId xmlns:a16="http://schemas.microsoft.com/office/drawing/2014/main" id="{826158A8-EA6B-D987-113A-FE162CF548B9}"/>
              </a:ext>
            </a:extLst>
          </p:cNvPr>
          <p:cNvSpPr txBox="1"/>
          <p:nvPr/>
        </p:nvSpPr>
        <p:spPr>
          <a:xfrm>
            <a:off x="2013537" y="1199818"/>
            <a:ext cx="7638204" cy="298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739" spc="-5">
                <a:solidFill>
                  <a:srgbClr val="FFFFFF"/>
                </a:solidFill>
                <a:latin typeface="IBM Plex Sans"/>
              </a:rPr>
              <a:t>League Goals: Increase Consumption | Fan Growth | Grow Key Demographics</a:t>
            </a:r>
          </a:p>
        </p:txBody>
      </p:sp>
      <p:sp>
        <p:nvSpPr>
          <p:cNvPr id="60" name="TextBox 58">
            <a:extLst>
              <a:ext uri="{FF2B5EF4-FFF2-40B4-BE49-F238E27FC236}">
                <a16:creationId xmlns:a16="http://schemas.microsoft.com/office/drawing/2014/main" id="{DD4EDBD3-4568-82BF-2516-13BD4404321F}"/>
              </a:ext>
            </a:extLst>
          </p:cNvPr>
          <p:cNvSpPr txBox="1"/>
          <p:nvPr/>
        </p:nvSpPr>
        <p:spPr>
          <a:xfrm>
            <a:off x="314554" y="212872"/>
            <a:ext cx="6300826" cy="487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11"/>
              </a:lnSpc>
            </a:pPr>
            <a:r>
              <a:rPr lang="en-US" sz="2936" spc="-8">
                <a:solidFill>
                  <a:srgbClr val="10253F"/>
                </a:solidFill>
                <a:latin typeface="IBM Plex Sans Bold"/>
              </a:rPr>
              <a:t>STRATEGIC PLANNING FOCUS</a:t>
            </a:r>
          </a:p>
        </p:txBody>
      </p:sp>
    </p:spTree>
    <p:extLst>
      <p:ext uri="{BB962C8B-B14F-4D97-AF65-F5344CB8AC3E}">
        <p14:creationId xmlns:p14="http://schemas.microsoft.com/office/powerpoint/2010/main" val="15047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9618D104-DB87-DC94-F0D6-B49A09D67E99}"/>
              </a:ext>
            </a:extLst>
          </p:cNvPr>
          <p:cNvSpPr txBox="1"/>
          <p:nvPr/>
        </p:nvSpPr>
        <p:spPr>
          <a:xfrm>
            <a:off x="683803" y="127000"/>
            <a:ext cx="10413578" cy="1178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</a:pPr>
            <a:r>
              <a:rPr lang="en-US" sz="4000" dirty="0">
                <a:solidFill>
                  <a:srgbClr val="003A74"/>
                </a:solidFill>
                <a:latin typeface="Montserrat Bold"/>
              </a:rPr>
              <a:t>Stage 1: Evaluation</a:t>
            </a:r>
          </a:p>
          <a:p>
            <a:pPr algn="ctr" defTabSz="609630">
              <a:lnSpc>
                <a:spcPts val="4800"/>
              </a:lnSpc>
            </a:pPr>
            <a:r>
              <a:rPr lang="en-US" sz="3200" dirty="0">
                <a:solidFill>
                  <a:srgbClr val="C00000"/>
                </a:solidFill>
                <a:latin typeface="Montserrat Bold"/>
              </a:rPr>
              <a:t>Initial Screening</a:t>
            </a:r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9046D378-A2D2-F2FF-59D2-6E9D9E6A53FC}"/>
              </a:ext>
            </a:extLst>
          </p:cNvPr>
          <p:cNvSpPr txBox="1"/>
          <p:nvPr/>
        </p:nvSpPr>
        <p:spPr>
          <a:xfrm>
            <a:off x="203201" y="1549400"/>
            <a:ext cx="8211723" cy="5355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55140" lvl="3" defTabSz="609630">
              <a:spcBef>
                <a:spcPts val="400"/>
              </a:spcBef>
              <a:spcAft>
                <a:spcPts val="400"/>
              </a:spcAft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Suggested topics for categories against which ideas can be collected: 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endParaRPr lang="en-US" sz="1100">
              <a:solidFill>
                <a:srgbClr val="003A74"/>
              </a:solidFill>
              <a:latin typeface="Open Sans 1"/>
            </a:endParaRPr>
          </a:p>
          <a:p>
            <a:pPr marL="655140" lvl="3" defTabSz="609630">
              <a:spcBef>
                <a:spcPts val="400"/>
              </a:spcBef>
            </a:pPr>
            <a:endParaRPr lang="en-US" sz="1100">
              <a:solidFill>
                <a:srgbClr val="003A74"/>
              </a:solidFill>
              <a:latin typeface="Open Sans 1"/>
            </a:endParaRP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Player Health &amp; Safety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Game Integrity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Game Quality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Reputation / Brand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Fan Engagement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Cyber-Security / Data Privacy 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Youth Markets / Football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Legalized Sports-Betting 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International Markets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Natural Disaster/ Unforeseen Event 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Talent Management (Diversity / Succession)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League-Club Support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Third-Party Management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Event Management</a:t>
            </a:r>
          </a:p>
          <a:p>
            <a:pPr marL="830302" lvl="3" indent="-175162" defTabSz="609630"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Economy / Geo-Politics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E48352D-EB34-5001-8C5E-B0FB15AA083C}"/>
              </a:ext>
            </a:extLst>
          </p:cNvPr>
          <p:cNvGrpSpPr/>
          <p:nvPr/>
        </p:nvGrpSpPr>
        <p:grpSpPr>
          <a:xfrm>
            <a:off x="9914475" y="-450516"/>
            <a:ext cx="2314956" cy="2314956"/>
            <a:chOff x="533400" y="3211841"/>
            <a:chExt cx="3472434" cy="3819677"/>
          </a:xfrm>
        </p:grpSpPr>
        <p:pic>
          <p:nvPicPr>
            <p:cNvPr id="42" name="Graphic 41" descr="Football with solid fill">
              <a:extLst>
                <a:ext uri="{FF2B5EF4-FFF2-40B4-BE49-F238E27FC236}">
                  <a16:creationId xmlns:a16="http://schemas.microsoft.com/office/drawing/2014/main" id="{12457088-A664-65B0-EAB1-982F9EB75C8A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3400" y="3211841"/>
              <a:ext cx="3472434" cy="3819677"/>
            </a:xfrm>
            <a:prstGeom prst="rect">
              <a:avLst/>
            </a:prstGeom>
            <a:effectLst>
              <a:outerShdw blurRad="215900" dist="38100" dir="5400000" algn="t" rotWithShape="0">
                <a:prstClr val="black">
                  <a:alpha val="30000"/>
                </a:prstClr>
              </a:outerShdw>
            </a:effectLst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2A87F6E-8CEA-0A5B-CB52-E89D0A533396}"/>
                </a:ext>
              </a:extLst>
            </p:cNvPr>
            <p:cNvSpPr txBox="1"/>
            <p:nvPr/>
          </p:nvSpPr>
          <p:spPr>
            <a:xfrm>
              <a:off x="1431153" y="4352722"/>
              <a:ext cx="1644629" cy="4907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09630"/>
              <a:r>
                <a:rPr lang="en-US" sz="1333">
                  <a:solidFill>
                    <a:prstClr val="white"/>
                  </a:solidFill>
                  <a:latin typeface="Century Gothic"/>
                  <a:ea typeface="Helvetica Neue Medium"/>
                  <a:cs typeface="Helvetica Neue Medium"/>
                </a:rPr>
                <a:t>Engage</a:t>
              </a:r>
              <a:endParaRPr lang="en-IN" sz="1333">
                <a:solidFill>
                  <a:prstClr val="black"/>
                </a:solidFill>
                <a:latin typeface="Calibri"/>
              </a:endParaRPr>
            </a:p>
          </p:txBody>
        </p:sp>
      </p:grp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9E65ECE3-E6BC-BFD9-6ADA-B2C351B7D933}"/>
              </a:ext>
            </a:extLst>
          </p:cNvPr>
          <p:cNvGraphicFramePr>
            <a:graphicFrameLocks noGrp="1"/>
          </p:cNvGraphicFramePr>
          <p:nvPr/>
        </p:nvGraphicFramePr>
        <p:xfrm>
          <a:off x="8870914" y="1594813"/>
          <a:ext cx="3284127" cy="10738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4127">
                  <a:extLst>
                    <a:ext uri="{9D8B030D-6E8A-4147-A177-3AD203B41FA5}">
                      <a16:colId xmlns:a16="http://schemas.microsoft.com/office/drawing/2014/main" val="2467171800"/>
                    </a:ext>
                  </a:extLst>
                </a:gridCol>
              </a:tblGrid>
              <a:tr h="536945">
                <a:tc>
                  <a:txBody>
                    <a:bodyPr/>
                    <a:lstStyle/>
                    <a:p>
                      <a:pPr algn="ctr"/>
                      <a:r>
                        <a:rPr lang="en-IN" sz="2100">
                          <a:solidFill>
                            <a:schemeClr val="bg1"/>
                          </a:solidFill>
                        </a:rPr>
                        <a:t>PLAYERS</a:t>
                      </a:r>
                    </a:p>
                  </a:txBody>
                  <a:tcPr marL="60960" marR="60960" marT="30480" marB="3048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889653"/>
                  </a:ext>
                </a:extLst>
              </a:tr>
              <a:tr h="536945">
                <a:tc>
                  <a:txBody>
                    <a:bodyPr/>
                    <a:lstStyle/>
                    <a:p>
                      <a:pPr algn="r"/>
                      <a:r>
                        <a:rPr lang="en-IN" sz="1300">
                          <a:solidFill>
                            <a:schemeClr val="bg1"/>
                          </a:solidFill>
                        </a:rPr>
                        <a:t>PROGRAM EXECUTION COMMITTEE</a:t>
                      </a:r>
                    </a:p>
                  </a:txBody>
                  <a:tcPr marL="60960" marR="60960" marT="30480" marB="3048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866600"/>
                  </a:ext>
                </a:extLst>
              </a:tr>
            </a:tbl>
          </a:graphicData>
        </a:graphic>
      </p:graphicFrame>
      <p:pic>
        <p:nvPicPr>
          <p:cNvPr id="51" name="Picture 2" descr="Resource - Free networking icons">
            <a:extLst>
              <a:ext uri="{FF2B5EF4-FFF2-40B4-BE49-F238E27FC236}">
                <a16:creationId xmlns:a16="http://schemas.microsoft.com/office/drawing/2014/main" id="{13B654E0-56C9-A45D-981C-C6508E427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9263" y="2191015"/>
            <a:ext cx="418737" cy="38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BA77D034-A8D5-5AA3-E180-107CC5084901}"/>
              </a:ext>
            </a:extLst>
          </p:cNvPr>
          <p:cNvSpPr txBox="1"/>
          <p:nvPr/>
        </p:nvSpPr>
        <p:spPr>
          <a:xfrm>
            <a:off x="6280957" y="1935939"/>
            <a:ext cx="1378901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3">
                <a:solidFill>
                  <a:srgbClr val="003366"/>
                </a:solidFill>
                <a:latin typeface="Open Sans 2 Bold"/>
              </a:rPr>
              <a:t>“Next 5”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725F24F6-8BEC-B833-9425-C3D980DB946F}"/>
              </a:ext>
            </a:extLst>
          </p:cNvPr>
          <p:cNvSpPr txBox="1"/>
          <p:nvPr/>
        </p:nvSpPr>
        <p:spPr>
          <a:xfrm>
            <a:off x="4358754" y="2362024"/>
            <a:ext cx="4384978" cy="1470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0302" lvl="3" indent="-175162" defTabSz="609630">
              <a:lnSpc>
                <a:spcPts val="2034"/>
              </a:lnSpc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Media Fragmentation / Behavioral Shift </a:t>
            </a:r>
          </a:p>
          <a:p>
            <a:pPr marL="830302" lvl="3" indent="-175162" defTabSz="609630">
              <a:lnSpc>
                <a:spcPts val="2034"/>
              </a:lnSpc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NFLPA Relations</a:t>
            </a:r>
          </a:p>
          <a:p>
            <a:pPr marL="830302" lvl="3" indent="-175162" defTabSz="609630">
              <a:lnSpc>
                <a:spcPts val="2034"/>
              </a:lnSpc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Collective Bargaining</a:t>
            </a:r>
          </a:p>
          <a:p>
            <a:pPr marL="830302" lvl="3" indent="-175162" defTabSz="609630">
              <a:lnSpc>
                <a:spcPts val="2034"/>
              </a:lnSpc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Internal Communications</a:t>
            </a:r>
          </a:p>
          <a:p>
            <a:pPr marL="830302" lvl="3" indent="-175162" defTabSz="609630">
              <a:lnSpc>
                <a:spcPts val="2034"/>
              </a:lnSpc>
              <a:spcBef>
                <a:spcPts val="400"/>
              </a:spcBef>
              <a:buFont typeface="Arial"/>
              <a:buChar char="⚬"/>
            </a:pPr>
            <a:r>
              <a:rPr lang="en-US" sz="1600">
                <a:solidFill>
                  <a:srgbClr val="003A74"/>
                </a:solidFill>
                <a:latin typeface="Open Sans 1"/>
              </a:rPr>
              <a:t>Regulatory Compliance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E4CD04B-8470-436F-19A2-20453C4CB9E3}"/>
              </a:ext>
            </a:extLst>
          </p:cNvPr>
          <p:cNvSpPr txBox="1"/>
          <p:nvPr/>
        </p:nvSpPr>
        <p:spPr>
          <a:xfrm>
            <a:off x="1193447" y="1935939"/>
            <a:ext cx="1835317" cy="305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3">
                <a:solidFill>
                  <a:srgbClr val="003366"/>
                </a:solidFill>
                <a:latin typeface="Open Sans 2 Bold"/>
              </a:rPr>
              <a:t>TOP 15 NFL RISKS </a:t>
            </a:r>
          </a:p>
        </p:txBody>
      </p:sp>
    </p:spTree>
    <p:extLst>
      <p:ext uri="{BB962C8B-B14F-4D97-AF65-F5344CB8AC3E}">
        <p14:creationId xmlns:p14="http://schemas.microsoft.com/office/powerpoint/2010/main" val="78791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</Words>
  <Application>Microsoft Macintosh PowerPoint</Application>
  <PresentationFormat>Widescreen</PresentationFormat>
  <Paragraphs>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Calibri</vt:lpstr>
      <vt:lpstr>Calibri (MS) Italics</vt:lpstr>
      <vt:lpstr>Calibri Light</vt:lpstr>
      <vt:lpstr>Century Gothic</vt:lpstr>
      <vt:lpstr>IBM Plex Sans</vt:lpstr>
      <vt:lpstr>IBM Plex Sans Bold</vt:lpstr>
      <vt:lpstr>Montserrat Bold</vt:lpstr>
      <vt:lpstr>Open Sans 1</vt:lpstr>
      <vt:lpstr>Open Sans 2 Bold</vt:lpstr>
      <vt:lpstr>Open Sans 2 Italics</vt:lpstr>
      <vt:lpstr>Office Theme</vt:lpstr>
      <vt:lpstr>NFL Goals Innovation HUB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NFL Goals Innovation HUB</dc:title>
  <dc:creator>Microsoft Office User</dc:creator>
  <cp:lastModifiedBy>Microsoft Office User</cp:lastModifiedBy>
  <cp:revision>1</cp:revision>
  <dcterms:created xsi:type="dcterms:W3CDTF">2024-01-02T18:56:20Z</dcterms:created>
  <dcterms:modified xsi:type="dcterms:W3CDTF">2024-01-02T18:58:11Z</dcterms:modified>
</cp:coreProperties>
</file>