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Montserrat"/>
      <p:bold r:id="rId18"/>
      <p:boldItalic r:id="rId19"/>
    </p:embeddedFont>
    <p:embeddedFont>
      <p:font typeface="DM Sans"/>
      <p:bold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22" Type="http://schemas.openxmlformats.org/officeDocument/2006/relationships/font" Target="fonts/OpenSans-regular.fntdata"/><Relationship Id="rId21" Type="http://schemas.openxmlformats.org/officeDocument/2006/relationships/font" Target="fonts/DMSans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2.jp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png"/><Relationship Id="rId22" Type="http://schemas.openxmlformats.org/officeDocument/2006/relationships/image" Target="../media/image41.png"/><Relationship Id="rId21" Type="http://schemas.openxmlformats.org/officeDocument/2006/relationships/image" Target="../media/image39.png"/><Relationship Id="rId24" Type="http://schemas.openxmlformats.org/officeDocument/2006/relationships/image" Target="../media/image37.png"/><Relationship Id="rId23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21.png"/><Relationship Id="rId25" Type="http://schemas.openxmlformats.org/officeDocument/2006/relationships/image" Target="../media/image40.png"/><Relationship Id="rId5" Type="http://schemas.openxmlformats.org/officeDocument/2006/relationships/image" Target="../media/image6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13" Type="http://schemas.openxmlformats.org/officeDocument/2006/relationships/image" Target="../media/image28.png"/><Relationship Id="rId12" Type="http://schemas.openxmlformats.org/officeDocument/2006/relationships/image" Target="../media/image23.png"/><Relationship Id="rId15" Type="http://schemas.openxmlformats.org/officeDocument/2006/relationships/image" Target="../media/image33.png"/><Relationship Id="rId14" Type="http://schemas.openxmlformats.org/officeDocument/2006/relationships/image" Target="../media/image29.png"/><Relationship Id="rId17" Type="http://schemas.openxmlformats.org/officeDocument/2006/relationships/image" Target="../media/image35.png"/><Relationship Id="rId16" Type="http://schemas.openxmlformats.org/officeDocument/2006/relationships/image" Target="../media/image30.png"/><Relationship Id="rId19" Type="http://schemas.openxmlformats.org/officeDocument/2006/relationships/image" Target="../media/image38.png"/><Relationship Id="rId1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jp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14946" l="53" r="0" t="723"/>
          <a:stretch/>
        </p:blipFill>
        <p:spPr>
          <a:xfrm>
            <a:off x="0" y="362482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 rot="5400000">
            <a:off x="13749026" y="4382369"/>
            <a:ext cx="5367131" cy="6758956"/>
            <a:chOff x="-2304250" y="-2032093"/>
            <a:chExt cx="7156177" cy="9011942"/>
          </a:xfrm>
        </p:grpSpPr>
        <p:grpSp>
          <p:nvGrpSpPr>
            <p:cNvPr id="86" name="Google Shape;86;p13"/>
            <p:cNvGrpSpPr/>
            <p:nvPr/>
          </p:nvGrpSpPr>
          <p:grpSpPr>
            <a:xfrm rot="5400000">
              <a:off x="240343" y="2368266"/>
              <a:ext cx="4505974" cy="4717192"/>
              <a:chOff x="0" y="-38100"/>
              <a:chExt cx="812800" cy="850900"/>
            </a:xfrm>
          </p:grpSpPr>
          <p:sp>
            <p:nvSpPr>
              <p:cNvPr id="87" name="Google Shape;87;p13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88" name="Google Shape;88;p13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9" name="Google Shape;8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0" y="2473875"/>
              <a:ext cx="2201724" cy="22017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" name="Google Shape;90;p13"/>
            <p:cNvGrpSpPr/>
            <p:nvPr/>
          </p:nvGrpSpPr>
          <p:grpSpPr>
            <a:xfrm rot="10800000">
              <a:off x="-2304250" y="-2032093"/>
              <a:ext cx="4505974" cy="4717185"/>
              <a:chOff x="0" y="-38100"/>
              <a:chExt cx="812800" cy="850900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28895" y="8749868"/>
            <a:ext cx="857372" cy="1180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6">
            <a:alphaModFix/>
          </a:blip>
          <a:srcRect b="3783" l="1539" r="3745" t="10263"/>
          <a:stretch/>
        </p:blipFill>
        <p:spPr>
          <a:xfrm>
            <a:off x="3527713" y="2552700"/>
            <a:ext cx="11154070" cy="2840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4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100" name="Google Shape;100;p14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101" name="Google Shape;101;p1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102" name="Google Shape;102;p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03" name="Google Shape;103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" name="Google Shape;104;p14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106" name="Google Shape;106;p14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7" name="Google Shape;107;p14"/>
          <p:cNvSpPr txBox="1"/>
          <p:nvPr/>
        </p:nvSpPr>
        <p:spPr>
          <a:xfrm>
            <a:off x="1028700" y="1019175"/>
            <a:ext cx="11505887" cy="27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4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Why an </a:t>
            </a:r>
            <a:r>
              <a:rPr b="1" i="0" lang="en-US" sz="8940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Innovation</a:t>
            </a:r>
            <a:r>
              <a:rPr b="1" i="0" lang="en-US" sz="894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 Framework?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28700" y="4222019"/>
            <a:ext cx="10198586" cy="271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Having an innovation framework is crucial in the digital transformation process as it allows an organization to discover, cultivate, and execute innovative and inventive concepts to drive strategic success.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28700" y="7396227"/>
            <a:ext cx="10198586" cy="172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1283" lvl="1" marL="522566" marR="0" rtl="0" algn="l">
              <a:lnSpc>
                <a:spcPct val="11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Arial"/>
              <a:buChar char="•"/>
            </a:pPr>
            <a:r>
              <a:rPr b="1" i="0" lang="en-US" sz="24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Benefits the discovery of new and imaginative approaches</a:t>
            </a:r>
            <a:endParaRPr/>
          </a:p>
          <a:p>
            <a:pPr indent="-261283" lvl="1" marL="522566" marR="0" rtl="0" algn="l">
              <a:lnSpc>
                <a:spcPct val="11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Arial"/>
              <a:buChar char="•"/>
            </a:pPr>
            <a:r>
              <a:rPr b="1" i="0" lang="en-US" sz="24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Reviews the positive and negative aspects of each option</a:t>
            </a:r>
            <a:endParaRPr/>
          </a:p>
          <a:p>
            <a:pPr indent="-261283" lvl="1" marL="522566" marR="0" rtl="0" algn="l">
              <a:lnSpc>
                <a:spcPct val="11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Arial"/>
              <a:buChar char="•"/>
            </a:pPr>
            <a:r>
              <a:rPr b="1" i="0" lang="en-US" sz="24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Makes decisions based on accurate and reliable information</a:t>
            </a:r>
            <a:endParaRPr/>
          </a:p>
          <a:p>
            <a:pPr indent="-261283" lvl="1" marL="522566" marR="0" rtl="0" algn="l">
              <a:lnSpc>
                <a:spcPct val="11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0"/>
              <a:buFont typeface="Arial"/>
              <a:buChar char="•"/>
            </a:pPr>
            <a:r>
              <a:rPr b="1" i="0" lang="en-US" sz="242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Develops strategies to translate ideas into business opportunities</a:t>
            </a:r>
            <a:endParaRPr/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5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116" name="Google Shape;116;p15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118" name="Google Shape;118;p1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19" name="Google Shape;11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0" name="Google Shape;120;p15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122" name="Google Shape;122;p1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28700" y="1019175"/>
            <a:ext cx="11505887" cy="27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4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Why is a </a:t>
            </a:r>
            <a:r>
              <a:rPr b="1" i="0" lang="en-US" sz="8940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framework</a:t>
            </a:r>
            <a:r>
              <a:rPr b="1" i="0" lang="en-US" sz="894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 needed at the NFL?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28700" y="4222019"/>
            <a:ext cx="12329310" cy="450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2112" lvl="1" marL="804223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3724"/>
              <a:buFont typeface="Arial"/>
              <a:buChar char="•"/>
            </a:pPr>
            <a:r>
              <a:rPr b="0" i="0" lang="en-US" sz="3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To address the lack of monitoring and measuring of technology innovation projects and ideas</a:t>
            </a:r>
            <a:endParaRPr/>
          </a:p>
          <a:p>
            <a:pPr indent="-402112" lvl="1" marL="804223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3724"/>
              <a:buFont typeface="Arial"/>
              <a:buChar char="•"/>
            </a:pPr>
            <a:r>
              <a:rPr b="0" i="0" lang="en-US" sz="3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Eliminate siloed pockets of innovation and redundant projects</a:t>
            </a:r>
            <a:endParaRPr/>
          </a:p>
          <a:p>
            <a:pPr indent="-402112" lvl="1" marL="804223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3724"/>
              <a:buFont typeface="Arial"/>
              <a:buChar char="•"/>
            </a:pPr>
            <a:r>
              <a:rPr b="0" i="0" lang="en-US" sz="3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Leverage ideas from all levels of the organization</a:t>
            </a:r>
            <a:endParaRPr/>
          </a:p>
          <a:p>
            <a:pPr indent="-402112" lvl="1" marL="804223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3724"/>
              <a:buFont typeface="Arial"/>
              <a:buChar char="•"/>
            </a:pPr>
            <a:r>
              <a:rPr b="0" i="0" lang="en-US" sz="3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Strengthen brain power through increased collaboration</a:t>
            </a:r>
            <a:endParaRPr/>
          </a:p>
          <a:p>
            <a:pPr indent="-402112" lvl="1" marL="804223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3724"/>
              <a:buFont typeface="Arial"/>
              <a:buChar char="•"/>
            </a:pPr>
            <a:r>
              <a:rPr b="0" i="0" lang="en-US" sz="3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Foster creativity by working as a connected NFL (networked, flexible, and learning) organization</a:t>
            </a:r>
            <a:endParaRPr/>
          </a:p>
          <a:p>
            <a:pPr indent="-402112" lvl="1" marL="804223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3724"/>
              <a:buFont typeface="Arial"/>
              <a:buChar char="•"/>
            </a:pPr>
            <a:r>
              <a:rPr b="0" i="0" lang="en-US" sz="3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Solve complex business problems collectively to enhance the game.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6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132" name="Google Shape;132;p16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134" name="Google Shape;134;p1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5" name="Google Shape;13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" name="Google Shape;136;p16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137" name="Google Shape;137;p16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138" name="Google Shape;138;p16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028699" y="1019175"/>
            <a:ext cx="10992603" cy="507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6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NFL Strategic Goals</a:t>
            </a:r>
            <a:endParaRPr/>
          </a:p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663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6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/>
          </a:p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6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NFL Tech Innovation Framework </a:t>
            </a:r>
            <a:r>
              <a:rPr b="1" i="0" lang="en-US" sz="2000" u="none" cap="none" strike="noStrike">
                <a:solidFill>
                  <a:srgbClr val="00B0F0"/>
                </a:solidFill>
                <a:latin typeface="Montserrat"/>
                <a:ea typeface="Montserrat"/>
                <a:cs typeface="Montserrat"/>
                <a:sym typeface="Montserrat"/>
              </a:rPr>
              <a:t>designed based on</a:t>
            </a:r>
            <a:endParaRPr/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7983" y="6626864"/>
            <a:ext cx="7749496" cy="1596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7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148" name="Google Shape;148;p17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150" name="Google Shape;150;p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51" name="Google Shape;15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" name="Google Shape;152;p17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153" name="Google Shape;153;p17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154" name="Google Shape;154;p1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028700" y="1275852"/>
            <a:ext cx="1154360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56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NFL Tech Innovation Framework:</a:t>
            </a:r>
            <a:endParaRPr/>
          </a:p>
        </p:txBody>
      </p:sp>
      <p:cxnSp>
        <p:nvCxnSpPr>
          <p:cNvPr id="158" name="Google Shape;158;p17"/>
          <p:cNvCxnSpPr/>
          <p:nvPr/>
        </p:nvCxnSpPr>
        <p:spPr>
          <a:xfrm>
            <a:off x="5609672" y="4761871"/>
            <a:ext cx="8329062" cy="0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9774203" y="2864730"/>
            <a:ext cx="0" cy="3841907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7"/>
          <p:cNvSpPr txBox="1"/>
          <p:nvPr/>
        </p:nvSpPr>
        <p:spPr>
          <a:xfrm>
            <a:off x="5838783" y="3621774"/>
            <a:ext cx="3759067" cy="3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Transformation Zone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132042" y="3612483"/>
            <a:ext cx="3679475" cy="3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Performance Zone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132042" y="5601174"/>
            <a:ext cx="3679475" cy="3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Productivity Zone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689264" y="5601174"/>
            <a:ext cx="3679475" cy="395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Incubation Zone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55436" y="3021984"/>
            <a:ext cx="5822720" cy="1447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NFL Goals &amp;</a:t>
            </a:r>
            <a:endParaRPr/>
          </a:p>
          <a:p>
            <a:pPr indent="0" lvl="0" marL="0" marR="0" rtl="0" algn="l">
              <a:lnSpc>
                <a:spcPct val="148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Focus Area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28700" y="5010675"/>
            <a:ext cx="5822720" cy="1447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Enabling</a:t>
            </a:r>
            <a:endParaRPr/>
          </a:p>
          <a:p>
            <a:pPr indent="0" lvl="0" marL="0" marR="0" rtl="0" algn="l">
              <a:lnSpc>
                <a:spcPct val="148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Investments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945383" y="7535312"/>
            <a:ext cx="872944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focuses on extension and improvements to already existing innovations inside the incumbent organizations</a:t>
            </a:r>
            <a:endParaRPr/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33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3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new business models and operating models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55436" y="7535312"/>
            <a:ext cx="388994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3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Sustaining innovation: </a:t>
            </a:r>
            <a:endParaRPr/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33" u="none" cap="none" strike="noStrike">
              <a:solidFill>
                <a:srgbClr val="EF423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33" u="none" cap="none" strike="noStrike">
              <a:solidFill>
                <a:srgbClr val="EF423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3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Disruptive innovation: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069565" y="3944183"/>
            <a:ext cx="4918872" cy="680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83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b="0" i="0" lang="en-US" sz="3600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 a big change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671501" y="5855833"/>
            <a:ext cx="5714999" cy="667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0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Create options for the future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847704" y="3961375"/>
            <a:ext cx="4918872" cy="654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0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Leverage technology to exceed goals</a:t>
            </a:r>
            <a:endParaRPr b="0" i="0" sz="3600" u="none" cap="none" strike="noStrike">
              <a:solidFill>
                <a:srgbClr val="231F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9597850" y="5832390"/>
            <a:ext cx="4918872" cy="654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0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Enable efficiency and scale</a:t>
            </a:r>
            <a:endParaRPr b="0" i="0" sz="3600" u="none" cap="none" strike="noStrike">
              <a:solidFill>
                <a:srgbClr val="231F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8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177" name="Google Shape;177;p18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178" name="Google Shape;178;p18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179" name="Google Shape;179;p1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80" name="Google Shape;18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1" name="Google Shape;181;p18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183" name="Google Shape;183;p1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8"/>
          <p:cNvCxnSpPr/>
          <p:nvPr/>
        </p:nvCxnSpPr>
        <p:spPr>
          <a:xfrm>
            <a:off x="5193268" y="3979229"/>
            <a:ext cx="0" cy="3841907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8"/>
          <p:cNvSpPr txBox="1"/>
          <p:nvPr/>
        </p:nvSpPr>
        <p:spPr>
          <a:xfrm>
            <a:off x="5550456" y="4707932"/>
            <a:ext cx="784630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Technology that drives the execution of League Strategic Goals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156605" y="4255400"/>
            <a:ext cx="3679475" cy="3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Performance Zone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156605" y="6484788"/>
            <a:ext cx="3679475" cy="3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Productivity Zone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550456" y="6465738"/>
            <a:ext cx="7846307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Shared service investments and programs that serve to optimize the core business.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Maintains efficiency and compliance and delivers optimization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028700" y="1028700"/>
            <a:ext cx="10978005" cy="230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51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Sustaining Innovatio﻿n:</a:t>
            </a:r>
            <a:endParaRPr/>
          </a:p>
          <a:p>
            <a:pPr indent="0" lvl="0" marL="0" marR="0" rtl="0" algn="l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51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Modernizing Today</a:t>
            </a:r>
            <a:endParaRPr/>
          </a:p>
        </p:txBody>
      </p:sp>
      <p:cxnSp>
        <p:nvCxnSpPr>
          <p:cNvPr id="192" name="Google Shape;192;p18"/>
          <p:cNvCxnSpPr/>
          <p:nvPr/>
        </p:nvCxnSpPr>
        <p:spPr>
          <a:xfrm>
            <a:off x="1028747" y="5923995"/>
            <a:ext cx="12088888" cy="23812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8"/>
          <p:cNvSpPr txBox="1"/>
          <p:nvPr/>
        </p:nvSpPr>
        <p:spPr>
          <a:xfrm>
            <a:off x="1092653" y="4755479"/>
            <a:ext cx="3807381" cy="86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Increase Consumption | Fan Growth | Grow Key Demographics</a:t>
            </a:r>
            <a:endParaRPr/>
          </a:p>
          <a:p>
            <a:pPr indent="0" lvl="0" marL="0" marR="0" rtl="0" algn="ctr">
              <a:lnSpc>
                <a:spcPct val="99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4" u="none" cap="none" strike="noStrike">
              <a:solidFill>
                <a:srgbClr val="231F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9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199" name="Google Shape;199;p19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200" name="Google Shape;200;p19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201" name="Google Shape;201;p1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02" name="Google Shape;20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3" name="Google Shape;203;p19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204" name="Google Shape;204;p19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205" name="Google Shape;205;p1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1028700" y="1028700"/>
            <a:ext cx="120889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51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Disrupt﻿ive Innovatio﻿n:</a:t>
            </a:r>
            <a:endParaRPr/>
          </a:p>
          <a:p>
            <a:pPr indent="0" lvl="0" marL="0" marR="0" rtl="0" algn="l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51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Planning for the Future</a:t>
            </a:r>
            <a:endParaRPr/>
          </a:p>
        </p:txBody>
      </p:sp>
      <p:cxnSp>
        <p:nvCxnSpPr>
          <p:cNvPr id="209" name="Google Shape;209;p19"/>
          <p:cNvCxnSpPr/>
          <p:nvPr/>
        </p:nvCxnSpPr>
        <p:spPr>
          <a:xfrm>
            <a:off x="1028690" y="6225292"/>
            <a:ext cx="12088888" cy="23812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9"/>
          <p:cNvCxnSpPr/>
          <p:nvPr/>
        </p:nvCxnSpPr>
        <p:spPr>
          <a:xfrm flipH="1">
            <a:off x="5189079" y="3813424"/>
            <a:ext cx="4189" cy="5308680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9"/>
          <p:cNvSpPr txBox="1"/>
          <p:nvPr/>
        </p:nvSpPr>
        <p:spPr>
          <a:xfrm>
            <a:off x="5550456" y="4091911"/>
            <a:ext cx="756716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The goal is to undertake a transformational initiative to put the NFL on a significantly different trajectory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Allows the NFL to manage change and transformation of the business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212180" y="4307009"/>
            <a:ext cx="3807381" cy="3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Transformation Zone 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152417" y="7426169"/>
            <a:ext cx="3679475" cy="39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20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Incubation Zone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550456" y="6625342"/>
            <a:ext cx="7567169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New offers and products in emerging and/or fast-growing markets that could someday be a game changer for the business.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The enterprise science lab, where new ideas are hatched that could someday transform the business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152417" y="4786278"/>
            <a:ext cx="3807381" cy="86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4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Increase Consumption | Fan Growth | Grow Key Demographics</a:t>
            </a:r>
            <a:endParaRPr/>
          </a:p>
          <a:p>
            <a:pPr indent="0" lvl="0" marL="0" marR="0" rtl="0" algn="ctr">
              <a:lnSpc>
                <a:spcPct val="99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4" u="none" cap="none" strike="noStrike">
              <a:solidFill>
                <a:srgbClr val="231F2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20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221" name="Google Shape;221;p20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222" name="Google Shape;222;p20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223" name="Google Shape;223;p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4" name="Google Shape;22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" name="Google Shape;225;p20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226" name="Google Shape;226;p20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227" name="Google Shape;227;p20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1028700" y="1019175"/>
            <a:ext cx="11505887" cy="27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4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Innovation Categories</a:t>
            </a:r>
            <a:endParaRPr/>
          </a:p>
        </p:txBody>
      </p:sp>
      <p:pic>
        <p:nvPicPr>
          <p:cNvPr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1028700" y="4222674"/>
            <a:ext cx="12334614" cy="5035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49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Disruptive Innovation Characteristics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Opportunity Not Clearly Understood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New Market Opportunity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Disruptive Impact to Existing Models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Requires Change Management and Governance Models to Implement</a:t>
            </a:r>
            <a:endParaRPr/>
          </a:p>
          <a:p>
            <a:pPr indent="0" lvl="0" marL="0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4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49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Sustaining Innovation Characteristics 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Existing Market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Innovation Improves Performance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Lower Cost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Incremental Changes</a:t>
            </a:r>
            <a:endParaRPr/>
          </a:p>
          <a:p>
            <a:pPr indent="-318452" lvl="1" marL="636904" marR="0" rtl="0" algn="l">
              <a:lnSpc>
                <a:spcPct val="1132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Arial"/>
              <a:buChar char="•"/>
            </a:pPr>
            <a:r>
              <a:rPr b="0" i="0" lang="en-US" sz="294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Market is Predictable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1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237" name="Google Shape;237;p21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238" name="Google Shape;238;p21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239" name="Google Shape;239;p2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40" name="Google Shape;24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" name="Google Shape;241;p21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242" name="Google Shape;242;p21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243" name="Google Shape;243;p21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028700" y="1019175"/>
            <a:ext cx="1150588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4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/>
          </a:p>
        </p:txBody>
      </p:sp>
      <p:pic>
        <p:nvPicPr>
          <p:cNvPr id="246" name="Google Shape;2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1028700" y="3124200"/>
            <a:ext cx="6603353" cy="448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25" u="none" cap="none" strike="noStrike">
                <a:solidFill>
                  <a:srgbClr val="2AACE3"/>
                </a:solidFill>
                <a:latin typeface="Montserrat"/>
                <a:ea typeface="Montserrat"/>
                <a:cs typeface="Montserrat"/>
                <a:sym typeface="Montserrat"/>
              </a:rPr>
              <a:t>Phase 1: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Identify cross-functional working group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Define goals and objectives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Define intake process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Develop evaluation criteria for each category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Develop communication strategy 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Inventory all proof of concepts project currently in scope or planned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Establish metrics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Implement program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515826" y="3124818"/>
            <a:ext cx="9360568" cy="1887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25" u="none" cap="none" strike="noStrike">
                <a:solidFill>
                  <a:srgbClr val="EF4237"/>
                </a:solidFill>
                <a:latin typeface="Montserrat"/>
                <a:ea typeface="Montserrat"/>
                <a:cs typeface="Montserrat"/>
                <a:sym typeface="Montserrat"/>
              </a:rPr>
              <a:t>Target Teams: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Football operations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Player Health &amp; Safety</a:t>
            </a:r>
            <a:endParaRPr/>
          </a:p>
          <a:p>
            <a:pPr indent="-315754" lvl="1" marL="63150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2925"/>
              <a:buFont typeface="Arial"/>
              <a:buChar char="•"/>
            </a:pPr>
            <a:r>
              <a:rPr b="0" i="0" lang="en-US" sz="2925" u="none" cap="none" strike="noStrike">
                <a:solidFill>
                  <a:srgbClr val="231F20"/>
                </a:solidFill>
                <a:latin typeface="Open Sans"/>
                <a:ea typeface="Open Sans"/>
                <a:cs typeface="Open Sans"/>
                <a:sym typeface="Open Sans"/>
              </a:rPr>
              <a:t>Information technology (IT)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5369" y="1896465"/>
            <a:ext cx="6976589" cy="69765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2"/>
          <p:cNvGrpSpPr/>
          <p:nvPr/>
        </p:nvGrpSpPr>
        <p:grpSpPr>
          <a:xfrm>
            <a:off x="76443" y="54769"/>
            <a:ext cx="9544620" cy="10216611"/>
            <a:chOff x="63500" y="63500"/>
            <a:chExt cx="12726162" cy="13622148"/>
          </a:xfrm>
        </p:grpSpPr>
        <p:sp>
          <p:nvSpPr>
            <p:cNvPr id="255" name="Google Shape;255;p22"/>
            <p:cNvSpPr/>
            <p:nvPr/>
          </p:nvSpPr>
          <p:spPr>
            <a:xfrm>
              <a:off x="63500" y="63500"/>
              <a:ext cx="12726162" cy="13622148"/>
            </a:xfrm>
            <a:custGeom>
              <a:rect b="b" l="l" r="r" t="t"/>
              <a:pathLst>
                <a:path extrusionOk="0" h="13622148" w="12726162">
                  <a:moveTo>
                    <a:pt x="6363081" y="255905"/>
                  </a:moveTo>
                  <a:cubicBezTo>
                    <a:pt x="7252716" y="255905"/>
                    <a:pt x="7974965" y="438785"/>
                    <a:pt x="8529828" y="804418"/>
                  </a:cubicBezTo>
                  <a:cubicBezTo>
                    <a:pt x="9084310" y="1170178"/>
                    <a:pt x="9517126" y="1661033"/>
                    <a:pt x="9828022" y="2276348"/>
                  </a:cubicBezTo>
                  <a:cubicBezTo>
                    <a:pt x="10138918" y="2892171"/>
                    <a:pt x="10349103" y="3592957"/>
                    <a:pt x="10458831" y="4379087"/>
                  </a:cubicBezTo>
                  <a:cubicBezTo>
                    <a:pt x="10568559" y="5165471"/>
                    <a:pt x="10623423" y="5979033"/>
                    <a:pt x="10623423" y="6820154"/>
                  </a:cubicBezTo>
                  <a:cubicBezTo>
                    <a:pt x="10623423" y="7917307"/>
                    <a:pt x="10550271" y="8874379"/>
                    <a:pt x="10403967" y="9690862"/>
                  </a:cubicBezTo>
                  <a:cubicBezTo>
                    <a:pt x="10257662" y="10507726"/>
                    <a:pt x="10013696" y="11190351"/>
                    <a:pt x="9672573" y="11738864"/>
                  </a:cubicBezTo>
                  <a:cubicBezTo>
                    <a:pt x="9331197" y="12287377"/>
                    <a:pt x="8889237" y="12695936"/>
                    <a:pt x="8346947" y="12963906"/>
                  </a:cubicBezTo>
                  <a:cubicBezTo>
                    <a:pt x="7804403" y="13232257"/>
                    <a:pt x="7142987" y="13366243"/>
                    <a:pt x="6363080" y="13366243"/>
                  </a:cubicBezTo>
                  <a:cubicBezTo>
                    <a:pt x="5570473" y="13366243"/>
                    <a:pt x="4906263" y="13232385"/>
                    <a:pt x="4370069" y="12963906"/>
                  </a:cubicBezTo>
                  <a:cubicBezTo>
                    <a:pt x="3833494" y="12695937"/>
                    <a:pt x="3394709" y="12287377"/>
                    <a:pt x="3053587" y="11738864"/>
                  </a:cubicBezTo>
                  <a:cubicBezTo>
                    <a:pt x="2712211" y="11190351"/>
                    <a:pt x="2468498" y="10507726"/>
                    <a:pt x="2322194" y="9690862"/>
                  </a:cubicBezTo>
                  <a:cubicBezTo>
                    <a:pt x="2176017" y="8874379"/>
                    <a:pt x="2102738" y="7917307"/>
                    <a:pt x="2102738" y="6820154"/>
                  </a:cubicBezTo>
                  <a:cubicBezTo>
                    <a:pt x="2102738" y="5979033"/>
                    <a:pt x="2157602" y="5165472"/>
                    <a:pt x="2267330" y="4379087"/>
                  </a:cubicBezTo>
                  <a:cubicBezTo>
                    <a:pt x="2377058" y="3592957"/>
                    <a:pt x="2587243" y="2892044"/>
                    <a:pt x="2898139" y="2276348"/>
                  </a:cubicBezTo>
                  <a:cubicBezTo>
                    <a:pt x="3209035" y="1661033"/>
                    <a:pt x="3641597" y="1170178"/>
                    <a:pt x="4196460" y="804418"/>
                  </a:cubicBezTo>
                  <a:cubicBezTo>
                    <a:pt x="4750942" y="438785"/>
                    <a:pt x="5473318" y="255905"/>
                    <a:pt x="6363207" y="255905"/>
                  </a:cubicBezTo>
                  <a:close/>
                  <a:moveTo>
                    <a:pt x="6340983" y="0"/>
                  </a:moveTo>
                  <a:cubicBezTo>
                    <a:pt x="5592445" y="3302"/>
                    <a:pt x="4844034" y="176911"/>
                    <a:pt x="4095750" y="521081"/>
                  </a:cubicBezTo>
                  <a:cubicBezTo>
                    <a:pt x="3339719" y="868426"/>
                    <a:pt x="2660396" y="1346962"/>
                    <a:pt x="2056892" y="1956308"/>
                  </a:cubicBezTo>
                  <a:cubicBezTo>
                    <a:pt x="1453515" y="2566035"/>
                    <a:pt x="959866" y="3285236"/>
                    <a:pt x="575818" y="4114038"/>
                  </a:cubicBezTo>
                  <a:cubicBezTo>
                    <a:pt x="192913" y="4941062"/>
                    <a:pt x="1016" y="5840603"/>
                    <a:pt x="0" y="6812788"/>
                  </a:cubicBezTo>
                  <a:lnTo>
                    <a:pt x="0" y="6812788"/>
                  </a:lnTo>
                  <a:lnTo>
                    <a:pt x="0" y="6827393"/>
                  </a:lnTo>
                  <a:cubicBezTo>
                    <a:pt x="889" y="7702550"/>
                    <a:pt x="159131" y="8550402"/>
                    <a:pt x="475361" y="9370823"/>
                  </a:cubicBezTo>
                  <a:cubicBezTo>
                    <a:pt x="792226" y="10193655"/>
                    <a:pt x="1234186" y="10919206"/>
                    <a:pt x="1801114" y="11546714"/>
                  </a:cubicBezTo>
                  <a:cubicBezTo>
                    <a:pt x="2367915" y="12174602"/>
                    <a:pt x="3041269" y="12677522"/>
                    <a:pt x="3821557" y="13055220"/>
                  </a:cubicBezTo>
                  <a:cubicBezTo>
                    <a:pt x="4599051" y="13431903"/>
                    <a:pt x="5443728" y="13621006"/>
                    <a:pt x="6354699" y="13622148"/>
                  </a:cubicBezTo>
                  <a:lnTo>
                    <a:pt x="6371336" y="13622148"/>
                  </a:lnTo>
                  <a:cubicBezTo>
                    <a:pt x="7257923" y="13621006"/>
                    <a:pt x="8087233" y="13425680"/>
                    <a:pt x="8859012" y="13036933"/>
                  </a:cubicBezTo>
                  <a:cubicBezTo>
                    <a:pt x="9632950" y="12646916"/>
                    <a:pt x="10306431" y="12134979"/>
                    <a:pt x="10879455" y="11501122"/>
                  </a:cubicBezTo>
                  <a:cubicBezTo>
                    <a:pt x="11452352" y="10867392"/>
                    <a:pt x="11903456" y="10141968"/>
                    <a:pt x="12232513" y="9325231"/>
                  </a:cubicBezTo>
                  <a:cubicBezTo>
                    <a:pt x="12561570" y="8508748"/>
                    <a:pt x="12726162" y="7673596"/>
                    <a:pt x="12726162" y="6820156"/>
                  </a:cubicBezTo>
                  <a:cubicBezTo>
                    <a:pt x="12726162" y="5845177"/>
                    <a:pt x="12546203" y="4943223"/>
                    <a:pt x="12186793" y="4114040"/>
                  </a:cubicBezTo>
                  <a:cubicBezTo>
                    <a:pt x="11827128" y="3285237"/>
                    <a:pt x="11348593" y="2566037"/>
                    <a:pt x="10751438" y="1956310"/>
                  </a:cubicBezTo>
                  <a:cubicBezTo>
                    <a:pt x="10154031" y="1346964"/>
                    <a:pt x="9474326" y="868428"/>
                    <a:pt x="8712581" y="521083"/>
                  </a:cubicBezTo>
                  <a:cubicBezTo>
                    <a:pt x="7958201" y="176911"/>
                    <a:pt x="7182866" y="3302"/>
                    <a:pt x="6386703" y="0"/>
                  </a:cubicBez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/>
            <p:nvPr/>
          </p:nvSpPr>
          <p:spPr>
            <a:xfrm>
              <a:off x="1504315" y="315722"/>
              <a:ext cx="36068" cy="686689"/>
            </a:xfrm>
            <a:custGeom>
              <a:rect b="b" l="l" r="r" t="t"/>
              <a:pathLst>
                <a:path extrusionOk="0" h="686689" w="36068">
                  <a:moveTo>
                    <a:pt x="36068" y="686689"/>
                  </a:moveTo>
                  <a:lnTo>
                    <a:pt x="0" y="686689"/>
                  </a:lnTo>
                  <a:lnTo>
                    <a:pt x="0" y="0"/>
                  </a:lnTo>
                  <a:lnTo>
                    <a:pt x="36068" y="0"/>
                  </a:lnTo>
                  <a:close/>
                </a:path>
              </a:pathLst>
            </a:custGeom>
            <a:solidFill>
              <a:srgbClr val="363736">
                <a:alpha val="14901"/>
              </a:srgbClr>
            </a:solidFill>
            <a:ln>
              <a:noFill/>
            </a:ln>
          </p:spPr>
        </p:sp>
        <p:sp>
          <p:nvSpPr>
            <p:cNvPr id="257" name="Google Shape;257;p22"/>
            <p:cNvSpPr/>
            <p:nvPr/>
          </p:nvSpPr>
          <p:spPr>
            <a:xfrm>
              <a:off x="2888234" y="4817745"/>
              <a:ext cx="1200912" cy="67691"/>
            </a:xfrm>
            <a:custGeom>
              <a:rect b="b" l="l" r="r" t="t"/>
              <a:pathLst>
                <a:path extrusionOk="0" h="67691" w="1200912">
                  <a:moveTo>
                    <a:pt x="0" y="0"/>
                  </a:moveTo>
                  <a:lnTo>
                    <a:pt x="1200912" y="0"/>
                  </a:lnTo>
                  <a:lnTo>
                    <a:pt x="1200912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EF4237">
                <a:alpha val="14901"/>
              </a:srgbClr>
            </a:solidFill>
            <a:ln>
              <a:noFill/>
            </a:ln>
          </p:spPr>
        </p:sp>
        <p:sp>
          <p:nvSpPr>
            <p:cNvPr id="258" name="Google Shape;258;p22"/>
            <p:cNvSpPr/>
            <p:nvPr/>
          </p:nvSpPr>
          <p:spPr>
            <a:xfrm>
              <a:off x="831469" y="381000"/>
              <a:ext cx="370586" cy="520319"/>
            </a:xfrm>
            <a:custGeom>
              <a:rect b="b" l="l" r="r" t="t"/>
              <a:pathLst>
                <a:path extrusionOk="0" h="520319" w="370586">
                  <a:moveTo>
                    <a:pt x="239522" y="239522"/>
                  </a:moveTo>
                  <a:lnTo>
                    <a:pt x="0" y="0"/>
                  </a:lnTo>
                  <a:lnTo>
                    <a:pt x="0" y="445516"/>
                  </a:lnTo>
                  <a:lnTo>
                    <a:pt x="105918" y="445516"/>
                  </a:lnTo>
                  <a:lnTo>
                    <a:pt x="105918" y="255651"/>
                  </a:lnTo>
                  <a:lnTo>
                    <a:pt x="370586" y="520319"/>
                  </a:lnTo>
                  <a:lnTo>
                    <a:pt x="370586" y="374015"/>
                  </a:lnTo>
                  <a:lnTo>
                    <a:pt x="239522" y="239776"/>
                  </a:lnTo>
                  <a:close/>
                </a:path>
              </a:pathLst>
            </a:custGeom>
            <a:solidFill>
              <a:srgbClr val="090F10">
                <a:alpha val="14901"/>
              </a:srgbClr>
            </a:solidFill>
            <a:ln>
              <a:noFill/>
            </a:ln>
          </p:spPr>
        </p:sp>
        <p:sp>
          <p:nvSpPr>
            <p:cNvPr id="259" name="Google Shape;259;p22"/>
            <p:cNvSpPr/>
            <p:nvPr/>
          </p:nvSpPr>
          <p:spPr>
            <a:xfrm>
              <a:off x="1096772" y="455930"/>
              <a:ext cx="105156" cy="139954"/>
            </a:xfrm>
            <a:custGeom>
              <a:rect b="b" l="l" r="r" t="t"/>
              <a:pathLst>
                <a:path extrusionOk="0" h="139954" w="105156">
                  <a:moveTo>
                    <a:pt x="0" y="0"/>
                  </a:moveTo>
                  <a:lnTo>
                    <a:pt x="105156" y="139954"/>
                  </a:lnTo>
                  <a:lnTo>
                    <a:pt x="105156" y="0"/>
                  </a:lnTo>
                  <a:close/>
                </a:path>
              </a:pathLst>
            </a:custGeom>
            <a:solidFill>
              <a:srgbClr val="EF4237">
                <a:alpha val="14901"/>
              </a:srgbClr>
            </a:solidFill>
            <a:ln>
              <a:noFill/>
            </a:ln>
          </p:spPr>
        </p:sp>
      </p:grpSp>
      <p:sp>
        <p:nvSpPr>
          <p:cNvPr id="260" name="Google Shape;260;p22"/>
          <p:cNvSpPr/>
          <p:nvPr/>
        </p:nvSpPr>
        <p:spPr>
          <a:xfrm>
            <a:off x="17436372" y="9559702"/>
            <a:ext cx="851628" cy="269840"/>
          </a:xfrm>
          <a:custGeom>
            <a:rect b="b" l="l" r="r" t="t"/>
            <a:pathLst>
              <a:path extrusionOk="0" h="359791" w="1135507">
                <a:moveTo>
                  <a:pt x="0" y="359791"/>
                </a:moveTo>
                <a:lnTo>
                  <a:pt x="1135507" y="359791"/>
                </a:lnTo>
                <a:lnTo>
                  <a:pt x="1135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2AACE3"/>
          </a:solidFill>
          <a:ln>
            <a:noFill/>
          </a:ln>
        </p:spPr>
      </p:sp>
      <p:pic>
        <p:nvPicPr>
          <p:cNvPr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363" y="9331316"/>
            <a:ext cx="527623" cy="726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2"/>
          <p:cNvGrpSpPr/>
          <p:nvPr/>
        </p:nvGrpSpPr>
        <p:grpSpPr>
          <a:xfrm>
            <a:off x="2056485" y="3325518"/>
            <a:ext cx="3086100" cy="3086094"/>
            <a:chOff x="0" y="0"/>
            <a:chExt cx="812800" cy="812800"/>
          </a:xfrm>
        </p:grpSpPr>
        <p:sp>
          <p:nvSpPr>
            <p:cNvPr id="263" name="Google Shape;263;p22"/>
            <p:cNvSpPr/>
            <p:nvPr/>
          </p:nvSpPr>
          <p:spPr>
            <a:xfrm>
              <a:off x="0" y="0"/>
              <a:ext cx="505057" cy="149041"/>
            </a:xfrm>
            <a:custGeom>
              <a:rect b="b" l="l" r="r" t="t"/>
              <a:pathLst>
                <a:path extrusionOk="0" h="149041" w="505057">
                  <a:moveTo>
                    <a:pt x="0" y="0"/>
                  </a:moveTo>
                  <a:lnTo>
                    <a:pt x="505057" y="0"/>
                  </a:lnTo>
                  <a:lnTo>
                    <a:pt x="505057" y="149041"/>
                  </a:lnTo>
                  <a:lnTo>
                    <a:pt x="0" y="1490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4" name="Google Shape;264;p2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22"/>
          <p:cNvGrpSpPr/>
          <p:nvPr/>
        </p:nvGrpSpPr>
        <p:grpSpPr>
          <a:xfrm>
            <a:off x="0" y="224554"/>
            <a:ext cx="3086100" cy="3086093"/>
            <a:chOff x="0" y="0"/>
            <a:chExt cx="812800" cy="812800"/>
          </a:xfrm>
        </p:grpSpPr>
        <p:sp>
          <p:nvSpPr>
            <p:cNvPr id="266" name="Google Shape;266;p22"/>
            <p:cNvSpPr/>
            <p:nvPr/>
          </p:nvSpPr>
          <p:spPr>
            <a:xfrm>
              <a:off x="0" y="0"/>
              <a:ext cx="505057" cy="211792"/>
            </a:xfrm>
            <a:custGeom>
              <a:rect b="b" l="l" r="r" t="t"/>
              <a:pathLst>
                <a:path extrusionOk="0" h="211792" w="505057">
                  <a:moveTo>
                    <a:pt x="0" y="0"/>
                  </a:moveTo>
                  <a:lnTo>
                    <a:pt x="505057" y="0"/>
                  </a:lnTo>
                  <a:lnTo>
                    <a:pt x="505057" y="211792"/>
                  </a:lnTo>
                  <a:lnTo>
                    <a:pt x="0" y="211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7" name="Google Shape;267;p2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8" name="Google Shape;268;p22"/>
          <p:cNvPicPr preferRelativeResize="0"/>
          <p:nvPr/>
        </p:nvPicPr>
        <p:blipFill rotWithShape="1">
          <a:blip r:embed="rId5">
            <a:alphaModFix/>
          </a:blip>
          <a:srcRect b="52997" l="15221" r="71133" t="14843"/>
          <a:stretch/>
        </p:blipFill>
        <p:spPr>
          <a:xfrm>
            <a:off x="527552" y="298997"/>
            <a:ext cx="527623" cy="729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9595" y="3090691"/>
            <a:ext cx="4588138" cy="458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 rotWithShape="1">
          <a:blip r:embed="rId7">
            <a:alphaModFix amt="34000"/>
          </a:blip>
          <a:srcRect b="0" l="0" r="0" t="0"/>
          <a:stretch/>
        </p:blipFill>
        <p:spPr>
          <a:xfrm>
            <a:off x="2445138" y="2516234"/>
            <a:ext cx="5737051" cy="573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90351" y="3703725"/>
            <a:ext cx="2446625" cy="3362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1143" y="1413945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3055" y="7806262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5213" y="7770766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3942" y="4237379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2484" y="4065022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23024" y="1991345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33307" y="2139318"/>
            <a:ext cx="544475" cy="669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23024" y="7284010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23024" y="4634448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23024" y="3314709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23024" y="5959241"/>
            <a:ext cx="965040" cy="96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41426" y="1551194"/>
            <a:ext cx="544475" cy="669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2"/>
          <p:cNvGrpSpPr/>
          <p:nvPr/>
        </p:nvGrpSpPr>
        <p:grpSpPr>
          <a:xfrm>
            <a:off x="12258617" y="1990571"/>
            <a:ext cx="4164379" cy="966586"/>
            <a:chOff x="203200" y="-326"/>
            <a:chExt cx="1753713" cy="407051"/>
          </a:xfrm>
        </p:grpSpPr>
        <p:sp>
          <p:nvSpPr>
            <p:cNvPr id="285" name="Google Shape;285;p22"/>
            <p:cNvSpPr/>
            <p:nvPr/>
          </p:nvSpPr>
          <p:spPr>
            <a:xfrm>
              <a:off x="203200" y="-326"/>
              <a:ext cx="1753713" cy="407051"/>
            </a:xfrm>
            <a:custGeom>
              <a:rect b="b" l="l" r="r" t="t"/>
              <a:pathLst>
                <a:path extrusionOk="0" h="407051" w="1753713">
                  <a:moveTo>
                    <a:pt x="1753713" y="326"/>
                  </a:moveTo>
                  <a:cubicBezTo>
                    <a:pt x="1680900" y="0"/>
                    <a:pt x="1613479" y="38659"/>
                    <a:pt x="1576978" y="101663"/>
                  </a:cubicBezTo>
                  <a:cubicBezTo>
                    <a:pt x="1540477" y="164667"/>
                    <a:pt x="1540477" y="242385"/>
                    <a:pt x="1576978" y="305389"/>
                  </a:cubicBezTo>
                  <a:cubicBezTo>
                    <a:pt x="1613479" y="368393"/>
                    <a:pt x="1680900" y="407052"/>
                    <a:pt x="1753713" y="406726"/>
                  </a:cubicBezTo>
                  <a:lnTo>
                    <a:pt x="0" y="406726"/>
                  </a:lnTo>
                  <a:cubicBezTo>
                    <a:pt x="72813" y="407052"/>
                    <a:pt x="140234" y="368393"/>
                    <a:pt x="176735" y="305389"/>
                  </a:cubicBezTo>
                  <a:cubicBezTo>
                    <a:pt x="213236" y="242385"/>
                    <a:pt x="213236" y="164667"/>
                    <a:pt x="176735" y="101663"/>
                  </a:cubicBezTo>
                  <a:cubicBezTo>
                    <a:pt x="140234" y="38659"/>
                    <a:pt x="72813" y="0"/>
                    <a:pt x="0" y="326"/>
                  </a:cubicBezTo>
                  <a:close/>
                </a:path>
              </a:pathLst>
            </a:custGeom>
            <a:solidFill>
              <a:srgbClr val="E4F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581748" y="47625"/>
              <a:ext cx="812800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Driven Project Prioritization</a:t>
              </a:r>
              <a:endParaRPr/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12258617" y="3313935"/>
            <a:ext cx="4164379" cy="1003447"/>
            <a:chOff x="203200" y="-326"/>
            <a:chExt cx="1753713" cy="422574"/>
          </a:xfrm>
        </p:grpSpPr>
        <p:sp>
          <p:nvSpPr>
            <p:cNvPr id="288" name="Google Shape;288;p22"/>
            <p:cNvSpPr/>
            <p:nvPr/>
          </p:nvSpPr>
          <p:spPr>
            <a:xfrm>
              <a:off x="203200" y="-326"/>
              <a:ext cx="1753713" cy="407051"/>
            </a:xfrm>
            <a:custGeom>
              <a:rect b="b" l="l" r="r" t="t"/>
              <a:pathLst>
                <a:path extrusionOk="0" h="407051" w="1753713">
                  <a:moveTo>
                    <a:pt x="1753713" y="326"/>
                  </a:moveTo>
                  <a:cubicBezTo>
                    <a:pt x="1680900" y="0"/>
                    <a:pt x="1613479" y="38659"/>
                    <a:pt x="1576978" y="101663"/>
                  </a:cubicBezTo>
                  <a:cubicBezTo>
                    <a:pt x="1540477" y="164667"/>
                    <a:pt x="1540477" y="242385"/>
                    <a:pt x="1576978" y="305389"/>
                  </a:cubicBezTo>
                  <a:cubicBezTo>
                    <a:pt x="1613479" y="368393"/>
                    <a:pt x="1680900" y="407052"/>
                    <a:pt x="1753713" y="406726"/>
                  </a:cubicBezTo>
                  <a:lnTo>
                    <a:pt x="0" y="406726"/>
                  </a:lnTo>
                  <a:cubicBezTo>
                    <a:pt x="72813" y="407052"/>
                    <a:pt x="140234" y="368393"/>
                    <a:pt x="176735" y="305389"/>
                  </a:cubicBezTo>
                  <a:cubicBezTo>
                    <a:pt x="213236" y="242385"/>
                    <a:pt x="213236" y="164667"/>
                    <a:pt x="176735" y="101663"/>
                  </a:cubicBezTo>
                  <a:cubicBezTo>
                    <a:pt x="140234" y="38659"/>
                    <a:pt x="72813" y="0"/>
                    <a:pt x="0" y="326"/>
                  </a:cubicBezTo>
                  <a:close/>
                </a:path>
              </a:pathLst>
            </a:custGeom>
            <a:solidFill>
              <a:srgbClr val="E4F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581748" y="63473"/>
              <a:ext cx="812800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Resource Prioritization</a:t>
              </a:r>
              <a:endParaRPr/>
            </a:p>
          </p:txBody>
        </p:sp>
      </p:grpSp>
      <p:grpSp>
        <p:nvGrpSpPr>
          <p:cNvPr id="290" name="Google Shape;290;p22"/>
          <p:cNvGrpSpPr/>
          <p:nvPr/>
        </p:nvGrpSpPr>
        <p:grpSpPr>
          <a:xfrm>
            <a:off x="12258617" y="4637909"/>
            <a:ext cx="4164379" cy="966586"/>
            <a:chOff x="203200" y="-326"/>
            <a:chExt cx="1753713" cy="407051"/>
          </a:xfrm>
        </p:grpSpPr>
        <p:sp>
          <p:nvSpPr>
            <p:cNvPr id="291" name="Google Shape;291;p22"/>
            <p:cNvSpPr/>
            <p:nvPr/>
          </p:nvSpPr>
          <p:spPr>
            <a:xfrm>
              <a:off x="203200" y="-326"/>
              <a:ext cx="1753713" cy="407051"/>
            </a:xfrm>
            <a:custGeom>
              <a:rect b="b" l="l" r="r" t="t"/>
              <a:pathLst>
                <a:path extrusionOk="0" h="407051" w="1753713">
                  <a:moveTo>
                    <a:pt x="1753713" y="326"/>
                  </a:moveTo>
                  <a:cubicBezTo>
                    <a:pt x="1680900" y="0"/>
                    <a:pt x="1613479" y="38659"/>
                    <a:pt x="1576978" y="101663"/>
                  </a:cubicBezTo>
                  <a:cubicBezTo>
                    <a:pt x="1540477" y="164667"/>
                    <a:pt x="1540477" y="242385"/>
                    <a:pt x="1576978" y="305389"/>
                  </a:cubicBezTo>
                  <a:cubicBezTo>
                    <a:pt x="1613479" y="368393"/>
                    <a:pt x="1680900" y="407052"/>
                    <a:pt x="1753713" y="406726"/>
                  </a:cubicBezTo>
                  <a:lnTo>
                    <a:pt x="0" y="406726"/>
                  </a:lnTo>
                  <a:cubicBezTo>
                    <a:pt x="72813" y="407052"/>
                    <a:pt x="140234" y="368393"/>
                    <a:pt x="176735" y="305389"/>
                  </a:cubicBezTo>
                  <a:cubicBezTo>
                    <a:pt x="213236" y="242385"/>
                    <a:pt x="213236" y="164667"/>
                    <a:pt x="176735" y="101663"/>
                  </a:cubicBezTo>
                  <a:cubicBezTo>
                    <a:pt x="140234" y="38659"/>
                    <a:pt x="72813" y="0"/>
                    <a:pt x="0" y="326"/>
                  </a:cubicBezTo>
                  <a:close/>
                </a:path>
              </a:pathLst>
            </a:custGeom>
            <a:solidFill>
              <a:srgbClr val="E4F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581748" y="38302"/>
              <a:ext cx="812800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Rapid Development</a:t>
              </a:r>
              <a:endParaRPr/>
            </a:p>
          </p:txBody>
        </p:sp>
      </p:grpSp>
      <p:grpSp>
        <p:nvGrpSpPr>
          <p:cNvPr id="293" name="Google Shape;293;p22"/>
          <p:cNvGrpSpPr/>
          <p:nvPr/>
        </p:nvGrpSpPr>
        <p:grpSpPr>
          <a:xfrm>
            <a:off x="12258616" y="5962702"/>
            <a:ext cx="4164380" cy="966586"/>
            <a:chOff x="203200" y="-326"/>
            <a:chExt cx="1753713" cy="407051"/>
          </a:xfrm>
        </p:grpSpPr>
        <p:sp>
          <p:nvSpPr>
            <p:cNvPr id="294" name="Google Shape;294;p22"/>
            <p:cNvSpPr/>
            <p:nvPr/>
          </p:nvSpPr>
          <p:spPr>
            <a:xfrm>
              <a:off x="203200" y="-326"/>
              <a:ext cx="1753713" cy="407051"/>
            </a:xfrm>
            <a:custGeom>
              <a:rect b="b" l="l" r="r" t="t"/>
              <a:pathLst>
                <a:path extrusionOk="0" h="407051" w="1753713">
                  <a:moveTo>
                    <a:pt x="1753713" y="326"/>
                  </a:moveTo>
                  <a:cubicBezTo>
                    <a:pt x="1680900" y="0"/>
                    <a:pt x="1613479" y="38659"/>
                    <a:pt x="1576978" y="101663"/>
                  </a:cubicBezTo>
                  <a:cubicBezTo>
                    <a:pt x="1540477" y="164667"/>
                    <a:pt x="1540477" y="242385"/>
                    <a:pt x="1576978" y="305389"/>
                  </a:cubicBezTo>
                  <a:cubicBezTo>
                    <a:pt x="1613479" y="368393"/>
                    <a:pt x="1680900" y="407052"/>
                    <a:pt x="1753713" y="406726"/>
                  </a:cubicBezTo>
                  <a:lnTo>
                    <a:pt x="0" y="406726"/>
                  </a:lnTo>
                  <a:cubicBezTo>
                    <a:pt x="72813" y="407052"/>
                    <a:pt x="140234" y="368393"/>
                    <a:pt x="176735" y="305389"/>
                  </a:cubicBezTo>
                  <a:cubicBezTo>
                    <a:pt x="213236" y="242385"/>
                    <a:pt x="213236" y="164667"/>
                    <a:pt x="176735" y="101663"/>
                  </a:cubicBezTo>
                  <a:cubicBezTo>
                    <a:pt x="140234" y="38659"/>
                    <a:pt x="72813" y="0"/>
                    <a:pt x="0" y="326"/>
                  </a:cubicBezTo>
                  <a:close/>
                </a:path>
              </a:pathLst>
            </a:custGeom>
            <a:solidFill>
              <a:srgbClr val="E4F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 txBox="1"/>
            <p:nvPr/>
          </p:nvSpPr>
          <p:spPr>
            <a:xfrm>
              <a:off x="581748" y="41939"/>
              <a:ext cx="812800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Leverage Partner Expertise</a:t>
              </a:r>
              <a:endParaRPr/>
            </a:p>
          </p:txBody>
        </p:sp>
      </p:grpSp>
      <p:grpSp>
        <p:nvGrpSpPr>
          <p:cNvPr id="296" name="Google Shape;296;p22"/>
          <p:cNvGrpSpPr/>
          <p:nvPr/>
        </p:nvGrpSpPr>
        <p:grpSpPr>
          <a:xfrm>
            <a:off x="12258616" y="7287471"/>
            <a:ext cx="4164380" cy="966586"/>
            <a:chOff x="203200" y="-326"/>
            <a:chExt cx="1753713" cy="407051"/>
          </a:xfrm>
        </p:grpSpPr>
        <p:sp>
          <p:nvSpPr>
            <p:cNvPr id="297" name="Google Shape;297;p22"/>
            <p:cNvSpPr/>
            <p:nvPr/>
          </p:nvSpPr>
          <p:spPr>
            <a:xfrm>
              <a:off x="203200" y="-326"/>
              <a:ext cx="1753713" cy="407051"/>
            </a:xfrm>
            <a:custGeom>
              <a:rect b="b" l="l" r="r" t="t"/>
              <a:pathLst>
                <a:path extrusionOk="0" h="407051" w="1753713">
                  <a:moveTo>
                    <a:pt x="1753713" y="326"/>
                  </a:moveTo>
                  <a:cubicBezTo>
                    <a:pt x="1680900" y="0"/>
                    <a:pt x="1613479" y="38659"/>
                    <a:pt x="1576978" y="101663"/>
                  </a:cubicBezTo>
                  <a:cubicBezTo>
                    <a:pt x="1540477" y="164667"/>
                    <a:pt x="1540477" y="242385"/>
                    <a:pt x="1576978" y="305389"/>
                  </a:cubicBezTo>
                  <a:cubicBezTo>
                    <a:pt x="1613479" y="368393"/>
                    <a:pt x="1680900" y="407052"/>
                    <a:pt x="1753713" y="406726"/>
                  </a:cubicBezTo>
                  <a:lnTo>
                    <a:pt x="0" y="406726"/>
                  </a:lnTo>
                  <a:cubicBezTo>
                    <a:pt x="72813" y="407052"/>
                    <a:pt x="140234" y="368393"/>
                    <a:pt x="176735" y="305389"/>
                  </a:cubicBezTo>
                  <a:cubicBezTo>
                    <a:pt x="213236" y="242385"/>
                    <a:pt x="213236" y="164667"/>
                    <a:pt x="176735" y="101663"/>
                  </a:cubicBezTo>
                  <a:cubicBezTo>
                    <a:pt x="140234" y="38659"/>
                    <a:pt x="72813" y="0"/>
                    <a:pt x="0" y="326"/>
                  </a:cubicBezTo>
                  <a:close/>
                </a:path>
              </a:pathLst>
            </a:custGeom>
            <a:solidFill>
              <a:srgbClr val="E4F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504721" y="14605"/>
              <a:ext cx="812800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Technology Interoperability</a:t>
              </a:r>
              <a:endParaRPr/>
            </a:p>
          </p:txBody>
        </p:sp>
      </p:grpSp>
      <p:pic>
        <p:nvPicPr>
          <p:cNvPr id="299" name="Google Shape;29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798" y="3540649"/>
            <a:ext cx="635493" cy="51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48716" y="4467554"/>
            <a:ext cx="635493" cy="51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74314" y="4813810"/>
            <a:ext cx="662461" cy="641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76502" y="7932406"/>
            <a:ext cx="662461" cy="641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57060" y="6197512"/>
            <a:ext cx="496969" cy="496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37091" y="8004801"/>
            <a:ext cx="496969" cy="496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83287" y="4250988"/>
            <a:ext cx="593108" cy="593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08990" y="7474212"/>
            <a:ext cx="593108" cy="593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3"/>
          <p:cNvGrpSpPr/>
          <p:nvPr/>
        </p:nvGrpSpPr>
        <p:grpSpPr>
          <a:xfrm>
            <a:off x="12144022" y="-2040900"/>
            <a:ext cx="6566155" cy="8208345"/>
            <a:chOff x="-2798373" y="-2467854"/>
            <a:chExt cx="8754873" cy="10944460"/>
          </a:xfrm>
        </p:grpSpPr>
        <p:grpSp>
          <p:nvGrpSpPr>
            <p:cNvPr id="312" name="Google Shape;312;p23"/>
            <p:cNvGrpSpPr/>
            <p:nvPr/>
          </p:nvGrpSpPr>
          <p:grpSpPr>
            <a:xfrm rot="5400000">
              <a:off x="323946" y="2844052"/>
              <a:ext cx="5472234" cy="5792874"/>
              <a:chOff x="0" y="-47625"/>
              <a:chExt cx="812800" cy="860425"/>
            </a:xfrm>
          </p:grpSpPr>
          <p:sp>
            <p:nvSpPr>
              <p:cNvPr id="313" name="Google Shape;313;p23"/>
              <p:cNvSpPr/>
              <p:nvPr/>
            </p:nvSpPr>
            <p:spPr>
              <a:xfrm>
                <a:off x="0" y="0"/>
                <a:ext cx="397153" cy="442150"/>
              </a:xfrm>
              <a:custGeom>
                <a:rect b="b" l="l" r="r" t="t"/>
                <a:pathLst>
                  <a:path extrusionOk="0" h="442150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  <a:ln>
                <a:noFill/>
              </a:ln>
            </p:spPr>
          </p:sp>
          <p:sp>
            <p:nvSpPr>
              <p:cNvPr id="314" name="Google Shape;314;p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315" name="Google Shape;31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0" y="3004372"/>
              <a:ext cx="2673861" cy="2673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6" name="Google Shape;316;p23"/>
            <p:cNvGrpSpPr/>
            <p:nvPr/>
          </p:nvGrpSpPr>
          <p:grpSpPr>
            <a:xfrm rot="10800000">
              <a:off x="-2798373" y="-2467854"/>
              <a:ext cx="5472234" cy="5792864"/>
              <a:chOff x="0" y="-47625"/>
              <a:chExt cx="812800" cy="860425"/>
            </a:xfrm>
          </p:grpSpPr>
          <p:sp>
            <p:nvSpPr>
              <p:cNvPr id="317" name="Google Shape;317;p23"/>
              <p:cNvSpPr/>
              <p:nvPr/>
            </p:nvSpPr>
            <p:spPr>
              <a:xfrm>
                <a:off x="0" y="0"/>
                <a:ext cx="397153" cy="446245"/>
              </a:xfrm>
              <a:custGeom>
                <a:rect b="b" l="l" r="r" t="t"/>
                <a:pathLst>
                  <a:path extrusionOk="0" h="446245" w="397153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  <a:ln>
                <a:noFill/>
              </a:ln>
            </p:spPr>
          </p:sp>
          <p:sp>
            <p:nvSpPr>
              <p:cNvPr id="318" name="Google Shape;318;p2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19" name="Google Shape;3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3886" y="8733665"/>
            <a:ext cx="2655302" cy="77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0614" y="533834"/>
            <a:ext cx="857372" cy="1180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302" y="4068665"/>
            <a:ext cx="1256773" cy="125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2882" y="4124189"/>
            <a:ext cx="1747831" cy="122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6122" y="5883537"/>
            <a:ext cx="1521351" cy="1004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7320" y="5762815"/>
            <a:ext cx="1224842" cy="1124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18871" y="7488254"/>
            <a:ext cx="2120473" cy="289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38623" y="7495029"/>
            <a:ext cx="2069733" cy="44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60304" y="8816885"/>
            <a:ext cx="2258806" cy="45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6205" y="8749592"/>
            <a:ext cx="2258806" cy="58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92180" y="8749592"/>
            <a:ext cx="1105767" cy="59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76879" y="4124189"/>
            <a:ext cx="1145725" cy="11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16321" y="6126486"/>
            <a:ext cx="1749631" cy="259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560410" y="4177147"/>
            <a:ext cx="1719579" cy="103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6205" y="7449100"/>
            <a:ext cx="2140968" cy="656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735551" y="7174716"/>
            <a:ext cx="1369298" cy="108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404225" y="8613347"/>
            <a:ext cx="1736488" cy="858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118871" y="4470229"/>
            <a:ext cx="2258806" cy="453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191158" y="6701770"/>
            <a:ext cx="2151278" cy="2151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/>
          <p:cNvPicPr preferRelativeResize="0"/>
          <p:nvPr/>
        </p:nvPicPr>
        <p:blipFill rotWithShape="1">
          <a:blip r:embed="rId23">
            <a:alphaModFix/>
          </a:blip>
          <a:srcRect b="17887" l="0" r="0" t="20888"/>
          <a:stretch/>
        </p:blipFill>
        <p:spPr>
          <a:xfrm>
            <a:off x="11049705" y="8653818"/>
            <a:ext cx="2258806" cy="777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1257205" y="5730579"/>
            <a:ext cx="1982140" cy="1189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97286" y="5989350"/>
            <a:ext cx="2258806" cy="79246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3"/>
          <p:cNvSpPr txBox="1"/>
          <p:nvPr/>
        </p:nvSpPr>
        <p:spPr>
          <a:xfrm>
            <a:off x="1028700" y="1019175"/>
            <a:ext cx="12660560" cy="26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90F10"/>
                </a:solidFill>
                <a:latin typeface="Montserrat"/>
                <a:ea typeface="Montserrat"/>
                <a:cs typeface="Montserrat"/>
                <a:sym typeface="Montserrat"/>
              </a:rPr>
              <a:t>Brands that have leveraged this framework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4"/>
          <p:cNvPicPr preferRelativeResize="0"/>
          <p:nvPr/>
        </p:nvPicPr>
        <p:blipFill rotWithShape="1">
          <a:blip r:embed="rId3">
            <a:alphaModFix/>
          </a:blip>
          <a:srcRect b="14946" l="53" r="0" t="72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/>
        </p:nvSpPr>
        <p:spPr>
          <a:xfrm>
            <a:off x="3134873" y="4427192"/>
            <a:ext cx="11859013" cy="1823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7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  <p:pic>
        <p:nvPicPr>
          <p:cNvPr id="348" name="Google Shape;3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7950" y="1028700"/>
            <a:ext cx="1332858" cy="183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