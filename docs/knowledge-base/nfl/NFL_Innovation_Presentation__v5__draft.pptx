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IBM Plex Sans"/>
      <p:regular r:id="rId30"/>
      <p:bold r:id="rId31"/>
      <p:italic r:id="rId32"/>
      <p:boldItalic r:id="rId33"/>
    </p:embeddedFont>
    <p:embeddedFont>
      <p:font typeface="Roboto"/>
      <p:regular r:id="rId34"/>
      <p:bold r:id="rId35"/>
      <p:italic r:id="rId36"/>
      <p:boldItalic r:id="rId37"/>
    </p:embeddedFont>
    <p:embeddedFont>
      <p:font typeface="Montserrat"/>
      <p:regular r:id="rId38"/>
      <p:bold r:id="rId39"/>
      <p:italic r:id="rId40"/>
      <p:boldItalic r:id="rId41"/>
    </p:embeddedFont>
    <p:embeddedFont>
      <p:font typeface="Century Gothic"/>
      <p:regular r:id="rId42"/>
      <p:bold r:id="rId43"/>
      <p:italic r:id="rId44"/>
      <p:boldItalic r:id="rId45"/>
    </p:embeddedFont>
    <p:embeddedFont>
      <p:font typeface="Open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1CDCBF-DB96-496A-9D63-6544212617A7}">
  <a:tblStyle styleId="{E71CDCBF-DB96-496A-9D63-6544212617A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0863061-04CA-4EAB-8348-4A41C09F2EE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42" Type="http://schemas.openxmlformats.org/officeDocument/2006/relationships/font" Target="fonts/CenturyGothic-regular.fntdata"/><Relationship Id="rId41" Type="http://schemas.openxmlformats.org/officeDocument/2006/relationships/font" Target="fonts/Montserrat-boldItalic.fntdata"/><Relationship Id="rId44" Type="http://schemas.openxmlformats.org/officeDocument/2006/relationships/font" Target="fonts/CenturyGothic-italic.fntdata"/><Relationship Id="rId43" Type="http://schemas.openxmlformats.org/officeDocument/2006/relationships/font" Target="fonts/CenturyGothic-bold.fntdata"/><Relationship Id="rId46" Type="http://schemas.openxmlformats.org/officeDocument/2006/relationships/font" Target="fonts/OpenSans-regular.fntdata"/><Relationship Id="rId45" Type="http://schemas.openxmlformats.org/officeDocument/2006/relationships/font" Target="fonts/CenturyGothic-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OpenSans-italic.fntdata"/><Relationship Id="rId47" Type="http://schemas.openxmlformats.org/officeDocument/2006/relationships/font" Target="fonts/OpenSans-bold.fntdata"/><Relationship Id="rId49" Type="http://schemas.openxmlformats.org/officeDocument/2006/relationships/font" Target="fonts/OpenSans-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BMPlexSans-bold.fntdata"/><Relationship Id="rId30" Type="http://schemas.openxmlformats.org/officeDocument/2006/relationships/font" Target="fonts/IBMPlexSans-regular.fntdata"/><Relationship Id="rId33" Type="http://schemas.openxmlformats.org/officeDocument/2006/relationships/font" Target="fonts/IBMPlexSans-boldItalic.fntdata"/><Relationship Id="rId32" Type="http://schemas.openxmlformats.org/officeDocument/2006/relationships/font" Target="fonts/IBMPlexSans-italic.fntdata"/><Relationship Id="rId35" Type="http://schemas.openxmlformats.org/officeDocument/2006/relationships/font" Target="fonts/Roboto-bold.fntdata"/><Relationship Id="rId34" Type="http://schemas.openxmlformats.org/officeDocument/2006/relationships/font" Target="fonts/Roboto-regular.fntdata"/><Relationship Id="rId37" Type="http://schemas.openxmlformats.org/officeDocument/2006/relationships/font" Target="fonts/Roboto-boldItalic.fntdata"/><Relationship Id="rId36" Type="http://schemas.openxmlformats.org/officeDocument/2006/relationships/font" Target="fonts/Roboto-italic.fntdata"/><Relationship Id="rId39" Type="http://schemas.openxmlformats.org/officeDocument/2006/relationships/font" Target="fonts/Montserrat-bold.fntdata"/><Relationship Id="rId38" Type="http://schemas.openxmlformats.org/officeDocument/2006/relationships/font" Target="fonts/Montserrat-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aba290fb63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aba290fb63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75000"/>
              </a:lnSpc>
              <a:spcBef>
                <a:spcPts val="0"/>
              </a:spcBef>
              <a:spcAft>
                <a:spcPts val="0"/>
              </a:spcAft>
              <a:buClr>
                <a:schemeClr val="dk1"/>
              </a:buClr>
              <a:buSzPts val="1100"/>
              <a:buFont typeface="Arial"/>
              <a:buNone/>
            </a:pPr>
            <a:r>
              <a:rPr lang="en">
                <a:solidFill>
                  <a:schemeClr val="dk1"/>
                </a:solidFill>
                <a:latin typeface="Roboto"/>
                <a:ea typeface="Roboto"/>
                <a:cs typeface="Roboto"/>
                <a:sym typeface="Roboto"/>
              </a:rPr>
              <a:t>Meeting Agenda:</a:t>
            </a:r>
            <a:endParaRPr>
              <a:solidFill>
                <a:schemeClr val="dk1"/>
              </a:solidFill>
              <a:latin typeface="Roboto"/>
              <a:ea typeface="Roboto"/>
              <a:cs typeface="Roboto"/>
              <a:sym typeface="Roboto"/>
            </a:endParaRPr>
          </a:p>
          <a:p>
            <a:pPr indent="0" lvl="0" marL="0" rtl="0" algn="l">
              <a:spcBef>
                <a:spcPts val="1500"/>
              </a:spcBef>
              <a:spcAft>
                <a:spcPts val="0"/>
              </a:spcAft>
              <a:buNone/>
            </a:pPr>
            <a:r>
              <a:rPr lang="en">
                <a:solidFill>
                  <a:schemeClr val="dk1"/>
                </a:solidFill>
                <a:latin typeface="Roboto"/>
                <a:ea typeface="Roboto"/>
                <a:cs typeface="Roboto"/>
                <a:sym typeface="Roboto"/>
              </a:rPr>
              <a:t>Introduction (2 slides)</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a. Recap of Previous Presentation</a:t>
            </a:r>
            <a:endParaRPr>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b. Overview of Today's Update</a:t>
            </a:r>
            <a:endParaRPr>
              <a:solidFill>
                <a:schemeClr val="dk1"/>
              </a:solidFill>
              <a:latin typeface="Roboto"/>
              <a:ea typeface="Roboto"/>
              <a:cs typeface="Roboto"/>
              <a:sym typeface="Roboto"/>
            </a:endParaRPr>
          </a:p>
          <a:p>
            <a:pPr indent="0" lvl="0" marL="0" rtl="0" algn="l">
              <a:spcBef>
                <a:spcPts val="1500"/>
              </a:spcBef>
              <a:spcAft>
                <a:spcPts val="0"/>
              </a:spcAft>
              <a:buNone/>
            </a:pPr>
            <a:r>
              <a:rPr lang="en">
                <a:solidFill>
                  <a:schemeClr val="dk1"/>
                </a:solidFill>
                <a:latin typeface="Roboto"/>
                <a:ea typeface="Roboto"/>
                <a:cs typeface="Roboto"/>
                <a:sym typeface="Roboto"/>
              </a:rPr>
              <a:t>Program Overview (3 slides)</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a. Introduction to the Innovation Hub Program</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b. Program Design Highlights</a:t>
            </a:r>
            <a:endParaRPr>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c. Execution Model and Phase Gates</a:t>
            </a:r>
            <a:endParaRPr>
              <a:solidFill>
                <a:schemeClr val="dk1"/>
              </a:solidFill>
              <a:latin typeface="Roboto"/>
              <a:ea typeface="Roboto"/>
              <a:cs typeface="Roboto"/>
              <a:sym typeface="Roboto"/>
            </a:endParaRPr>
          </a:p>
          <a:p>
            <a:pPr indent="0" lvl="0" marL="0" rtl="0" algn="l">
              <a:spcBef>
                <a:spcPts val="1500"/>
              </a:spcBef>
              <a:spcAft>
                <a:spcPts val="0"/>
              </a:spcAft>
              <a:buNone/>
            </a:pPr>
            <a:r>
              <a:rPr lang="en">
                <a:solidFill>
                  <a:schemeClr val="dk1"/>
                </a:solidFill>
                <a:latin typeface="Roboto"/>
                <a:ea typeface="Roboto"/>
                <a:cs typeface="Roboto"/>
                <a:sym typeface="Roboto"/>
              </a:rPr>
              <a:t>Project Placement Simulation (2 slides)</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a. Selection of Sponsor Projects</a:t>
            </a:r>
            <a:endParaRPr>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b. Placement on Maturity Model and Governance Structure</a:t>
            </a:r>
            <a:endParaRPr>
              <a:solidFill>
                <a:schemeClr val="dk1"/>
              </a:solidFill>
              <a:latin typeface="Roboto"/>
              <a:ea typeface="Roboto"/>
              <a:cs typeface="Roboto"/>
              <a:sym typeface="Roboto"/>
            </a:endParaRPr>
          </a:p>
          <a:p>
            <a:pPr indent="0" lvl="0" marL="0" rtl="0" algn="l">
              <a:spcBef>
                <a:spcPts val="1500"/>
              </a:spcBef>
              <a:spcAft>
                <a:spcPts val="0"/>
              </a:spcAft>
              <a:buNone/>
            </a:pPr>
            <a:r>
              <a:rPr lang="en">
                <a:solidFill>
                  <a:schemeClr val="dk1"/>
                </a:solidFill>
                <a:latin typeface="Roboto"/>
                <a:ea typeface="Roboto"/>
                <a:cs typeface="Roboto"/>
                <a:sym typeface="Roboto"/>
              </a:rPr>
              <a:t>Project Pitch Simulation (3 slides)</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a. Introduction of Multimodal AI Project</a:t>
            </a:r>
            <a:endParaRPr>
              <a:solidFill>
                <a:schemeClr val="dk1"/>
              </a:solidFill>
              <a:latin typeface="Roboto"/>
              <a:ea typeface="Roboto"/>
              <a:cs typeface="Roboto"/>
              <a:sym typeface="Roboto"/>
            </a:endParaRPr>
          </a:p>
          <a:p>
            <a:pPr indent="0" lvl="0" marL="0" rtl="0" algn="l">
              <a:spcBef>
                <a:spcPts val="0"/>
              </a:spcBef>
              <a:spcAft>
                <a:spcPts val="0"/>
              </a:spcAft>
              <a:buNone/>
            </a:pPr>
            <a:r>
              <a:rPr lang="en">
                <a:solidFill>
                  <a:schemeClr val="dk1"/>
                </a:solidFill>
                <a:latin typeface="Roboto"/>
                <a:ea typeface="Roboto"/>
                <a:cs typeface="Roboto"/>
                <a:sym typeface="Roboto"/>
              </a:rPr>
              <a:t>b. Business and Technological Value</a:t>
            </a:r>
            <a:endParaRPr>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c. Request for Funding</a:t>
            </a:r>
            <a:endParaRPr>
              <a:solidFill>
                <a:schemeClr val="dk1"/>
              </a:solidFill>
              <a:latin typeface="Roboto"/>
              <a:ea typeface="Roboto"/>
              <a:cs typeface="Roboto"/>
              <a:sym typeface="Roboto"/>
            </a:endParaRPr>
          </a:p>
          <a:p>
            <a:pPr indent="0" lvl="0" marL="0" rtl="0" algn="l">
              <a:spcBef>
                <a:spcPts val="1500"/>
              </a:spcBef>
              <a:spcAft>
                <a:spcPts val="0"/>
              </a:spcAft>
              <a:buNone/>
            </a:pPr>
            <a:r>
              <a:rPr lang="en">
                <a:solidFill>
                  <a:schemeClr val="dk1"/>
                </a:solidFill>
                <a:latin typeface="Roboto"/>
                <a:ea typeface="Roboto"/>
                <a:cs typeface="Roboto"/>
                <a:sym typeface="Roboto"/>
              </a:rPr>
              <a:t>Backup Slides (1 slide)</a:t>
            </a:r>
            <a:endParaRPr>
              <a:solidFill>
                <a:schemeClr val="dk1"/>
              </a:solidFill>
              <a:latin typeface="Roboto"/>
              <a:ea typeface="Roboto"/>
              <a:cs typeface="Roboto"/>
              <a:sym typeface="Roboto"/>
            </a:endParaRPr>
          </a:p>
          <a:p>
            <a:pPr indent="-228600" lvl="0" marL="457200" rtl="0" algn="l">
              <a:lnSpc>
                <a:spcPct val="115000"/>
              </a:lnSpc>
              <a:spcBef>
                <a:spcPts val="1500"/>
              </a:spcBef>
              <a:spcAft>
                <a:spcPts val="0"/>
              </a:spcAft>
              <a:buClr>
                <a:schemeClr val="dk1"/>
              </a:buClr>
              <a:buSzPts val="1100"/>
              <a:buFont typeface="Roboto"/>
              <a:buNone/>
            </a:pPr>
            <a:r>
              <a:rPr lang="en">
                <a:solidFill>
                  <a:schemeClr val="dk1"/>
                </a:solidFill>
                <a:latin typeface="Roboto"/>
                <a:ea typeface="Roboto"/>
                <a:cs typeface="Roboto"/>
                <a:sym typeface="Roboto"/>
              </a:rPr>
              <a:t>a. Project Evaluation Criteria</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Meeting Agenda Slide Details:</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1: Introduction</a:t>
            </a:r>
            <a:endParaRPr>
              <a:solidFill>
                <a:schemeClr val="dk1"/>
              </a:solidFill>
              <a:latin typeface="Roboto"/>
              <a:ea typeface="Roboto"/>
              <a:cs typeface="Roboto"/>
              <a:sym typeface="Roboto"/>
            </a:endParaRPr>
          </a:p>
          <a:p>
            <a:pPr indent="-298450" lvl="0" marL="457200" rtl="0" algn="l">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1: Title: "Introduction"</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Briefly mention the previous presentation and its purpose.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2: Title: "Today's Update"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Highlight the focus of today's presentation.</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2: Program Overview</a:t>
            </a:r>
            <a:endParaRPr>
              <a:solidFill>
                <a:schemeClr val="dk1"/>
              </a:solidFill>
              <a:latin typeface="Roboto"/>
              <a:ea typeface="Roboto"/>
              <a:cs typeface="Roboto"/>
              <a:sym typeface="Roboto"/>
            </a:endParaRPr>
          </a:p>
          <a:p>
            <a:pPr indent="-298450" lvl="0" marL="457200" rtl="0" algn="l">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3: Title: "Innovation Hub Program"</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Briefly introduce the Innovation Hub Program.</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4: Title: "Program Design"</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Highlight key elements of the program's design.</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5: Title: "Execution Model"</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Explain the execution model and mention phase gates.</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3: Project Placement Simulation</a:t>
            </a:r>
            <a:endParaRPr>
              <a:solidFill>
                <a:schemeClr val="dk1"/>
              </a:solidFill>
              <a:latin typeface="Roboto"/>
              <a:ea typeface="Roboto"/>
              <a:cs typeface="Roboto"/>
              <a:sym typeface="Roboto"/>
            </a:endParaRPr>
          </a:p>
          <a:p>
            <a:pPr indent="-298450" lvl="0" marL="457200" rtl="0" algn="l">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6: Title: "Sponsor Projects Selection"</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Explain the selection of three sponsor projects for the simulation.</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7: Title: "Maturity Model &amp; Governance"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Display a visual representation of project placement on the maturity model and governance structure.</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4: Project Pitch Simulation</a:t>
            </a:r>
            <a:endParaRPr>
              <a:solidFill>
                <a:schemeClr val="dk1"/>
              </a:solidFill>
              <a:latin typeface="Roboto"/>
              <a:ea typeface="Roboto"/>
              <a:cs typeface="Roboto"/>
              <a:sym typeface="Roboto"/>
            </a:endParaRPr>
          </a:p>
          <a:p>
            <a:pPr indent="-298450" lvl="0" marL="457200" rtl="0" algn="l">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8: Title: "Multimodal AI Project"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Introduce the Multimodal AI project.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9: Title: "Business &amp; Technological Value"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Present the business and technological value of the project.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Slide 10: Title: "Funding Request"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Outline the project's request for funding.</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Slide 5: Backup Slides</a:t>
            </a:r>
            <a:endParaRPr>
              <a:solidFill>
                <a:schemeClr val="dk1"/>
              </a:solidFill>
              <a:latin typeface="Roboto"/>
              <a:ea typeface="Roboto"/>
              <a:cs typeface="Roboto"/>
              <a:sym typeface="Roboto"/>
            </a:endParaRPr>
          </a:p>
          <a:p>
            <a:pPr indent="-298450" lvl="0" marL="457200" rtl="0" algn="l">
              <a:lnSpc>
                <a:spcPct val="115000"/>
              </a:lnSpc>
              <a:spcBef>
                <a:spcPts val="1500"/>
              </a:spcBef>
              <a:spcAft>
                <a:spcPts val="0"/>
              </a:spcAft>
              <a:buClr>
                <a:schemeClr val="dk1"/>
              </a:buClr>
              <a:buSzPts val="1100"/>
              <a:buFont typeface="Roboto"/>
              <a:buChar char="●"/>
            </a:pPr>
            <a:r>
              <a:rPr lang="en">
                <a:solidFill>
                  <a:schemeClr val="dk1"/>
                </a:solidFill>
                <a:latin typeface="Roboto"/>
                <a:ea typeface="Roboto"/>
                <a:cs typeface="Roboto"/>
                <a:sym typeface="Roboto"/>
              </a:rPr>
              <a:t>Slide 11: Title: "Project Evaluation Criteria"</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en">
                <a:solidFill>
                  <a:schemeClr val="dk1"/>
                </a:solidFill>
                <a:latin typeface="Roboto"/>
                <a:ea typeface="Roboto"/>
                <a:cs typeface="Roboto"/>
                <a:sym typeface="Roboto"/>
              </a:rPr>
              <a:t>Mention the criteria used for project evaluation as backup slides.</a:t>
            </a:r>
            <a:endParaRPr>
              <a:solidFill>
                <a:schemeClr val="dk1"/>
              </a:solidFill>
              <a:latin typeface="Roboto"/>
              <a:ea typeface="Roboto"/>
              <a:cs typeface="Roboto"/>
              <a:sym typeface="Roboto"/>
            </a:endParaRPr>
          </a:p>
          <a:p>
            <a:pPr indent="0" lvl="0" marL="0" rtl="0" algn="l">
              <a:lnSpc>
                <a:spcPct val="175000"/>
              </a:lnSpc>
              <a:spcBef>
                <a:spcPts val="1500"/>
              </a:spcBef>
              <a:spcAft>
                <a:spcPts val="0"/>
              </a:spcAft>
              <a:buClr>
                <a:schemeClr val="dk1"/>
              </a:buClr>
              <a:buSzPts val="1100"/>
              <a:buFont typeface="Arial"/>
              <a:buNone/>
            </a:pPr>
            <a:r>
              <a:rPr lang="en">
                <a:solidFill>
                  <a:schemeClr val="dk1"/>
                </a:solidFill>
                <a:latin typeface="Roboto"/>
                <a:ea typeface="Roboto"/>
                <a:cs typeface="Roboto"/>
                <a:sym typeface="Roboto"/>
              </a:rPr>
              <a:t>Remember to use visuals, charts, and minimal text to convey the key points effectively during the presentation. Keep the slides concise and visually engaging to maintain the audience's interest and understanding.</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aba290fb63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g2aba290fb63_1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Background (2 slides) a. Recap of Previous Presentation b. Introduction to the Innovation Hub Program Innovation Hub Program Design (3 slides) a. Program Objectives and Goals b. Governance Structure and Phase Gates c. Operating Model of the Innovation Hub Zone Value Creation (2 slides) a. Explanation of Value Zones b. Demonstrating Value Creation Strategies Pilot Project Updates (4 slides) a. Optical Tracking Project Progress b. NFL Player View Project Developments c. NLP / Multi-modal AI Project Milestones d. Project Evaluation Criteria and Updates NLP / Multi-modal AI Pitch (2 slides) a. Introduction of the NLP / Multi-modal AI Project b. Business Value, Technological Significance, and Funding Request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b7db7ad62_3_9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57" name="Google Shape;157;g2ab7db7ad62_3_9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 sz="1200" u="none" cap="none" strike="noStrike">
                <a:solidFill>
                  <a:schemeClr val="dk1"/>
                </a:solidFill>
                <a:latin typeface="Calibri"/>
                <a:ea typeface="Calibri"/>
                <a:cs typeface="Calibri"/>
                <a:sym typeface="Calibri"/>
              </a:rPr>
              <a:t>1.7.2013</a:t>
            </a:r>
            <a:endParaRPr/>
          </a:p>
        </p:txBody>
      </p:sp>
      <p:sp>
        <p:nvSpPr>
          <p:cNvPr id="158" name="Google Shape;158;g2ab7db7ad62_3_9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2ab7db7ad62_3_9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2ab7db7ad62_3_9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61" name="Google Shape;161;g2ab7db7ad62_3_9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acc523f483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2acc523f48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ab7db7ad62_3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2ab7db7ad62_3_3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Alok Bhatt: Players for each Committee to be updated</a:t>
            </a:r>
            <a:endParaRPr/>
          </a:p>
          <a:p>
            <a:pPr indent="0" lvl="0" marL="0" rtl="0" algn="l">
              <a:spcBef>
                <a:spcPts val="0"/>
              </a:spcBef>
              <a:spcAft>
                <a:spcPts val="0"/>
              </a:spcAft>
              <a:buNone/>
            </a:pPr>
            <a:r>
              <a:rPr lang="en"/>
              <a:t>PMO office will be managed by Novate</a:t>
            </a:r>
            <a:endParaRPr/>
          </a:p>
        </p:txBody>
      </p:sp>
      <p:sp>
        <p:nvSpPr>
          <p:cNvPr id="189" name="Google Shape;189;g2ab7db7ad62_3_3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b7db7ad62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2ab7db7ad62_1_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acc523f483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g2acc523f483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aba98939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2aba989396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ab7db7ad62_3_2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2ab7db7ad62_3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264f7123234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264f7123234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64f7123234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g264f712323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sz="1400">
                <a:solidFill>
                  <a:schemeClr val="dk1"/>
                </a:solidFill>
                <a:latin typeface="Montserrat"/>
                <a:ea typeface="Montserrat"/>
                <a:cs typeface="Montserrat"/>
                <a:sym typeface="Montserrat"/>
              </a:rPr>
              <a:t>ChyronHego Stadiums</a:t>
            </a:r>
            <a:endParaRPr sz="1400">
              <a:solidFill>
                <a:schemeClr val="dk1"/>
              </a:solidFill>
              <a:latin typeface="Montserrat"/>
              <a:ea typeface="Montserrat"/>
              <a:cs typeface="Montserrat"/>
              <a:sym typeface="Montserrat"/>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Calibri"/>
                <a:ea typeface="Calibri"/>
                <a:cs typeface="Calibri"/>
                <a:sym typeface="Calibri"/>
              </a:rPr>
              <a:t>Mercedes Benz Stadium - Atlanta</a:t>
            </a: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Calibri"/>
                <a:ea typeface="Calibri"/>
                <a:cs typeface="Calibri"/>
                <a:sym typeface="Calibri"/>
              </a:rPr>
              <a:t>T- Mobile Park - Seattle </a:t>
            </a: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Calibri"/>
                <a:ea typeface="Calibri"/>
                <a:cs typeface="Calibri"/>
                <a:sym typeface="Calibri"/>
              </a:rPr>
              <a:t>Bank of America in North Carolina</a:t>
            </a:r>
            <a:endParaRPr>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a:solidFill>
                  <a:schemeClr val="dk1"/>
                </a:solidFill>
                <a:latin typeface="Calibri"/>
                <a:ea typeface="Calibri"/>
                <a:cs typeface="Calibri"/>
                <a:sym typeface="Calibri"/>
              </a:rPr>
              <a:t>Soldier Field in Chicago </a:t>
            </a:r>
            <a:endParaRPr>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4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acc523f483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g2acc523f483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2acc523f48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2acc523f48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aba2910f9b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g2aba2910f9b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acc523f48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acc523f48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aba2910f9b_0_7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2aba2910f9b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ac02bd595e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2ac02bd595e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acc523f483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2" name="Google Shape;482;g2acc523f483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2aba2910f9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2aba2910f9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ab7db7ad62_3_542:notes"/>
          <p:cNvSpPr/>
          <p:nvPr>
            <p:ph idx="2"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2ab7db7ad62_3_5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2000">
              <a:solidFill>
                <a:srgbClr val="003A74"/>
              </a:solidFill>
              <a:latin typeface="Open Sans"/>
              <a:ea typeface="Open Sans"/>
              <a:cs typeface="Open Sans"/>
              <a:sym typeface="Open Sans"/>
            </a:endParaRPr>
          </a:p>
        </p:txBody>
      </p:sp>
      <p:sp>
        <p:nvSpPr>
          <p:cNvPr id="497" name="Google Shape;497;g2ab7db7ad62_3_5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2ab7db7ad62_3_557:notes"/>
          <p:cNvSpPr/>
          <p:nvPr>
            <p:ph idx="2"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g2ab7db7ad62_3_5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2000">
              <a:solidFill>
                <a:srgbClr val="003A74"/>
              </a:solidFill>
              <a:latin typeface="Open Sans"/>
              <a:ea typeface="Open Sans"/>
              <a:cs typeface="Open Sans"/>
              <a:sym typeface="Open Sans"/>
            </a:endParaRPr>
          </a:p>
        </p:txBody>
      </p:sp>
      <p:sp>
        <p:nvSpPr>
          <p:cNvPr id="504" name="Google Shape;504;g2ab7db7ad62_3_5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ab7db7ad62_3_58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2ab7db7ad62_3_5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50" name="Shape 50"/>
        <p:cNvGrpSpPr/>
        <p:nvPr/>
      </p:nvGrpSpPr>
      <p:grpSpPr>
        <a:xfrm>
          <a:off x="0" y="0"/>
          <a:ext cx="0" cy="0"/>
          <a:chOff x="0" y="0"/>
          <a:chExt cx="0" cy="0"/>
        </a:xfrm>
      </p:grpSpPr>
      <p:sp>
        <p:nvSpPr>
          <p:cNvPr id="51" name="Google Shape;51;p13"/>
          <p:cNvSpPr txBox="1"/>
          <p:nvPr>
            <p:ph idx="10" type="dt"/>
          </p:nvPr>
        </p:nvSpPr>
        <p:spPr>
          <a:xfrm>
            <a:off x="125017" y="5008630"/>
            <a:ext cx="742800" cy="960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2" name="Google Shape;52;p13"/>
          <p:cNvSpPr txBox="1"/>
          <p:nvPr>
            <p:ph idx="11" type="ftr"/>
          </p:nvPr>
        </p:nvSpPr>
        <p:spPr>
          <a:xfrm>
            <a:off x="3028950" y="5008630"/>
            <a:ext cx="3086100" cy="960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3" name="Google Shape;53;p13"/>
          <p:cNvSpPr txBox="1"/>
          <p:nvPr>
            <p:ph idx="12" type="sldNum"/>
          </p:nvPr>
        </p:nvSpPr>
        <p:spPr>
          <a:xfrm>
            <a:off x="8851474" y="4983371"/>
            <a:ext cx="282600" cy="146400"/>
          </a:xfrm>
          <a:prstGeom prst="rect">
            <a:avLst/>
          </a:prstGeom>
          <a:noFill/>
          <a:ln>
            <a:noFill/>
          </a:ln>
        </p:spPr>
        <p:txBody>
          <a:bodyPr anchorCtr="0" anchor="ctr" bIns="34275" lIns="68575" spcFirstLastPara="1" rIns="68575" wrap="square" tIns="34275">
            <a:normAutofit fontScale="62500" lnSpcReduction="20000"/>
          </a:bodyPr>
          <a:lstStyle>
            <a:lvl1pPr indent="0" lvl="0" marL="0" rtl="0" algn="ctr">
              <a:spcBef>
                <a:spcPts val="0"/>
              </a:spcBef>
              <a:buNone/>
              <a:defRPr/>
            </a:lvl1pPr>
            <a:lvl2pPr indent="0" lvl="1" marL="0" rtl="0" algn="ctr">
              <a:spcBef>
                <a:spcPts val="0"/>
              </a:spcBef>
              <a:buNone/>
              <a:defRPr/>
            </a:lvl2pPr>
            <a:lvl3pPr indent="0" lvl="2" marL="0" rtl="0" algn="ctr">
              <a:spcBef>
                <a:spcPts val="0"/>
              </a:spcBef>
              <a:buNone/>
              <a:defRPr/>
            </a:lvl3pPr>
            <a:lvl4pPr indent="0" lvl="3" marL="0" rtl="0" algn="ctr">
              <a:spcBef>
                <a:spcPts val="0"/>
              </a:spcBef>
              <a:buNone/>
              <a:defRPr/>
            </a:lvl4pPr>
            <a:lvl5pPr indent="0" lvl="4" marL="0" rtl="0" algn="ctr">
              <a:spcBef>
                <a:spcPts val="0"/>
              </a:spcBef>
              <a:buNone/>
              <a:defRPr/>
            </a:lvl5pPr>
            <a:lvl6pPr indent="0" lvl="5" marL="0" rtl="0" algn="ctr">
              <a:spcBef>
                <a:spcPts val="0"/>
              </a:spcBef>
              <a:buNone/>
              <a:defRPr/>
            </a:lvl6pPr>
            <a:lvl7pPr indent="0" lvl="6" marL="0" rtl="0" algn="ctr">
              <a:spcBef>
                <a:spcPts val="0"/>
              </a:spcBef>
              <a:buNone/>
              <a:defRPr/>
            </a:lvl7pPr>
            <a:lvl8pPr indent="0" lvl="7" marL="0" rtl="0" algn="ctr">
              <a:spcBef>
                <a:spcPts val="0"/>
              </a:spcBef>
              <a:buNone/>
              <a:defRPr/>
            </a:lvl8pPr>
            <a:lvl9pPr indent="0" lvl="8" marL="0" rtl="0" algn="ctr">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113634" y="528797"/>
            <a:ext cx="8915400" cy="1155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rgbClr val="595959"/>
              </a:buClr>
              <a:buSzPts val="600"/>
              <a:buNone/>
              <a:defRPr sz="600">
                <a:solidFill>
                  <a:srgbClr val="595959"/>
                </a:solidFill>
              </a:defRPr>
            </a:lvl1pPr>
            <a:lvl2pPr indent="-317500" lvl="1" marL="914400" rtl="0" algn="l">
              <a:lnSpc>
                <a:spcPct val="100000"/>
              </a:lnSpc>
              <a:spcBef>
                <a:spcPts val="1200"/>
              </a:spcBef>
              <a:spcAft>
                <a:spcPts val="0"/>
              </a:spcAft>
              <a:buClr>
                <a:srgbClr val="3F3F3F"/>
              </a:buClr>
              <a:buSzPts val="1400"/>
              <a:buChar char="○"/>
              <a:defRPr/>
            </a:lvl2pPr>
            <a:lvl3pPr indent="-317500" lvl="2" marL="1371600" rtl="0" algn="l">
              <a:lnSpc>
                <a:spcPct val="100000"/>
              </a:lnSpc>
              <a:spcBef>
                <a:spcPts val="1200"/>
              </a:spcBef>
              <a:spcAft>
                <a:spcPts val="0"/>
              </a:spcAft>
              <a:buClr>
                <a:srgbClr val="3F3F3F"/>
              </a:buClr>
              <a:buSzPts val="1400"/>
              <a:buChar char="■"/>
              <a:defRPr/>
            </a:lvl3pPr>
            <a:lvl4pPr indent="-317500" lvl="3" marL="1828800" rtl="0" algn="l">
              <a:lnSpc>
                <a:spcPct val="100000"/>
              </a:lnSpc>
              <a:spcBef>
                <a:spcPts val="1200"/>
              </a:spcBef>
              <a:spcAft>
                <a:spcPts val="0"/>
              </a:spcAft>
              <a:buClr>
                <a:srgbClr val="3F3F3F"/>
              </a:buClr>
              <a:buSzPts val="1400"/>
              <a:buChar char="●"/>
              <a:defRPr/>
            </a:lvl4pPr>
            <a:lvl5pPr indent="-317500" lvl="4" marL="2286000" rtl="0" algn="l">
              <a:lnSpc>
                <a:spcPct val="100000"/>
              </a:lnSpc>
              <a:spcBef>
                <a:spcPts val="1200"/>
              </a:spcBef>
              <a:spcAft>
                <a:spcPts val="0"/>
              </a:spcAft>
              <a:buClr>
                <a:srgbClr val="3F3F3F"/>
              </a:buClr>
              <a:buSzPts val="1400"/>
              <a:buChar char="○"/>
              <a:defRPr/>
            </a:lvl5pPr>
            <a:lvl6pPr indent="-317500" lvl="5" marL="2743200" rtl="0" algn="l">
              <a:lnSpc>
                <a:spcPct val="90000"/>
              </a:lnSpc>
              <a:spcBef>
                <a:spcPts val="1200"/>
              </a:spcBef>
              <a:spcAft>
                <a:spcPts val="0"/>
              </a:spcAft>
              <a:buClr>
                <a:schemeClr val="dk1"/>
              </a:buClr>
              <a:buSzPts val="1400"/>
              <a:buChar char="■"/>
              <a:defRPr/>
            </a:lvl6pPr>
            <a:lvl7pPr indent="-317500" lvl="6" marL="3200400" rtl="0" algn="l">
              <a:lnSpc>
                <a:spcPct val="90000"/>
              </a:lnSpc>
              <a:spcBef>
                <a:spcPts val="1200"/>
              </a:spcBef>
              <a:spcAft>
                <a:spcPts val="0"/>
              </a:spcAft>
              <a:buClr>
                <a:schemeClr val="dk1"/>
              </a:buClr>
              <a:buSzPts val="1400"/>
              <a:buChar char="●"/>
              <a:defRPr/>
            </a:lvl7pPr>
            <a:lvl8pPr indent="-317500" lvl="7" marL="3657600" rtl="0" algn="l">
              <a:lnSpc>
                <a:spcPct val="90000"/>
              </a:lnSpc>
              <a:spcBef>
                <a:spcPts val="1200"/>
              </a:spcBef>
              <a:spcAft>
                <a:spcPts val="0"/>
              </a:spcAft>
              <a:buClr>
                <a:schemeClr val="dk1"/>
              </a:buClr>
              <a:buSzPts val="1400"/>
              <a:buChar char="○"/>
              <a:defRPr/>
            </a:lvl8pPr>
            <a:lvl9pPr indent="-317500" lvl="8" marL="4114800" rtl="0" algn="l">
              <a:lnSpc>
                <a:spcPct val="90000"/>
              </a:lnSpc>
              <a:spcBef>
                <a:spcPts val="1200"/>
              </a:spcBef>
              <a:spcAft>
                <a:spcPts val="1200"/>
              </a:spcAft>
              <a:buClr>
                <a:schemeClr val="dk1"/>
              </a:buClr>
              <a:buSzPts val="1400"/>
              <a:buChar char="■"/>
              <a:defRPr/>
            </a:lvl9pPr>
          </a:lstStyle>
          <a:p/>
        </p:txBody>
      </p:sp>
      <p:sp>
        <p:nvSpPr>
          <p:cNvPr id="55" name="Google Shape;55;p13"/>
          <p:cNvSpPr txBox="1"/>
          <p:nvPr>
            <p:ph type="title"/>
          </p:nvPr>
        </p:nvSpPr>
        <p:spPr>
          <a:xfrm>
            <a:off x="113634" y="121580"/>
            <a:ext cx="8916600" cy="3966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Clr>
                <a:srgbClr val="262626"/>
              </a:buClr>
              <a:buSzPts val="2400"/>
              <a:buFont typeface="Century Gothic"/>
              <a:buNone/>
              <a:defRPr>
                <a:solidFill>
                  <a:srgbClr val="262626"/>
                </a:solidFill>
                <a:latin typeface="Century Gothic"/>
                <a:ea typeface="Century Gothic"/>
                <a:cs typeface="Century Gothic"/>
                <a:sym typeface="Century Gothic"/>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 name="Google Shape;56;p13"/>
          <p:cNvSpPr/>
          <p:nvPr>
            <p:ph idx="2" type="pic"/>
          </p:nvPr>
        </p:nvSpPr>
        <p:spPr>
          <a:xfrm>
            <a:off x="109538" y="728003"/>
            <a:ext cx="8921400" cy="11838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n Canvas">
  <p:cSld name="Lean Canvas">
    <p:spTree>
      <p:nvGrpSpPr>
        <p:cNvPr id="57" name="Shape 57"/>
        <p:cNvGrpSpPr/>
        <p:nvPr/>
      </p:nvGrpSpPr>
      <p:grpSpPr>
        <a:xfrm>
          <a:off x="0" y="0"/>
          <a:ext cx="0" cy="0"/>
          <a:chOff x="0" y="0"/>
          <a:chExt cx="0" cy="0"/>
        </a:xfrm>
      </p:grpSpPr>
      <p:sp>
        <p:nvSpPr>
          <p:cNvPr id="58" name="Google Shape;58;p14"/>
          <p:cNvSpPr txBox="1"/>
          <p:nvPr>
            <p:ph idx="1" type="body"/>
          </p:nvPr>
        </p:nvSpPr>
        <p:spPr>
          <a:xfrm>
            <a:off x="285622" y="80010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9" name="Google Shape;59;p14"/>
          <p:cNvSpPr txBox="1"/>
          <p:nvPr>
            <p:ph idx="2" type="body"/>
          </p:nvPr>
        </p:nvSpPr>
        <p:spPr>
          <a:xfrm>
            <a:off x="2017232" y="80010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0" name="Google Shape;60;p14"/>
          <p:cNvSpPr txBox="1"/>
          <p:nvPr>
            <p:ph idx="3" type="body"/>
          </p:nvPr>
        </p:nvSpPr>
        <p:spPr>
          <a:xfrm>
            <a:off x="3754790" y="80010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1" name="Google Shape;61;p14"/>
          <p:cNvSpPr txBox="1"/>
          <p:nvPr>
            <p:ph idx="4" type="body"/>
          </p:nvPr>
        </p:nvSpPr>
        <p:spPr>
          <a:xfrm>
            <a:off x="5490947" y="79205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2" name="Google Shape;62;p14"/>
          <p:cNvSpPr txBox="1"/>
          <p:nvPr>
            <p:ph idx="5" type="body"/>
          </p:nvPr>
        </p:nvSpPr>
        <p:spPr>
          <a:xfrm>
            <a:off x="7233052" y="79205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3" name="Google Shape;63;p14"/>
          <p:cNvSpPr txBox="1"/>
          <p:nvPr>
            <p:ph idx="6" type="body"/>
          </p:nvPr>
        </p:nvSpPr>
        <p:spPr>
          <a:xfrm>
            <a:off x="285622" y="222435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4" name="Google Shape;64;p14"/>
          <p:cNvSpPr txBox="1"/>
          <p:nvPr>
            <p:ph idx="7" type="body"/>
          </p:nvPr>
        </p:nvSpPr>
        <p:spPr>
          <a:xfrm>
            <a:off x="2027727" y="222435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5" name="Google Shape;65;p14"/>
          <p:cNvSpPr txBox="1"/>
          <p:nvPr>
            <p:ph idx="8" type="body"/>
          </p:nvPr>
        </p:nvSpPr>
        <p:spPr>
          <a:xfrm>
            <a:off x="3759337" y="222435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6" name="Google Shape;66;p14"/>
          <p:cNvSpPr txBox="1"/>
          <p:nvPr>
            <p:ph idx="9" type="body"/>
          </p:nvPr>
        </p:nvSpPr>
        <p:spPr>
          <a:xfrm>
            <a:off x="5494226" y="2224350"/>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7" name="Google Shape;67;p14"/>
          <p:cNvSpPr txBox="1"/>
          <p:nvPr>
            <p:ph idx="13" type="body"/>
          </p:nvPr>
        </p:nvSpPr>
        <p:spPr>
          <a:xfrm>
            <a:off x="7233052" y="2224172"/>
            <a:ext cx="1619400" cy="11475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8" name="Google Shape;68;p14"/>
          <p:cNvSpPr txBox="1"/>
          <p:nvPr>
            <p:ph idx="14" type="body"/>
          </p:nvPr>
        </p:nvSpPr>
        <p:spPr>
          <a:xfrm>
            <a:off x="285622" y="3657600"/>
            <a:ext cx="4210200" cy="10860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9" name="Google Shape;69;p14"/>
          <p:cNvSpPr txBox="1"/>
          <p:nvPr>
            <p:ph idx="15" type="body"/>
          </p:nvPr>
        </p:nvSpPr>
        <p:spPr>
          <a:xfrm>
            <a:off x="4667400" y="3657600"/>
            <a:ext cx="4185000" cy="10860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70" name="Google Shape;70;p14"/>
          <p:cNvSpPr txBox="1"/>
          <p:nvPr>
            <p:ph idx="16" type="body"/>
          </p:nvPr>
        </p:nvSpPr>
        <p:spPr>
          <a:xfrm>
            <a:off x="3657600" y="285750"/>
            <a:ext cx="1295400" cy="1716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71" name="Google Shape;71;p14"/>
          <p:cNvSpPr txBox="1"/>
          <p:nvPr>
            <p:ph idx="17" type="body"/>
          </p:nvPr>
        </p:nvSpPr>
        <p:spPr>
          <a:xfrm>
            <a:off x="5247878" y="285750"/>
            <a:ext cx="1295400" cy="1716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72" name="Google Shape;72;p14"/>
          <p:cNvSpPr txBox="1"/>
          <p:nvPr>
            <p:ph idx="18" type="body"/>
          </p:nvPr>
        </p:nvSpPr>
        <p:spPr>
          <a:xfrm>
            <a:off x="7162800" y="285750"/>
            <a:ext cx="1066800" cy="1716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73" name="Google Shape;73;p14"/>
          <p:cNvSpPr txBox="1"/>
          <p:nvPr>
            <p:ph idx="19" type="body"/>
          </p:nvPr>
        </p:nvSpPr>
        <p:spPr>
          <a:xfrm>
            <a:off x="8534400" y="285750"/>
            <a:ext cx="381000" cy="171600"/>
          </a:xfrm>
          <a:prstGeom prst="rect">
            <a:avLst/>
          </a:prstGeom>
          <a:solidFill>
            <a:srgbClr val="FFFFFF"/>
          </a:solidFill>
          <a:ln>
            <a:noFill/>
          </a:ln>
        </p:spPr>
        <p:txBody>
          <a:bodyPr anchorCtr="0" anchor="t" bIns="34275" lIns="68575" spcFirstLastPara="1" rIns="68575" wrap="square" tIns="34275">
            <a:norm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12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1200"/>
              </a:spcBef>
              <a:spcAft>
                <a:spcPts val="120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n Canvas">
  <p:cSld name="Lean Canvas">
    <p:spTree>
      <p:nvGrpSpPr>
        <p:cNvPr id="114" name="Shape 114"/>
        <p:cNvGrpSpPr/>
        <p:nvPr/>
      </p:nvGrpSpPr>
      <p:grpSpPr>
        <a:xfrm>
          <a:off x="0" y="0"/>
          <a:ext cx="0" cy="0"/>
          <a:chOff x="0" y="0"/>
          <a:chExt cx="0" cy="0"/>
        </a:xfrm>
      </p:grpSpPr>
      <p:sp>
        <p:nvSpPr>
          <p:cNvPr id="115" name="Google Shape;115;p16"/>
          <p:cNvSpPr txBox="1"/>
          <p:nvPr>
            <p:ph idx="1" type="body"/>
          </p:nvPr>
        </p:nvSpPr>
        <p:spPr>
          <a:xfrm>
            <a:off x="285622" y="80010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16" name="Google Shape;116;p16"/>
          <p:cNvSpPr txBox="1"/>
          <p:nvPr>
            <p:ph idx="2" type="body"/>
          </p:nvPr>
        </p:nvSpPr>
        <p:spPr>
          <a:xfrm>
            <a:off x="2017232" y="80010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17" name="Google Shape;117;p16"/>
          <p:cNvSpPr txBox="1"/>
          <p:nvPr>
            <p:ph idx="3" type="body"/>
          </p:nvPr>
        </p:nvSpPr>
        <p:spPr>
          <a:xfrm>
            <a:off x="3754790" y="80010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18" name="Google Shape;118;p16"/>
          <p:cNvSpPr txBox="1"/>
          <p:nvPr>
            <p:ph idx="4" type="body"/>
          </p:nvPr>
        </p:nvSpPr>
        <p:spPr>
          <a:xfrm>
            <a:off x="5490947" y="79205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19" name="Google Shape;119;p16"/>
          <p:cNvSpPr txBox="1"/>
          <p:nvPr>
            <p:ph idx="5" type="body"/>
          </p:nvPr>
        </p:nvSpPr>
        <p:spPr>
          <a:xfrm>
            <a:off x="7233052" y="79205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0" name="Google Shape;120;p16"/>
          <p:cNvSpPr txBox="1"/>
          <p:nvPr>
            <p:ph idx="6" type="body"/>
          </p:nvPr>
        </p:nvSpPr>
        <p:spPr>
          <a:xfrm>
            <a:off x="285622" y="222435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1" name="Google Shape;121;p16"/>
          <p:cNvSpPr txBox="1"/>
          <p:nvPr>
            <p:ph idx="7" type="body"/>
          </p:nvPr>
        </p:nvSpPr>
        <p:spPr>
          <a:xfrm>
            <a:off x="2027727" y="222435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2" name="Google Shape;122;p16"/>
          <p:cNvSpPr txBox="1"/>
          <p:nvPr>
            <p:ph idx="8" type="body"/>
          </p:nvPr>
        </p:nvSpPr>
        <p:spPr>
          <a:xfrm>
            <a:off x="3759337" y="222435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3" name="Google Shape;123;p16"/>
          <p:cNvSpPr txBox="1"/>
          <p:nvPr>
            <p:ph idx="9" type="body"/>
          </p:nvPr>
        </p:nvSpPr>
        <p:spPr>
          <a:xfrm>
            <a:off x="5494226" y="2224350"/>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4" name="Google Shape;124;p16"/>
          <p:cNvSpPr txBox="1"/>
          <p:nvPr>
            <p:ph idx="13" type="body"/>
          </p:nvPr>
        </p:nvSpPr>
        <p:spPr>
          <a:xfrm>
            <a:off x="7233052" y="2224172"/>
            <a:ext cx="1619400" cy="11475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5" name="Google Shape;125;p16"/>
          <p:cNvSpPr txBox="1"/>
          <p:nvPr>
            <p:ph idx="14" type="body"/>
          </p:nvPr>
        </p:nvSpPr>
        <p:spPr>
          <a:xfrm>
            <a:off x="285622" y="3657600"/>
            <a:ext cx="4210200" cy="10860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6" name="Google Shape;126;p16"/>
          <p:cNvSpPr txBox="1"/>
          <p:nvPr>
            <p:ph idx="15" type="body"/>
          </p:nvPr>
        </p:nvSpPr>
        <p:spPr>
          <a:xfrm>
            <a:off x="4667400" y="3657600"/>
            <a:ext cx="4185000" cy="10860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7" name="Google Shape;127;p16"/>
          <p:cNvSpPr txBox="1"/>
          <p:nvPr>
            <p:ph idx="16" type="body"/>
          </p:nvPr>
        </p:nvSpPr>
        <p:spPr>
          <a:xfrm>
            <a:off x="3657600" y="285750"/>
            <a:ext cx="1295400" cy="1716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8" name="Google Shape;128;p16"/>
          <p:cNvSpPr txBox="1"/>
          <p:nvPr>
            <p:ph idx="17" type="body"/>
          </p:nvPr>
        </p:nvSpPr>
        <p:spPr>
          <a:xfrm>
            <a:off x="5247878" y="285750"/>
            <a:ext cx="1295400" cy="1716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9" name="Google Shape;129;p16"/>
          <p:cNvSpPr txBox="1"/>
          <p:nvPr>
            <p:ph idx="18" type="body"/>
          </p:nvPr>
        </p:nvSpPr>
        <p:spPr>
          <a:xfrm>
            <a:off x="7162800" y="285750"/>
            <a:ext cx="1066800" cy="1716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30" name="Google Shape;130;p16"/>
          <p:cNvSpPr txBox="1"/>
          <p:nvPr>
            <p:ph idx="19" type="body"/>
          </p:nvPr>
        </p:nvSpPr>
        <p:spPr>
          <a:xfrm>
            <a:off x="8534400" y="285750"/>
            <a:ext cx="381000" cy="171600"/>
          </a:xfrm>
          <a:prstGeom prst="rect">
            <a:avLst/>
          </a:prstGeom>
          <a:solidFill>
            <a:srgbClr val="FFFFFF"/>
          </a:solidFill>
          <a:ln>
            <a:noFill/>
          </a:ln>
        </p:spPr>
        <p:txBody>
          <a:bodyPr anchorCtr="0" anchor="t" bIns="34275" lIns="68575" spcFirstLastPara="1" rIns="68575" wrap="square" tIns="34275">
            <a:noAutofit/>
          </a:bodyPr>
          <a:lstStyle>
            <a:lvl1pPr indent="-228600" lvl="0" marL="457200" marR="0" rtl="0" algn="l">
              <a:spcBef>
                <a:spcPts val="100"/>
              </a:spcBef>
              <a:spcAft>
                <a:spcPts val="0"/>
              </a:spcAft>
              <a:buClr>
                <a:schemeClr val="dk1"/>
              </a:buClr>
              <a:buSzPts val="700"/>
              <a:buFont typeface="Arial"/>
              <a:buNone/>
              <a:defRPr b="0" i="0" sz="700" u="none" cap="none" strike="noStrike">
                <a:solidFill>
                  <a:schemeClr val="dk1"/>
                </a:solidFill>
                <a:latin typeface="Arial"/>
                <a:ea typeface="Arial"/>
                <a:cs typeface="Arial"/>
                <a:sym typeface="Arial"/>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3.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36.png"/><Relationship Id="rId13" Type="http://schemas.openxmlformats.org/officeDocument/2006/relationships/slideLayout" Target="../slideLayouts/slideLayout14.xml"/><Relationship Id="rId12" Type="http://schemas.openxmlformats.org/officeDocument/2006/relationships/image" Target="../media/image8.png"/><Relationship Id="rId1" Type="http://schemas.openxmlformats.org/officeDocument/2006/relationships/image" Target="../media/image25.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2.png"/><Relationship Id="rId9" Type="http://schemas.openxmlformats.org/officeDocument/2006/relationships/image" Target="../media/image1.png"/><Relationship Id="rId14" Type="http://schemas.openxmlformats.org/officeDocument/2006/relationships/theme" Target="../theme/theme1.xml"/><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rtl="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1F1"/>
        </a:solidFill>
      </p:bgPr>
    </p:bg>
    <p:spTree>
      <p:nvGrpSpPr>
        <p:cNvPr id="74" name="Shape 74"/>
        <p:cNvGrpSpPr/>
        <p:nvPr/>
      </p:nvGrpSpPr>
      <p:grpSpPr>
        <a:xfrm>
          <a:off x="0" y="0"/>
          <a:ext cx="0" cy="0"/>
          <a:chOff x="0" y="0"/>
          <a:chExt cx="0" cy="0"/>
        </a:xfrm>
      </p:grpSpPr>
      <p:sp>
        <p:nvSpPr>
          <p:cNvPr id="75" name="Google Shape;75;p15"/>
          <p:cNvSpPr/>
          <p:nvPr/>
        </p:nvSpPr>
        <p:spPr>
          <a:xfrm>
            <a:off x="225670" y="571500"/>
            <a:ext cx="8683800" cy="4229100"/>
          </a:xfrm>
          <a:prstGeom prst="rect">
            <a:avLst/>
          </a:prstGeom>
          <a:solidFill>
            <a:srgbClr val="FFFFFF"/>
          </a:solidFill>
          <a:ln cap="flat" cmpd="sng" w="9525">
            <a:solidFill>
              <a:schemeClr val="l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6" name="Google Shape;76;p15"/>
          <p:cNvSpPr txBox="1"/>
          <p:nvPr/>
        </p:nvSpPr>
        <p:spPr>
          <a:xfrm>
            <a:off x="228599" y="228600"/>
            <a:ext cx="33690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200">
                <a:solidFill>
                  <a:schemeClr val="dk1"/>
                </a:solidFill>
                <a:latin typeface="Arial"/>
                <a:ea typeface="Arial"/>
                <a:cs typeface="Arial"/>
                <a:sym typeface="Arial"/>
              </a:rPr>
              <a:t>Innovation Hub - Funding Request</a:t>
            </a:r>
            <a:endParaRPr sz="1100"/>
          </a:p>
        </p:txBody>
      </p:sp>
      <p:sp>
        <p:nvSpPr>
          <p:cNvPr id="77" name="Google Shape;77;p15"/>
          <p:cNvSpPr txBox="1"/>
          <p:nvPr/>
        </p:nvSpPr>
        <p:spPr>
          <a:xfrm>
            <a:off x="3563816" y="138113"/>
            <a:ext cx="12954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n" sz="500">
                <a:solidFill>
                  <a:schemeClr val="dk1"/>
                </a:solidFill>
                <a:latin typeface="Arial"/>
                <a:ea typeface="Arial"/>
                <a:cs typeface="Arial"/>
                <a:sym typeface="Arial"/>
              </a:rPr>
              <a:t>Designed for:</a:t>
            </a:r>
            <a:endParaRPr sz="1100"/>
          </a:p>
        </p:txBody>
      </p:sp>
      <p:sp>
        <p:nvSpPr>
          <p:cNvPr id="78" name="Google Shape;78;p15"/>
          <p:cNvSpPr txBox="1"/>
          <p:nvPr/>
        </p:nvSpPr>
        <p:spPr>
          <a:xfrm>
            <a:off x="5106866" y="182011"/>
            <a:ext cx="12954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n" sz="500">
                <a:solidFill>
                  <a:schemeClr val="dk1"/>
                </a:solidFill>
                <a:latin typeface="Arial"/>
                <a:ea typeface="Arial"/>
                <a:cs typeface="Arial"/>
                <a:sym typeface="Arial"/>
              </a:rPr>
              <a:t>Designed by:</a:t>
            </a:r>
            <a:endParaRPr sz="1100"/>
          </a:p>
        </p:txBody>
      </p:sp>
      <p:sp>
        <p:nvSpPr>
          <p:cNvPr id="79" name="Google Shape;79;p15"/>
          <p:cNvSpPr txBox="1"/>
          <p:nvPr/>
        </p:nvSpPr>
        <p:spPr>
          <a:xfrm>
            <a:off x="7074877" y="135731"/>
            <a:ext cx="11211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n" sz="500">
                <a:solidFill>
                  <a:schemeClr val="dk1"/>
                </a:solidFill>
                <a:latin typeface="Arial"/>
                <a:ea typeface="Arial"/>
                <a:cs typeface="Arial"/>
                <a:sym typeface="Arial"/>
              </a:rPr>
              <a:t>Date:</a:t>
            </a:r>
            <a:endParaRPr sz="1100"/>
          </a:p>
        </p:txBody>
      </p:sp>
      <p:sp>
        <p:nvSpPr>
          <p:cNvPr id="80" name="Google Shape;80;p15"/>
          <p:cNvSpPr txBox="1"/>
          <p:nvPr/>
        </p:nvSpPr>
        <p:spPr>
          <a:xfrm>
            <a:off x="8439151" y="135732"/>
            <a:ext cx="5730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i="1" lang="en" sz="500">
                <a:solidFill>
                  <a:schemeClr val="dk1"/>
                </a:solidFill>
                <a:latin typeface="Arial"/>
                <a:ea typeface="Arial"/>
                <a:cs typeface="Arial"/>
                <a:sym typeface="Arial"/>
              </a:rPr>
              <a:t>Version:</a:t>
            </a:r>
            <a:endParaRPr sz="1100"/>
          </a:p>
        </p:txBody>
      </p:sp>
      <p:sp>
        <p:nvSpPr>
          <p:cNvPr id="81" name="Google Shape;81;p15"/>
          <p:cNvSpPr txBox="1"/>
          <p:nvPr/>
        </p:nvSpPr>
        <p:spPr>
          <a:xfrm>
            <a:off x="225670" y="591741"/>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Problem</a:t>
            </a:r>
            <a:endParaRPr sz="1100"/>
          </a:p>
        </p:txBody>
      </p:sp>
      <p:sp>
        <p:nvSpPr>
          <p:cNvPr id="82" name="Google Shape;82;p15"/>
          <p:cNvSpPr txBox="1"/>
          <p:nvPr/>
        </p:nvSpPr>
        <p:spPr>
          <a:xfrm>
            <a:off x="225670" y="1987154"/>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Existing Alternatives</a:t>
            </a:r>
            <a:endParaRPr sz="1100"/>
          </a:p>
        </p:txBody>
      </p:sp>
      <p:sp>
        <p:nvSpPr>
          <p:cNvPr id="83" name="Google Shape;83;p15"/>
          <p:cNvSpPr txBox="1"/>
          <p:nvPr/>
        </p:nvSpPr>
        <p:spPr>
          <a:xfrm>
            <a:off x="225670" y="3429001"/>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Cost Structure</a:t>
            </a:r>
            <a:endParaRPr sz="1100"/>
          </a:p>
        </p:txBody>
      </p:sp>
      <p:sp>
        <p:nvSpPr>
          <p:cNvPr id="84" name="Google Shape;84;p15"/>
          <p:cNvSpPr txBox="1"/>
          <p:nvPr/>
        </p:nvSpPr>
        <p:spPr>
          <a:xfrm>
            <a:off x="1960685" y="591741"/>
            <a:ext cx="161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Solution</a:t>
            </a:r>
            <a:endParaRPr sz="1100"/>
          </a:p>
        </p:txBody>
      </p:sp>
      <p:sp>
        <p:nvSpPr>
          <p:cNvPr id="85" name="Google Shape;85;p15"/>
          <p:cNvSpPr txBox="1"/>
          <p:nvPr/>
        </p:nvSpPr>
        <p:spPr>
          <a:xfrm>
            <a:off x="1960685" y="1987154"/>
            <a:ext cx="161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Key Metrics</a:t>
            </a:r>
            <a:endParaRPr sz="1100"/>
          </a:p>
        </p:txBody>
      </p:sp>
      <p:sp>
        <p:nvSpPr>
          <p:cNvPr id="86" name="Google Shape;86;p15"/>
          <p:cNvSpPr txBox="1"/>
          <p:nvPr/>
        </p:nvSpPr>
        <p:spPr>
          <a:xfrm>
            <a:off x="3716216" y="591741"/>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Unique Value Prop</a:t>
            </a:r>
            <a:endParaRPr sz="1100"/>
          </a:p>
        </p:txBody>
      </p:sp>
      <p:sp>
        <p:nvSpPr>
          <p:cNvPr id="87" name="Google Shape;87;p15"/>
          <p:cNvSpPr txBox="1"/>
          <p:nvPr/>
        </p:nvSpPr>
        <p:spPr>
          <a:xfrm>
            <a:off x="3716216" y="1987154"/>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High-Level Concept</a:t>
            </a:r>
            <a:endParaRPr sz="1100"/>
          </a:p>
        </p:txBody>
      </p:sp>
      <p:sp>
        <p:nvSpPr>
          <p:cNvPr id="88" name="Google Shape;88;p15"/>
          <p:cNvSpPr txBox="1"/>
          <p:nvPr/>
        </p:nvSpPr>
        <p:spPr>
          <a:xfrm>
            <a:off x="5464421" y="586979"/>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Expected Outcome</a:t>
            </a:r>
            <a:endParaRPr sz="1100"/>
          </a:p>
        </p:txBody>
      </p:sp>
      <p:sp>
        <p:nvSpPr>
          <p:cNvPr id="89" name="Google Shape;89;p15"/>
          <p:cNvSpPr txBox="1"/>
          <p:nvPr/>
        </p:nvSpPr>
        <p:spPr>
          <a:xfrm>
            <a:off x="5464421" y="1982391"/>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Next Steps</a:t>
            </a:r>
            <a:endParaRPr sz="1100"/>
          </a:p>
        </p:txBody>
      </p:sp>
      <p:sp>
        <p:nvSpPr>
          <p:cNvPr id="90" name="Google Shape;90;p15"/>
          <p:cNvSpPr txBox="1"/>
          <p:nvPr/>
        </p:nvSpPr>
        <p:spPr>
          <a:xfrm>
            <a:off x="7217021" y="591741"/>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Customer Segments</a:t>
            </a:r>
            <a:endParaRPr sz="1100"/>
          </a:p>
        </p:txBody>
      </p:sp>
      <p:sp>
        <p:nvSpPr>
          <p:cNvPr id="91" name="Google Shape;91;p15"/>
          <p:cNvSpPr txBox="1"/>
          <p:nvPr/>
        </p:nvSpPr>
        <p:spPr>
          <a:xfrm>
            <a:off x="7217021" y="1987154"/>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Early Adopters</a:t>
            </a:r>
            <a:endParaRPr sz="1100"/>
          </a:p>
        </p:txBody>
      </p:sp>
      <p:sp>
        <p:nvSpPr>
          <p:cNvPr id="92" name="Google Shape;92;p15"/>
          <p:cNvSpPr txBox="1"/>
          <p:nvPr/>
        </p:nvSpPr>
        <p:spPr>
          <a:xfrm>
            <a:off x="4591051" y="3429001"/>
            <a:ext cx="1614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800">
                <a:solidFill>
                  <a:schemeClr val="dk1"/>
                </a:solidFill>
                <a:latin typeface="Arial"/>
                <a:ea typeface="Arial"/>
                <a:cs typeface="Arial"/>
                <a:sym typeface="Arial"/>
              </a:rPr>
              <a:t>Value Proposition </a:t>
            </a:r>
            <a:endParaRPr sz="1100"/>
          </a:p>
        </p:txBody>
      </p:sp>
      <p:sp>
        <p:nvSpPr>
          <p:cNvPr id="93" name="Google Shape;93;p15"/>
          <p:cNvSpPr/>
          <p:nvPr/>
        </p:nvSpPr>
        <p:spPr>
          <a:xfrm>
            <a:off x="225669" y="571500"/>
            <a:ext cx="1734900" cy="28575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4" name="Google Shape;94;p15"/>
          <p:cNvSpPr/>
          <p:nvPr/>
        </p:nvSpPr>
        <p:spPr>
          <a:xfrm>
            <a:off x="1960685" y="570311"/>
            <a:ext cx="1736400" cy="14121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5" name="Google Shape;95;p15"/>
          <p:cNvSpPr/>
          <p:nvPr/>
        </p:nvSpPr>
        <p:spPr>
          <a:xfrm>
            <a:off x="1960685" y="1982391"/>
            <a:ext cx="1736400" cy="14466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6" name="Google Shape;96;p15"/>
          <p:cNvSpPr/>
          <p:nvPr/>
        </p:nvSpPr>
        <p:spPr>
          <a:xfrm>
            <a:off x="3697166" y="571500"/>
            <a:ext cx="1734900" cy="28575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7" name="Google Shape;97;p15"/>
          <p:cNvSpPr/>
          <p:nvPr/>
        </p:nvSpPr>
        <p:spPr>
          <a:xfrm>
            <a:off x="5432181" y="571501"/>
            <a:ext cx="1734900" cy="14121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8" name="Google Shape;98;p15"/>
          <p:cNvSpPr/>
          <p:nvPr/>
        </p:nvSpPr>
        <p:spPr>
          <a:xfrm>
            <a:off x="5432181" y="1982391"/>
            <a:ext cx="1734900" cy="14466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9" name="Google Shape;99;p15"/>
          <p:cNvSpPr/>
          <p:nvPr/>
        </p:nvSpPr>
        <p:spPr>
          <a:xfrm>
            <a:off x="7173059" y="571500"/>
            <a:ext cx="1736400" cy="28575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0" name="Google Shape;100;p15"/>
          <p:cNvSpPr/>
          <p:nvPr/>
        </p:nvSpPr>
        <p:spPr>
          <a:xfrm>
            <a:off x="225669" y="3434954"/>
            <a:ext cx="4350600" cy="13656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01" name="Google Shape;101;p15"/>
          <p:cNvSpPr/>
          <p:nvPr/>
        </p:nvSpPr>
        <p:spPr>
          <a:xfrm>
            <a:off x="4576397" y="3434954"/>
            <a:ext cx="4331700" cy="1365600"/>
          </a:xfrm>
          <a:prstGeom prst="rect">
            <a:avLst/>
          </a:prstGeom>
          <a:no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descr="channels.png" id="102" name="Google Shape;102;p15"/>
          <p:cNvPicPr preferRelativeResize="0"/>
          <p:nvPr/>
        </p:nvPicPr>
        <p:blipFill rotWithShape="1">
          <a:blip r:embed="rId1">
            <a:alphaModFix/>
          </a:blip>
          <a:srcRect b="0" l="0" r="0" t="0"/>
          <a:stretch/>
        </p:blipFill>
        <p:spPr>
          <a:xfrm>
            <a:off x="6762751" y="1969295"/>
            <a:ext cx="266700" cy="216694"/>
          </a:xfrm>
          <a:prstGeom prst="rect">
            <a:avLst/>
          </a:prstGeom>
          <a:noFill/>
          <a:ln>
            <a:noFill/>
          </a:ln>
        </p:spPr>
      </p:pic>
      <p:pic>
        <p:nvPicPr>
          <p:cNvPr descr="cost-structure.png" id="103" name="Google Shape;103;p15"/>
          <p:cNvPicPr preferRelativeResize="0"/>
          <p:nvPr/>
        </p:nvPicPr>
        <p:blipFill rotWithShape="1">
          <a:blip r:embed="rId2">
            <a:alphaModFix/>
          </a:blip>
          <a:srcRect b="0" l="0" r="0" t="0"/>
          <a:stretch/>
        </p:blipFill>
        <p:spPr>
          <a:xfrm>
            <a:off x="4251082" y="3429000"/>
            <a:ext cx="266700" cy="215504"/>
          </a:xfrm>
          <a:prstGeom prst="rect">
            <a:avLst/>
          </a:prstGeom>
          <a:noFill/>
          <a:ln>
            <a:noFill/>
          </a:ln>
        </p:spPr>
      </p:pic>
      <p:pic>
        <p:nvPicPr>
          <p:cNvPr descr="customer-segments.png" id="104" name="Google Shape;104;p15"/>
          <p:cNvPicPr preferRelativeResize="0"/>
          <p:nvPr/>
        </p:nvPicPr>
        <p:blipFill rotWithShape="1">
          <a:blip r:embed="rId3">
            <a:alphaModFix/>
          </a:blip>
          <a:srcRect b="0" l="0" r="0" t="0"/>
          <a:stretch/>
        </p:blipFill>
        <p:spPr>
          <a:xfrm>
            <a:off x="8543193" y="571500"/>
            <a:ext cx="266700" cy="215503"/>
          </a:xfrm>
          <a:prstGeom prst="rect">
            <a:avLst/>
          </a:prstGeom>
          <a:noFill/>
          <a:ln>
            <a:noFill/>
          </a:ln>
        </p:spPr>
      </p:pic>
      <p:pic>
        <p:nvPicPr>
          <p:cNvPr descr="early-adopters.png" id="105" name="Google Shape;105;p15"/>
          <p:cNvPicPr preferRelativeResize="0"/>
          <p:nvPr/>
        </p:nvPicPr>
        <p:blipFill rotWithShape="1">
          <a:blip r:embed="rId4">
            <a:alphaModFix/>
          </a:blip>
          <a:srcRect b="0" l="0" r="0" t="0"/>
          <a:stretch/>
        </p:blipFill>
        <p:spPr>
          <a:xfrm>
            <a:off x="8543193" y="1955006"/>
            <a:ext cx="266700" cy="215503"/>
          </a:xfrm>
          <a:prstGeom prst="rect">
            <a:avLst/>
          </a:prstGeom>
          <a:noFill/>
          <a:ln>
            <a:noFill/>
          </a:ln>
        </p:spPr>
      </p:pic>
      <p:pic>
        <p:nvPicPr>
          <p:cNvPr descr="existing-alternatives.png" id="106" name="Google Shape;106;p15"/>
          <p:cNvPicPr preferRelativeResize="0"/>
          <p:nvPr/>
        </p:nvPicPr>
        <p:blipFill rotWithShape="1">
          <a:blip r:embed="rId5">
            <a:alphaModFix/>
          </a:blip>
          <a:srcRect b="0" l="0" r="0" t="0"/>
          <a:stretch/>
        </p:blipFill>
        <p:spPr>
          <a:xfrm>
            <a:off x="1617784" y="1969295"/>
            <a:ext cx="265236" cy="216694"/>
          </a:xfrm>
          <a:prstGeom prst="rect">
            <a:avLst/>
          </a:prstGeom>
          <a:noFill/>
          <a:ln>
            <a:noFill/>
          </a:ln>
        </p:spPr>
      </p:pic>
      <p:pic>
        <p:nvPicPr>
          <p:cNvPr descr="high-level-concept.png" id="107" name="Google Shape;107;p15"/>
          <p:cNvPicPr preferRelativeResize="0"/>
          <p:nvPr/>
        </p:nvPicPr>
        <p:blipFill rotWithShape="1">
          <a:blip r:embed="rId6">
            <a:alphaModFix/>
          </a:blip>
          <a:srcRect b="0" l="0" r="0" t="0"/>
          <a:stretch/>
        </p:blipFill>
        <p:spPr>
          <a:xfrm>
            <a:off x="5106866" y="1969295"/>
            <a:ext cx="266700" cy="216694"/>
          </a:xfrm>
          <a:prstGeom prst="rect">
            <a:avLst/>
          </a:prstGeom>
          <a:noFill/>
          <a:ln>
            <a:noFill/>
          </a:ln>
        </p:spPr>
      </p:pic>
      <p:pic>
        <p:nvPicPr>
          <p:cNvPr descr="key-metrics.png" id="108" name="Google Shape;108;p15"/>
          <p:cNvPicPr preferRelativeResize="0"/>
          <p:nvPr/>
        </p:nvPicPr>
        <p:blipFill rotWithShape="1">
          <a:blip r:embed="rId7">
            <a:alphaModFix/>
          </a:blip>
          <a:srcRect b="0" l="0" r="0" t="0"/>
          <a:stretch/>
        </p:blipFill>
        <p:spPr>
          <a:xfrm>
            <a:off x="3371851" y="1969295"/>
            <a:ext cx="266700" cy="216694"/>
          </a:xfrm>
          <a:prstGeom prst="rect">
            <a:avLst/>
          </a:prstGeom>
          <a:noFill/>
          <a:ln>
            <a:noFill/>
          </a:ln>
        </p:spPr>
      </p:pic>
      <p:pic>
        <p:nvPicPr>
          <p:cNvPr descr="problem.png" id="109" name="Google Shape;109;p15"/>
          <p:cNvPicPr preferRelativeResize="0"/>
          <p:nvPr/>
        </p:nvPicPr>
        <p:blipFill rotWithShape="1">
          <a:blip r:embed="rId8">
            <a:alphaModFix/>
          </a:blip>
          <a:srcRect b="0" l="0" r="0" t="0"/>
          <a:stretch/>
        </p:blipFill>
        <p:spPr>
          <a:xfrm>
            <a:off x="1617784" y="571500"/>
            <a:ext cx="265236" cy="215503"/>
          </a:xfrm>
          <a:prstGeom prst="rect">
            <a:avLst/>
          </a:prstGeom>
          <a:noFill/>
          <a:ln>
            <a:noFill/>
          </a:ln>
        </p:spPr>
      </p:pic>
      <p:pic>
        <p:nvPicPr>
          <p:cNvPr descr="revenue-streams.png" id="110" name="Google Shape;110;p15"/>
          <p:cNvPicPr preferRelativeResize="0"/>
          <p:nvPr/>
        </p:nvPicPr>
        <p:blipFill rotWithShape="1">
          <a:blip r:embed="rId9">
            <a:alphaModFix/>
          </a:blip>
          <a:srcRect b="0" l="0" r="0" t="0"/>
          <a:stretch/>
        </p:blipFill>
        <p:spPr>
          <a:xfrm>
            <a:off x="8543193" y="3429000"/>
            <a:ext cx="266700" cy="215504"/>
          </a:xfrm>
          <a:prstGeom prst="rect">
            <a:avLst/>
          </a:prstGeom>
          <a:noFill/>
          <a:ln>
            <a:noFill/>
          </a:ln>
        </p:spPr>
      </p:pic>
      <p:pic>
        <p:nvPicPr>
          <p:cNvPr descr="solution.png" id="111" name="Google Shape;111;p15"/>
          <p:cNvPicPr preferRelativeResize="0"/>
          <p:nvPr/>
        </p:nvPicPr>
        <p:blipFill rotWithShape="1">
          <a:blip r:embed="rId10">
            <a:alphaModFix/>
          </a:blip>
          <a:srcRect b="0" l="0" r="0" t="0"/>
          <a:stretch/>
        </p:blipFill>
        <p:spPr>
          <a:xfrm>
            <a:off x="3371851" y="576263"/>
            <a:ext cx="266700" cy="215503"/>
          </a:xfrm>
          <a:prstGeom prst="rect">
            <a:avLst/>
          </a:prstGeom>
          <a:noFill/>
          <a:ln>
            <a:noFill/>
          </a:ln>
        </p:spPr>
      </p:pic>
      <p:pic>
        <p:nvPicPr>
          <p:cNvPr descr="unfair-advantage.png" id="112" name="Google Shape;112;p15"/>
          <p:cNvPicPr preferRelativeResize="0"/>
          <p:nvPr/>
        </p:nvPicPr>
        <p:blipFill rotWithShape="1">
          <a:blip r:embed="rId11">
            <a:alphaModFix/>
          </a:blip>
          <a:srcRect b="0" l="0" r="0" t="0"/>
          <a:stretch/>
        </p:blipFill>
        <p:spPr>
          <a:xfrm>
            <a:off x="6762751" y="571500"/>
            <a:ext cx="266700" cy="215503"/>
          </a:xfrm>
          <a:prstGeom prst="rect">
            <a:avLst/>
          </a:prstGeom>
          <a:noFill/>
          <a:ln>
            <a:noFill/>
          </a:ln>
        </p:spPr>
      </p:pic>
      <p:pic>
        <p:nvPicPr>
          <p:cNvPr descr="unique-value-proposition.png" id="113" name="Google Shape;113;p15"/>
          <p:cNvPicPr preferRelativeResize="0"/>
          <p:nvPr/>
        </p:nvPicPr>
        <p:blipFill rotWithShape="1">
          <a:blip r:embed="rId12">
            <a:alphaModFix/>
          </a:blip>
          <a:srcRect b="0" l="0" r="0" t="0"/>
          <a:stretch/>
        </p:blipFill>
        <p:spPr>
          <a:xfrm>
            <a:off x="5106866" y="571500"/>
            <a:ext cx="266700" cy="21550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0" Type="http://schemas.openxmlformats.org/officeDocument/2006/relationships/image" Target="../media/image34.png"/><Relationship Id="rId22" Type="http://schemas.openxmlformats.org/officeDocument/2006/relationships/image" Target="../media/image22.jpg"/><Relationship Id="rId21" Type="http://schemas.openxmlformats.org/officeDocument/2006/relationships/image" Target="../media/image45.jpg"/><Relationship Id="rId24" Type="http://schemas.openxmlformats.org/officeDocument/2006/relationships/image" Target="../media/image23.png"/><Relationship Id="rId23" Type="http://schemas.openxmlformats.org/officeDocument/2006/relationships/image" Target="../media/image49.jpg"/><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24.jpg"/><Relationship Id="rId9" Type="http://schemas.openxmlformats.org/officeDocument/2006/relationships/image" Target="../media/image31.png"/><Relationship Id="rId26" Type="http://schemas.openxmlformats.org/officeDocument/2006/relationships/image" Target="../media/image29.png"/><Relationship Id="rId25" Type="http://schemas.openxmlformats.org/officeDocument/2006/relationships/image" Target="../media/image27.png"/><Relationship Id="rId28" Type="http://schemas.openxmlformats.org/officeDocument/2006/relationships/image" Target="../media/image52.png"/><Relationship Id="rId27"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image" Target="../media/image30.png"/><Relationship Id="rId29" Type="http://schemas.openxmlformats.org/officeDocument/2006/relationships/image" Target="../media/image48.png"/><Relationship Id="rId7" Type="http://schemas.openxmlformats.org/officeDocument/2006/relationships/image" Target="../media/image44.jpg"/><Relationship Id="rId8" Type="http://schemas.openxmlformats.org/officeDocument/2006/relationships/image" Target="../media/image38.jpg"/><Relationship Id="rId31" Type="http://schemas.openxmlformats.org/officeDocument/2006/relationships/image" Target="../media/image51.png"/><Relationship Id="rId30" Type="http://schemas.openxmlformats.org/officeDocument/2006/relationships/image" Target="../media/image32.png"/><Relationship Id="rId11" Type="http://schemas.openxmlformats.org/officeDocument/2006/relationships/image" Target="../media/image37.jpg"/><Relationship Id="rId33" Type="http://schemas.openxmlformats.org/officeDocument/2006/relationships/image" Target="../media/image39.png"/><Relationship Id="rId10" Type="http://schemas.openxmlformats.org/officeDocument/2006/relationships/image" Target="../media/image14.jpg"/><Relationship Id="rId32" Type="http://schemas.openxmlformats.org/officeDocument/2006/relationships/image" Target="../media/image40.png"/><Relationship Id="rId13" Type="http://schemas.openxmlformats.org/officeDocument/2006/relationships/image" Target="../media/image19.png"/><Relationship Id="rId35" Type="http://schemas.openxmlformats.org/officeDocument/2006/relationships/image" Target="../media/image43.png"/><Relationship Id="rId12" Type="http://schemas.openxmlformats.org/officeDocument/2006/relationships/image" Target="../media/image15.jpg"/><Relationship Id="rId34" Type="http://schemas.openxmlformats.org/officeDocument/2006/relationships/image" Target="../media/image42.png"/><Relationship Id="rId15" Type="http://schemas.openxmlformats.org/officeDocument/2006/relationships/image" Target="../media/image46.png"/><Relationship Id="rId14" Type="http://schemas.openxmlformats.org/officeDocument/2006/relationships/image" Target="../media/image18.png"/><Relationship Id="rId17" Type="http://schemas.openxmlformats.org/officeDocument/2006/relationships/image" Target="../media/image26.jpg"/><Relationship Id="rId16" Type="http://schemas.openxmlformats.org/officeDocument/2006/relationships/image" Target="../media/image41.png"/><Relationship Id="rId19" Type="http://schemas.openxmlformats.org/officeDocument/2006/relationships/image" Target="../media/image50.png"/><Relationship Id="rId18"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cxnSp>
        <p:nvCxnSpPr>
          <p:cNvPr id="135" name="Google Shape;135;p17"/>
          <p:cNvCxnSpPr/>
          <p:nvPr/>
        </p:nvCxnSpPr>
        <p:spPr>
          <a:xfrm>
            <a:off x="2771550" y="0"/>
            <a:ext cx="0" cy="3838800"/>
          </a:xfrm>
          <a:prstGeom prst="straightConnector1">
            <a:avLst/>
          </a:prstGeom>
          <a:noFill/>
          <a:ln cap="flat" cmpd="sng" w="9525">
            <a:solidFill>
              <a:srgbClr val="666666"/>
            </a:solidFill>
            <a:prstDash val="solid"/>
            <a:round/>
            <a:headEnd len="med" w="med" type="none"/>
            <a:tailEnd len="med" w="med" type="none"/>
          </a:ln>
        </p:spPr>
      </p:cxnSp>
      <p:sp>
        <p:nvSpPr>
          <p:cNvPr id="136" name="Google Shape;136;p17"/>
          <p:cNvSpPr txBox="1"/>
          <p:nvPr>
            <p:ph type="ctrTitle"/>
          </p:nvPr>
        </p:nvSpPr>
        <p:spPr>
          <a:xfrm>
            <a:off x="3022903" y="1355469"/>
            <a:ext cx="5290800" cy="2844600"/>
          </a:xfrm>
          <a:prstGeom prst="rect">
            <a:avLst/>
          </a:prstGeom>
        </p:spPr>
        <p:txBody>
          <a:bodyPr anchorCtr="0" anchor="b" bIns="91425" lIns="91425" spcFirstLastPara="1" rIns="91425" wrap="square" tIns="91425">
            <a:normAutofit/>
          </a:bodyPr>
          <a:lstStyle/>
          <a:p>
            <a:pPr indent="0" lvl="0" marL="0" rtl="0" algn="l">
              <a:lnSpc>
                <a:spcPct val="80000"/>
              </a:lnSpc>
              <a:spcBef>
                <a:spcPts val="0"/>
              </a:spcBef>
              <a:spcAft>
                <a:spcPts val="0"/>
              </a:spcAft>
              <a:buNone/>
            </a:pPr>
            <a:r>
              <a:rPr b="1" lang="en" sz="3600">
                <a:solidFill>
                  <a:srgbClr val="000099"/>
                </a:solidFill>
              </a:rPr>
              <a:t>Technology Innovation HUB</a:t>
            </a:r>
            <a:endParaRPr b="1" sz="3600">
              <a:solidFill>
                <a:srgbClr val="000099"/>
              </a:solidFill>
            </a:endParaRPr>
          </a:p>
          <a:p>
            <a:pPr indent="0" lvl="0" marL="0" rtl="0" algn="l">
              <a:lnSpc>
                <a:spcPct val="80000"/>
              </a:lnSpc>
              <a:spcBef>
                <a:spcPts val="0"/>
              </a:spcBef>
              <a:spcAft>
                <a:spcPts val="0"/>
              </a:spcAft>
              <a:buClr>
                <a:schemeClr val="dk1"/>
              </a:buClr>
              <a:buSzPts val="1100"/>
              <a:buFont typeface="Arial"/>
              <a:buNone/>
            </a:pPr>
            <a:r>
              <a:rPr b="1" lang="en" sz="3600"/>
              <a:t>Program Update</a:t>
            </a:r>
            <a:endParaRPr b="1" sz="3600"/>
          </a:p>
          <a:p>
            <a:pPr indent="0" lvl="0" marL="0" rtl="0" algn="l">
              <a:lnSpc>
                <a:spcPct val="80000"/>
              </a:lnSpc>
              <a:spcBef>
                <a:spcPts val="0"/>
              </a:spcBef>
              <a:spcAft>
                <a:spcPts val="0"/>
              </a:spcAft>
              <a:buClr>
                <a:schemeClr val="dk1"/>
              </a:buClr>
              <a:buSzPts val="1100"/>
              <a:buFont typeface="Arial"/>
              <a:buNone/>
            </a:pPr>
            <a:r>
              <a:t/>
            </a:r>
            <a:endParaRPr sz="3600"/>
          </a:p>
          <a:p>
            <a:pPr indent="0" lvl="0" marL="0" rtl="0" algn="l">
              <a:lnSpc>
                <a:spcPct val="80000"/>
              </a:lnSpc>
              <a:spcBef>
                <a:spcPts val="0"/>
              </a:spcBef>
              <a:spcAft>
                <a:spcPts val="0"/>
              </a:spcAft>
              <a:buNone/>
            </a:pPr>
            <a:r>
              <a:t/>
            </a:r>
            <a:endParaRPr sz="3600"/>
          </a:p>
        </p:txBody>
      </p:sp>
      <p:sp>
        <p:nvSpPr>
          <p:cNvPr id="137" name="Google Shape;137;p17"/>
          <p:cNvSpPr txBox="1"/>
          <p:nvPr>
            <p:ph idx="1" type="subTitle"/>
          </p:nvPr>
        </p:nvSpPr>
        <p:spPr>
          <a:xfrm>
            <a:off x="3045539" y="3369531"/>
            <a:ext cx="4571100" cy="1546500"/>
          </a:xfrm>
          <a:prstGeom prst="rect">
            <a:avLst/>
          </a:prstGeom>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120"/>
              <a:t>For the </a:t>
            </a:r>
            <a:r>
              <a:rPr b="1" lang="en" sz="1120">
                <a:latin typeface="Montserrat"/>
                <a:ea typeface="Montserrat"/>
                <a:cs typeface="Montserrat"/>
                <a:sym typeface="Montserrat"/>
              </a:rPr>
              <a:t>National Football League</a:t>
            </a:r>
            <a:endParaRPr b="1" sz="1120">
              <a:latin typeface="Montserrat"/>
              <a:ea typeface="Montserrat"/>
              <a:cs typeface="Montserrat"/>
              <a:sym typeface="Montserrat"/>
            </a:endParaRPr>
          </a:p>
          <a:p>
            <a:pPr indent="0" lvl="0" marL="0" rtl="0" algn="l">
              <a:lnSpc>
                <a:spcPct val="115000"/>
              </a:lnSpc>
              <a:spcBef>
                <a:spcPts val="0"/>
              </a:spcBef>
              <a:spcAft>
                <a:spcPts val="0"/>
              </a:spcAft>
              <a:buSzPts val="605"/>
              <a:buNone/>
            </a:pPr>
            <a:r>
              <a:rPr lang="en" sz="1120"/>
              <a:t>January 8, 2024</a:t>
            </a:r>
            <a:endParaRPr sz="1120"/>
          </a:p>
          <a:p>
            <a:pPr indent="0" lvl="0" marL="0" rtl="0" algn="l">
              <a:lnSpc>
                <a:spcPct val="115000"/>
              </a:lnSpc>
              <a:spcBef>
                <a:spcPts val="0"/>
              </a:spcBef>
              <a:spcAft>
                <a:spcPts val="0"/>
              </a:spcAft>
              <a:buSzPts val="605"/>
              <a:buNone/>
            </a:pPr>
            <a:r>
              <a:rPr lang="en" sz="1120"/>
              <a:t>Program Update</a:t>
            </a:r>
            <a:endParaRPr sz="1120"/>
          </a:p>
          <a:p>
            <a:pPr indent="0" lvl="0" marL="0" rtl="0" algn="l">
              <a:lnSpc>
                <a:spcPct val="115000"/>
              </a:lnSpc>
              <a:spcBef>
                <a:spcPts val="0"/>
              </a:spcBef>
              <a:spcAft>
                <a:spcPts val="0"/>
              </a:spcAft>
              <a:buSzPts val="605"/>
              <a:buNone/>
            </a:pPr>
            <a:r>
              <a:rPr b="1" lang="en" sz="1120"/>
              <a:t>Tye</a:t>
            </a:r>
            <a:r>
              <a:rPr b="1" lang="en" sz="1120">
                <a:latin typeface="Montserrat"/>
                <a:ea typeface="Montserrat"/>
                <a:cs typeface="Montserrat"/>
                <a:sym typeface="Montserrat"/>
              </a:rPr>
              <a:t> Hayes</a:t>
            </a:r>
            <a:r>
              <a:rPr lang="en" sz="1120"/>
              <a:t>, CEO, N-Ovate Solutions</a:t>
            </a:r>
            <a:endParaRPr sz="1120"/>
          </a:p>
          <a:p>
            <a:pPr indent="0" lvl="0" marL="0" rtl="0" algn="l">
              <a:lnSpc>
                <a:spcPct val="115000"/>
              </a:lnSpc>
              <a:spcBef>
                <a:spcPts val="0"/>
              </a:spcBef>
              <a:spcAft>
                <a:spcPts val="0"/>
              </a:spcAft>
              <a:buSzPts val="605"/>
              <a:buNone/>
            </a:pPr>
            <a:r>
              <a:rPr b="1" lang="en" sz="1120"/>
              <a:t>Jeff Cratty</a:t>
            </a:r>
            <a:r>
              <a:rPr lang="en" sz="1120"/>
              <a:t>, CTO, N-Ovate Solutions</a:t>
            </a:r>
            <a:endParaRPr sz="1120"/>
          </a:p>
          <a:p>
            <a:pPr indent="0" lvl="0" marL="0" rtl="0" algn="l">
              <a:lnSpc>
                <a:spcPct val="115000"/>
              </a:lnSpc>
              <a:spcBef>
                <a:spcPts val="0"/>
              </a:spcBef>
              <a:spcAft>
                <a:spcPts val="0"/>
              </a:spcAft>
              <a:buSzPts val="605"/>
              <a:buNone/>
            </a:pPr>
            <a:r>
              <a:rPr b="1" lang="en" sz="1120"/>
              <a:t>Brad Boim</a:t>
            </a:r>
            <a:r>
              <a:rPr lang="en" sz="1120"/>
              <a:t>, </a:t>
            </a:r>
            <a:r>
              <a:rPr lang="en" sz="1120"/>
              <a:t>Sr. Director, Post Production-Media</a:t>
            </a:r>
            <a:endParaRPr sz="1120"/>
          </a:p>
          <a:p>
            <a:pPr indent="0" lvl="0" marL="0" rtl="0" algn="l">
              <a:lnSpc>
                <a:spcPct val="115000"/>
              </a:lnSpc>
              <a:spcBef>
                <a:spcPts val="0"/>
              </a:spcBef>
              <a:spcAft>
                <a:spcPts val="0"/>
              </a:spcAft>
              <a:buSzPts val="605"/>
              <a:buNone/>
            </a:pPr>
            <a:r>
              <a:t/>
            </a:r>
            <a:endParaRPr sz="1120"/>
          </a:p>
        </p:txBody>
      </p:sp>
      <p:sp>
        <p:nvSpPr>
          <p:cNvPr id="138" name="Google Shape;138;p17"/>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p:nvPr/>
        </p:nvSpPr>
        <p:spPr>
          <a:xfrm>
            <a:off x="982375" y="1564525"/>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Open Sans"/>
                <a:ea typeface="Open Sans"/>
                <a:cs typeface="Open Sans"/>
                <a:sym typeface="Open Sans"/>
              </a:rPr>
              <a:t>1</a:t>
            </a:r>
            <a:endParaRPr b="1" i="0" sz="1400" u="none" cap="none" strike="noStrike">
              <a:solidFill>
                <a:srgbClr val="FFFFFF"/>
              </a:solidFill>
              <a:latin typeface="Open Sans"/>
              <a:ea typeface="Open Sans"/>
              <a:cs typeface="Open Sans"/>
              <a:sym typeface="Open Sans"/>
            </a:endParaRPr>
          </a:p>
        </p:txBody>
      </p:sp>
      <p:sp>
        <p:nvSpPr>
          <p:cNvPr id="144" name="Google Shape;144;p18"/>
          <p:cNvSpPr/>
          <p:nvPr/>
        </p:nvSpPr>
        <p:spPr>
          <a:xfrm>
            <a:off x="4487950" y="1564525"/>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Open Sans"/>
                <a:ea typeface="Open Sans"/>
                <a:cs typeface="Open Sans"/>
                <a:sym typeface="Open Sans"/>
              </a:rPr>
              <a:t>3</a:t>
            </a:r>
            <a:endParaRPr b="1" i="0" sz="1400" u="none" cap="none" strike="noStrike">
              <a:solidFill>
                <a:srgbClr val="FFFFFF"/>
              </a:solidFill>
              <a:latin typeface="Open Sans"/>
              <a:ea typeface="Open Sans"/>
              <a:cs typeface="Open Sans"/>
              <a:sym typeface="Open Sans"/>
            </a:endParaRPr>
          </a:p>
        </p:txBody>
      </p:sp>
      <p:sp>
        <p:nvSpPr>
          <p:cNvPr id="145" name="Google Shape;145;p18"/>
          <p:cNvSpPr/>
          <p:nvPr/>
        </p:nvSpPr>
        <p:spPr>
          <a:xfrm>
            <a:off x="982375" y="2698225"/>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Open Sans"/>
                <a:ea typeface="Open Sans"/>
                <a:cs typeface="Open Sans"/>
                <a:sym typeface="Open Sans"/>
              </a:rPr>
              <a:t>2</a:t>
            </a:r>
            <a:endParaRPr b="1" i="0" sz="1400" u="none" cap="none" strike="noStrike">
              <a:solidFill>
                <a:srgbClr val="FFFFFF"/>
              </a:solidFill>
              <a:latin typeface="Open Sans"/>
              <a:ea typeface="Open Sans"/>
              <a:cs typeface="Open Sans"/>
              <a:sym typeface="Open Sans"/>
            </a:endParaRPr>
          </a:p>
        </p:txBody>
      </p:sp>
      <p:sp>
        <p:nvSpPr>
          <p:cNvPr id="146" name="Google Shape;146;p18"/>
          <p:cNvSpPr/>
          <p:nvPr/>
        </p:nvSpPr>
        <p:spPr>
          <a:xfrm>
            <a:off x="4487950" y="2698225"/>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Open Sans"/>
                <a:ea typeface="Open Sans"/>
                <a:cs typeface="Open Sans"/>
                <a:sym typeface="Open Sans"/>
              </a:rPr>
              <a:t>4</a:t>
            </a:r>
            <a:endParaRPr b="1" i="0" sz="1400" u="none" cap="none" strike="noStrike">
              <a:solidFill>
                <a:srgbClr val="FFFFFF"/>
              </a:solidFill>
              <a:latin typeface="Open Sans"/>
              <a:ea typeface="Open Sans"/>
              <a:cs typeface="Open Sans"/>
              <a:sym typeface="Open Sans"/>
            </a:endParaRPr>
          </a:p>
        </p:txBody>
      </p:sp>
      <p:sp>
        <p:nvSpPr>
          <p:cNvPr id="147" name="Google Shape;147;p18"/>
          <p:cNvSpPr txBox="1"/>
          <p:nvPr>
            <p:ph type="title"/>
          </p:nvPr>
        </p:nvSpPr>
        <p:spPr>
          <a:xfrm>
            <a:off x="1452725" y="1564525"/>
            <a:ext cx="2514300" cy="110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50"/>
              <a:t>Background</a:t>
            </a:r>
            <a:endParaRPr b="1" sz="1250"/>
          </a:p>
          <a:p>
            <a:pPr indent="0" lvl="0" marL="0" rtl="0" algn="l">
              <a:spcBef>
                <a:spcPts val="0"/>
              </a:spcBef>
              <a:spcAft>
                <a:spcPts val="0"/>
              </a:spcAft>
              <a:buClr>
                <a:schemeClr val="dk1"/>
              </a:buClr>
              <a:buSzPts val="1100"/>
              <a:buFont typeface="Arial"/>
              <a:buNone/>
            </a:pPr>
            <a:r>
              <a:rPr lang="en" sz="1050"/>
              <a:t>Recap of Previous Presentation</a:t>
            </a:r>
            <a:endParaRPr sz="1050"/>
          </a:p>
          <a:p>
            <a:pPr indent="0" lvl="0" marL="0" rtl="0" algn="l">
              <a:spcBef>
                <a:spcPts val="0"/>
              </a:spcBef>
              <a:spcAft>
                <a:spcPts val="0"/>
              </a:spcAft>
              <a:buClr>
                <a:schemeClr val="dk1"/>
              </a:buClr>
              <a:buSzPts val="1100"/>
              <a:buFont typeface="Arial"/>
              <a:buNone/>
            </a:pPr>
            <a:r>
              <a:rPr lang="en" sz="1050"/>
              <a:t>Explanation of Value Zone</a:t>
            </a:r>
            <a:endParaRPr sz="1050"/>
          </a:p>
          <a:p>
            <a:pPr indent="0" lvl="0" marL="0" rtl="0" algn="l">
              <a:spcBef>
                <a:spcPts val="0"/>
              </a:spcBef>
              <a:spcAft>
                <a:spcPts val="0"/>
              </a:spcAft>
              <a:buClr>
                <a:schemeClr val="dk1"/>
              </a:buClr>
              <a:buSzPts val="1100"/>
              <a:buFont typeface="Arial"/>
              <a:buNone/>
            </a:pPr>
            <a:r>
              <a:t/>
            </a:r>
            <a:endParaRPr sz="1050"/>
          </a:p>
          <a:p>
            <a:pPr indent="0" lvl="0" marL="0" rtl="0" algn="l">
              <a:spcBef>
                <a:spcPts val="0"/>
              </a:spcBef>
              <a:spcAft>
                <a:spcPts val="0"/>
              </a:spcAft>
              <a:buClr>
                <a:schemeClr val="dk1"/>
              </a:buClr>
              <a:buSzPts val="1100"/>
              <a:buFont typeface="Arial"/>
              <a:buNone/>
            </a:pPr>
            <a:r>
              <a:t/>
            </a:r>
            <a:endParaRPr sz="1050"/>
          </a:p>
          <a:p>
            <a:pPr indent="0" lvl="0" marL="0" rtl="0" algn="l">
              <a:spcBef>
                <a:spcPts val="0"/>
              </a:spcBef>
              <a:spcAft>
                <a:spcPts val="0"/>
              </a:spcAft>
              <a:buClr>
                <a:schemeClr val="dk1"/>
              </a:buClr>
              <a:buSzPts val="990"/>
              <a:buFont typeface="Arial"/>
              <a:buNone/>
            </a:pPr>
            <a:r>
              <a:t/>
            </a:r>
            <a:endParaRPr sz="1050"/>
          </a:p>
        </p:txBody>
      </p:sp>
      <p:sp>
        <p:nvSpPr>
          <p:cNvPr id="148" name="Google Shape;148;p18"/>
          <p:cNvSpPr txBox="1"/>
          <p:nvPr>
            <p:ph type="title"/>
          </p:nvPr>
        </p:nvSpPr>
        <p:spPr>
          <a:xfrm>
            <a:off x="4966150" y="2678575"/>
            <a:ext cx="2699400" cy="114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1250"/>
              <a:t>Pilot Project Updates</a:t>
            </a:r>
            <a:endParaRPr b="1" sz="1250"/>
          </a:p>
          <a:p>
            <a:pPr indent="0" lvl="0" marL="0" rtl="0" algn="l">
              <a:spcBef>
                <a:spcPts val="0"/>
              </a:spcBef>
              <a:spcAft>
                <a:spcPts val="0"/>
              </a:spcAft>
              <a:buClr>
                <a:schemeClr val="dk1"/>
              </a:buClr>
              <a:buSzPts val="1100"/>
              <a:buFont typeface="Arial"/>
              <a:buNone/>
            </a:pPr>
            <a:r>
              <a:rPr lang="en" sz="1050"/>
              <a:t>Optical Tracking Progress</a:t>
            </a:r>
            <a:endParaRPr sz="1050"/>
          </a:p>
          <a:p>
            <a:pPr indent="0" lvl="0" marL="0" rtl="0" algn="l">
              <a:spcBef>
                <a:spcPts val="0"/>
              </a:spcBef>
              <a:spcAft>
                <a:spcPts val="0"/>
              </a:spcAft>
              <a:buClr>
                <a:schemeClr val="dk1"/>
              </a:buClr>
              <a:buSzPts val="1100"/>
              <a:buFont typeface="Arial"/>
              <a:buNone/>
            </a:pPr>
            <a:r>
              <a:rPr lang="en" sz="1050"/>
              <a:t>NFL Player View Project Developments</a:t>
            </a:r>
            <a:endParaRPr sz="1050"/>
          </a:p>
          <a:p>
            <a:pPr indent="0" lvl="0" marL="0" rtl="0" algn="l">
              <a:spcBef>
                <a:spcPts val="0"/>
              </a:spcBef>
              <a:spcAft>
                <a:spcPts val="0"/>
              </a:spcAft>
              <a:buClr>
                <a:schemeClr val="dk1"/>
              </a:buClr>
              <a:buSzPts val="1100"/>
              <a:buFont typeface="Arial"/>
              <a:buNone/>
            </a:pPr>
            <a:r>
              <a:rPr lang="en" sz="1050"/>
              <a:t>NLP / Multi-modal AI Milestones</a:t>
            </a:r>
            <a:endParaRPr sz="1050"/>
          </a:p>
          <a:p>
            <a:pPr indent="0" lvl="0" marL="0" rtl="0" algn="l">
              <a:spcBef>
                <a:spcPts val="0"/>
              </a:spcBef>
              <a:spcAft>
                <a:spcPts val="0"/>
              </a:spcAft>
              <a:buClr>
                <a:schemeClr val="dk1"/>
              </a:buClr>
              <a:buSzPts val="1100"/>
              <a:buFont typeface="Arial"/>
              <a:buNone/>
            </a:pPr>
            <a:r>
              <a:t/>
            </a:r>
            <a:endParaRPr sz="1050"/>
          </a:p>
          <a:p>
            <a:pPr indent="0" lvl="0" marL="0" rtl="0" algn="l">
              <a:spcBef>
                <a:spcPts val="0"/>
              </a:spcBef>
              <a:spcAft>
                <a:spcPts val="0"/>
              </a:spcAft>
              <a:buClr>
                <a:schemeClr val="dk1"/>
              </a:buClr>
              <a:buSzPts val="990"/>
              <a:buFont typeface="Arial"/>
              <a:buNone/>
            </a:pPr>
            <a:r>
              <a:t/>
            </a:r>
            <a:endParaRPr sz="1050"/>
          </a:p>
        </p:txBody>
      </p:sp>
      <p:sp>
        <p:nvSpPr>
          <p:cNvPr id="149" name="Google Shape;149;p18"/>
          <p:cNvSpPr txBox="1"/>
          <p:nvPr>
            <p:ph type="title"/>
          </p:nvPr>
        </p:nvSpPr>
        <p:spPr>
          <a:xfrm>
            <a:off x="1452725" y="2678575"/>
            <a:ext cx="2514300" cy="119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1250"/>
              <a:t>Innovation HUB</a:t>
            </a:r>
            <a:endParaRPr b="1" sz="1250">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sz="1050"/>
              <a:t>Program Design and Criteria</a:t>
            </a:r>
            <a:br>
              <a:rPr lang="en" sz="1050"/>
            </a:br>
            <a:r>
              <a:rPr lang="en" sz="1050"/>
              <a:t>Governance Structure </a:t>
            </a:r>
            <a:endParaRPr sz="1050"/>
          </a:p>
        </p:txBody>
      </p:sp>
      <p:sp>
        <p:nvSpPr>
          <p:cNvPr id="150" name="Google Shape;150;p18"/>
          <p:cNvSpPr txBox="1"/>
          <p:nvPr>
            <p:ph type="title"/>
          </p:nvPr>
        </p:nvSpPr>
        <p:spPr>
          <a:xfrm>
            <a:off x="5028700" y="1564525"/>
            <a:ext cx="2559900" cy="77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b="1" lang="en" sz="1250"/>
              <a:t>Operating Model of the Innovation Hub</a:t>
            </a:r>
            <a:endParaRPr b="1" sz="1250"/>
          </a:p>
          <a:p>
            <a:pPr indent="0" lvl="0" marL="0" rtl="0" algn="l">
              <a:spcBef>
                <a:spcPts val="0"/>
              </a:spcBef>
              <a:spcAft>
                <a:spcPts val="0"/>
              </a:spcAft>
              <a:buClr>
                <a:schemeClr val="dk1"/>
              </a:buClr>
              <a:buSzPts val="1100"/>
              <a:buFont typeface="Arial"/>
              <a:buNone/>
            </a:pPr>
            <a:r>
              <a:rPr lang="en" sz="1050"/>
              <a:t>Execution Phase Gates</a:t>
            </a:r>
            <a:endParaRPr sz="1050"/>
          </a:p>
          <a:p>
            <a:pPr indent="0" lvl="0" marL="0" rtl="0" algn="l">
              <a:spcBef>
                <a:spcPts val="0"/>
              </a:spcBef>
              <a:spcAft>
                <a:spcPts val="0"/>
              </a:spcAft>
              <a:buClr>
                <a:schemeClr val="dk1"/>
              </a:buClr>
              <a:buSzPts val="1100"/>
              <a:buFont typeface="Arial"/>
              <a:buNone/>
            </a:pPr>
            <a:r>
              <a:t/>
            </a:r>
            <a:endParaRPr sz="1050"/>
          </a:p>
          <a:p>
            <a:pPr indent="0" lvl="0" marL="0" rtl="0" algn="l">
              <a:spcBef>
                <a:spcPts val="0"/>
              </a:spcBef>
              <a:spcAft>
                <a:spcPts val="0"/>
              </a:spcAft>
              <a:buClr>
                <a:schemeClr val="dk1"/>
              </a:buClr>
              <a:buSzPts val="1100"/>
              <a:buFont typeface="Arial"/>
              <a:buNone/>
            </a:pPr>
            <a:r>
              <a:t/>
            </a:r>
            <a:endParaRPr sz="1050"/>
          </a:p>
          <a:p>
            <a:pPr indent="0" lvl="0" marL="0" rtl="0" algn="l">
              <a:lnSpc>
                <a:spcPct val="100000"/>
              </a:lnSpc>
              <a:spcBef>
                <a:spcPts val="0"/>
              </a:spcBef>
              <a:spcAft>
                <a:spcPts val="0"/>
              </a:spcAft>
              <a:buSzPts val="990"/>
              <a:buNone/>
            </a:pPr>
            <a:r>
              <a:t/>
            </a:r>
            <a:endParaRPr b="1" sz="1250">
              <a:latin typeface="Montserrat"/>
              <a:ea typeface="Montserrat"/>
              <a:cs typeface="Montserrat"/>
              <a:sym typeface="Montserrat"/>
            </a:endParaRPr>
          </a:p>
        </p:txBody>
      </p:sp>
      <p:sp>
        <p:nvSpPr>
          <p:cNvPr id="151" name="Google Shape;151;p18"/>
          <p:cNvSpPr txBox="1"/>
          <p:nvPr>
            <p:ph type="title"/>
          </p:nvPr>
        </p:nvSpPr>
        <p:spPr>
          <a:xfrm>
            <a:off x="725550" y="365275"/>
            <a:ext cx="7756200" cy="1155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3300">
                <a:solidFill>
                  <a:srgbClr val="EF4138"/>
                </a:solidFill>
              </a:rPr>
              <a:t>Meeting Agenda</a:t>
            </a:r>
            <a:endParaRPr sz="3300">
              <a:solidFill>
                <a:srgbClr val="EF4138"/>
              </a:solidFill>
            </a:endParaRPr>
          </a:p>
        </p:txBody>
      </p:sp>
      <p:sp>
        <p:nvSpPr>
          <p:cNvPr id="152" name="Google Shape;152;p18"/>
          <p:cNvSpPr/>
          <p:nvPr/>
        </p:nvSpPr>
        <p:spPr>
          <a:xfrm>
            <a:off x="4487950" y="3884700"/>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FFFF"/>
                </a:solidFill>
                <a:latin typeface="Open Sans"/>
                <a:ea typeface="Open Sans"/>
                <a:cs typeface="Open Sans"/>
                <a:sym typeface="Open Sans"/>
              </a:rPr>
              <a:t>5</a:t>
            </a:r>
            <a:endParaRPr b="1" i="0" sz="1400" u="none" cap="none" strike="noStrike">
              <a:solidFill>
                <a:srgbClr val="FFFFFF"/>
              </a:solidFill>
              <a:latin typeface="Open Sans"/>
              <a:ea typeface="Open Sans"/>
              <a:cs typeface="Open Sans"/>
              <a:sym typeface="Open Sans"/>
            </a:endParaRPr>
          </a:p>
        </p:txBody>
      </p:sp>
      <p:sp>
        <p:nvSpPr>
          <p:cNvPr id="153" name="Google Shape;153;p18"/>
          <p:cNvSpPr txBox="1"/>
          <p:nvPr>
            <p:ph type="title"/>
          </p:nvPr>
        </p:nvSpPr>
        <p:spPr>
          <a:xfrm>
            <a:off x="4966150" y="3884700"/>
            <a:ext cx="2409600" cy="114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en" sz="1250"/>
              <a:t>NLP / Multi-modal AI Pitch</a:t>
            </a:r>
            <a:endParaRPr b="1" sz="1250"/>
          </a:p>
          <a:p>
            <a:pPr indent="0" lvl="0" marL="0" rtl="0" algn="l">
              <a:spcBef>
                <a:spcPts val="0"/>
              </a:spcBef>
              <a:spcAft>
                <a:spcPts val="0"/>
              </a:spcAft>
              <a:buClr>
                <a:schemeClr val="dk1"/>
              </a:buClr>
              <a:buSzPts val="1100"/>
              <a:buFont typeface="Arial"/>
              <a:buNone/>
            </a:pPr>
            <a:r>
              <a:rPr lang="en" sz="1050"/>
              <a:t>Introduction</a:t>
            </a:r>
            <a:endParaRPr sz="1050"/>
          </a:p>
          <a:p>
            <a:pPr indent="0" lvl="0" marL="0" rtl="0" algn="l">
              <a:spcBef>
                <a:spcPts val="0"/>
              </a:spcBef>
              <a:spcAft>
                <a:spcPts val="0"/>
              </a:spcAft>
              <a:buClr>
                <a:schemeClr val="dk1"/>
              </a:buClr>
              <a:buSzPts val="990"/>
              <a:buFont typeface="Arial"/>
              <a:buNone/>
            </a:pPr>
            <a:r>
              <a:rPr lang="en" sz="1050"/>
              <a:t>Business Value</a:t>
            </a:r>
            <a:endParaRPr sz="1050"/>
          </a:p>
        </p:txBody>
      </p:sp>
      <p:sp>
        <p:nvSpPr>
          <p:cNvPr id="154" name="Google Shape;154;p18"/>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9"/>
          <p:cNvSpPr/>
          <p:nvPr/>
        </p:nvSpPr>
        <p:spPr>
          <a:xfrm>
            <a:off x="7496943" y="4366833"/>
            <a:ext cx="1327651" cy="388439"/>
          </a:xfrm>
          <a:custGeom>
            <a:rect b="b" l="l" r="r" t="t"/>
            <a:pathLst>
              <a:path extrusionOk="0" h="776879" w="2655302">
                <a:moveTo>
                  <a:pt x="0" y="0"/>
                </a:moveTo>
                <a:lnTo>
                  <a:pt x="2655302" y="0"/>
                </a:lnTo>
                <a:lnTo>
                  <a:pt x="2655302" y="776879"/>
                </a:lnTo>
                <a:lnTo>
                  <a:pt x="0" y="776879"/>
                </a:lnTo>
                <a:lnTo>
                  <a:pt x="0" y="0"/>
                </a:lnTo>
                <a:close/>
              </a:path>
            </a:pathLst>
          </a:custGeom>
          <a:blipFill rotWithShape="1">
            <a:blip r:embed="rId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 name="Google Shape;164;p19"/>
          <p:cNvSpPr txBox="1"/>
          <p:nvPr/>
        </p:nvSpPr>
        <p:spPr>
          <a:xfrm>
            <a:off x="439887" y="506006"/>
            <a:ext cx="8262000" cy="461700"/>
          </a:xfrm>
          <a:prstGeom prst="rect">
            <a:avLst/>
          </a:prstGeom>
          <a:noFill/>
          <a:ln>
            <a:noFill/>
          </a:ln>
        </p:spPr>
        <p:txBody>
          <a:bodyPr anchorCtr="0" anchor="t" bIns="0" lIns="0" spcFirstLastPara="1" rIns="0" wrap="square" tIns="0">
            <a:spAutoFit/>
          </a:bodyPr>
          <a:lstStyle/>
          <a:p>
            <a:pPr indent="0" lvl="0" marL="0" marR="0" rtl="0" algn="l">
              <a:lnSpc>
                <a:spcPct val="144000"/>
              </a:lnSpc>
              <a:spcBef>
                <a:spcPts val="0"/>
              </a:spcBef>
              <a:spcAft>
                <a:spcPts val="0"/>
              </a:spcAft>
              <a:buNone/>
            </a:pPr>
            <a:r>
              <a:rPr b="1" lang="en" sz="3000" u="none">
                <a:solidFill>
                  <a:srgbClr val="000099"/>
                </a:solidFill>
                <a:latin typeface="Montserrat"/>
                <a:ea typeface="Montserrat"/>
                <a:cs typeface="Montserrat"/>
                <a:sym typeface="Montserrat"/>
              </a:rPr>
              <a:t>4 Zones Model:</a:t>
            </a:r>
            <a:r>
              <a:rPr b="1" lang="en" sz="3000" u="none">
                <a:solidFill>
                  <a:srgbClr val="003A74"/>
                </a:solidFill>
                <a:latin typeface="Montserrat"/>
                <a:ea typeface="Montserrat"/>
                <a:cs typeface="Montserrat"/>
                <a:sym typeface="Montserrat"/>
              </a:rPr>
              <a:t> </a:t>
            </a:r>
            <a:r>
              <a:rPr b="1" lang="en" sz="3000" u="none">
                <a:solidFill>
                  <a:srgbClr val="EF4138"/>
                </a:solidFill>
                <a:latin typeface="Montserrat"/>
                <a:ea typeface="Montserrat"/>
                <a:cs typeface="Montserrat"/>
                <a:sym typeface="Montserrat"/>
              </a:rPr>
              <a:t>Business Value Creation</a:t>
            </a:r>
            <a:endParaRPr sz="1100">
              <a:solidFill>
                <a:srgbClr val="EF4138"/>
              </a:solidFill>
            </a:endParaRPr>
          </a:p>
        </p:txBody>
      </p:sp>
      <p:cxnSp>
        <p:nvCxnSpPr>
          <p:cNvPr id="165" name="Google Shape;165;p19"/>
          <p:cNvCxnSpPr/>
          <p:nvPr/>
        </p:nvCxnSpPr>
        <p:spPr>
          <a:xfrm rot="19453">
            <a:off x="3097696" y="2752355"/>
            <a:ext cx="4188367" cy="0"/>
          </a:xfrm>
          <a:prstGeom prst="straightConnector1">
            <a:avLst/>
          </a:prstGeom>
          <a:noFill/>
          <a:ln cap="rnd" cmpd="sng" w="9525">
            <a:solidFill>
              <a:srgbClr val="808080"/>
            </a:solidFill>
            <a:prstDash val="solid"/>
            <a:round/>
            <a:headEnd len="sm" w="sm" type="none"/>
            <a:tailEnd len="sm" w="sm" type="none"/>
          </a:ln>
        </p:spPr>
      </p:cxnSp>
      <p:cxnSp>
        <p:nvCxnSpPr>
          <p:cNvPr id="166" name="Google Shape;166;p19"/>
          <p:cNvCxnSpPr/>
          <p:nvPr/>
        </p:nvCxnSpPr>
        <p:spPr>
          <a:xfrm rot="5358111">
            <a:off x="4219323" y="2764384"/>
            <a:ext cx="1945044" cy="0"/>
          </a:xfrm>
          <a:prstGeom prst="straightConnector1">
            <a:avLst/>
          </a:prstGeom>
          <a:noFill/>
          <a:ln cap="rnd" cmpd="sng" w="9525">
            <a:solidFill>
              <a:srgbClr val="808080"/>
            </a:solidFill>
            <a:prstDash val="solid"/>
            <a:round/>
            <a:headEnd len="sm" w="sm" type="none"/>
            <a:tailEnd len="sm" w="sm" type="none"/>
          </a:ln>
        </p:spPr>
      </p:cxnSp>
      <p:sp>
        <p:nvSpPr>
          <p:cNvPr id="167" name="Google Shape;167;p19"/>
          <p:cNvSpPr txBox="1"/>
          <p:nvPr/>
        </p:nvSpPr>
        <p:spPr>
          <a:xfrm>
            <a:off x="2902359" y="2216176"/>
            <a:ext cx="2146200" cy="215400"/>
          </a:xfrm>
          <a:prstGeom prst="rect">
            <a:avLst/>
          </a:prstGeom>
          <a:noFill/>
          <a:ln>
            <a:noFill/>
          </a:ln>
        </p:spPr>
        <p:txBody>
          <a:bodyPr anchorCtr="0" anchor="t" bIns="0" lIns="0" spcFirstLastPara="1" rIns="0" wrap="square" tIns="0">
            <a:spAutoFit/>
          </a:bodyPr>
          <a:lstStyle/>
          <a:p>
            <a:pPr indent="0" lvl="0" marL="0" marR="0" rtl="0" algn="l">
              <a:lnSpc>
                <a:spcPct val="135927"/>
              </a:lnSpc>
              <a:spcBef>
                <a:spcPts val="0"/>
              </a:spcBef>
              <a:spcAft>
                <a:spcPts val="0"/>
              </a:spcAft>
              <a:buNone/>
            </a:pPr>
            <a:r>
              <a:rPr b="1" lang="en" sz="1400" u="none">
                <a:solidFill>
                  <a:srgbClr val="000099"/>
                </a:solidFill>
                <a:latin typeface="Montserrat"/>
                <a:ea typeface="Montserrat"/>
                <a:cs typeface="Montserrat"/>
                <a:sym typeface="Montserrat"/>
              </a:rPr>
              <a:t>Transformation Zone</a:t>
            </a:r>
            <a:endParaRPr sz="1100">
              <a:solidFill>
                <a:srgbClr val="000099"/>
              </a:solidFill>
            </a:endParaRPr>
          </a:p>
        </p:txBody>
      </p:sp>
      <p:sp>
        <p:nvSpPr>
          <p:cNvPr id="168" name="Google Shape;168;p19"/>
          <p:cNvSpPr txBox="1"/>
          <p:nvPr/>
        </p:nvSpPr>
        <p:spPr>
          <a:xfrm>
            <a:off x="5416910" y="2216176"/>
            <a:ext cx="1839600" cy="215400"/>
          </a:xfrm>
          <a:prstGeom prst="rect">
            <a:avLst/>
          </a:prstGeom>
          <a:noFill/>
          <a:ln>
            <a:noFill/>
          </a:ln>
        </p:spPr>
        <p:txBody>
          <a:bodyPr anchorCtr="0" anchor="t" bIns="0" lIns="0" spcFirstLastPara="1" rIns="0" wrap="square" tIns="0">
            <a:spAutoFit/>
          </a:bodyPr>
          <a:lstStyle/>
          <a:p>
            <a:pPr indent="0" lvl="0" marL="0" marR="0" rtl="0" algn="ctr">
              <a:lnSpc>
                <a:spcPct val="135927"/>
              </a:lnSpc>
              <a:spcBef>
                <a:spcPts val="0"/>
              </a:spcBef>
              <a:spcAft>
                <a:spcPts val="0"/>
              </a:spcAft>
              <a:buNone/>
            </a:pPr>
            <a:r>
              <a:rPr b="1" lang="en" sz="1400" u="none">
                <a:solidFill>
                  <a:srgbClr val="EF4138"/>
                </a:solidFill>
                <a:latin typeface="Montserrat"/>
                <a:ea typeface="Montserrat"/>
                <a:cs typeface="Montserrat"/>
                <a:sym typeface="Montserrat"/>
              </a:rPr>
              <a:t>Performance Zone</a:t>
            </a:r>
            <a:endParaRPr sz="1100">
              <a:solidFill>
                <a:srgbClr val="EF4138"/>
              </a:solidFill>
            </a:endParaRPr>
          </a:p>
        </p:txBody>
      </p:sp>
      <p:sp>
        <p:nvSpPr>
          <p:cNvPr id="169" name="Google Shape;169;p19"/>
          <p:cNvSpPr txBox="1"/>
          <p:nvPr/>
        </p:nvSpPr>
        <p:spPr>
          <a:xfrm>
            <a:off x="5416910" y="3091139"/>
            <a:ext cx="1839600" cy="215400"/>
          </a:xfrm>
          <a:prstGeom prst="rect">
            <a:avLst/>
          </a:prstGeom>
          <a:noFill/>
          <a:ln>
            <a:noFill/>
          </a:ln>
        </p:spPr>
        <p:txBody>
          <a:bodyPr anchorCtr="0" anchor="t" bIns="0" lIns="0" spcFirstLastPara="1" rIns="0" wrap="square" tIns="0">
            <a:spAutoFit/>
          </a:bodyPr>
          <a:lstStyle/>
          <a:p>
            <a:pPr indent="0" lvl="0" marL="0" marR="0" rtl="0" algn="ctr">
              <a:lnSpc>
                <a:spcPct val="135927"/>
              </a:lnSpc>
              <a:spcBef>
                <a:spcPts val="0"/>
              </a:spcBef>
              <a:spcAft>
                <a:spcPts val="0"/>
              </a:spcAft>
              <a:buNone/>
            </a:pPr>
            <a:r>
              <a:rPr b="1" lang="en" sz="1400" u="none">
                <a:solidFill>
                  <a:srgbClr val="EF4138"/>
                </a:solidFill>
                <a:latin typeface="Montserrat"/>
                <a:ea typeface="Montserrat"/>
                <a:cs typeface="Montserrat"/>
                <a:sym typeface="Montserrat"/>
              </a:rPr>
              <a:t>Productivity Zone</a:t>
            </a:r>
            <a:endParaRPr sz="1100">
              <a:solidFill>
                <a:srgbClr val="EF4138"/>
              </a:solidFill>
            </a:endParaRPr>
          </a:p>
        </p:txBody>
      </p:sp>
      <p:sp>
        <p:nvSpPr>
          <p:cNvPr id="170" name="Google Shape;170;p19"/>
          <p:cNvSpPr txBox="1"/>
          <p:nvPr/>
        </p:nvSpPr>
        <p:spPr>
          <a:xfrm>
            <a:off x="2902359" y="3091139"/>
            <a:ext cx="1839600" cy="215400"/>
          </a:xfrm>
          <a:prstGeom prst="rect">
            <a:avLst/>
          </a:prstGeom>
          <a:noFill/>
          <a:ln>
            <a:noFill/>
          </a:ln>
        </p:spPr>
        <p:txBody>
          <a:bodyPr anchorCtr="0" anchor="t" bIns="0" lIns="0" spcFirstLastPara="1" rIns="0" wrap="square" tIns="0">
            <a:spAutoFit/>
          </a:bodyPr>
          <a:lstStyle/>
          <a:p>
            <a:pPr indent="0" lvl="0" marL="0" marR="0" rtl="0" algn="l">
              <a:lnSpc>
                <a:spcPct val="135927"/>
              </a:lnSpc>
              <a:spcBef>
                <a:spcPts val="0"/>
              </a:spcBef>
              <a:spcAft>
                <a:spcPts val="0"/>
              </a:spcAft>
              <a:buNone/>
            </a:pPr>
            <a:r>
              <a:rPr b="1" lang="en" sz="1400" u="none">
                <a:solidFill>
                  <a:srgbClr val="000099"/>
                </a:solidFill>
                <a:latin typeface="Montserrat"/>
                <a:ea typeface="Montserrat"/>
                <a:cs typeface="Montserrat"/>
                <a:sym typeface="Montserrat"/>
              </a:rPr>
              <a:t>Incubation Zone</a:t>
            </a:r>
            <a:endParaRPr sz="1100">
              <a:solidFill>
                <a:srgbClr val="000099"/>
              </a:solidFill>
            </a:endParaRPr>
          </a:p>
        </p:txBody>
      </p:sp>
      <p:grpSp>
        <p:nvGrpSpPr>
          <p:cNvPr id="171" name="Google Shape;171;p19"/>
          <p:cNvGrpSpPr/>
          <p:nvPr/>
        </p:nvGrpSpPr>
        <p:grpSpPr>
          <a:xfrm>
            <a:off x="975550" y="2028081"/>
            <a:ext cx="1724625" cy="591589"/>
            <a:chOff x="0" y="-306300"/>
            <a:chExt cx="4599000" cy="2018387"/>
          </a:xfrm>
        </p:grpSpPr>
        <p:sp>
          <p:nvSpPr>
            <p:cNvPr id="172" name="Google Shape;172;p19"/>
            <p:cNvSpPr/>
            <p:nvPr/>
          </p:nvSpPr>
          <p:spPr>
            <a:xfrm>
              <a:off x="0" y="0"/>
              <a:ext cx="4598797" cy="1712087"/>
            </a:xfrm>
            <a:custGeom>
              <a:rect b="b" l="l" r="r" t="t"/>
              <a:pathLst>
                <a:path extrusionOk="0" h="1712087" w="4598797">
                  <a:moveTo>
                    <a:pt x="0" y="0"/>
                  </a:moveTo>
                  <a:lnTo>
                    <a:pt x="4598797" y="0"/>
                  </a:lnTo>
                  <a:lnTo>
                    <a:pt x="4598797" y="1712087"/>
                  </a:lnTo>
                  <a:lnTo>
                    <a:pt x="0" y="1712087"/>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73" name="Google Shape;173;p19"/>
            <p:cNvSpPr txBox="1"/>
            <p:nvPr/>
          </p:nvSpPr>
          <p:spPr>
            <a:xfrm>
              <a:off x="0" y="-306300"/>
              <a:ext cx="4599000" cy="1854900"/>
            </a:xfrm>
            <a:prstGeom prst="rect">
              <a:avLst/>
            </a:prstGeom>
            <a:solidFill>
              <a:schemeClr val="lt1"/>
            </a:solid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None/>
              </a:pPr>
              <a:r>
                <a:rPr b="1" lang="en" sz="1400" u="none">
                  <a:solidFill>
                    <a:schemeClr val="dk1"/>
                  </a:solidFill>
                  <a:latin typeface="Montserrat"/>
                  <a:ea typeface="Montserrat"/>
                  <a:cs typeface="Montserrat"/>
                  <a:sym typeface="Montserrat"/>
                </a:rPr>
                <a:t>NFL Goals &amp;</a:t>
              </a:r>
              <a:endParaRPr sz="1100">
                <a:solidFill>
                  <a:schemeClr val="dk1"/>
                </a:solidFill>
              </a:endParaRPr>
            </a:p>
            <a:p>
              <a:pPr indent="0" lvl="0" marL="0" marR="0" rtl="0" algn="l">
                <a:lnSpc>
                  <a:spcPct val="100000"/>
                </a:lnSpc>
                <a:spcBef>
                  <a:spcPts val="0"/>
                </a:spcBef>
                <a:spcAft>
                  <a:spcPts val="0"/>
                </a:spcAft>
                <a:buNone/>
              </a:pPr>
              <a:r>
                <a:rPr b="1" lang="en" sz="1400" u="none">
                  <a:solidFill>
                    <a:schemeClr val="dk1"/>
                  </a:solidFill>
                  <a:latin typeface="Montserrat"/>
                  <a:ea typeface="Montserrat"/>
                  <a:cs typeface="Montserrat"/>
                  <a:sym typeface="Montserrat"/>
                </a:rPr>
                <a:t>Focus Area</a:t>
              </a:r>
              <a:endParaRPr sz="1100">
                <a:solidFill>
                  <a:schemeClr val="dk1"/>
                </a:solidFill>
              </a:endParaRPr>
            </a:p>
          </p:txBody>
        </p:sp>
      </p:grpSp>
      <p:sp>
        <p:nvSpPr>
          <p:cNvPr id="174" name="Google Shape;174;p19"/>
          <p:cNvSpPr txBox="1"/>
          <p:nvPr/>
        </p:nvSpPr>
        <p:spPr>
          <a:xfrm>
            <a:off x="969000" y="3962450"/>
            <a:ext cx="6317100" cy="982800"/>
          </a:xfrm>
          <a:prstGeom prst="rect">
            <a:avLst/>
          </a:prstGeom>
          <a:noFill/>
          <a:ln>
            <a:noFill/>
          </a:ln>
        </p:spPr>
        <p:txBody>
          <a:bodyPr anchorCtr="0" anchor="t" bIns="0" lIns="0" spcFirstLastPara="1" rIns="0" wrap="square" tIns="0">
            <a:spAutoFit/>
          </a:bodyPr>
          <a:lstStyle/>
          <a:p>
            <a:pPr indent="-304800" lvl="0" marL="457200" marR="0" rtl="0" algn="l">
              <a:lnSpc>
                <a:spcPct val="144036"/>
              </a:lnSpc>
              <a:spcBef>
                <a:spcPts val="0"/>
              </a:spcBef>
              <a:spcAft>
                <a:spcPts val="0"/>
              </a:spcAft>
              <a:buClr>
                <a:srgbClr val="EF4138"/>
              </a:buClr>
              <a:buSzPts val="1200"/>
              <a:buChar char="➔"/>
            </a:pPr>
            <a:r>
              <a:rPr b="1" lang="en" sz="1200" u="none">
                <a:solidFill>
                  <a:schemeClr val="dk1"/>
                </a:solidFill>
                <a:latin typeface="Montserrat"/>
                <a:ea typeface="Montserrat"/>
                <a:cs typeface="Montserrat"/>
                <a:sym typeface="Montserrat"/>
              </a:rPr>
              <a:t>Disruptive </a:t>
            </a:r>
            <a:r>
              <a:rPr b="1" lang="en" sz="1200">
                <a:solidFill>
                  <a:schemeClr val="dk1"/>
                </a:solidFill>
                <a:latin typeface="Montserrat"/>
                <a:ea typeface="Montserrat"/>
                <a:cs typeface="Montserrat"/>
                <a:sym typeface="Montserrat"/>
              </a:rPr>
              <a:t>I</a:t>
            </a:r>
            <a:r>
              <a:rPr b="1" lang="en" sz="1200" u="none">
                <a:solidFill>
                  <a:schemeClr val="dk1"/>
                </a:solidFill>
                <a:latin typeface="Montserrat"/>
                <a:ea typeface="Montserrat"/>
                <a:cs typeface="Montserrat"/>
                <a:sym typeface="Montserrat"/>
              </a:rPr>
              <a:t>nnovations:  </a:t>
            </a:r>
            <a:r>
              <a:rPr lang="en" sz="1200">
                <a:solidFill>
                  <a:schemeClr val="dk1"/>
                </a:solidFill>
                <a:latin typeface="Montserrat"/>
                <a:ea typeface="Montserrat"/>
                <a:cs typeface="Montserrat"/>
                <a:sym typeface="Montserrat"/>
              </a:rPr>
              <a:t>N</a:t>
            </a:r>
            <a:r>
              <a:rPr lang="en" sz="1200" u="none">
                <a:solidFill>
                  <a:schemeClr val="dk1"/>
                </a:solidFill>
                <a:latin typeface="Montserrat"/>
                <a:ea typeface="Montserrat"/>
                <a:cs typeface="Montserrat"/>
                <a:sym typeface="Montserrat"/>
              </a:rPr>
              <a:t>ew business models and operating models</a:t>
            </a:r>
            <a:endParaRPr sz="1200" u="none">
              <a:solidFill>
                <a:schemeClr val="dk1"/>
              </a:solidFill>
              <a:latin typeface="Montserrat"/>
              <a:ea typeface="Montserrat"/>
              <a:cs typeface="Montserrat"/>
              <a:sym typeface="Montserrat"/>
            </a:endParaRPr>
          </a:p>
          <a:p>
            <a:pPr indent="-304800" lvl="0" marL="457200" rtl="0" algn="l">
              <a:lnSpc>
                <a:spcPct val="144036"/>
              </a:lnSpc>
              <a:spcBef>
                <a:spcPts val="0"/>
              </a:spcBef>
              <a:spcAft>
                <a:spcPts val="0"/>
              </a:spcAft>
              <a:buClr>
                <a:srgbClr val="EF4138"/>
              </a:buClr>
              <a:buSzPts val="1200"/>
              <a:buChar char="➔"/>
            </a:pPr>
            <a:r>
              <a:rPr b="1" lang="en" sz="1200">
                <a:solidFill>
                  <a:schemeClr val="dk1"/>
                </a:solidFill>
                <a:latin typeface="Montserrat"/>
                <a:ea typeface="Montserrat"/>
                <a:cs typeface="Montserrat"/>
                <a:sym typeface="Montserrat"/>
              </a:rPr>
              <a:t>Sustaining Innovations:  </a:t>
            </a:r>
            <a:r>
              <a:rPr lang="en" sz="1200">
                <a:solidFill>
                  <a:schemeClr val="dk1"/>
                </a:solidFill>
                <a:latin typeface="Montserrat"/>
                <a:ea typeface="Montserrat"/>
                <a:cs typeface="Montserrat"/>
                <a:sym typeface="Montserrat"/>
              </a:rPr>
              <a:t>Extension and improvements to already existing innovations inside the organizations</a:t>
            </a:r>
            <a:endParaRPr sz="1200">
              <a:solidFill>
                <a:schemeClr val="dk1"/>
              </a:solidFill>
              <a:latin typeface="Montserrat"/>
              <a:ea typeface="Montserrat"/>
              <a:cs typeface="Montserrat"/>
              <a:sym typeface="Montserrat"/>
            </a:endParaRPr>
          </a:p>
          <a:p>
            <a:pPr indent="0" lvl="0" marL="0" marR="0" rtl="0" algn="l">
              <a:lnSpc>
                <a:spcPct val="144036"/>
              </a:lnSpc>
              <a:spcBef>
                <a:spcPts val="0"/>
              </a:spcBef>
              <a:spcAft>
                <a:spcPts val="0"/>
              </a:spcAft>
              <a:buNone/>
            </a:pPr>
            <a:r>
              <a:t/>
            </a:r>
            <a:endParaRPr sz="1200" u="none">
              <a:solidFill>
                <a:srgbClr val="000000"/>
              </a:solidFill>
              <a:latin typeface="Montserrat"/>
              <a:ea typeface="Montserrat"/>
              <a:cs typeface="Montserrat"/>
              <a:sym typeface="Montserrat"/>
            </a:endParaRPr>
          </a:p>
        </p:txBody>
      </p:sp>
      <p:sp>
        <p:nvSpPr>
          <p:cNvPr id="175" name="Google Shape;175;p19"/>
          <p:cNvSpPr txBox="1"/>
          <p:nvPr/>
        </p:nvSpPr>
        <p:spPr>
          <a:xfrm>
            <a:off x="5416910" y="1288650"/>
            <a:ext cx="24531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chemeClr val="dk1"/>
                </a:solidFill>
                <a:latin typeface="Montserrat"/>
                <a:ea typeface="Montserrat"/>
                <a:cs typeface="Montserrat"/>
                <a:sym typeface="Montserrat"/>
              </a:rPr>
              <a:t>SUSTAINING INNOVATIONS</a:t>
            </a:r>
            <a:endParaRPr b="1" sz="1400">
              <a:solidFill>
                <a:schemeClr val="dk1"/>
              </a:solidFill>
              <a:latin typeface="Montserrat"/>
              <a:ea typeface="Montserrat"/>
              <a:cs typeface="Montserrat"/>
              <a:sym typeface="Montserrat"/>
            </a:endParaRPr>
          </a:p>
        </p:txBody>
      </p:sp>
      <p:sp>
        <p:nvSpPr>
          <p:cNvPr id="176" name="Google Shape;176;p19"/>
          <p:cNvSpPr txBox="1"/>
          <p:nvPr/>
        </p:nvSpPr>
        <p:spPr>
          <a:xfrm>
            <a:off x="2902359" y="1288640"/>
            <a:ext cx="21771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400">
                <a:solidFill>
                  <a:schemeClr val="dk1"/>
                </a:solidFill>
                <a:latin typeface="Montserrat"/>
                <a:ea typeface="Montserrat"/>
                <a:cs typeface="Montserrat"/>
                <a:sym typeface="Montserrat"/>
              </a:rPr>
              <a:t>DISRUPTION INNOVATIONS</a:t>
            </a:r>
            <a:endParaRPr b="1" sz="1400">
              <a:solidFill>
                <a:schemeClr val="dk1"/>
              </a:solidFill>
              <a:latin typeface="Montserrat"/>
              <a:ea typeface="Montserrat"/>
              <a:cs typeface="Montserrat"/>
              <a:sym typeface="Montserrat"/>
            </a:endParaRPr>
          </a:p>
        </p:txBody>
      </p:sp>
      <p:sp>
        <p:nvSpPr>
          <p:cNvPr id="177" name="Google Shape;177;p19"/>
          <p:cNvSpPr txBox="1"/>
          <p:nvPr/>
        </p:nvSpPr>
        <p:spPr>
          <a:xfrm>
            <a:off x="969012" y="2851045"/>
            <a:ext cx="1723800" cy="695700"/>
          </a:xfrm>
          <a:prstGeom prst="rect">
            <a:avLst/>
          </a:prstGeom>
          <a:solidFill>
            <a:schemeClr val="lt1"/>
          </a:solidFill>
          <a:ln>
            <a:noFill/>
          </a:ln>
        </p:spPr>
        <p:txBody>
          <a:bodyPr anchorCtr="0" anchor="ctr" bIns="25400" lIns="25400" spcFirstLastPara="1" rIns="25400" wrap="square" tIns="25400">
            <a:noAutofit/>
          </a:bodyPr>
          <a:lstStyle/>
          <a:p>
            <a:pPr indent="0" lvl="0" marL="0" marR="0" rtl="0" algn="l">
              <a:lnSpc>
                <a:spcPct val="100000"/>
              </a:lnSpc>
              <a:spcBef>
                <a:spcPts val="0"/>
              </a:spcBef>
              <a:spcAft>
                <a:spcPts val="0"/>
              </a:spcAft>
              <a:buNone/>
            </a:pPr>
            <a:r>
              <a:rPr b="1" lang="en" sz="1400" u="none">
                <a:solidFill>
                  <a:schemeClr val="dk1"/>
                </a:solidFill>
                <a:latin typeface="Montserrat"/>
                <a:ea typeface="Montserrat"/>
                <a:cs typeface="Montserrat"/>
                <a:sym typeface="Montserrat"/>
              </a:rPr>
              <a:t>Enabling</a:t>
            </a:r>
            <a:endParaRPr sz="1100">
              <a:solidFill>
                <a:schemeClr val="dk1"/>
              </a:solidFill>
            </a:endParaRPr>
          </a:p>
          <a:p>
            <a:pPr indent="0" lvl="0" marL="0" marR="0" rtl="0" algn="l">
              <a:lnSpc>
                <a:spcPct val="100000"/>
              </a:lnSpc>
              <a:spcBef>
                <a:spcPts val="0"/>
              </a:spcBef>
              <a:spcAft>
                <a:spcPts val="0"/>
              </a:spcAft>
              <a:buNone/>
            </a:pPr>
            <a:r>
              <a:rPr b="1" lang="en" sz="1400" u="none">
                <a:solidFill>
                  <a:schemeClr val="dk1"/>
                </a:solidFill>
                <a:latin typeface="Montserrat"/>
                <a:ea typeface="Montserrat"/>
                <a:cs typeface="Montserrat"/>
                <a:sym typeface="Montserrat"/>
              </a:rPr>
              <a:t>Investments</a:t>
            </a:r>
            <a:endParaRPr sz="1100">
              <a:solidFill>
                <a:schemeClr val="dk1"/>
              </a:solidFill>
            </a:endParaRPr>
          </a:p>
        </p:txBody>
      </p:sp>
      <p:sp>
        <p:nvSpPr>
          <p:cNvPr id="178" name="Google Shape;178;p19"/>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4">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nvSpPr>
        <p:spPr>
          <a:xfrm>
            <a:off x="725550" y="1744763"/>
            <a:ext cx="6670500" cy="2982900"/>
          </a:xfrm>
          <a:prstGeom prst="rect">
            <a:avLst/>
          </a:prstGeom>
          <a:noFill/>
          <a:ln>
            <a:noFill/>
          </a:ln>
        </p:spPr>
        <p:txBody>
          <a:bodyPr anchorCtr="0" anchor="t" bIns="68575" lIns="68575" spcFirstLastPara="1" rIns="68575" wrap="square" tIns="68575">
            <a:spAutoFit/>
          </a:bodyPr>
          <a:lstStyle/>
          <a:p>
            <a:pPr indent="0" lvl="0" marL="0" rtl="0" algn="l">
              <a:lnSpc>
                <a:spcPct val="150000"/>
              </a:lnSpc>
              <a:spcBef>
                <a:spcPts val="0"/>
              </a:spcBef>
              <a:spcAft>
                <a:spcPts val="0"/>
              </a:spcAft>
              <a:buNone/>
            </a:pPr>
            <a:r>
              <a:rPr b="1" lang="en">
                <a:solidFill>
                  <a:srgbClr val="EF4138"/>
                </a:solidFill>
                <a:latin typeface="Montserrat"/>
                <a:ea typeface="Montserrat"/>
                <a:cs typeface="Montserrat"/>
                <a:sym typeface="Montserrat"/>
              </a:rPr>
              <a:t>Program Design </a:t>
            </a:r>
            <a:endParaRPr b="1">
              <a:solidFill>
                <a:srgbClr val="000099"/>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VC Model of Investment​</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Full visibility on objectives and progress of each project</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Centralized decision making on which projects to fund</a:t>
            </a:r>
            <a:endParaRPr>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
                <a:solidFill>
                  <a:srgbClr val="EF4138"/>
                </a:solidFill>
                <a:latin typeface="Montserrat"/>
                <a:ea typeface="Montserrat"/>
                <a:cs typeface="Montserrat"/>
                <a:sym typeface="Montserrat"/>
              </a:rPr>
              <a:t>Established Success Criteria</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Funding decision based on rigorous screening and evaluation process</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Funding linked to stage gates or milestones</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Control of funding based on milestone-based success criteria</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003A74"/>
              </a:buClr>
              <a:buSzPts val="1400"/>
              <a:buFont typeface="Montserrat"/>
              <a:buChar char="➔"/>
            </a:pPr>
            <a:r>
              <a:rPr lang="en">
                <a:solidFill>
                  <a:schemeClr val="dk1"/>
                </a:solidFill>
                <a:latin typeface="Montserrat"/>
                <a:ea typeface="Montserrat"/>
                <a:cs typeface="Montserrat"/>
                <a:sym typeface="Montserrat"/>
              </a:rPr>
              <a:t>Multiple exit options for sponsors based on process success</a:t>
            </a:r>
            <a:endParaRPr>
              <a:solidFill>
                <a:schemeClr val="dk1"/>
              </a:solidFill>
              <a:latin typeface="Montserrat"/>
              <a:ea typeface="Montserrat"/>
              <a:cs typeface="Montserrat"/>
              <a:sym typeface="Montserrat"/>
            </a:endParaRPr>
          </a:p>
        </p:txBody>
      </p:sp>
      <p:sp>
        <p:nvSpPr>
          <p:cNvPr id="184" name="Google Shape;184;p20"/>
          <p:cNvSpPr txBox="1"/>
          <p:nvPr/>
        </p:nvSpPr>
        <p:spPr>
          <a:xfrm>
            <a:off x="1674675" y="493663"/>
            <a:ext cx="6818700" cy="785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 sz="3000">
                <a:solidFill>
                  <a:srgbClr val="000099"/>
                </a:solidFill>
                <a:latin typeface="Montserrat"/>
                <a:ea typeface="Montserrat"/>
                <a:cs typeface="Montserrat"/>
                <a:sym typeface="Montserrat"/>
              </a:rPr>
              <a:t>Program Design &amp; Criteria </a:t>
            </a:r>
            <a:endParaRPr b="1" sz="3000">
              <a:solidFill>
                <a:srgbClr val="000099"/>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1" sz="2100">
              <a:solidFill>
                <a:srgbClr val="EF4138"/>
              </a:solidFill>
              <a:latin typeface="Montserrat"/>
              <a:ea typeface="Montserrat"/>
              <a:cs typeface="Montserrat"/>
              <a:sym typeface="Montserrat"/>
            </a:endParaRPr>
          </a:p>
        </p:txBody>
      </p:sp>
      <p:sp>
        <p:nvSpPr>
          <p:cNvPr id="185" name="Google Shape;185;p20"/>
          <p:cNvSpPr/>
          <p:nvPr/>
        </p:nvSpPr>
        <p:spPr>
          <a:xfrm>
            <a:off x="579049" y="429794"/>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p:nvPr/>
        </p:nvSpPr>
        <p:spPr>
          <a:xfrm>
            <a:off x="579060" y="1771651"/>
            <a:ext cx="7879200" cy="669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200">
                <a:solidFill>
                  <a:srgbClr val="000099"/>
                </a:solidFill>
                <a:latin typeface="Montserrat"/>
                <a:ea typeface="Montserrat"/>
                <a:cs typeface="Montserrat"/>
                <a:sym typeface="Montserrat"/>
              </a:rPr>
              <a:t>Executive Steering Committee</a:t>
            </a:r>
            <a:endParaRPr b="1" sz="1200">
              <a:solidFill>
                <a:srgbClr val="000099"/>
              </a:solidFill>
              <a:latin typeface="Montserrat"/>
              <a:ea typeface="Montserrat"/>
              <a:cs typeface="Montserrat"/>
              <a:sym typeface="Montserrat"/>
            </a:endParaRPr>
          </a:p>
          <a:p>
            <a:pPr indent="0" lvl="0" marL="0" marR="0" rtl="0" algn="ctr">
              <a:spcBef>
                <a:spcPts val="0"/>
              </a:spcBef>
              <a:spcAft>
                <a:spcPts val="0"/>
              </a:spcAft>
              <a:buNone/>
            </a:pPr>
            <a:r>
              <a:rPr lang="en" sz="1000">
                <a:solidFill>
                  <a:schemeClr val="dk1"/>
                </a:solidFill>
                <a:latin typeface="Montserrat"/>
                <a:ea typeface="Montserrat"/>
                <a:cs typeface="Montserrat"/>
                <a:sym typeface="Montserrat"/>
              </a:rPr>
              <a:t>EVPs</a:t>
            </a:r>
            <a:endParaRPr sz="1100">
              <a:latin typeface="Montserrat"/>
              <a:ea typeface="Montserrat"/>
              <a:cs typeface="Montserrat"/>
              <a:sym typeface="Montserrat"/>
            </a:endParaRPr>
          </a:p>
        </p:txBody>
      </p:sp>
      <p:sp>
        <p:nvSpPr>
          <p:cNvPr id="192" name="Google Shape;192;p21"/>
          <p:cNvSpPr/>
          <p:nvPr/>
        </p:nvSpPr>
        <p:spPr>
          <a:xfrm>
            <a:off x="579061" y="3269465"/>
            <a:ext cx="7882500" cy="669300"/>
          </a:xfrm>
          <a:prstGeom prst="rect">
            <a:avLst/>
          </a:prstGeom>
          <a:solidFill>
            <a:schemeClr val="lt1"/>
          </a:solidFill>
          <a:ln cap="flat" cmpd="sng" w="9525">
            <a:solidFill>
              <a:srgbClr val="EF413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200">
                <a:solidFill>
                  <a:srgbClr val="EF4138"/>
                </a:solidFill>
                <a:latin typeface="Montserrat"/>
                <a:ea typeface="Montserrat"/>
                <a:cs typeface="Montserrat"/>
                <a:sym typeface="Montserrat"/>
              </a:rPr>
              <a:t>Innovation Tech Advisory Committee</a:t>
            </a:r>
            <a:endParaRPr sz="1100">
              <a:solidFill>
                <a:srgbClr val="EF4138"/>
              </a:solidFill>
              <a:latin typeface="Montserrat"/>
              <a:ea typeface="Montserrat"/>
              <a:cs typeface="Montserrat"/>
              <a:sym typeface="Montserrat"/>
            </a:endParaRPr>
          </a:p>
          <a:p>
            <a:pPr indent="0" lvl="0" marL="0" marR="0" rtl="0" algn="ctr">
              <a:spcBef>
                <a:spcPts val="0"/>
              </a:spcBef>
              <a:spcAft>
                <a:spcPts val="0"/>
              </a:spcAft>
              <a:buNone/>
            </a:pPr>
            <a:r>
              <a:rPr lang="en" sz="1000">
                <a:solidFill>
                  <a:schemeClr val="dk1"/>
                </a:solidFill>
                <a:latin typeface="Montserrat"/>
                <a:ea typeface="Montserrat"/>
                <a:cs typeface="Montserrat"/>
                <a:sym typeface="Montserrat"/>
              </a:rPr>
              <a:t>NFL Technical Working Group</a:t>
            </a:r>
            <a:endParaRPr sz="1000">
              <a:solidFill>
                <a:schemeClr val="dk1"/>
              </a:solidFill>
              <a:latin typeface="Montserrat"/>
              <a:ea typeface="Montserrat"/>
              <a:cs typeface="Montserrat"/>
              <a:sym typeface="Montserrat"/>
            </a:endParaRPr>
          </a:p>
        </p:txBody>
      </p:sp>
      <p:sp>
        <p:nvSpPr>
          <p:cNvPr id="193" name="Google Shape;193;p21"/>
          <p:cNvSpPr/>
          <p:nvPr/>
        </p:nvSpPr>
        <p:spPr>
          <a:xfrm>
            <a:off x="579060" y="2523503"/>
            <a:ext cx="7879200" cy="669300"/>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200">
                <a:solidFill>
                  <a:srgbClr val="000099"/>
                </a:solidFill>
                <a:latin typeface="Montserrat"/>
                <a:ea typeface="Montserrat"/>
                <a:cs typeface="Montserrat"/>
                <a:sym typeface="Montserrat"/>
              </a:rPr>
              <a:t>Program Execution Committee</a:t>
            </a:r>
            <a:endParaRPr b="1" sz="1200">
              <a:solidFill>
                <a:srgbClr val="000099"/>
              </a:solidFill>
              <a:latin typeface="Montserrat"/>
              <a:ea typeface="Montserrat"/>
              <a:cs typeface="Montserrat"/>
              <a:sym typeface="Montserrat"/>
            </a:endParaRPr>
          </a:p>
          <a:p>
            <a:pPr indent="0" lvl="0" marL="0" rtl="0" algn="ctr">
              <a:spcBef>
                <a:spcPts val="0"/>
              </a:spcBef>
              <a:spcAft>
                <a:spcPts val="0"/>
              </a:spcAft>
              <a:buNone/>
            </a:pPr>
            <a:r>
              <a:rPr lang="en" sz="1000">
                <a:solidFill>
                  <a:schemeClr val="dk1"/>
                </a:solidFill>
                <a:latin typeface="Montserrat"/>
                <a:ea typeface="Montserrat"/>
                <a:cs typeface="Montserrat"/>
                <a:sym typeface="Montserrat"/>
              </a:rPr>
              <a:t>S</a:t>
            </a:r>
            <a:r>
              <a:rPr lang="en" sz="1000">
                <a:solidFill>
                  <a:schemeClr val="dk1"/>
                </a:solidFill>
                <a:latin typeface="Montserrat"/>
                <a:ea typeface="Montserrat"/>
                <a:cs typeface="Montserrat"/>
                <a:sym typeface="Montserrat"/>
              </a:rPr>
              <a:t>VPs - Information Technology, Player Health and Safety, Football Operations, </a:t>
            </a: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NFL Media, Data &amp; Analytics, Finance, and Sponsorship</a:t>
            </a:r>
            <a:endParaRPr b="1" sz="1200">
              <a:solidFill>
                <a:srgbClr val="000099"/>
              </a:solidFill>
              <a:latin typeface="Montserrat"/>
              <a:ea typeface="Montserrat"/>
              <a:cs typeface="Montserrat"/>
              <a:sym typeface="Montserrat"/>
            </a:endParaRPr>
          </a:p>
        </p:txBody>
      </p:sp>
      <p:sp>
        <p:nvSpPr>
          <p:cNvPr id="194" name="Google Shape;194;p21"/>
          <p:cNvSpPr/>
          <p:nvPr/>
        </p:nvSpPr>
        <p:spPr>
          <a:xfrm>
            <a:off x="579060" y="4044287"/>
            <a:ext cx="7879200" cy="669300"/>
          </a:xfrm>
          <a:prstGeom prst="rect">
            <a:avLst/>
          </a:prstGeom>
          <a:solidFill>
            <a:schemeClr val="lt1"/>
          </a:solidFill>
          <a:ln cap="flat" cmpd="sng" w="9525">
            <a:solidFill>
              <a:srgbClr val="EF413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200">
                <a:solidFill>
                  <a:srgbClr val="EF4138"/>
                </a:solidFill>
                <a:latin typeface="Montserrat"/>
                <a:ea typeface="Montserrat"/>
                <a:cs typeface="Montserrat"/>
                <a:sym typeface="Montserrat"/>
              </a:rPr>
              <a:t>Innovation HUB PMO </a:t>
            </a:r>
            <a:endParaRPr sz="1100">
              <a:solidFill>
                <a:srgbClr val="EF4138"/>
              </a:solidFill>
              <a:latin typeface="Montserrat"/>
              <a:ea typeface="Montserrat"/>
              <a:cs typeface="Montserrat"/>
              <a:sym typeface="Montserrat"/>
            </a:endParaRPr>
          </a:p>
          <a:p>
            <a:pPr indent="0" lvl="0" marL="0" marR="0" rtl="0" algn="ctr">
              <a:spcBef>
                <a:spcPts val="0"/>
              </a:spcBef>
              <a:spcAft>
                <a:spcPts val="0"/>
              </a:spcAft>
              <a:buNone/>
            </a:pPr>
            <a:r>
              <a:rPr lang="en" sz="1000">
                <a:solidFill>
                  <a:srgbClr val="000000"/>
                </a:solidFill>
                <a:latin typeface="Montserrat"/>
                <a:ea typeface="Montserrat"/>
                <a:cs typeface="Montserrat"/>
                <a:sym typeface="Montserrat"/>
              </a:rPr>
              <a:t>Intake</a:t>
            </a:r>
            <a:r>
              <a:rPr lang="en" sz="1000">
                <a:latin typeface="Montserrat"/>
                <a:ea typeface="Montserrat"/>
                <a:cs typeface="Montserrat"/>
                <a:sym typeface="Montserrat"/>
              </a:rPr>
              <a:t>, </a:t>
            </a:r>
            <a:r>
              <a:rPr lang="en" sz="1000">
                <a:solidFill>
                  <a:srgbClr val="000000"/>
                </a:solidFill>
                <a:latin typeface="Montserrat"/>
                <a:ea typeface="Montserrat"/>
                <a:cs typeface="Montserrat"/>
                <a:sym typeface="Montserrat"/>
              </a:rPr>
              <a:t>Prioritization</a:t>
            </a:r>
            <a:r>
              <a:rPr lang="en" sz="1000">
                <a:latin typeface="Montserrat"/>
                <a:ea typeface="Montserrat"/>
                <a:cs typeface="Montserrat"/>
                <a:sym typeface="Montserrat"/>
              </a:rPr>
              <a:t>, &amp; </a:t>
            </a:r>
            <a:r>
              <a:rPr lang="en" sz="1000">
                <a:solidFill>
                  <a:srgbClr val="000000"/>
                </a:solidFill>
                <a:latin typeface="Montserrat"/>
                <a:ea typeface="Montserrat"/>
                <a:cs typeface="Montserrat"/>
                <a:sym typeface="Montserrat"/>
              </a:rPr>
              <a:t>Program Management</a:t>
            </a:r>
            <a:endParaRPr sz="1000">
              <a:solidFill>
                <a:srgbClr val="000000"/>
              </a:solidFill>
              <a:latin typeface="Montserrat"/>
              <a:ea typeface="Montserrat"/>
              <a:cs typeface="Montserrat"/>
              <a:sym typeface="Montserrat"/>
            </a:endParaRPr>
          </a:p>
        </p:txBody>
      </p:sp>
      <p:sp>
        <p:nvSpPr>
          <p:cNvPr id="195" name="Google Shape;195;p21"/>
          <p:cNvSpPr/>
          <p:nvPr/>
        </p:nvSpPr>
        <p:spPr>
          <a:xfrm>
            <a:off x="579049" y="429794"/>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grpSp>
        <p:nvGrpSpPr>
          <p:cNvPr id="196" name="Google Shape;196;p21"/>
          <p:cNvGrpSpPr/>
          <p:nvPr/>
        </p:nvGrpSpPr>
        <p:grpSpPr>
          <a:xfrm>
            <a:off x="1628775" y="493663"/>
            <a:ext cx="6864600" cy="985763"/>
            <a:chOff x="1628775" y="493663"/>
            <a:chExt cx="6864600" cy="985763"/>
          </a:xfrm>
        </p:grpSpPr>
        <p:sp>
          <p:nvSpPr>
            <p:cNvPr id="197" name="Google Shape;197;p21"/>
            <p:cNvSpPr txBox="1"/>
            <p:nvPr/>
          </p:nvSpPr>
          <p:spPr>
            <a:xfrm>
              <a:off x="1674675" y="493663"/>
              <a:ext cx="6818700" cy="785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 sz="3000">
                  <a:solidFill>
                    <a:srgbClr val="000099"/>
                  </a:solidFill>
                  <a:latin typeface="Montserrat"/>
                  <a:ea typeface="Montserrat"/>
                  <a:cs typeface="Montserrat"/>
                  <a:sym typeface="Montserrat"/>
                </a:rPr>
                <a:t>Governance Structure</a:t>
              </a:r>
              <a:endParaRPr b="1" sz="3000">
                <a:solidFill>
                  <a:srgbClr val="000099"/>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1" sz="2100">
                <a:solidFill>
                  <a:srgbClr val="EF4138"/>
                </a:solidFill>
                <a:latin typeface="Montserrat"/>
                <a:ea typeface="Montserrat"/>
                <a:cs typeface="Montserrat"/>
                <a:sym typeface="Montserrat"/>
              </a:endParaRPr>
            </a:p>
          </p:txBody>
        </p:sp>
        <p:sp>
          <p:nvSpPr>
            <p:cNvPr id="198" name="Google Shape;198;p21"/>
            <p:cNvSpPr txBox="1"/>
            <p:nvPr/>
          </p:nvSpPr>
          <p:spPr>
            <a:xfrm>
              <a:off x="1628775" y="897725"/>
              <a:ext cx="68187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a:ea typeface="Montserrat"/>
                  <a:cs typeface="Montserrat"/>
                  <a:sym typeface="Montserrat"/>
                </a:rPr>
                <a:t>The Governance Committee's mission is to steer the Innovation Hub program through collaborative design, guiding league-wide decisions for maximum impact.</a:t>
              </a:r>
              <a:endParaRPr sz="1200">
                <a:solidFill>
                  <a:schemeClr val="dk1"/>
                </a:solidFill>
                <a:latin typeface="Montserrat"/>
                <a:ea typeface="Montserrat"/>
                <a:cs typeface="Montserrat"/>
                <a:sym typeface="Montserra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pSp>
        <p:nvGrpSpPr>
          <p:cNvPr id="203" name="Google Shape;203;p22"/>
          <p:cNvGrpSpPr/>
          <p:nvPr/>
        </p:nvGrpSpPr>
        <p:grpSpPr>
          <a:xfrm>
            <a:off x="206834" y="2018919"/>
            <a:ext cx="8730331" cy="3000577"/>
            <a:chOff x="281988" y="2597971"/>
            <a:chExt cx="11640442" cy="4000769"/>
          </a:xfrm>
        </p:grpSpPr>
        <p:grpSp>
          <p:nvGrpSpPr>
            <p:cNvPr id="204" name="Google Shape;204;p22"/>
            <p:cNvGrpSpPr/>
            <p:nvPr/>
          </p:nvGrpSpPr>
          <p:grpSpPr>
            <a:xfrm>
              <a:off x="281988" y="2597971"/>
              <a:ext cx="11640442" cy="2491150"/>
              <a:chOff x="281988" y="2597971"/>
              <a:chExt cx="11640442" cy="2491150"/>
            </a:xfrm>
          </p:grpSpPr>
          <p:grpSp>
            <p:nvGrpSpPr>
              <p:cNvPr id="205" name="Google Shape;205;p22"/>
              <p:cNvGrpSpPr/>
              <p:nvPr/>
            </p:nvGrpSpPr>
            <p:grpSpPr>
              <a:xfrm>
                <a:off x="281988" y="2597971"/>
                <a:ext cx="1660864" cy="2491150"/>
                <a:chOff x="332788" y="1996881"/>
                <a:chExt cx="1660864" cy="2491150"/>
              </a:xfrm>
            </p:grpSpPr>
            <p:grpSp>
              <p:nvGrpSpPr>
                <p:cNvPr id="206" name="Google Shape;206;p22"/>
                <p:cNvGrpSpPr/>
                <p:nvPr/>
              </p:nvGrpSpPr>
              <p:grpSpPr>
                <a:xfrm>
                  <a:off x="332788" y="2733701"/>
                  <a:ext cx="1660864" cy="1754330"/>
                  <a:chOff x="6218991" y="2771801"/>
                  <a:chExt cx="1660864" cy="1754330"/>
                </a:xfrm>
              </p:grpSpPr>
              <p:sp>
                <p:nvSpPr>
                  <p:cNvPr id="207" name="Google Shape;207;p22"/>
                  <p:cNvSpPr/>
                  <p:nvPr/>
                </p:nvSpPr>
                <p:spPr>
                  <a:xfrm>
                    <a:off x="6218991" y="2771801"/>
                    <a:ext cx="1660864" cy="1754330"/>
                  </a:xfrm>
                  <a:prstGeom prst="roundRect">
                    <a:avLst>
                      <a:gd fmla="val 6344" name="adj"/>
                    </a:avLst>
                  </a:prstGeom>
                  <a:no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8" name="Google Shape;208;p22"/>
                  <p:cNvSpPr txBox="1"/>
                  <p:nvPr/>
                </p:nvSpPr>
                <p:spPr>
                  <a:xfrm>
                    <a:off x="6290555" y="3169154"/>
                    <a:ext cx="1517700" cy="749100"/>
                  </a:xfrm>
                  <a:prstGeom prst="rect">
                    <a:avLst/>
                  </a:prstGeom>
                  <a:noFill/>
                  <a:ln>
                    <a:noFill/>
                  </a:ln>
                </p:spPr>
                <p:txBody>
                  <a:bodyPr anchorCtr="0" anchor="t" bIns="34275" lIns="68575" spcFirstLastPara="1" rIns="68575" wrap="square" tIns="34275">
                    <a:spAutoFit/>
                  </a:bodyPr>
                  <a:lstStyle/>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Internal/External Idea Submission</a:t>
                    </a:r>
                    <a:endParaRPr sz="1100"/>
                  </a:p>
                  <a:p>
                    <a:pPr indent="-127000" lvl="0" marL="127000" marR="0" rtl="0" algn="l">
                      <a:spcBef>
                        <a:spcPts val="0"/>
                      </a:spcBef>
                      <a:spcAft>
                        <a:spcPts val="0"/>
                      </a:spcAft>
                      <a:buClr>
                        <a:srgbClr val="3F3F3F"/>
                      </a:buClr>
                      <a:buSzPts val="800"/>
                      <a:buFont typeface="Courier New"/>
                      <a:buChar char="o"/>
                    </a:pPr>
                    <a:r>
                      <a:rPr b="1" i="0" lang="en" sz="800" u="none" cap="none" strike="noStrike">
                        <a:solidFill>
                          <a:srgbClr val="3F3F3F"/>
                        </a:solidFill>
                      </a:rPr>
                      <a:t>NFL Business Value</a:t>
                    </a:r>
                    <a:endParaRPr b="1" sz="1100"/>
                  </a:p>
                </p:txBody>
              </p:sp>
            </p:grpSp>
            <p:grpSp>
              <p:nvGrpSpPr>
                <p:cNvPr id="209" name="Google Shape;209;p22"/>
                <p:cNvGrpSpPr/>
                <p:nvPr/>
              </p:nvGrpSpPr>
              <p:grpSpPr>
                <a:xfrm>
                  <a:off x="380875" y="1996881"/>
                  <a:ext cx="1564690" cy="502881"/>
                  <a:chOff x="299295" y="1879784"/>
                  <a:chExt cx="2741432" cy="881078"/>
                </a:xfrm>
              </p:grpSpPr>
              <p:grpSp>
                <p:nvGrpSpPr>
                  <p:cNvPr id="210" name="Google Shape;210;p22"/>
                  <p:cNvGrpSpPr/>
                  <p:nvPr/>
                </p:nvGrpSpPr>
                <p:grpSpPr>
                  <a:xfrm>
                    <a:off x="512415" y="1879784"/>
                    <a:ext cx="2528312" cy="881078"/>
                    <a:chOff x="579820" y="1879784"/>
                    <a:chExt cx="2528312" cy="881078"/>
                  </a:xfrm>
                </p:grpSpPr>
                <p:sp>
                  <p:nvSpPr>
                    <p:cNvPr id="211" name="Google Shape;211;p22"/>
                    <p:cNvSpPr/>
                    <p:nvPr/>
                  </p:nvSpPr>
                  <p:spPr>
                    <a:xfrm>
                      <a:off x="579820" y="1879784"/>
                      <a:ext cx="90958" cy="90958"/>
                    </a:xfrm>
                    <a:prstGeom prst="ellipse">
                      <a:avLst/>
                    </a:prstGeom>
                    <a:solidFill>
                      <a:schemeClr val="lt2"/>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2" name="Google Shape;212;p22"/>
                    <p:cNvSpPr/>
                    <p:nvPr/>
                  </p:nvSpPr>
                  <p:spPr>
                    <a:xfrm>
                      <a:off x="673208" y="1926171"/>
                      <a:ext cx="2434924" cy="834691"/>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213" name="Google Shape;213;p22"/>
                  <p:cNvGrpSpPr/>
                  <p:nvPr/>
                </p:nvGrpSpPr>
                <p:grpSpPr>
                  <a:xfrm>
                    <a:off x="299295" y="2006438"/>
                    <a:ext cx="2659166" cy="674157"/>
                    <a:chOff x="299295" y="2006438"/>
                    <a:chExt cx="2659166" cy="674157"/>
                  </a:xfrm>
                </p:grpSpPr>
                <p:sp>
                  <p:nvSpPr>
                    <p:cNvPr id="214" name="Google Shape;214;p22"/>
                    <p:cNvSpPr/>
                    <p:nvPr/>
                  </p:nvSpPr>
                  <p:spPr>
                    <a:xfrm>
                      <a:off x="299295" y="2006438"/>
                      <a:ext cx="2659166" cy="674157"/>
                    </a:xfrm>
                    <a:prstGeom prst="roundRect">
                      <a:avLst>
                        <a:gd fmla="val 50000" name="adj"/>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99"/>
                        </a:solidFill>
                        <a:latin typeface="Calibri"/>
                        <a:ea typeface="Calibri"/>
                        <a:cs typeface="Calibri"/>
                        <a:sym typeface="Calibri"/>
                      </a:endParaRPr>
                    </a:p>
                  </p:txBody>
                </p:sp>
                <p:sp>
                  <p:nvSpPr>
                    <p:cNvPr id="215" name="Google Shape;215;p22"/>
                    <p:cNvSpPr/>
                    <p:nvPr/>
                  </p:nvSpPr>
                  <p:spPr>
                    <a:xfrm>
                      <a:off x="702809" y="2100853"/>
                      <a:ext cx="1852135" cy="485319"/>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Intake</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216" name="Google Shape;216;p22"/>
              <p:cNvGrpSpPr/>
              <p:nvPr/>
            </p:nvGrpSpPr>
            <p:grpSpPr>
              <a:xfrm>
                <a:off x="2277904" y="2597971"/>
                <a:ext cx="1660864" cy="2491150"/>
                <a:chOff x="332788" y="1996881"/>
                <a:chExt cx="1660864" cy="2491150"/>
              </a:xfrm>
            </p:grpSpPr>
            <p:grpSp>
              <p:nvGrpSpPr>
                <p:cNvPr id="217" name="Google Shape;217;p22"/>
                <p:cNvGrpSpPr/>
                <p:nvPr/>
              </p:nvGrpSpPr>
              <p:grpSpPr>
                <a:xfrm>
                  <a:off x="332788" y="2733701"/>
                  <a:ext cx="1660864" cy="1754330"/>
                  <a:chOff x="6218991" y="2771801"/>
                  <a:chExt cx="1660864" cy="1754330"/>
                </a:xfrm>
              </p:grpSpPr>
              <p:sp>
                <p:nvSpPr>
                  <p:cNvPr id="218" name="Google Shape;218;p22"/>
                  <p:cNvSpPr/>
                  <p:nvPr/>
                </p:nvSpPr>
                <p:spPr>
                  <a:xfrm>
                    <a:off x="6218991" y="2771801"/>
                    <a:ext cx="1660864" cy="1754330"/>
                  </a:xfrm>
                  <a:prstGeom prst="roundRect">
                    <a:avLst>
                      <a:gd fmla="val 6344" name="adj"/>
                    </a:avLst>
                  </a:prstGeom>
                  <a:noFill/>
                  <a:ln cap="flat" cmpd="sng" w="952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19" name="Google Shape;219;p22"/>
                  <p:cNvSpPr txBox="1"/>
                  <p:nvPr/>
                </p:nvSpPr>
                <p:spPr>
                  <a:xfrm>
                    <a:off x="6290555" y="3164612"/>
                    <a:ext cx="1517700" cy="749100"/>
                  </a:xfrm>
                  <a:prstGeom prst="rect">
                    <a:avLst/>
                  </a:prstGeom>
                  <a:noFill/>
                  <a:ln>
                    <a:noFill/>
                  </a:ln>
                </p:spPr>
                <p:txBody>
                  <a:bodyPr anchorCtr="0" anchor="t" bIns="34275" lIns="68575" spcFirstLastPara="1" rIns="68575" wrap="square" tIns="34275">
                    <a:spAutoFit/>
                  </a:bodyPr>
                  <a:lstStyle/>
                  <a:p>
                    <a:pPr indent="-127000" lvl="0" marL="127000" marR="0" rtl="0" algn="l">
                      <a:spcBef>
                        <a:spcPts val="0"/>
                      </a:spcBef>
                      <a:spcAft>
                        <a:spcPts val="0"/>
                      </a:spcAft>
                      <a:buClr>
                        <a:srgbClr val="3F3F3F"/>
                      </a:buClr>
                      <a:buSzPts val="800"/>
                      <a:buFont typeface="Courier New"/>
                      <a:buChar char="o"/>
                    </a:pPr>
                    <a:r>
                      <a:rPr b="1" i="0" lang="en" sz="800" u="none" cap="none" strike="noStrike">
                        <a:solidFill>
                          <a:srgbClr val="3F3F3F"/>
                        </a:solidFill>
                      </a:rPr>
                      <a:t>Zone Placement</a:t>
                    </a:r>
                    <a:endParaRPr b="1" i="0" sz="800" u="none" cap="none" strike="noStrike">
                      <a:solidFill>
                        <a:srgbClr val="3F3F3F"/>
                      </a:solidFill>
                    </a:endParaRPr>
                  </a:p>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Depth Evaluation</a:t>
                    </a:r>
                    <a:endParaRPr b="0" i="0" sz="800" u="none" cap="none" strike="noStrike">
                      <a:solidFill>
                        <a:srgbClr val="3F3F3F"/>
                      </a:solidFill>
                      <a:latin typeface="Arial"/>
                      <a:ea typeface="Arial"/>
                      <a:cs typeface="Arial"/>
                      <a:sym typeface="Arial"/>
                    </a:endParaRPr>
                  </a:p>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Technical  Feasibility</a:t>
                    </a:r>
                    <a:endParaRPr b="0" i="0" sz="800" u="none" cap="none" strike="noStrike">
                      <a:solidFill>
                        <a:srgbClr val="3F3F3F"/>
                      </a:solidFill>
                      <a:latin typeface="Arial"/>
                      <a:ea typeface="Arial"/>
                      <a:cs typeface="Arial"/>
                      <a:sym typeface="Arial"/>
                    </a:endParaRPr>
                  </a:p>
                </p:txBody>
              </p:sp>
            </p:grpSp>
            <p:grpSp>
              <p:nvGrpSpPr>
                <p:cNvPr id="220" name="Google Shape;220;p22"/>
                <p:cNvGrpSpPr/>
                <p:nvPr/>
              </p:nvGrpSpPr>
              <p:grpSpPr>
                <a:xfrm>
                  <a:off x="380875" y="1996881"/>
                  <a:ext cx="1564690" cy="502881"/>
                  <a:chOff x="299295" y="1879784"/>
                  <a:chExt cx="2741432" cy="881078"/>
                </a:xfrm>
              </p:grpSpPr>
              <p:grpSp>
                <p:nvGrpSpPr>
                  <p:cNvPr id="221" name="Google Shape;221;p22"/>
                  <p:cNvGrpSpPr/>
                  <p:nvPr/>
                </p:nvGrpSpPr>
                <p:grpSpPr>
                  <a:xfrm>
                    <a:off x="512415" y="1879784"/>
                    <a:ext cx="2528312" cy="881078"/>
                    <a:chOff x="579820" y="1879784"/>
                    <a:chExt cx="2528312" cy="881078"/>
                  </a:xfrm>
                </p:grpSpPr>
                <p:sp>
                  <p:nvSpPr>
                    <p:cNvPr id="222" name="Google Shape;222;p22"/>
                    <p:cNvSpPr/>
                    <p:nvPr/>
                  </p:nvSpPr>
                  <p:spPr>
                    <a:xfrm>
                      <a:off x="579820" y="1879784"/>
                      <a:ext cx="90958" cy="90958"/>
                    </a:xfrm>
                    <a:prstGeom prst="ellipse">
                      <a:avLst/>
                    </a:prstGeom>
                    <a:solidFill>
                      <a:schemeClr val="lt2"/>
                    </a:solid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23" name="Google Shape;223;p22"/>
                    <p:cNvSpPr/>
                    <p:nvPr/>
                  </p:nvSpPr>
                  <p:spPr>
                    <a:xfrm>
                      <a:off x="673208" y="1926171"/>
                      <a:ext cx="2434924" cy="834691"/>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224" name="Google Shape;224;p22"/>
                  <p:cNvGrpSpPr/>
                  <p:nvPr/>
                </p:nvGrpSpPr>
                <p:grpSpPr>
                  <a:xfrm>
                    <a:off x="299295" y="2006438"/>
                    <a:ext cx="2659166" cy="674157"/>
                    <a:chOff x="299295" y="2006438"/>
                    <a:chExt cx="2659166" cy="674157"/>
                  </a:xfrm>
                </p:grpSpPr>
                <p:sp>
                  <p:nvSpPr>
                    <p:cNvPr id="225" name="Google Shape;225;p22"/>
                    <p:cNvSpPr/>
                    <p:nvPr/>
                  </p:nvSpPr>
                  <p:spPr>
                    <a:xfrm>
                      <a:off x="299295" y="2006438"/>
                      <a:ext cx="2659166" cy="674157"/>
                    </a:xfrm>
                    <a:prstGeom prst="roundRect">
                      <a:avLst>
                        <a:gd fmla="val 50000" name="adj"/>
                      </a:avLst>
                    </a:prstGeom>
                    <a:solidFill>
                      <a:srgbClr val="EF413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226" name="Google Shape;226;p22"/>
                    <p:cNvSpPr/>
                    <p:nvPr/>
                  </p:nvSpPr>
                  <p:spPr>
                    <a:xfrm>
                      <a:off x="702809" y="2100853"/>
                      <a:ext cx="1852135" cy="485319"/>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Concept </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227" name="Google Shape;227;p22"/>
              <p:cNvGrpSpPr/>
              <p:nvPr/>
            </p:nvGrpSpPr>
            <p:grpSpPr>
              <a:xfrm>
                <a:off x="4273820" y="2597972"/>
                <a:ext cx="1660864" cy="2491149"/>
                <a:chOff x="332788" y="1996882"/>
                <a:chExt cx="1660864" cy="2491149"/>
              </a:xfrm>
            </p:grpSpPr>
            <p:grpSp>
              <p:nvGrpSpPr>
                <p:cNvPr id="228" name="Google Shape;228;p22"/>
                <p:cNvGrpSpPr/>
                <p:nvPr/>
              </p:nvGrpSpPr>
              <p:grpSpPr>
                <a:xfrm>
                  <a:off x="332788" y="2733701"/>
                  <a:ext cx="1660864" cy="1754330"/>
                  <a:chOff x="6218991" y="2771801"/>
                  <a:chExt cx="1660864" cy="1754330"/>
                </a:xfrm>
              </p:grpSpPr>
              <p:sp>
                <p:nvSpPr>
                  <p:cNvPr id="229" name="Google Shape;229;p22"/>
                  <p:cNvSpPr/>
                  <p:nvPr/>
                </p:nvSpPr>
                <p:spPr>
                  <a:xfrm>
                    <a:off x="6218991" y="2771801"/>
                    <a:ext cx="1660864" cy="1754330"/>
                  </a:xfrm>
                  <a:prstGeom prst="roundRect">
                    <a:avLst>
                      <a:gd fmla="val 6344" name="adj"/>
                    </a:avLst>
                  </a:prstGeom>
                  <a:noFill/>
                  <a:ln cap="flat" cmpd="sng" w="9525">
                    <a:solidFill>
                      <a:srgbClr val="FFCC2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30" name="Google Shape;230;p22"/>
                  <p:cNvSpPr txBox="1"/>
                  <p:nvPr/>
                </p:nvSpPr>
                <p:spPr>
                  <a:xfrm>
                    <a:off x="6290555" y="3164616"/>
                    <a:ext cx="1517700" cy="913200"/>
                  </a:xfrm>
                  <a:prstGeom prst="rect">
                    <a:avLst/>
                  </a:prstGeom>
                  <a:noFill/>
                  <a:ln>
                    <a:noFill/>
                  </a:ln>
                </p:spPr>
                <p:txBody>
                  <a:bodyPr anchorCtr="0" anchor="t" bIns="34275" lIns="68575" spcFirstLastPara="1" rIns="68575" wrap="square" tIns="34275">
                    <a:spAutoFit/>
                  </a:bodyPr>
                  <a:lstStyle/>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Product/Service definition</a:t>
                    </a:r>
                    <a:endParaRPr b="0" i="0" sz="800" u="none" cap="none" strike="noStrike">
                      <a:solidFill>
                        <a:srgbClr val="3F3F3F"/>
                      </a:solidFill>
                      <a:latin typeface="Arial"/>
                      <a:ea typeface="Arial"/>
                      <a:cs typeface="Arial"/>
                      <a:sym typeface="Arial"/>
                    </a:endParaRPr>
                  </a:p>
                  <a:p>
                    <a:pPr indent="-127000" lvl="0" marL="127000" marR="0" rtl="0" algn="l">
                      <a:spcBef>
                        <a:spcPts val="0"/>
                      </a:spcBef>
                      <a:spcAft>
                        <a:spcPts val="0"/>
                      </a:spcAft>
                      <a:buClr>
                        <a:srgbClr val="3F3F3F"/>
                      </a:buClr>
                      <a:buSzPts val="800"/>
                      <a:buFont typeface="Courier New"/>
                      <a:buChar char="o"/>
                    </a:pPr>
                    <a:r>
                      <a:rPr b="1" i="0" lang="en" sz="800" u="none" cap="none" strike="noStrike">
                        <a:solidFill>
                          <a:srgbClr val="3F3F3F"/>
                        </a:solidFill>
                      </a:rPr>
                      <a:t>Business Justification</a:t>
                    </a:r>
                    <a:endParaRPr b="1" i="0" sz="800" u="none" cap="none" strike="noStrike">
                      <a:solidFill>
                        <a:srgbClr val="3F3F3F"/>
                      </a:solidFill>
                    </a:endParaRPr>
                  </a:p>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Development Plan</a:t>
                    </a:r>
                    <a:endParaRPr b="0" i="0" sz="800" u="none" cap="none" strike="noStrike">
                      <a:solidFill>
                        <a:srgbClr val="3F3F3F"/>
                      </a:solidFill>
                      <a:latin typeface="Arial"/>
                      <a:ea typeface="Arial"/>
                      <a:cs typeface="Arial"/>
                      <a:sym typeface="Arial"/>
                    </a:endParaRPr>
                  </a:p>
                </p:txBody>
              </p:sp>
            </p:grpSp>
            <p:grpSp>
              <p:nvGrpSpPr>
                <p:cNvPr id="231" name="Google Shape;231;p22"/>
                <p:cNvGrpSpPr/>
                <p:nvPr/>
              </p:nvGrpSpPr>
              <p:grpSpPr>
                <a:xfrm>
                  <a:off x="380875" y="1996882"/>
                  <a:ext cx="1564690" cy="502881"/>
                  <a:chOff x="299295" y="1879784"/>
                  <a:chExt cx="2741432" cy="881078"/>
                </a:xfrm>
              </p:grpSpPr>
              <p:grpSp>
                <p:nvGrpSpPr>
                  <p:cNvPr id="232" name="Google Shape;232;p22"/>
                  <p:cNvGrpSpPr/>
                  <p:nvPr/>
                </p:nvGrpSpPr>
                <p:grpSpPr>
                  <a:xfrm>
                    <a:off x="512415" y="1879784"/>
                    <a:ext cx="2528312" cy="881078"/>
                    <a:chOff x="579820" y="1879784"/>
                    <a:chExt cx="2528312" cy="881078"/>
                  </a:xfrm>
                </p:grpSpPr>
                <p:sp>
                  <p:nvSpPr>
                    <p:cNvPr id="233" name="Google Shape;233;p22"/>
                    <p:cNvSpPr/>
                    <p:nvPr/>
                  </p:nvSpPr>
                  <p:spPr>
                    <a:xfrm>
                      <a:off x="579820" y="1879784"/>
                      <a:ext cx="90958" cy="90958"/>
                    </a:xfrm>
                    <a:prstGeom prst="ellipse">
                      <a:avLst/>
                    </a:prstGeom>
                    <a:solidFill>
                      <a:schemeClr val="lt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34" name="Google Shape;234;p22"/>
                    <p:cNvSpPr/>
                    <p:nvPr/>
                  </p:nvSpPr>
                  <p:spPr>
                    <a:xfrm>
                      <a:off x="673208" y="1926171"/>
                      <a:ext cx="2434924" cy="834691"/>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235" name="Google Shape;235;p22"/>
                  <p:cNvGrpSpPr/>
                  <p:nvPr/>
                </p:nvGrpSpPr>
                <p:grpSpPr>
                  <a:xfrm>
                    <a:off x="299295" y="2006438"/>
                    <a:ext cx="2659166" cy="674157"/>
                    <a:chOff x="299295" y="2006438"/>
                    <a:chExt cx="2659166" cy="674157"/>
                  </a:xfrm>
                </p:grpSpPr>
                <p:sp>
                  <p:nvSpPr>
                    <p:cNvPr id="236" name="Google Shape;236;p22"/>
                    <p:cNvSpPr/>
                    <p:nvPr/>
                  </p:nvSpPr>
                  <p:spPr>
                    <a:xfrm>
                      <a:off x="299295" y="2006438"/>
                      <a:ext cx="2659166" cy="674157"/>
                    </a:xfrm>
                    <a:prstGeom prst="roundRect">
                      <a:avLst>
                        <a:gd fmla="val 50000" name="adj"/>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237" name="Google Shape;237;p22"/>
                    <p:cNvSpPr/>
                    <p:nvPr/>
                  </p:nvSpPr>
                  <p:spPr>
                    <a:xfrm>
                      <a:off x="550758" y="2100853"/>
                      <a:ext cx="2183460" cy="485319"/>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Century Gothic"/>
                          <a:ea typeface="Century Gothic"/>
                          <a:cs typeface="Century Gothic"/>
                          <a:sym typeface="Century Gothic"/>
                        </a:rPr>
                        <a:t>Business Case</a:t>
                      </a:r>
                      <a:endParaRPr b="1" i="0" sz="900" u="none" cap="none" strike="noStrike">
                        <a:solidFill>
                          <a:schemeClr val="lt1"/>
                        </a:solidFill>
                        <a:latin typeface="Century Gothic"/>
                        <a:ea typeface="Century Gothic"/>
                        <a:cs typeface="Century Gothic"/>
                        <a:sym typeface="Century Gothic"/>
                      </a:endParaRPr>
                    </a:p>
                  </p:txBody>
                </p:sp>
              </p:grpSp>
            </p:grpSp>
          </p:grpSp>
          <p:grpSp>
            <p:nvGrpSpPr>
              <p:cNvPr id="238" name="Google Shape;238;p22"/>
              <p:cNvGrpSpPr/>
              <p:nvPr/>
            </p:nvGrpSpPr>
            <p:grpSpPr>
              <a:xfrm>
                <a:off x="6269736" y="2597971"/>
                <a:ext cx="1660864" cy="2491150"/>
                <a:chOff x="332788" y="1996881"/>
                <a:chExt cx="1660864" cy="2491150"/>
              </a:xfrm>
            </p:grpSpPr>
            <p:grpSp>
              <p:nvGrpSpPr>
                <p:cNvPr id="239" name="Google Shape;239;p22"/>
                <p:cNvGrpSpPr/>
                <p:nvPr/>
              </p:nvGrpSpPr>
              <p:grpSpPr>
                <a:xfrm>
                  <a:off x="332788" y="2733701"/>
                  <a:ext cx="1660864" cy="1754330"/>
                  <a:chOff x="6218991" y="2771801"/>
                  <a:chExt cx="1660864" cy="1754330"/>
                </a:xfrm>
              </p:grpSpPr>
              <p:sp>
                <p:nvSpPr>
                  <p:cNvPr id="240" name="Google Shape;240;p22"/>
                  <p:cNvSpPr/>
                  <p:nvPr/>
                </p:nvSpPr>
                <p:spPr>
                  <a:xfrm>
                    <a:off x="6218991" y="2771801"/>
                    <a:ext cx="1660864" cy="1754330"/>
                  </a:xfrm>
                  <a:prstGeom prst="roundRect">
                    <a:avLst>
                      <a:gd fmla="val 6344" name="adj"/>
                    </a:avLst>
                  </a:prstGeom>
                  <a:no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41" name="Google Shape;241;p22"/>
                  <p:cNvSpPr txBox="1"/>
                  <p:nvPr/>
                </p:nvSpPr>
                <p:spPr>
                  <a:xfrm>
                    <a:off x="6290555" y="3159845"/>
                    <a:ext cx="1517700" cy="913200"/>
                  </a:xfrm>
                  <a:prstGeom prst="rect">
                    <a:avLst/>
                  </a:prstGeom>
                  <a:noFill/>
                  <a:ln>
                    <a:noFill/>
                  </a:ln>
                </p:spPr>
                <p:txBody>
                  <a:bodyPr anchorCtr="0" anchor="t" bIns="34275" lIns="68575" spcFirstLastPara="1" rIns="68575" wrap="square" tIns="34275">
                    <a:spAutoFit/>
                  </a:bodyPr>
                  <a:lstStyle/>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Develop prototype to verify and validate</a:t>
                    </a:r>
                    <a:endParaRPr b="0" i="0" sz="800" u="none" cap="none" strike="noStrike">
                      <a:solidFill>
                        <a:srgbClr val="3F3F3F"/>
                      </a:solidFill>
                      <a:latin typeface="Arial"/>
                      <a:ea typeface="Arial"/>
                      <a:cs typeface="Arial"/>
                      <a:sym typeface="Arial"/>
                    </a:endParaRPr>
                  </a:p>
                  <a:p>
                    <a:pPr indent="-127000" lvl="0" marL="127000" marR="0" rtl="0" algn="l">
                      <a:spcBef>
                        <a:spcPts val="0"/>
                      </a:spcBef>
                      <a:spcAft>
                        <a:spcPts val="0"/>
                      </a:spcAft>
                      <a:buClr>
                        <a:srgbClr val="3F3F3F"/>
                      </a:buClr>
                      <a:buSzPts val="800"/>
                      <a:buFont typeface="Courier New"/>
                      <a:buChar char="o"/>
                    </a:pPr>
                    <a:r>
                      <a:rPr b="1" i="0" lang="en" sz="800" u="none" cap="none" strike="noStrike">
                        <a:solidFill>
                          <a:srgbClr val="3F3F3F"/>
                        </a:solidFill>
                      </a:rPr>
                      <a:t>Test market fit</a:t>
                    </a:r>
                    <a:endParaRPr b="1" sz="1100"/>
                  </a:p>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Several iterations</a:t>
                    </a:r>
                    <a:endParaRPr sz="1100"/>
                  </a:p>
                </p:txBody>
              </p:sp>
            </p:grpSp>
            <p:grpSp>
              <p:nvGrpSpPr>
                <p:cNvPr id="242" name="Google Shape;242;p22"/>
                <p:cNvGrpSpPr/>
                <p:nvPr/>
              </p:nvGrpSpPr>
              <p:grpSpPr>
                <a:xfrm>
                  <a:off x="380875" y="1996881"/>
                  <a:ext cx="1564690" cy="502881"/>
                  <a:chOff x="299295" y="1879784"/>
                  <a:chExt cx="2741432" cy="881078"/>
                </a:xfrm>
              </p:grpSpPr>
              <p:grpSp>
                <p:nvGrpSpPr>
                  <p:cNvPr id="243" name="Google Shape;243;p22"/>
                  <p:cNvGrpSpPr/>
                  <p:nvPr/>
                </p:nvGrpSpPr>
                <p:grpSpPr>
                  <a:xfrm>
                    <a:off x="512415" y="1879784"/>
                    <a:ext cx="2528312" cy="881078"/>
                    <a:chOff x="579820" y="1879784"/>
                    <a:chExt cx="2528312" cy="881078"/>
                  </a:xfrm>
                </p:grpSpPr>
                <p:sp>
                  <p:nvSpPr>
                    <p:cNvPr id="244" name="Google Shape;244;p22"/>
                    <p:cNvSpPr/>
                    <p:nvPr/>
                  </p:nvSpPr>
                  <p:spPr>
                    <a:xfrm>
                      <a:off x="579820" y="1879784"/>
                      <a:ext cx="90958" cy="90958"/>
                    </a:xfrm>
                    <a:prstGeom prst="ellipse">
                      <a:avLst/>
                    </a:prstGeom>
                    <a:solidFill>
                      <a:schemeClr val="lt2"/>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45" name="Google Shape;245;p22"/>
                    <p:cNvSpPr/>
                    <p:nvPr/>
                  </p:nvSpPr>
                  <p:spPr>
                    <a:xfrm>
                      <a:off x="673208" y="1926171"/>
                      <a:ext cx="2434924" cy="834691"/>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246" name="Google Shape;246;p22"/>
                  <p:cNvGrpSpPr/>
                  <p:nvPr/>
                </p:nvGrpSpPr>
                <p:grpSpPr>
                  <a:xfrm>
                    <a:off x="299295" y="2006438"/>
                    <a:ext cx="2659166" cy="674157"/>
                    <a:chOff x="299295" y="2006438"/>
                    <a:chExt cx="2659166" cy="674157"/>
                  </a:xfrm>
                </p:grpSpPr>
                <p:sp>
                  <p:nvSpPr>
                    <p:cNvPr id="247" name="Google Shape;247;p22"/>
                    <p:cNvSpPr/>
                    <p:nvPr/>
                  </p:nvSpPr>
                  <p:spPr>
                    <a:xfrm>
                      <a:off x="299295" y="2006438"/>
                      <a:ext cx="2659166" cy="674157"/>
                    </a:xfrm>
                    <a:prstGeom prst="roundRect">
                      <a:avLst>
                        <a:gd fmla="val 50000" name="adj"/>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99"/>
                        </a:solidFill>
                        <a:latin typeface="Calibri"/>
                        <a:ea typeface="Calibri"/>
                        <a:cs typeface="Calibri"/>
                        <a:sym typeface="Calibri"/>
                      </a:endParaRPr>
                    </a:p>
                  </p:txBody>
                </p:sp>
                <p:sp>
                  <p:nvSpPr>
                    <p:cNvPr id="248" name="Google Shape;248;p22"/>
                    <p:cNvSpPr/>
                    <p:nvPr/>
                  </p:nvSpPr>
                  <p:spPr>
                    <a:xfrm>
                      <a:off x="624930" y="2100853"/>
                      <a:ext cx="2124801" cy="485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MVP</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249" name="Google Shape;249;p22"/>
              <p:cNvGrpSpPr/>
              <p:nvPr/>
            </p:nvGrpSpPr>
            <p:grpSpPr>
              <a:xfrm>
                <a:off x="8265652" y="2597971"/>
                <a:ext cx="1660864" cy="2491150"/>
                <a:chOff x="332788" y="1996881"/>
                <a:chExt cx="1660864" cy="2491150"/>
              </a:xfrm>
            </p:grpSpPr>
            <p:grpSp>
              <p:nvGrpSpPr>
                <p:cNvPr id="250" name="Google Shape;250;p22"/>
                <p:cNvGrpSpPr/>
                <p:nvPr/>
              </p:nvGrpSpPr>
              <p:grpSpPr>
                <a:xfrm>
                  <a:off x="332788" y="2733701"/>
                  <a:ext cx="1660864" cy="1754330"/>
                  <a:chOff x="6218991" y="2771801"/>
                  <a:chExt cx="1660864" cy="1754330"/>
                </a:xfrm>
              </p:grpSpPr>
              <p:sp>
                <p:nvSpPr>
                  <p:cNvPr id="251" name="Google Shape;251;p22"/>
                  <p:cNvSpPr/>
                  <p:nvPr/>
                </p:nvSpPr>
                <p:spPr>
                  <a:xfrm>
                    <a:off x="6218991" y="2771801"/>
                    <a:ext cx="1660864" cy="1754330"/>
                  </a:xfrm>
                  <a:prstGeom prst="roundRect">
                    <a:avLst>
                      <a:gd fmla="val 6344" name="adj"/>
                    </a:avLst>
                  </a:prstGeom>
                  <a:noFill/>
                  <a:ln cap="flat" cmpd="sng" w="952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52" name="Google Shape;252;p22"/>
                  <p:cNvSpPr txBox="1"/>
                  <p:nvPr/>
                </p:nvSpPr>
                <p:spPr>
                  <a:xfrm>
                    <a:off x="6290555" y="3152205"/>
                    <a:ext cx="1517700" cy="913200"/>
                  </a:xfrm>
                  <a:prstGeom prst="rect">
                    <a:avLst/>
                  </a:prstGeom>
                  <a:noFill/>
                  <a:ln>
                    <a:noFill/>
                  </a:ln>
                </p:spPr>
                <p:txBody>
                  <a:bodyPr anchorCtr="0" anchor="t" bIns="34275" lIns="68575" spcFirstLastPara="1" rIns="68575" wrap="square" tIns="34275">
                    <a:spAutoFit/>
                  </a:bodyPr>
                  <a:lstStyle/>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Financial viability</a:t>
                    </a:r>
                    <a:endParaRPr b="0" i="0" sz="800" u="none" cap="none" strike="noStrike">
                      <a:solidFill>
                        <a:srgbClr val="3F3F3F"/>
                      </a:solidFill>
                      <a:latin typeface="Arial"/>
                      <a:ea typeface="Arial"/>
                      <a:cs typeface="Arial"/>
                      <a:sym typeface="Arial"/>
                    </a:endParaRPr>
                  </a:p>
                  <a:p>
                    <a:pPr indent="-127000" lvl="0" marL="127000" marR="0" rtl="0" algn="l">
                      <a:spcBef>
                        <a:spcPts val="0"/>
                      </a:spcBef>
                      <a:spcAft>
                        <a:spcPts val="0"/>
                      </a:spcAft>
                      <a:buClr>
                        <a:srgbClr val="3F3F3F"/>
                      </a:buClr>
                      <a:buSzPts val="800"/>
                      <a:buFont typeface="Courier New"/>
                      <a:buChar char="o"/>
                    </a:pPr>
                    <a:r>
                      <a:rPr b="1" i="0" lang="en" sz="800" u="none" cap="none" strike="noStrike">
                        <a:solidFill>
                          <a:srgbClr val="3F3F3F"/>
                        </a:solidFill>
                      </a:rPr>
                      <a:t>Implementation strategy</a:t>
                    </a:r>
                    <a:endParaRPr b="1" i="0" sz="800" u="none" cap="none" strike="noStrike">
                      <a:solidFill>
                        <a:srgbClr val="3F3F3F"/>
                      </a:solidFill>
                    </a:endParaRPr>
                  </a:p>
                  <a:p>
                    <a:pPr indent="-127000" lvl="0" marL="127000" marR="0" rtl="0" algn="l">
                      <a:spcBef>
                        <a:spcPts val="0"/>
                      </a:spcBef>
                      <a:spcAft>
                        <a:spcPts val="0"/>
                      </a:spcAft>
                      <a:buClr>
                        <a:srgbClr val="3F3F3F"/>
                      </a:buClr>
                      <a:buSzPts val="800"/>
                      <a:buFont typeface="Courier New"/>
                      <a:buChar char="o"/>
                    </a:pPr>
                    <a:r>
                      <a:rPr b="0" i="0" lang="en" sz="800" u="none" cap="none" strike="noStrike">
                        <a:solidFill>
                          <a:srgbClr val="3F3F3F"/>
                        </a:solidFill>
                        <a:latin typeface="Arial"/>
                        <a:ea typeface="Arial"/>
                        <a:cs typeface="Arial"/>
                        <a:sym typeface="Arial"/>
                      </a:rPr>
                      <a:t>Total Cost of Ownership</a:t>
                    </a:r>
                    <a:endParaRPr b="0" i="0" sz="800" u="none" cap="none" strike="noStrike">
                      <a:solidFill>
                        <a:srgbClr val="3F3F3F"/>
                      </a:solidFill>
                      <a:latin typeface="Arial"/>
                      <a:ea typeface="Arial"/>
                      <a:cs typeface="Arial"/>
                      <a:sym typeface="Arial"/>
                    </a:endParaRPr>
                  </a:p>
                </p:txBody>
              </p:sp>
            </p:grpSp>
            <p:grpSp>
              <p:nvGrpSpPr>
                <p:cNvPr id="253" name="Google Shape;253;p22"/>
                <p:cNvGrpSpPr/>
                <p:nvPr/>
              </p:nvGrpSpPr>
              <p:grpSpPr>
                <a:xfrm>
                  <a:off x="380875" y="1996881"/>
                  <a:ext cx="1564690" cy="502881"/>
                  <a:chOff x="299295" y="1879784"/>
                  <a:chExt cx="2741432" cy="881078"/>
                </a:xfrm>
              </p:grpSpPr>
              <p:grpSp>
                <p:nvGrpSpPr>
                  <p:cNvPr id="254" name="Google Shape;254;p22"/>
                  <p:cNvGrpSpPr/>
                  <p:nvPr/>
                </p:nvGrpSpPr>
                <p:grpSpPr>
                  <a:xfrm>
                    <a:off x="512415" y="1879784"/>
                    <a:ext cx="2528312" cy="881078"/>
                    <a:chOff x="579820" y="1879784"/>
                    <a:chExt cx="2528312" cy="881078"/>
                  </a:xfrm>
                </p:grpSpPr>
                <p:sp>
                  <p:nvSpPr>
                    <p:cNvPr id="255" name="Google Shape;255;p22"/>
                    <p:cNvSpPr/>
                    <p:nvPr/>
                  </p:nvSpPr>
                  <p:spPr>
                    <a:xfrm>
                      <a:off x="579820" y="1879784"/>
                      <a:ext cx="90958" cy="90958"/>
                    </a:xfrm>
                    <a:prstGeom prst="ellipse">
                      <a:avLst/>
                    </a:prstGeom>
                    <a:solidFill>
                      <a:schemeClr val="lt2"/>
                    </a:solid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56" name="Google Shape;256;p22"/>
                    <p:cNvSpPr/>
                    <p:nvPr/>
                  </p:nvSpPr>
                  <p:spPr>
                    <a:xfrm>
                      <a:off x="673208" y="1926171"/>
                      <a:ext cx="2434924" cy="834691"/>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257" name="Google Shape;257;p22"/>
                  <p:cNvGrpSpPr/>
                  <p:nvPr/>
                </p:nvGrpSpPr>
                <p:grpSpPr>
                  <a:xfrm>
                    <a:off x="299295" y="2006438"/>
                    <a:ext cx="2659166" cy="674157"/>
                    <a:chOff x="299295" y="2006438"/>
                    <a:chExt cx="2659166" cy="674157"/>
                  </a:xfrm>
                </p:grpSpPr>
                <p:sp>
                  <p:nvSpPr>
                    <p:cNvPr id="258" name="Google Shape;258;p22"/>
                    <p:cNvSpPr/>
                    <p:nvPr/>
                  </p:nvSpPr>
                  <p:spPr>
                    <a:xfrm>
                      <a:off x="299295" y="2006438"/>
                      <a:ext cx="2659166" cy="674157"/>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259" name="Google Shape;259;p22"/>
                    <p:cNvSpPr/>
                    <p:nvPr/>
                  </p:nvSpPr>
                  <p:spPr>
                    <a:xfrm>
                      <a:off x="702809" y="2100854"/>
                      <a:ext cx="1852135" cy="485319"/>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ROI</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260" name="Google Shape;260;p22"/>
              <p:cNvGrpSpPr/>
              <p:nvPr/>
            </p:nvGrpSpPr>
            <p:grpSpPr>
              <a:xfrm>
                <a:off x="10261566" y="2597971"/>
                <a:ext cx="1660864" cy="2491150"/>
                <a:chOff x="332788" y="1996881"/>
                <a:chExt cx="1660864" cy="2491150"/>
              </a:xfrm>
            </p:grpSpPr>
            <p:grpSp>
              <p:nvGrpSpPr>
                <p:cNvPr id="261" name="Google Shape;261;p22"/>
                <p:cNvGrpSpPr/>
                <p:nvPr/>
              </p:nvGrpSpPr>
              <p:grpSpPr>
                <a:xfrm>
                  <a:off x="332788" y="2733701"/>
                  <a:ext cx="1660864" cy="1754330"/>
                  <a:chOff x="6218991" y="2771801"/>
                  <a:chExt cx="1660864" cy="1754330"/>
                </a:xfrm>
              </p:grpSpPr>
              <p:sp>
                <p:nvSpPr>
                  <p:cNvPr id="262" name="Google Shape;262;p22"/>
                  <p:cNvSpPr/>
                  <p:nvPr/>
                </p:nvSpPr>
                <p:spPr>
                  <a:xfrm>
                    <a:off x="6218991" y="2771801"/>
                    <a:ext cx="1660864" cy="1754330"/>
                  </a:xfrm>
                  <a:prstGeom prst="roundRect">
                    <a:avLst>
                      <a:gd fmla="val 6344" name="adj"/>
                    </a:avLst>
                  </a:prstGeom>
                  <a:noFill/>
                  <a:ln cap="flat" cmpd="sng" w="9525">
                    <a:solidFill>
                      <a:srgbClr val="FFCC2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63" name="Google Shape;263;p22"/>
                  <p:cNvSpPr txBox="1"/>
                  <p:nvPr/>
                </p:nvSpPr>
                <p:spPr>
                  <a:xfrm>
                    <a:off x="6290555" y="3181413"/>
                    <a:ext cx="1517700" cy="749100"/>
                  </a:xfrm>
                  <a:prstGeom prst="rect">
                    <a:avLst/>
                  </a:prstGeom>
                  <a:noFill/>
                  <a:ln>
                    <a:noFill/>
                  </a:ln>
                </p:spPr>
                <p:txBody>
                  <a:bodyPr anchorCtr="0" anchor="t" bIns="34275" lIns="68575" spcFirstLastPara="1" rIns="68575" wrap="square" tIns="34275">
                    <a:spAutoFit/>
                  </a:bodyPr>
                  <a:lstStyle/>
                  <a:p>
                    <a:pPr indent="-127000" lvl="0" marL="127000" marR="0" rtl="0" algn="l">
                      <a:spcBef>
                        <a:spcPts val="0"/>
                      </a:spcBef>
                      <a:spcAft>
                        <a:spcPts val="0"/>
                      </a:spcAft>
                      <a:buClr>
                        <a:srgbClr val="3F3F3F"/>
                      </a:buClr>
                      <a:buSzPts val="800"/>
                      <a:buFont typeface="Courier New"/>
                      <a:buChar char="o"/>
                    </a:pPr>
                    <a:r>
                      <a:rPr b="1" i="0" lang="en" sz="800" u="none" cap="none" strike="noStrike">
                        <a:solidFill>
                          <a:srgbClr val="3F3F3F"/>
                        </a:solidFill>
                      </a:rPr>
                      <a:t>Transition to funded operational project</a:t>
                    </a:r>
                    <a:endParaRPr b="1" i="0" sz="800" u="none" cap="none" strike="noStrike">
                      <a:solidFill>
                        <a:srgbClr val="3F3F3F"/>
                      </a:solidFill>
                    </a:endParaRPr>
                  </a:p>
                </p:txBody>
              </p:sp>
            </p:grpSp>
            <p:grpSp>
              <p:nvGrpSpPr>
                <p:cNvPr id="264" name="Google Shape;264;p22"/>
                <p:cNvGrpSpPr/>
                <p:nvPr/>
              </p:nvGrpSpPr>
              <p:grpSpPr>
                <a:xfrm>
                  <a:off x="380875" y="1996881"/>
                  <a:ext cx="1564690" cy="502881"/>
                  <a:chOff x="299295" y="1879784"/>
                  <a:chExt cx="2741432" cy="881078"/>
                </a:xfrm>
              </p:grpSpPr>
              <p:grpSp>
                <p:nvGrpSpPr>
                  <p:cNvPr id="265" name="Google Shape;265;p22"/>
                  <p:cNvGrpSpPr/>
                  <p:nvPr/>
                </p:nvGrpSpPr>
                <p:grpSpPr>
                  <a:xfrm>
                    <a:off x="512415" y="1879784"/>
                    <a:ext cx="2528312" cy="881078"/>
                    <a:chOff x="579820" y="1879784"/>
                    <a:chExt cx="2528312" cy="881078"/>
                  </a:xfrm>
                </p:grpSpPr>
                <p:sp>
                  <p:nvSpPr>
                    <p:cNvPr id="266" name="Google Shape;266;p22"/>
                    <p:cNvSpPr/>
                    <p:nvPr/>
                  </p:nvSpPr>
                  <p:spPr>
                    <a:xfrm>
                      <a:off x="579820" y="1879784"/>
                      <a:ext cx="90958" cy="90958"/>
                    </a:xfrm>
                    <a:prstGeom prst="ellipse">
                      <a:avLst/>
                    </a:prstGeom>
                    <a:solidFill>
                      <a:schemeClr val="lt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67" name="Google Shape;267;p22"/>
                    <p:cNvSpPr/>
                    <p:nvPr/>
                  </p:nvSpPr>
                  <p:spPr>
                    <a:xfrm>
                      <a:off x="673208" y="1926171"/>
                      <a:ext cx="2434924" cy="834691"/>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268" name="Google Shape;268;p22"/>
                  <p:cNvGrpSpPr/>
                  <p:nvPr/>
                </p:nvGrpSpPr>
                <p:grpSpPr>
                  <a:xfrm>
                    <a:off x="299295" y="2006438"/>
                    <a:ext cx="2659166" cy="674157"/>
                    <a:chOff x="299295" y="2006438"/>
                    <a:chExt cx="2659166" cy="674157"/>
                  </a:xfrm>
                </p:grpSpPr>
                <p:sp>
                  <p:nvSpPr>
                    <p:cNvPr id="269" name="Google Shape;269;p22"/>
                    <p:cNvSpPr/>
                    <p:nvPr/>
                  </p:nvSpPr>
                  <p:spPr>
                    <a:xfrm>
                      <a:off x="299295" y="2006438"/>
                      <a:ext cx="2659166" cy="674157"/>
                    </a:xfrm>
                    <a:prstGeom prst="roundRect">
                      <a:avLst>
                        <a:gd fmla="val 50000" name="adj"/>
                      </a:avLst>
                    </a:prstGeom>
                    <a:solidFill>
                      <a:srgbClr val="EF413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270" name="Google Shape;270;p22"/>
                    <p:cNvSpPr/>
                    <p:nvPr/>
                  </p:nvSpPr>
                  <p:spPr>
                    <a:xfrm>
                      <a:off x="702809" y="2100853"/>
                      <a:ext cx="1852135" cy="485319"/>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Century Gothic"/>
                          <a:ea typeface="Century Gothic"/>
                          <a:cs typeface="Century Gothic"/>
                          <a:sym typeface="Century Gothic"/>
                        </a:rPr>
                        <a:t>Grow</a:t>
                      </a:r>
                      <a:endParaRPr b="1" i="0" sz="900" u="none" cap="none" strike="noStrike">
                        <a:solidFill>
                          <a:schemeClr val="lt1"/>
                        </a:solidFill>
                        <a:latin typeface="Century Gothic"/>
                        <a:ea typeface="Century Gothic"/>
                        <a:cs typeface="Century Gothic"/>
                        <a:sym typeface="Century Gothic"/>
                      </a:endParaRPr>
                    </a:p>
                  </p:txBody>
                </p:sp>
              </p:grpSp>
            </p:grpSp>
          </p:grpSp>
        </p:grpSp>
        <p:grpSp>
          <p:nvGrpSpPr>
            <p:cNvPr id="271" name="Google Shape;271;p22"/>
            <p:cNvGrpSpPr/>
            <p:nvPr/>
          </p:nvGrpSpPr>
          <p:grpSpPr>
            <a:xfrm>
              <a:off x="335320" y="5855997"/>
              <a:ext cx="11533424" cy="742743"/>
              <a:chOff x="-129941" y="6182361"/>
              <a:chExt cx="11093400" cy="576169"/>
            </a:xfrm>
          </p:grpSpPr>
          <p:sp>
            <p:nvSpPr>
              <p:cNvPr id="272" name="Google Shape;272;p22"/>
              <p:cNvSpPr/>
              <p:nvPr/>
            </p:nvSpPr>
            <p:spPr>
              <a:xfrm rot="-5400000">
                <a:off x="5270059" y="782361"/>
                <a:ext cx="293400" cy="11093400"/>
              </a:xfrm>
              <a:prstGeom prst="leftBrace">
                <a:avLst>
                  <a:gd fmla="val 50000" name="adj1"/>
                  <a:gd fmla="val 50000" name="adj2"/>
                </a:avLst>
              </a:prstGeom>
              <a:noFill/>
              <a:ln cap="flat" cmpd="sng" w="9525">
                <a:solidFill>
                  <a:srgbClr val="7F7F7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3" name="Google Shape;273;p22"/>
              <p:cNvSpPr/>
              <p:nvPr/>
            </p:nvSpPr>
            <p:spPr>
              <a:xfrm>
                <a:off x="3588268" y="6350531"/>
                <a:ext cx="3486900" cy="408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62626"/>
                  </a:buClr>
                  <a:buSzPts val="1100"/>
                  <a:buFont typeface="Century Gothic"/>
                  <a:buNone/>
                </a:pPr>
                <a:r>
                  <a:rPr b="1" lang="en" sz="1100">
                    <a:solidFill>
                      <a:srgbClr val="262626"/>
                    </a:solidFill>
                    <a:latin typeface="Montserrat"/>
                    <a:ea typeface="Montserrat"/>
                    <a:cs typeface="Montserrat"/>
                    <a:sym typeface="Montserrat"/>
                  </a:rPr>
                  <a:t>HUB Funded Projects</a:t>
                </a:r>
                <a:endParaRPr b="1" sz="1100">
                  <a:solidFill>
                    <a:srgbClr val="262626"/>
                  </a:solidFill>
                  <a:latin typeface="Montserrat"/>
                  <a:ea typeface="Montserrat"/>
                  <a:cs typeface="Montserrat"/>
                  <a:sym typeface="Montserrat"/>
                </a:endParaRPr>
              </a:p>
            </p:txBody>
          </p:sp>
        </p:grpSp>
      </p:grpSp>
      <p:grpSp>
        <p:nvGrpSpPr>
          <p:cNvPr id="274" name="Google Shape;274;p22"/>
          <p:cNvGrpSpPr/>
          <p:nvPr/>
        </p:nvGrpSpPr>
        <p:grpSpPr>
          <a:xfrm>
            <a:off x="1365452" y="3968603"/>
            <a:ext cx="6362131" cy="200430"/>
            <a:chOff x="1826812" y="5582366"/>
            <a:chExt cx="8482841" cy="267240"/>
          </a:xfrm>
        </p:grpSpPr>
        <p:sp>
          <p:nvSpPr>
            <p:cNvPr id="275" name="Google Shape;275;p22"/>
            <p:cNvSpPr/>
            <p:nvPr/>
          </p:nvSpPr>
          <p:spPr>
            <a:xfrm flipH="1" rot="10800000">
              <a:off x="1826812" y="5582366"/>
              <a:ext cx="593914" cy="26724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6" name="Google Shape;276;p22"/>
            <p:cNvSpPr/>
            <p:nvPr/>
          </p:nvSpPr>
          <p:spPr>
            <a:xfrm flipH="1" rot="10800000">
              <a:off x="5884732" y="5582366"/>
              <a:ext cx="593914" cy="26724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77" name="Google Shape;277;p22"/>
            <p:cNvSpPr/>
            <p:nvPr/>
          </p:nvSpPr>
          <p:spPr>
            <a:xfrm flipH="1" rot="10800000">
              <a:off x="9715739" y="5582366"/>
              <a:ext cx="593914" cy="26724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pSp>
      <p:sp>
        <p:nvSpPr>
          <p:cNvPr id="278" name="Google Shape;278;p22"/>
          <p:cNvSpPr txBox="1"/>
          <p:nvPr/>
        </p:nvSpPr>
        <p:spPr>
          <a:xfrm>
            <a:off x="1269450"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1</a:t>
            </a:r>
            <a:endParaRPr b="1" sz="900">
              <a:solidFill>
                <a:srgbClr val="3F3F3F"/>
              </a:solidFill>
            </a:endParaRPr>
          </a:p>
        </p:txBody>
      </p:sp>
      <p:sp>
        <p:nvSpPr>
          <p:cNvPr id="279" name="Google Shape;279;p22"/>
          <p:cNvSpPr txBox="1"/>
          <p:nvPr/>
        </p:nvSpPr>
        <p:spPr>
          <a:xfrm>
            <a:off x="271627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2</a:t>
            </a:r>
            <a:endParaRPr b="1" sz="900">
              <a:solidFill>
                <a:srgbClr val="3F3F3F"/>
              </a:solidFill>
            </a:endParaRPr>
          </a:p>
        </p:txBody>
      </p:sp>
      <p:sp>
        <p:nvSpPr>
          <p:cNvPr id="280" name="Google Shape;280;p22"/>
          <p:cNvSpPr txBox="1"/>
          <p:nvPr/>
        </p:nvSpPr>
        <p:spPr>
          <a:xfrm>
            <a:off x="431472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3</a:t>
            </a:r>
            <a:endParaRPr b="1" sz="900">
              <a:solidFill>
                <a:srgbClr val="3F3F3F"/>
              </a:solidFill>
            </a:endParaRPr>
          </a:p>
        </p:txBody>
      </p:sp>
      <p:sp>
        <p:nvSpPr>
          <p:cNvPr id="281" name="Google Shape;281;p22"/>
          <p:cNvSpPr txBox="1"/>
          <p:nvPr/>
        </p:nvSpPr>
        <p:spPr>
          <a:xfrm>
            <a:off x="579362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4</a:t>
            </a:r>
            <a:endParaRPr b="1" sz="900">
              <a:solidFill>
                <a:srgbClr val="3F3F3F"/>
              </a:solidFill>
            </a:endParaRPr>
          </a:p>
        </p:txBody>
      </p:sp>
      <p:sp>
        <p:nvSpPr>
          <p:cNvPr id="282" name="Google Shape;282;p22"/>
          <p:cNvSpPr/>
          <p:nvPr/>
        </p:nvSpPr>
        <p:spPr>
          <a:xfrm flipH="1" rot="10800000">
            <a:off x="2811252" y="3968608"/>
            <a:ext cx="445500" cy="2004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3" name="Google Shape;283;p22"/>
          <p:cNvSpPr/>
          <p:nvPr/>
        </p:nvSpPr>
        <p:spPr>
          <a:xfrm flipH="1" rot="10800000">
            <a:off x="5861252" y="3968633"/>
            <a:ext cx="445500" cy="2004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4" name="Google Shape;284;p22"/>
          <p:cNvSpPr txBox="1"/>
          <p:nvPr/>
        </p:nvSpPr>
        <p:spPr>
          <a:xfrm>
            <a:off x="721717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5</a:t>
            </a:r>
            <a:endParaRPr b="1" sz="900">
              <a:solidFill>
                <a:srgbClr val="3F3F3F"/>
              </a:solidFill>
            </a:endParaRPr>
          </a:p>
        </p:txBody>
      </p:sp>
      <p:sp>
        <p:nvSpPr>
          <p:cNvPr id="285" name="Google Shape;285;p22"/>
          <p:cNvSpPr txBox="1"/>
          <p:nvPr/>
        </p:nvSpPr>
        <p:spPr>
          <a:xfrm>
            <a:off x="1674675" y="493675"/>
            <a:ext cx="5987400" cy="1246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3000">
                <a:solidFill>
                  <a:srgbClr val="000099"/>
                </a:solidFill>
                <a:latin typeface="Montserrat"/>
                <a:ea typeface="Montserrat"/>
                <a:cs typeface="Montserrat"/>
                <a:sym typeface="Montserrat"/>
              </a:rPr>
              <a:t>HUB Execution Gates or Operation Model</a:t>
            </a:r>
            <a:endParaRPr b="1" sz="3000">
              <a:solidFill>
                <a:srgbClr val="000099"/>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1" sz="2100">
              <a:solidFill>
                <a:srgbClr val="EF4138"/>
              </a:solidFill>
              <a:latin typeface="Montserrat"/>
              <a:ea typeface="Montserrat"/>
              <a:cs typeface="Montserrat"/>
              <a:sym typeface="Montserrat"/>
            </a:endParaRPr>
          </a:p>
        </p:txBody>
      </p:sp>
      <p:sp>
        <p:nvSpPr>
          <p:cNvPr id="286" name="Google Shape;286;p22"/>
          <p:cNvSpPr/>
          <p:nvPr/>
        </p:nvSpPr>
        <p:spPr>
          <a:xfrm>
            <a:off x="579049" y="429794"/>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3"/>
          <p:cNvSpPr txBox="1"/>
          <p:nvPr/>
        </p:nvSpPr>
        <p:spPr>
          <a:xfrm>
            <a:off x="2216475" y="1961000"/>
            <a:ext cx="4220100" cy="1970100"/>
          </a:xfrm>
          <a:prstGeom prst="rect">
            <a:avLst/>
          </a:prstGeom>
          <a:noFill/>
          <a:ln>
            <a:noFill/>
          </a:ln>
        </p:spPr>
        <p:txBody>
          <a:bodyPr anchorCtr="0" anchor="t" bIns="68575" lIns="68575" spcFirstLastPara="1" rIns="68575" wrap="square" tIns="68575">
            <a:spAutoFit/>
          </a:bodyPr>
          <a:lstStyle/>
          <a:p>
            <a:pPr indent="0" lvl="0" marL="0" rtl="0" algn="l">
              <a:lnSpc>
                <a:spcPct val="150000"/>
              </a:lnSpc>
              <a:spcBef>
                <a:spcPts val="0"/>
              </a:spcBef>
              <a:spcAft>
                <a:spcPts val="0"/>
              </a:spcAft>
              <a:buNone/>
            </a:pPr>
            <a:r>
              <a:rPr b="1" lang="en">
                <a:solidFill>
                  <a:srgbClr val="EF4138"/>
                </a:solidFill>
                <a:latin typeface="Montserrat"/>
                <a:ea typeface="Montserrat"/>
                <a:cs typeface="Montserrat"/>
                <a:sym typeface="Montserrat"/>
              </a:rPr>
              <a:t>Optical Tracking</a:t>
            </a:r>
            <a:endParaRPr b="1">
              <a:solidFill>
                <a:srgbClr val="000099"/>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b="1">
              <a:solidFill>
                <a:srgbClr val="EF4138"/>
              </a:solidFill>
              <a:latin typeface="Montserrat"/>
              <a:ea typeface="Montserrat"/>
              <a:cs typeface="Montserrat"/>
              <a:sym typeface="Montserrat"/>
            </a:endParaRPr>
          </a:p>
          <a:p>
            <a:pPr indent="0" lvl="0" marL="0" rtl="0" algn="l">
              <a:lnSpc>
                <a:spcPct val="150000"/>
              </a:lnSpc>
              <a:spcBef>
                <a:spcPts val="0"/>
              </a:spcBef>
              <a:spcAft>
                <a:spcPts val="0"/>
              </a:spcAft>
              <a:buNone/>
            </a:pPr>
            <a:r>
              <a:rPr b="1" lang="en">
                <a:solidFill>
                  <a:srgbClr val="EF4138"/>
                </a:solidFill>
                <a:latin typeface="Montserrat"/>
                <a:ea typeface="Montserrat"/>
                <a:cs typeface="Montserrat"/>
                <a:sym typeface="Montserrat"/>
              </a:rPr>
              <a:t>NFL Player View</a:t>
            </a:r>
            <a:endParaRPr>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None/>
            </a:pPr>
            <a:r>
              <a:t/>
            </a:r>
            <a:endParaRPr b="1">
              <a:solidFill>
                <a:srgbClr val="EF4138"/>
              </a:solidFill>
              <a:latin typeface="Montserrat"/>
              <a:ea typeface="Montserrat"/>
              <a:cs typeface="Montserrat"/>
              <a:sym typeface="Montserrat"/>
            </a:endParaRPr>
          </a:p>
          <a:p>
            <a:pPr indent="0" lvl="0" marL="0" rtl="0" algn="l">
              <a:lnSpc>
                <a:spcPct val="150000"/>
              </a:lnSpc>
              <a:spcBef>
                <a:spcPts val="0"/>
              </a:spcBef>
              <a:spcAft>
                <a:spcPts val="0"/>
              </a:spcAft>
              <a:buClr>
                <a:schemeClr val="dk1"/>
              </a:buClr>
              <a:buSzPts val="1100"/>
              <a:buFont typeface="Arial"/>
              <a:buNone/>
            </a:pPr>
            <a:r>
              <a:rPr b="1" lang="en">
                <a:solidFill>
                  <a:srgbClr val="EF4138"/>
                </a:solidFill>
                <a:latin typeface="Montserrat"/>
                <a:ea typeface="Montserrat"/>
                <a:cs typeface="Montserrat"/>
                <a:sym typeface="Montserrat"/>
              </a:rPr>
              <a:t>Multi-Modal AI</a:t>
            </a:r>
            <a:endParaRPr>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a:solidFill>
                <a:schemeClr val="dk1"/>
              </a:solidFill>
              <a:latin typeface="Montserrat"/>
              <a:ea typeface="Montserrat"/>
              <a:cs typeface="Montserrat"/>
              <a:sym typeface="Montserrat"/>
            </a:endParaRPr>
          </a:p>
        </p:txBody>
      </p:sp>
      <p:sp>
        <p:nvSpPr>
          <p:cNvPr id="292" name="Google Shape;292;p23"/>
          <p:cNvSpPr txBox="1"/>
          <p:nvPr/>
        </p:nvSpPr>
        <p:spPr>
          <a:xfrm>
            <a:off x="1674675" y="493663"/>
            <a:ext cx="6818700" cy="785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 sz="3000">
                <a:solidFill>
                  <a:srgbClr val="000099"/>
                </a:solidFill>
                <a:latin typeface="Montserrat"/>
                <a:ea typeface="Montserrat"/>
                <a:cs typeface="Montserrat"/>
                <a:sym typeface="Montserrat"/>
              </a:rPr>
              <a:t>POC Projects</a:t>
            </a:r>
            <a:endParaRPr b="1" sz="3000">
              <a:solidFill>
                <a:srgbClr val="000099"/>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1" sz="2100">
              <a:solidFill>
                <a:srgbClr val="EF4138"/>
              </a:solidFill>
              <a:latin typeface="Montserrat"/>
              <a:ea typeface="Montserrat"/>
              <a:cs typeface="Montserrat"/>
              <a:sym typeface="Montserrat"/>
            </a:endParaRPr>
          </a:p>
        </p:txBody>
      </p:sp>
      <p:sp>
        <p:nvSpPr>
          <p:cNvPr id="293" name="Google Shape;293;p23"/>
          <p:cNvSpPr/>
          <p:nvPr/>
        </p:nvSpPr>
        <p:spPr>
          <a:xfrm>
            <a:off x="579049" y="429794"/>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294" name="Google Shape;294;p23"/>
          <p:cNvSpPr/>
          <p:nvPr/>
        </p:nvSpPr>
        <p:spPr>
          <a:xfrm>
            <a:off x="1674675" y="1986000"/>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FFFF"/>
                </a:solidFill>
                <a:latin typeface="Open Sans"/>
                <a:ea typeface="Open Sans"/>
                <a:cs typeface="Open Sans"/>
                <a:sym typeface="Open Sans"/>
              </a:rPr>
              <a:t>1</a:t>
            </a:r>
            <a:endParaRPr b="1" i="0" sz="1400" u="none" cap="none" strike="noStrike">
              <a:solidFill>
                <a:srgbClr val="FFFFFF"/>
              </a:solidFill>
              <a:latin typeface="Open Sans"/>
              <a:ea typeface="Open Sans"/>
              <a:cs typeface="Open Sans"/>
              <a:sym typeface="Open Sans"/>
            </a:endParaRPr>
          </a:p>
        </p:txBody>
      </p:sp>
      <p:sp>
        <p:nvSpPr>
          <p:cNvPr id="295" name="Google Shape;295;p23"/>
          <p:cNvSpPr/>
          <p:nvPr/>
        </p:nvSpPr>
        <p:spPr>
          <a:xfrm>
            <a:off x="1674675" y="2586300"/>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FFFF"/>
                </a:solidFill>
                <a:latin typeface="Open Sans"/>
                <a:ea typeface="Open Sans"/>
                <a:cs typeface="Open Sans"/>
                <a:sym typeface="Open Sans"/>
              </a:rPr>
              <a:t>2</a:t>
            </a:r>
            <a:endParaRPr b="1" i="0" sz="1400" u="none" cap="none" strike="noStrike">
              <a:solidFill>
                <a:srgbClr val="FFFFFF"/>
              </a:solidFill>
              <a:latin typeface="Open Sans"/>
              <a:ea typeface="Open Sans"/>
              <a:cs typeface="Open Sans"/>
              <a:sym typeface="Open Sans"/>
            </a:endParaRPr>
          </a:p>
        </p:txBody>
      </p:sp>
      <p:sp>
        <p:nvSpPr>
          <p:cNvPr id="296" name="Google Shape;296;p23"/>
          <p:cNvSpPr/>
          <p:nvPr/>
        </p:nvSpPr>
        <p:spPr>
          <a:xfrm>
            <a:off x="1674675" y="3239375"/>
            <a:ext cx="402000" cy="393600"/>
          </a:xfrm>
          <a:prstGeom prst="ellipse">
            <a:avLst/>
          </a:prstGeom>
          <a:solidFill>
            <a:srgbClr val="00009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rgbClr val="FFFFFF"/>
                </a:solidFill>
                <a:latin typeface="Open Sans"/>
                <a:ea typeface="Open Sans"/>
                <a:cs typeface="Open Sans"/>
                <a:sym typeface="Open Sans"/>
              </a:rPr>
              <a:t>3</a:t>
            </a:r>
            <a:endParaRPr b="1" i="0" sz="1400" u="none" cap="none" strike="noStrike">
              <a:solidFill>
                <a:srgbClr val="FFFFFF"/>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grpSp>
        <p:nvGrpSpPr>
          <p:cNvPr id="301" name="Google Shape;301;p24"/>
          <p:cNvGrpSpPr/>
          <p:nvPr/>
        </p:nvGrpSpPr>
        <p:grpSpPr>
          <a:xfrm>
            <a:off x="206834" y="2018980"/>
            <a:ext cx="8730284" cy="3000483"/>
            <a:chOff x="281988" y="2598053"/>
            <a:chExt cx="11640378" cy="4000644"/>
          </a:xfrm>
        </p:grpSpPr>
        <p:grpSp>
          <p:nvGrpSpPr>
            <p:cNvPr id="302" name="Google Shape;302;p24"/>
            <p:cNvGrpSpPr/>
            <p:nvPr/>
          </p:nvGrpSpPr>
          <p:grpSpPr>
            <a:xfrm>
              <a:off x="281988" y="2598053"/>
              <a:ext cx="11640378" cy="2491138"/>
              <a:chOff x="281988" y="2598053"/>
              <a:chExt cx="11640378" cy="2491138"/>
            </a:xfrm>
          </p:grpSpPr>
          <p:grpSp>
            <p:nvGrpSpPr>
              <p:cNvPr id="303" name="Google Shape;303;p24"/>
              <p:cNvGrpSpPr/>
              <p:nvPr/>
            </p:nvGrpSpPr>
            <p:grpSpPr>
              <a:xfrm>
                <a:off x="281988" y="2598053"/>
                <a:ext cx="1660800" cy="2491138"/>
                <a:chOff x="332788" y="1996963"/>
                <a:chExt cx="1660800" cy="2491138"/>
              </a:xfrm>
            </p:grpSpPr>
            <p:grpSp>
              <p:nvGrpSpPr>
                <p:cNvPr id="304" name="Google Shape;304;p24"/>
                <p:cNvGrpSpPr/>
                <p:nvPr/>
              </p:nvGrpSpPr>
              <p:grpSpPr>
                <a:xfrm>
                  <a:off x="332788" y="2733701"/>
                  <a:ext cx="1660800" cy="1754400"/>
                  <a:chOff x="6218991" y="2771801"/>
                  <a:chExt cx="1660800" cy="1754400"/>
                </a:xfrm>
              </p:grpSpPr>
              <p:sp>
                <p:nvSpPr>
                  <p:cNvPr id="305" name="Google Shape;305;p24"/>
                  <p:cNvSpPr/>
                  <p:nvPr/>
                </p:nvSpPr>
                <p:spPr>
                  <a:xfrm>
                    <a:off x="6218991" y="2771801"/>
                    <a:ext cx="1660800" cy="1754400"/>
                  </a:xfrm>
                  <a:prstGeom prst="roundRect">
                    <a:avLst>
                      <a:gd fmla="val 6344" name="adj"/>
                    </a:avLst>
                  </a:prstGeom>
                  <a:no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06" name="Google Shape;306;p24"/>
                  <p:cNvSpPr txBox="1"/>
                  <p:nvPr/>
                </p:nvSpPr>
                <p:spPr>
                  <a:xfrm>
                    <a:off x="6290555" y="3169154"/>
                    <a:ext cx="1517700" cy="441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rgbClr val="3F3F3F"/>
                        </a:solidFill>
                      </a:rPr>
                      <a:t>Multi-modal AI </a:t>
                    </a:r>
                    <a:r>
                      <a:rPr lang="en" sz="800">
                        <a:solidFill>
                          <a:srgbClr val="3F3F3F"/>
                        </a:solidFill>
                      </a:rPr>
                      <a:t> </a:t>
                    </a:r>
                    <a:endParaRPr sz="800">
                      <a:solidFill>
                        <a:srgbClr val="3F3F3F"/>
                      </a:solidFill>
                    </a:endParaRPr>
                  </a:p>
                  <a:p>
                    <a:pPr indent="0" lvl="0" marL="0" marR="0" rtl="0" algn="ctr">
                      <a:spcBef>
                        <a:spcPts val="0"/>
                      </a:spcBef>
                      <a:spcAft>
                        <a:spcPts val="0"/>
                      </a:spcAft>
                      <a:buNone/>
                    </a:pPr>
                    <a:r>
                      <a:rPr lang="en" sz="800">
                        <a:solidFill>
                          <a:srgbClr val="3F3F3F"/>
                        </a:solidFill>
                      </a:rPr>
                      <a:t>Brad Boim </a:t>
                    </a:r>
                    <a:endParaRPr b="1" sz="1100"/>
                  </a:p>
                </p:txBody>
              </p:sp>
            </p:grpSp>
            <p:grpSp>
              <p:nvGrpSpPr>
                <p:cNvPr id="307" name="Google Shape;307;p24"/>
                <p:cNvGrpSpPr/>
                <p:nvPr/>
              </p:nvGrpSpPr>
              <p:grpSpPr>
                <a:xfrm>
                  <a:off x="380888" y="1996963"/>
                  <a:ext cx="1564810" cy="502919"/>
                  <a:chOff x="299295" y="1879784"/>
                  <a:chExt cx="2741433" cy="881077"/>
                </a:xfrm>
              </p:grpSpPr>
              <p:grpSp>
                <p:nvGrpSpPr>
                  <p:cNvPr id="308" name="Google Shape;308;p24"/>
                  <p:cNvGrpSpPr/>
                  <p:nvPr/>
                </p:nvGrpSpPr>
                <p:grpSpPr>
                  <a:xfrm>
                    <a:off x="512415" y="1879784"/>
                    <a:ext cx="2528313" cy="881077"/>
                    <a:chOff x="579820" y="1879784"/>
                    <a:chExt cx="2528313" cy="881077"/>
                  </a:xfrm>
                </p:grpSpPr>
                <p:sp>
                  <p:nvSpPr>
                    <p:cNvPr id="309" name="Google Shape;309;p24"/>
                    <p:cNvSpPr/>
                    <p:nvPr/>
                  </p:nvSpPr>
                  <p:spPr>
                    <a:xfrm>
                      <a:off x="579820" y="1879784"/>
                      <a:ext cx="90900" cy="90900"/>
                    </a:xfrm>
                    <a:prstGeom prst="ellipse">
                      <a:avLst/>
                    </a:prstGeom>
                    <a:solidFill>
                      <a:schemeClr val="lt2"/>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0" name="Google Shape;310;p24"/>
                    <p:cNvSpPr/>
                    <p:nvPr/>
                  </p:nvSpPr>
                  <p:spPr>
                    <a:xfrm>
                      <a:off x="673208" y="1926171"/>
                      <a:ext cx="2434925" cy="83469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311" name="Google Shape;311;p24"/>
                  <p:cNvGrpSpPr/>
                  <p:nvPr/>
                </p:nvGrpSpPr>
                <p:grpSpPr>
                  <a:xfrm>
                    <a:off x="299295" y="2006438"/>
                    <a:ext cx="2659200" cy="674100"/>
                    <a:chOff x="299295" y="2006438"/>
                    <a:chExt cx="2659200" cy="674100"/>
                  </a:xfrm>
                </p:grpSpPr>
                <p:sp>
                  <p:nvSpPr>
                    <p:cNvPr id="312" name="Google Shape;312;p24"/>
                    <p:cNvSpPr/>
                    <p:nvPr/>
                  </p:nvSpPr>
                  <p:spPr>
                    <a:xfrm>
                      <a:off x="299295" y="2006438"/>
                      <a:ext cx="2659200" cy="674100"/>
                    </a:xfrm>
                    <a:prstGeom prst="roundRect">
                      <a:avLst>
                        <a:gd fmla="val 50000" name="adj"/>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99"/>
                        </a:solidFill>
                        <a:latin typeface="Calibri"/>
                        <a:ea typeface="Calibri"/>
                        <a:cs typeface="Calibri"/>
                        <a:sym typeface="Calibri"/>
                      </a:endParaRPr>
                    </a:p>
                  </p:txBody>
                </p:sp>
                <p:sp>
                  <p:nvSpPr>
                    <p:cNvPr id="313" name="Google Shape;313;p24"/>
                    <p:cNvSpPr/>
                    <p:nvPr/>
                  </p:nvSpPr>
                  <p:spPr>
                    <a:xfrm>
                      <a:off x="702809" y="2100853"/>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Intake</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314" name="Google Shape;314;p24"/>
              <p:cNvGrpSpPr/>
              <p:nvPr/>
            </p:nvGrpSpPr>
            <p:grpSpPr>
              <a:xfrm>
                <a:off x="2277904" y="2598053"/>
                <a:ext cx="1660800" cy="2491138"/>
                <a:chOff x="332788" y="1996963"/>
                <a:chExt cx="1660800" cy="2491138"/>
              </a:xfrm>
            </p:grpSpPr>
            <p:grpSp>
              <p:nvGrpSpPr>
                <p:cNvPr id="315" name="Google Shape;315;p24"/>
                <p:cNvGrpSpPr/>
                <p:nvPr/>
              </p:nvGrpSpPr>
              <p:grpSpPr>
                <a:xfrm>
                  <a:off x="332788" y="2733701"/>
                  <a:ext cx="1660800" cy="1754400"/>
                  <a:chOff x="6218991" y="2771801"/>
                  <a:chExt cx="1660800" cy="1754400"/>
                </a:xfrm>
              </p:grpSpPr>
              <p:sp>
                <p:nvSpPr>
                  <p:cNvPr id="316" name="Google Shape;316;p24"/>
                  <p:cNvSpPr/>
                  <p:nvPr/>
                </p:nvSpPr>
                <p:spPr>
                  <a:xfrm>
                    <a:off x="6218991" y="2771801"/>
                    <a:ext cx="1660800" cy="1754400"/>
                  </a:xfrm>
                  <a:prstGeom prst="roundRect">
                    <a:avLst>
                      <a:gd fmla="val 6344" name="adj"/>
                    </a:avLst>
                  </a:prstGeom>
                  <a:noFill/>
                  <a:ln cap="flat" cmpd="sng" w="952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17" name="Google Shape;317;p24"/>
                  <p:cNvSpPr txBox="1"/>
                  <p:nvPr/>
                </p:nvSpPr>
                <p:spPr>
                  <a:xfrm>
                    <a:off x="6290555" y="3164612"/>
                    <a:ext cx="1517700" cy="441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rgbClr val="3F3F3F"/>
                        </a:solidFill>
                      </a:rPr>
                      <a:t>NFL VIEW</a:t>
                    </a:r>
                    <a:endParaRPr b="1" sz="900">
                      <a:solidFill>
                        <a:srgbClr val="3F3F3F"/>
                      </a:solidFill>
                    </a:endParaRPr>
                  </a:p>
                  <a:p>
                    <a:pPr indent="0" lvl="0" marL="0" marR="0" rtl="0" algn="ctr">
                      <a:spcBef>
                        <a:spcPts val="0"/>
                      </a:spcBef>
                      <a:spcAft>
                        <a:spcPts val="0"/>
                      </a:spcAft>
                      <a:buNone/>
                    </a:pPr>
                    <a:r>
                      <a:rPr lang="en" sz="800">
                        <a:solidFill>
                          <a:srgbClr val="3F3F3F"/>
                        </a:solidFill>
                      </a:rPr>
                      <a:t>Marc Hodakowski</a:t>
                    </a:r>
                    <a:endParaRPr sz="800">
                      <a:solidFill>
                        <a:srgbClr val="3F3F3F"/>
                      </a:solidFill>
                    </a:endParaRPr>
                  </a:p>
                </p:txBody>
              </p:sp>
            </p:grpSp>
            <p:grpSp>
              <p:nvGrpSpPr>
                <p:cNvPr id="318" name="Google Shape;318;p24"/>
                <p:cNvGrpSpPr/>
                <p:nvPr/>
              </p:nvGrpSpPr>
              <p:grpSpPr>
                <a:xfrm>
                  <a:off x="380888" y="1996963"/>
                  <a:ext cx="1564810" cy="502919"/>
                  <a:chOff x="299295" y="1879784"/>
                  <a:chExt cx="2741433" cy="881077"/>
                </a:xfrm>
              </p:grpSpPr>
              <p:grpSp>
                <p:nvGrpSpPr>
                  <p:cNvPr id="319" name="Google Shape;319;p24"/>
                  <p:cNvGrpSpPr/>
                  <p:nvPr/>
                </p:nvGrpSpPr>
                <p:grpSpPr>
                  <a:xfrm>
                    <a:off x="512415" y="1879784"/>
                    <a:ext cx="2528313" cy="881077"/>
                    <a:chOff x="579820" y="1879784"/>
                    <a:chExt cx="2528313" cy="881077"/>
                  </a:xfrm>
                </p:grpSpPr>
                <p:sp>
                  <p:nvSpPr>
                    <p:cNvPr id="320" name="Google Shape;320;p24"/>
                    <p:cNvSpPr/>
                    <p:nvPr/>
                  </p:nvSpPr>
                  <p:spPr>
                    <a:xfrm>
                      <a:off x="579820" y="1879784"/>
                      <a:ext cx="90900" cy="90900"/>
                    </a:xfrm>
                    <a:prstGeom prst="ellipse">
                      <a:avLst/>
                    </a:prstGeom>
                    <a:solidFill>
                      <a:schemeClr val="lt2"/>
                    </a:solid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1" name="Google Shape;321;p24"/>
                    <p:cNvSpPr/>
                    <p:nvPr/>
                  </p:nvSpPr>
                  <p:spPr>
                    <a:xfrm>
                      <a:off x="673208" y="1926171"/>
                      <a:ext cx="2434925" cy="83469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322" name="Google Shape;322;p24"/>
                  <p:cNvGrpSpPr/>
                  <p:nvPr/>
                </p:nvGrpSpPr>
                <p:grpSpPr>
                  <a:xfrm>
                    <a:off x="299295" y="2006438"/>
                    <a:ext cx="2659200" cy="674100"/>
                    <a:chOff x="299295" y="2006438"/>
                    <a:chExt cx="2659200" cy="674100"/>
                  </a:xfrm>
                </p:grpSpPr>
                <p:sp>
                  <p:nvSpPr>
                    <p:cNvPr id="323" name="Google Shape;323;p24"/>
                    <p:cNvSpPr/>
                    <p:nvPr/>
                  </p:nvSpPr>
                  <p:spPr>
                    <a:xfrm>
                      <a:off x="299295" y="2006438"/>
                      <a:ext cx="2659200" cy="674100"/>
                    </a:xfrm>
                    <a:prstGeom prst="roundRect">
                      <a:avLst>
                        <a:gd fmla="val 50000" name="adj"/>
                      </a:avLst>
                    </a:prstGeom>
                    <a:solidFill>
                      <a:srgbClr val="EF413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324" name="Google Shape;324;p24"/>
                    <p:cNvSpPr/>
                    <p:nvPr/>
                  </p:nvSpPr>
                  <p:spPr>
                    <a:xfrm>
                      <a:off x="702809" y="2100853"/>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Concept </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325" name="Google Shape;325;p24"/>
              <p:cNvGrpSpPr/>
              <p:nvPr/>
            </p:nvGrpSpPr>
            <p:grpSpPr>
              <a:xfrm>
                <a:off x="4273820" y="2598054"/>
                <a:ext cx="1660800" cy="2491137"/>
                <a:chOff x="332788" y="1996964"/>
                <a:chExt cx="1660800" cy="2491137"/>
              </a:xfrm>
            </p:grpSpPr>
            <p:sp>
              <p:nvSpPr>
                <p:cNvPr id="326" name="Google Shape;326;p24"/>
                <p:cNvSpPr/>
                <p:nvPr/>
              </p:nvSpPr>
              <p:spPr>
                <a:xfrm>
                  <a:off x="332788" y="2733701"/>
                  <a:ext cx="1660800" cy="1754400"/>
                </a:xfrm>
                <a:prstGeom prst="roundRect">
                  <a:avLst>
                    <a:gd fmla="val 6344" name="adj"/>
                  </a:avLst>
                </a:prstGeom>
                <a:noFill/>
                <a:ln cap="flat" cmpd="sng" w="9525">
                  <a:solidFill>
                    <a:srgbClr val="FFCC2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nvGrpSpPr>
                <p:cNvPr id="327" name="Google Shape;327;p24"/>
                <p:cNvGrpSpPr/>
                <p:nvPr/>
              </p:nvGrpSpPr>
              <p:grpSpPr>
                <a:xfrm>
                  <a:off x="380888" y="1996964"/>
                  <a:ext cx="1564810" cy="502919"/>
                  <a:chOff x="299295" y="1879784"/>
                  <a:chExt cx="2741433" cy="881077"/>
                </a:xfrm>
              </p:grpSpPr>
              <p:grpSp>
                <p:nvGrpSpPr>
                  <p:cNvPr id="328" name="Google Shape;328;p24"/>
                  <p:cNvGrpSpPr/>
                  <p:nvPr/>
                </p:nvGrpSpPr>
                <p:grpSpPr>
                  <a:xfrm>
                    <a:off x="512415" y="1879784"/>
                    <a:ext cx="2528313" cy="881077"/>
                    <a:chOff x="579820" y="1879784"/>
                    <a:chExt cx="2528313" cy="881077"/>
                  </a:xfrm>
                </p:grpSpPr>
                <p:sp>
                  <p:nvSpPr>
                    <p:cNvPr id="329" name="Google Shape;329;p24"/>
                    <p:cNvSpPr/>
                    <p:nvPr/>
                  </p:nvSpPr>
                  <p:spPr>
                    <a:xfrm>
                      <a:off x="579820" y="1879784"/>
                      <a:ext cx="90900" cy="90900"/>
                    </a:xfrm>
                    <a:prstGeom prst="ellipse">
                      <a:avLst/>
                    </a:prstGeom>
                    <a:solidFill>
                      <a:schemeClr val="lt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0" name="Google Shape;330;p24"/>
                    <p:cNvSpPr/>
                    <p:nvPr/>
                  </p:nvSpPr>
                  <p:spPr>
                    <a:xfrm>
                      <a:off x="673208" y="1926171"/>
                      <a:ext cx="2434925" cy="83469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331" name="Google Shape;331;p24"/>
                  <p:cNvGrpSpPr/>
                  <p:nvPr/>
                </p:nvGrpSpPr>
                <p:grpSpPr>
                  <a:xfrm>
                    <a:off x="299295" y="2006438"/>
                    <a:ext cx="2659200" cy="674100"/>
                    <a:chOff x="299295" y="2006438"/>
                    <a:chExt cx="2659200" cy="674100"/>
                  </a:xfrm>
                </p:grpSpPr>
                <p:sp>
                  <p:nvSpPr>
                    <p:cNvPr id="332" name="Google Shape;332;p24"/>
                    <p:cNvSpPr/>
                    <p:nvPr/>
                  </p:nvSpPr>
                  <p:spPr>
                    <a:xfrm>
                      <a:off x="299295" y="2006438"/>
                      <a:ext cx="2659200" cy="674100"/>
                    </a:xfrm>
                    <a:prstGeom prst="roundRect">
                      <a:avLst>
                        <a:gd fmla="val 50000" name="adj"/>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333" name="Google Shape;333;p24"/>
                    <p:cNvSpPr/>
                    <p:nvPr/>
                  </p:nvSpPr>
                  <p:spPr>
                    <a:xfrm>
                      <a:off x="550758" y="2100853"/>
                      <a:ext cx="21834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Century Gothic"/>
                          <a:ea typeface="Century Gothic"/>
                          <a:cs typeface="Century Gothic"/>
                          <a:sym typeface="Century Gothic"/>
                        </a:rPr>
                        <a:t>Business Case</a:t>
                      </a:r>
                      <a:endParaRPr b="1" i="0" sz="900" u="none" cap="none" strike="noStrike">
                        <a:solidFill>
                          <a:schemeClr val="lt1"/>
                        </a:solidFill>
                        <a:latin typeface="Century Gothic"/>
                        <a:ea typeface="Century Gothic"/>
                        <a:cs typeface="Century Gothic"/>
                        <a:sym typeface="Century Gothic"/>
                      </a:endParaRPr>
                    </a:p>
                  </p:txBody>
                </p:sp>
              </p:grpSp>
            </p:grpSp>
          </p:grpSp>
          <p:grpSp>
            <p:nvGrpSpPr>
              <p:cNvPr id="334" name="Google Shape;334;p24"/>
              <p:cNvGrpSpPr/>
              <p:nvPr/>
            </p:nvGrpSpPr>
            <p:grpSpPr>
              <a:xfrm>
                <a:off x="6269736" y="2598053"/>
                <a:ext cx="1660800" cy="2491138"/>
                <a:chOff x="332788" y="1996963"/>
                <a:chExt cx="1660800" cy="2491138"/>
              </a:xfrm>
            </p:grpSpPr>
            <p:sp>
              <p:nvSpPr>
                <p:cNvPr id="335" name="Google Shape;335;p24"/>
                <p:cNvSpPr/>
                <p:nvPr/>
              </p:nvSpPr>
              <p:spPr>
                <a:xfrm>
                  <a:off x="332788" y="2733701"/>
                  <a:ext cx="1660800" cy="1754400"/>
                </a:xfrm>
                <a:prstGeom prst="roundRect">
                  <a:avLst>
                    <a:gd fmla="val 6344" name="adj"/>
                  </a:avLst>
                </a:prstGeom>
                <a:noFill/>
                <a:ln cap="flat" cmpd="sng" w="9525">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nvGrpSpPr>
                <p:cNvPr id="336" name="Google Shape;336;p24"/>
                <p:cNvGrpSpPr/>
                <p:nvPr/>
              </p:nvGrpSpPr>
              <p:grpSpPr>
                <a:xfrm>
                  <a:off x="380888" y="1996963"/>
                  <a:ext cx="1564810" cy="502919"/>
                  <a:chOff x="299295" y="1879784"/>
                  <a:chExt cx="2741433" cy="881077"/>
                </a:xfrm>
              </p:grpSpPr>
              <p:grpSp>
                <p:nvGrpSpPr>
                  <p:cNvPr id="337" name="Google Shape;337;p24"/>
                  <p:cNvGrpSpPr/>
                  <p:nvPr/>
                </p:nvGrpSpPr>
                <p:grpSpPr>
                  <a:xfrm>
                    <a:off x="512415" y="1879784"/>
                    <a:ext cx="2528313" cy="881077"/>
                    <a:chOff x="579820" y="1879784"/>
                    <a:chExt cx="2528313" cy="881077"/>
                  </a:xfrm>
                </p:grpSpPr>
                <p:sp>
                  <p:nvSpPr>
                    <p:cNvPr id="338" name="Google Shape;338;p24"/>
                    <p:cNvSpPr/>
                    <p:nvPr/>
                  </p:nvSpPr>
                  <p:spPr>
                    <a:xfrm>
                      <a:off x="579820" y="1879784"/>
                      <a:ext cx="90900" cy="90900"/>
                    </a:xfrm>
                    <a:prstGeom prst="ellipse">
                      <a:avLst/>
                    </a:prstGeom>
                    <a:solidFill>
                      <a:schemeClr val="lt2"/>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9" name="Google Shape;339;p24"/>
                    <p:cNvSpPr/>
                    <p:nvPr/>
                  </p:nvSpPr>
                  <p:spPr>
                    <a:xfrm>
                      <a:off x="673208" y="1926171"/>
                      <a:ext cx="2434925" cy="83469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340" name="Google Shape;340;p24"/>
                  <p:cNvGrpSpPr/>
                  <p:nvPr/>
                </p:nvGrpSpPr>
                <p:grpSpPr>
                  <a:xfrm>
                    <a:off x="299295" y="2006438"/>
                    <a:ext cx="2659200" cy="674100"/>
                    <a:chOff x="299295" y="2006438"/>
                    <a:chExt cx="2659200" cy="674100"/>
                  </a:xfrm>
                </p:grpSpPr>
                <p:sp>
                  <p:nvSpPr>
                    <p:cNvPr id="341" name="Google Shape;341;p24"/>
                    <p:cNvSpPr/>
                    <p:nvPr/>
                  </p:nvSpPr>
                  <p:spPr>
                    <a:xfrm>
                      <a:off x="299295" y="2006438"/>
                      <a:ext cx="2659200" cy="674100"/>
                    </a:xfrm>
                    <a:prstGeom prst="roundRect">
                      <a:avLst>
                        <a:gd fmla="val 50000" name="adj"/>
                      </a:avLst>
                    </a:prstGeom>
                    <a:solidFill>
                      <a:srgbClr val="000099"/>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000099"/>
                        </a:solidFill>
                        <a:latin typeface="Calibri"/>
                        <a:ea typeface="Calibri"/>
                        <a:cs typeface="Calibri"/>
                        <a:sym typeface="Calibri"/>
                      </a:endParaRPr>
                    </a:p>
                  </p:txBody>
                </p:sp>
                <p:sp>
                  <p:nvSpPr>
                    <p:cNvPr id="342" name="Google Shape;342;p24"/>
                    <p:cNvSpPr/>
                    <p:nvPr/>
                  </p:nvSpPr>
                  <p:spPr>
                    <a:xfrm>
                      <a:off x="624930" y="2100853"/>
                      <a:ext cx="21249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MVP</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343" name="Google Shape;343;p24"/>
              <p:cNvGrpSpPr/>
              <p:nvPr/>
            </p:nvGrpSpPr>
            <p:grpSpPr>
              <a:xfrm>
                <a:off x="8265652" y="2598053"/>
                <a:ext cx="1660800" cy="2491138"/>
                <a:chOff x="332788" y="1996963"/>
                <a:chExt cx="1660800" cy="2491138"/>
              </a:xfrm>
            </p:grpSpPr>
            <p:grpSp>
              <p:nvGrpSpPr>
                <p:cNvPr id="344" name="Google Shape;344;p24"/>
                <p:cNvGrpSpPr/>
                <p:nvPr/>
              </p:nvGrpSpPr>
              <p:grpSpPr>
                <a:xfrm>
                  <a:off x="332788" y="2733701"/>
                  <a:ext cx="1660800" cy="1754400"/>
                  <a:chOff x="6218991" y="2771801"/>
                  <a:chExt cx="1660800" cy="1754400"/>
                </a:xfrm>
              </p:grpSpPr>
              <p:sp>
                <p:nvSpPr>
                  <p:cNvPr id="345" name="Google Shape;345;p24"/>
                  <p:cNvSpPr/>
                  <p:nvPr/>
                </p:nvSpPr>
                <p:spPr>
                  <a:xfrm>
                    <a:off x="6218991" y="2771801"/>
                    <a:ext cx="1660800" cy="1754400"/>
                  </a:xfrm>
                  <a:prstGeom prst="roundRect">
                    <a:avLst>
                      <a:gd fmla="val 6344" name="adj"/>
                    </a:avLst>
                  </a:prstGeom>
                  <a:noFill/>
                  <a:ln cap="flat" cmpd="sng" w="952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346" name="Google Shape;346;p24"/>
                  <p:cNvSpPr txBox="1"/>
                  <p:nvPr/>
                </p:nvSpPr>
                <p:spPr>
                  <a:xfrm>
                    <a:off x="6290555" y="3152205"/>
                    <a:ext cx="1517700" cy="461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 sz="900">
                        <a:solidFill>
                          <a:srgbClr val="3F3F3F"/>
                        </a:solidFill>
                      </a:rPr>
                      <a:t>Optical Tracking</a:t>
                    </a:r>
                    <a:endParaRPr b="1" sz="900">
                      <a:solidFill>
                        <a:srgbClr val="3F3F3F"/>
                      </a:solidFill>
                    </a:endParaRPr>
                  </a:p>
                  <a:p>
                    <a:pPr indent="0" lvl="0" marL="0" marR="0" rtl="0" algn="ctr">
                      <a:spcBef>
                        <a:spcPts val="0"/>
                      </a:spcBef>
                      <a:spcAft>
                        <a:spcPts val="0"/>
                      </a:spcAft>
                      <a:buNone/>
                    </a:pPr>
                    <a:r>
                      <a:rPr lang="en" sz="900">
                        <a:solidFill>
                          <a:srgbClr val="3F3F3F"/>
                        </a:solidFill>
                      </a:rPr>
                      <a:t>Aaron Amendola</a:t>
                    </a:r>
                    <a:endParaRPr sz="900">
                      <a:solidFill>
                        <a:srgbClr val="3F3F3F"/>
                      </a:solidFill>
                    </a:endParaRPr>
                  </a:p>
                </p:txBody>
              </p:sp>
            </p:grpSp>
            <p:grpSp>
              <p:nvGrpSpPr>
                <p:cNvPr id="347" name="Google Shape;347;p24"/>
                <p:cNvGrpSpPr/>
                <p:nvPr/>
              </p:nvGrpSpPr>
              <p:grpSpPr>
                <a:xfrm>
                  <a:off x="380888" y="1996963"/>
                  <a:ext cx="1564810" cy="502919"/>
                  <a:chOff x="299295" y="1879784"/>
                  <a:chExt cx="2741433" cy="881077"/>
                </a:xfrm>
              </p:grpSpPr>
              <p:grpSp>
                <p:nvGrpSpPr>
                  <p:cNvPr id="348" name="Google Shape;348;p24"/>
                  <p:cNvGrpSpPr/>
                  <p:nvPr/>
                </p:nvGrpSpPr>
                <p:grpSpPr>
                  <a:xfrm>
                    <a:off x="512415" y="1879784"/>
                    <a:ext cx="2528313" cy="881077"/>
                    <a:chOff x="579820" y="1879784"/>
                    <a:chExt cx="2528313" cy="881077"/>
                  </a:xfrm>
                </p:grpSpPr>
                <p:sp>
                  <p:nvSpPr>
                    <p:cNvPr id="349" name="Google Shape;349;p24"/>
                    <p:cNvSpPr/>
                    <p:nvPr/>
                  </p:nvSpPr>
                  <p:spPr>
                    <a:xfrm>
                      <a:off x="579820" y="1879784"/>
                      <a:ext cx="90900" cy="90900"/>
                    </a:xfrm>
                    <a:prstGeom prst="ellipse">
                      <a:avLst/>
                    </a:prstGeom>
                    <a:solidFill>
                      <a:schemeClr val="lt2"/>
                    </a:solid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50" name="Google Shape;350;p24"/>
                    <p:cNvSpPr/>
                    <p:nvPr/>
                  </p:nvSpPr>
                  <p:spPr>
                    <a:xfrm>
                      <a:off x="673208" y="1926171"/>
                      <a:ext cx="2434925" cy="83469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351" name="Google Shape;351;p24"/>
                  <p:cNvGrpSpPr/>
                  <p:nvPr/>
                </p:nvGrpSpPr>
                <p:grpSpPr>
                  <a:xfrm>
                    <a:off x="299295" y="2006438"/>
                    <a:ext cx="2659200" cy="674100"/>
                    <a:chOff x="299295" y="2006438"/>
                    <a:chExt cx="2659200" cy="674100"/>
                  </a:xfrm>
                </p:grpSpPr>
                <p:sp>
                  <p:nvSpPr>
                    <p:cNvPr id="352" name="Google Shape;352;p24"/>
                    <p:cNvSpPr/>
                    <p:nvPr/>
                  </p:nvSpPr>
                  <p:spPr>
                    <a:xfrm>
                      <a:off x="299295" y="2006438"/>
                      <a:ext cx="2659200" cy="674100"/>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353" name="Google Shape;353;p24"/>
                    <p:cNvSpPr/>
                    <p:nvPr/>
                  </p:nvSpPr>
                  <p:spPr>
                    <a:xfrm>
                      <a:off x="702809" y="2100854"/>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ROI</a:t>
                      </a:r>
                      <a:endParaRPr b="1" i="0" sz="900" u="none" cap="none" strike="noStrike">
                        <a:solidFill>
                          <a:schemeClr val="lt2"/>
                        </a:solidFill>
                        <a:latin typeface="Century Gothic"/>
                        <a:ea typeface="Century Gothic"/>
                        <a:cs typeface="Century Gothic"/>
                        <a:sym typeface="Century Gothic"/>
                      </a:endParaRPr>
                    </a:p>
                  </p:txBody>
                </p:sp>
              </p:grpSp>
            </p:grpSp>
          </p:grpSp>
          <p:grpSp>
            <p:nvGrpSpPr>
              <p:cNvPr id="354" name="Google Shape;354;p24"/>
              <p:cNvGrpSpPr/>
              <p:nvPr/>
            </p:nvGrpSpPr>
            <p:grpSpPr>
              <a:xfrm>
                <a:off x="10261566" y="2598053"/>
                <a:ext cx="1660800" cy="2491138"/>
                <a:chOff x="332788" y="1996963"/>
                <a:chExt cx="1660800" cy="2491138"/>
              </a:xfrm>
            </p:grpSpPr>
            <p:sp>
              <p:nvSpPr>
                <p:cNvPr id="355" name="Google Shape;355;p24"/>
                <p:cNvSpPr/>
                <p:nvPr/>
              </p:nvSpPr>
              <p:spPr>
                <a:xfrm>
                  <a:off x="332788" y="2733701"/>
                  <a:ext cx="1660800" cy="1754400"/>
                </a:xfrm>
                <a:prstGeom prst="roundRect">
                  <a:avLst>
                    <a:gd fmla="val 6344" name="adj"/>
                  </a:avLst>
                </a:prstGeom>
                <a:noFill/>
                <a:ln cap="flat" cmpd="sng" w="9525">
                  <a:solidFill>
                    <a:srgbClr val="FFCC2B"/>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grpSp>
              <p:nvGrpSpPr>
                <p:cNvPr id="356" name="Google Shape;356;p24"/>
                <p:cNvGrpSpPr/>
                <p:nvPr/>
              </p:nvGrpSpPr>
              <p:grpSpPr>
                <a:xfrm>
                  <a:off x="380888" y="1996963"/>
                  <a:ext cx="1564810" cy="502919"/>
                  <a:chOff x="299295" y="1879784"/>
                  <a:chExt cx="2741433" cy="881077"/>
                </a:xfrm>
              </p:grpSpPr>
              <p:grpSp>
                <p:nvGrpSpPr>
                  <p:cNvPr id="357" name="Google Shape;357;p24"/>
                  <p:cNvGrpSpPr/>
                  <p:nvPr/>
                </p:nvGrpSpPr>
                <p:grpSpPr>
                  <a:xfrm>
                    <a:off x="512415" y="1879784"/>
                    <a:ext cx="2528313" cy="881077"/>
                    <a:chOff x="579820" y="1879784"/>
                    <a:chExt cx="2528313" cy="881077"/>
                  </a:xfrm>
                </p:grpSpPr>
                <p:sp>
                  <p:nvSpPr>
                    <p:cNvPr id="358" name="Google Shape;358;p24"/>
                    <p:cNvSpPr/>
                    <p:nvPr/>
                  </p:nvSpPr>
                  <p:spPr>
                    <a:xfrm>
                      <a:off x="579820" y="1879784"/>
                      <a:ext cx="90900" cy="90900"/>
                    </a:xfrm>
                    <a:prstGeom prst="ellipse">
                      <a:avLst/>
                    </a:prstGeom>
                    <a:solidFill>
                      <a:schemeClr val="lt2"/>
                    </a:solid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59" name="Google Shape;359;p24"/>
                    <p:cNvSpPr/>
                    <p:nvPr/>
                  </p:nvSpPr>
                  <p:spPr>
                    <a:xfrm>
                      <a:off x="673208" y="1926171"/>
                      <a:ext cx="2434925" cy="83469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grpSp>
              <p:grpSp>
                <p:nvGrpSpPr>
                  <p:cNvPr id="360" name="Google Shape;360;p24"/>
                  <p:cNvGrpSpPr/>
                  <p:nvPr/>
                </p:nvGrpSpPr>
                <p:grpSpPr>
                  <a:xfrm>
                    <a:off x="299295" y="2006438"/>
                    <a:ext cx="2659200" cy="674100"/>
                    <a:chOff x="299295" y="2006438"/>
                    <a:chExt cx="2659200" cy="674100"/>
                  </a:xfrm>
                </p:grpSpPr>
                <p:sp>
                  <p:nvSpPr>
                    <p:cNvPr id="361" name="Google Shape;361;p24"/>
                    <p:cNvSpPr/>
                    <p:nvPr/>
                  </p:nvSpPr>
                  <p:spPr>
                    <a:xfrm>
                      <a:off x="299295" y="2006438"/>
                      <a:ext cx="2659200" cy="674100"/>
                    </a:xfrm>
                    <a:prstGeom prst="roundRect">
                      <a:avLst>
                        <a:gd fmla="val 50000" name="adj"/>
                      </a:avLst>
                    </a:prstGeom>
                    <a:solidFill>
                      <a:srgbClr val="EF413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362" name="Google Shape;362;p24"/>
                    <p:cNvSpPr/>
                    <p:nvPr/>
                  </p:nvSpPr>
                  <p:spPr>
                    <a:xfrm>
                      <a:off x="702809" y="2100853"/>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Century Gothic"/>
                          <a:ea typeface="Century Gothic"/>
                          <a:cs typeface="Century Gothic"/>
                          <a:sym typeface="Century Gothic"/>
                        </a:rPr>
                        <a:t>Grow</a:t>
                      </a:r>
                      <a:endParaRPr b="1" i="0" sz="900" u="none" cap="none" strike="noStrike">
                        <a:solidFill>
                          <a:schemeClr val="lt1"/>
                        </a:solidFill>
                        <a:latin typeface="Century Gothic"/>
                        <a:ea typeface="Century Gothic"/>
                        <a:cs typeface="Century Gothic"/>
                        <a:sym typeface="Century Gothic"/>
                      </a:endParaRPr>
                    </a:p>
                  </p:txBody>
                </p:sp>
              </p:grpSp>
            </p:grpSp>
          </p:grpSp>
        </p:grpSp>
        <p:grpSp>
          <p:nvGrpSpPr>
            <p:cNvPr id="363" name="Google Shape;363;p24"/>
            <p:cNvGrpSpPr/>
            <p:nvPr/>
          </p:nvGrpSpPr>
          <p:grpSpPr>
            <a:xfrm>
              <a:off x="335315" y="5855957"/>
              <a:ext cx="11533808" cy="742740"/>
              <a:chOff x="-129941" y="6182361"/>
              <a:chExt cx="11093400" cy="576169"/>
            </a:xfrm>
          </p:grpSpPr>
          <p:sp>
            <p:nvSpPr>
              <p:cNvPr id="364" name="Google Shape;364;p24"/>
              <p:cNvSpPr/>
              <p:nvPr/>
            </p:nvSpPr>
            <p:spPr>
              <a:xfrm rot="-5400000">
                <a:off x="5270059" y="782361"/>
                <a:ext cx="293400" cy="11093400"/>
              </a:xfrm>
              <a:prstGeom prst="leftBrace">
                <a:avLst>
                  <a:gd fmla="val 50000" name="adj1"/>
                  <a:gd fmla="val 50000" name="adj2"/>
                </a:avLst>
              </a:prstGeom>
              <a:noFill/>
              <a:ln cap="flat" cmpd="sng" w="9525">
                <a:solidFill>
                  <a:srgbClr val="7F7F7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5" name="Google Shape;365;p24"/>
              <p:cNvSpPr/>
              <p:nvPr/>
            </p:nvSpPr>
            <p:spPr>
              <a:xfrm>
                <a:off x="3588268" y="6350531"/>
                <a:ext cx="3486900" cy="4080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262626"/>
                  </a:buClr>
                  <a:buSzPts val="1100"/>
                  <a:buFont typeface="Century Gothic"/>
                  <a:buNone/>
                </a:pPr>
                <a:r>
                  <a:rPr b="1" lang="en" sz="1100">
                    <a:solidFill>
                      <a:srgbClr val="262626"/>
                    </a:solidFill>
                    <a:latin typeface="Montserrat"/>
                    <a:ea typeface="Montserrat"/>
                    <a:cs typeface="Montserrat"/>
                    <a:sym typeface="Montserrat"/>
                  </a:rPr>
                  <a:t>HUB Funded Projects</a:t>
                </a:r>
                <a:endParaRPr b="1" sz="1100">
                  <a:solidFill>
                    <a:srgbClr val="262626"/>
                  </a:solidFill>
                  <a:latin typeface="Montserrat"/>
                  <a:ea typeface="Montserrat"/>
                  <a:cs typeface="Montserrat"/>
                  <a:sym typeface="Montserrat"/>
                </a:endParaRPr>
              </a:p>
            </p:txBody>
          </p:sp>
        </p:grpSp>
      </p:grpSp>
      <p:grpSp>
        <p:nvGrpSpPr>
          <p:cNvPr id="366" name="Google Shape;366;p24"/>
          <p:cNvGrpSpPr/>
          <p:nvPr/>
        </p:nvGrpSpPr>
        <p:grpSpPr>
          <a:xfrm>
            <a:off x="1365452" y="3968558"/>
            <a:ext cx="6362195" cy="200475"/>
            <a:chOff x="1826812" y="5582306"/>
            <a:chExt cx="8482927" cy="267300"/>
          </a:xfrm>
        </p:grpSpPr>
        <p:sp>
          <p:nvSpPr>
            <p:cNvPr id="367" name="Google Shape;367;p24"/>
            <p:cNvSpPr/>
            <p:nvPr/>
          </p:nvSpPr>
          <p:spPr>
            <a:xfrm flipH="1" rot="10800000">
              <a:off x="1826812" y="5582306"/>
              <a:ext cx="594000" cy="2673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8" name="Google Shape;368;p24"/>
            <p:cNvSpPr/>
            <p:nvPr/>
          </p:nvSpPr>
          <p:spPr>
            <a:xfrm flipH="1" rot="10800000">
              <a:off x="5884732" y="5582306"/>
              <a:ext cx="594000" cy="2673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9" name="Google Shape;369;p24"/>
            <p:cNvSpPr/>
            <p:nvPr/>
          </p:nvSpPr>
          <p:spPr>
            <a:xfrm flipH="1" rot="10800000">
              <a:off x="9715739" y="5582306"/>
              <a:ext cx="594000" cy="2673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grpSp>
      <p:sp>
        <p:nvSpPr>
          <p:cNvPr id="370" name="Google Shape;370;p24"/>
          <p:cNvSpPr txBox="1"/>
          <p:nvPr/>
        </p:nvSpPr>
        <p:spPr>
          <a:xfrm>
            <a:off x="1269450"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1</a:t>
            </a:r>
            <a:endParaRPr b="1" sz="900">
              <a:solidFill>
                <a:srgbClr val="3F3F3F"/>
              </a:solidFill>
            </a:endParaRPr>
          </a:p>
        </p:txBody>
      </p:sp>
      <p:sp>
        <p:nvSpPr>
          <p:cNvPr id="371" name="Google Shape;371;p24"/>
          <p:cNvSpPr txBox="1"/>
          <p:nvPr/>
        </p:nvSpPr>
        <p:spPr>
          <a:xfrm>
            <a:off x="271627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2</a:t>
            </a:r>
            <a:endParaRPr b="1" sz="900">
              <a:solidFill>
                <a:srgbClr val="3F3F3F"/>
              </a:solidFill>
            </a:endParaRPr>
          </a:p>
        </p:txBody>
      </p:sp>
      <p:sp>
        <p:nvSpPr>
          <p:cNvPr id="372" name="Google Shape;372;p24"/>
          <p:cNvSpPr txBox="1"/>
          <p:nvPr/>
        </p:nvSpPr>
        <p:spPr>
          <a:xfrm>
            <a:off x="431472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3</a:t>
            </a:r>
            <a:endParaRPr b="1" sz="900">
              <a:solidFill>
                <a:srgbClr val="3F3F3F"/>
              </a:solidFill>
            </a:endParaRPr>
          </a:p>
        </p:txBody>
      </p:sp>
      <p:sp>
        <p:nvSpPr>
          <p:cNvPr id="373" name="Google Shape;373;p24"/>
          <p:cNvSpPr txBox="1"/>
          <p:nvPr/>
        </p:nvSpPr>
        <p:spPr>
          <a:xfrm>
            <a:off x="579362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4</a:t>
            </a:r>
            <a:endParaRPr b="1" sz="900">
              <a:solidFill>
                <a:srgbClr val="3F3F3F"/>
              </a:solidFill>
            </a:endParaRPr>
          </a:p>
        </p:txBody>
      </p:sp>
      <p:sp>
        <p:nvSpPr>
          <p:cNvPr id="374" name="Google Shape;374;p24"/>
          <p:cNvSpPr/>
          <p:nvPr/>
        </p:nvSpPr>
        <p:spPr>
          <a:xfrm flipH="1" rot="10800000">
            <a:off x="2811252" y="3968608"/>
            <a:ext cx="445500" cy="2004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5" name="Google Shape;375;p24"/>
          <p:cNvSpPr/>
          <p:nvPr/>
        </p:nvSpPr>
        <p:spPr>
          <a:xfrm flipH="1" rot="10800000">
            <a:off x="5861252" y="3968633"/>
            <a:ext cx="445500" cy="200400"/>
          </a:xfrm>
          <a:prstGeom prst="curvedDownArrow">
            <a:avLst>
              <a:gd fmla="val 25000" name="adj1"/>
              <a:gd fmla="val 50000" name="adj2"/>
              <a:gd fmla="val 25000" name="adj3"/>
            </a:avLst>
          </a:prstGeom>
          <a:solidFill>
            <a:srgbClr val="D8D8D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24"/>
          <p:cNvSpPr txBox="1"/>
          <p:nvPr/>
        </p:nvSpPr>
        <p:spPr>
          <a:xfrm>
            <a:off x="7217175" y="4258800"/>
            <a:ext cx="703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solidFill>
                  <a:srgbClr val="3F3F3F"/>
                </a:solidFill>
              </a:rPr>
              <a:t>Stage 5</a:t>
            </a:r>
            <a:endParaRPr b="1" sz="900">
              <a:solidFill>
                <a:srgbClr val="3F3F3F"/>
              </a:solidFill>
            </a:endParaRPr>
          </a:p>
        </p:txBody>
      </p:sp>
      <p:sp>
        <p:nvSpPr>
          <p:cNvPr id="377" name="Google Shape;377;p24"/>
          <p:cNvSpPr txBox="1"/>
          <p:nvPr/>
        </p:nvSpPr>
        <p:spPr>
          <a:xfrm>
            <a:off x="1674675" y="493675"/>
            <a:ext cx="5987400" cy="789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3000">
                <a:solidFill>
                  <a:srgbClr val="000099"/>
                </a:solidFill>
                <a:latin typeface="Montserrat"/>
                <a:ea typeface="Montserrat"/>
                <a:cs typeface="Montserrat"/>
                <a:sym typeface="Montserrat"/>
              </a:rPr>
              <a:t>Project Stage Placements</a:t>
            </a:r>
            <a:endParaRPr b="1" sz="3000">
              <a:solidFill>
                <a:srgbClr val="000099"/>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1" sz="2100">
              <a:solidFill>
                <a:srgbClr val="EF4138"/>
              </a:solidFill>
              <a:latin typeface="Montserrat"/>
              <a:ea typeface="Montserrat"/>
              <a:cs typeface="Montserrat"/>
              <a:sym typeface="Montserrat"/>
            </a:endParaRPr>
          </a:p>
        </p:txBody>
      </p:sp>
      <p:sp>
        <p:nvSpPr>
          <p:cNvPr id="378" name="Google Shape;378;p24"/>
          <p:cNvSpPr/>
          <p:nvPr/>
        </p:nvSpPr>
        <p:spPr>
          <a:xfrm>
            <a:off x="579049" y="429794"/>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5"/>
          <p:cNvSpPr txBox="1"/>
          <p:nvPr>
            <p:ph idx="4294967295" type="title"/>
          </p:nvPr>
        </p:nvSpPr>
        <p:spPr>
          <a:xfrm>
            <a:off x="693900" y="327700"/>
            <a:ext cx="7756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latin typeface="Montserrat"/>
                <a:ea typeface="Montserrat"/>
                <a:cs typeface="Montserrat"/>
                <a:sym typeface="Montserrat"/>
              </a:rPr>
              <a:t>Optical Tracking                             </a:t>
            </a:r>
            <a:endParaRPr b="1" sz="3300">
              <a:solidFill>
                <a:srgbClr val="EF4138"/>
              </a:solidFill>
              <a:latin typeface="Montserrat"/>
              <a:ea typeface="Montserrat"/>
              <a:cs typeface="Montserrat"/>
              <a:sym typeface="Montserrat"/>
            </a:endParaRPr>
          </a:p>
        </p:txBody>
      </p:sp>
      <p:sp>
        <p:nvSpPr>
          <p:cNvPr id="384" name="Google Shape;384;p25"/>
          <p:cNvSpPr txBox="1"/>
          <p:nvPr/>
        </p:nvSpPr>
        <p:spPr>
          <a:xfrm>
            <a:off x="1268400" y="1163138"/>
            <a:ext cx="6670500" cy="7851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None/>
            </a:pPr>
            <a:r>
              <a:rPr b="1" lang="en" sz="1400">
                <a:solidFill>
                  <a:srgbClr val="000099"/>
                </a:solidFill>
                <a:latin typeface="Montserrat"/>
                <a:ea typeface="Montserrat"/>
                <a:cs typeface="Montserrat"/>
                <a:sym typeface="Montserrat"/>
              </a:rPr>
              <a:t>Overall Scope</a:t>
            </a:r>
            <a:r>
              <a:rPr b="1" lang="en">
                <a:solidFill>
                  <a:schemeClr val="dk1"/>
                </a:solidFill>
                <a:latin typeface="Montserrat"/>
                <a:ea typeface="Montserrat"/>
                <a:cs typeface="Montserrat"/>
                <a:sym typeface="Montserrat"/>
              </a:rPr>
              <a:t>:  </a:t>
            </a:r>
            <a:r>
              <a:rPr lang="en" sz="1400">
                <a:solidFill>
                  <a:schemeClr val="dk1"/>
                </a:solidFill>
                <a:latin typeface="Montserrat"/>
                <a:ea typeface="Montserrat"/>
                <a:cs typeface="Montserrat"/>
                <a:sym typeface="Montserrat"/>
              </a:rPr>
              <a:t>The optical tracking scope aims to identify an innovative </a:t>
            </a:r>
            <a:r>
              <a:rPr lang="en">
                <a:solidFill>
                  <a:schemeClr val="dk1"/>
                </a:solidFill>
                <a:latin typeface="Montserrat"/>
                <a:ea typeface="Montserrat"/>
                <a:cs typeface="Montserrat"/>
                <a:sym typeface="Montserrat"/>
              </a:rPr>
              <a:t>solution for line-to-gain detection and other officiating use cases. Optical tracking will be able to inform </a:t>
            </a:r>
            <a:r>
              <a:rPr lang="en" sz="1400">
                <a:solidFill>
                  <a:schemeClr val="dk1"/>
                </a:solidFill>
                <a:latin typeface="Montserrat"/>
                <a:ea typeface="Montserrat"/>
                <a:cs typeface="Montserrat"/>
                <a:sym typeface="Montserrat"/>
              </a:rPr>
              <a:t>re</a:t>
            </a:r>
            <a:r>
              <a:rPr lang="en">
                <a:solidFill>
                  <a:schemeClr val="dk1"/>
                </a:solidFill>
                <a:latin typeface="Montserrat"/>
                <a:ea typeface="Montserrat"/>
                <a:cs typeface="Montserrat"/>
                <a:sym typeface="Montserrat"/>
              </a:rPr>
              <a:t>al-time </a:t>
            </a:r>
            <a:r>
              <a:rPr lang="en" sz="1400">
                <a:solidFill>
                  <a:schemeClr val="dk1"/>
                </a:solidFill>
                <a:latin typeface="Montserrat"/>
                <a:ea typeface="Montserrat"/>
                <a:cs typeface="Montserrat"/>
                <a:sym typeface="Montserrat"/>
              </a:rPr>
              <a:t>officiating</a:t>
            </a:r>
            <a:r>
              <a:rPr lang="en">
                <a:solidFill>
                  <a:schemeClr val="dk1"/>
                </a:solidFill>
                <a:latin typeface="Montserrat"/>
                <a:ea typeface="Montserrat"/>
                <a:cs typeface="Montserrat"/>
                <a:sym typeface="Montserrat"/>
              </a:rPr>
              <a:t>.</a:t>
            </a:r>
            <a:endParaRPr sz="1400">
              <a:solidFill>
                <a:schemeClr val="dk1"/>
              </a:solidFill>
              <a:highlight>
                <a:srgbClr val="FFFF00"/>
              </a:highlight>
              <a:latin typeface="Montserrat"/>
              <a:ea typeface="Montserrat"/>
              <a:cs typeface="Montserrat"/>
              <a:sym typeface="Montserrat"/>
            </a:endParaRPr>
          </a:p>
        </p:txBody>
      </p:sp>
      <p:sp>
        <p:nvSpPr>
          <p:cNvPr id="385" name="Google Shape;385;p25"/>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pic>
        <p:nvPicPr>
          <p:cNvPr id="386" name="Google Shape;386;p25"/>
          <p:cNvPicPr preferRelativeResize="0"/>
          <p:nvPr/>
        </p:nvPicPr>
        <p:blipFill>
          <a:blip r:embed="rId4">
            <a:alphaModFix/>
          </a:blip>
          <a:stretch>
            <a:fillRect/>
          </a:stretch>
        </p:blipFill>
        <p:spPr>
          <a:xfrm>
            <a:off x="865225" y="1185014"/>
            <a:ext cx="392750" cy="392750"/>
          </a:xfrm>
          <a:prstGeom prst="rect">
            <a:avLst/>
          </a:prstGeom>
          <a:noFill/>
          <a:ln>
            <a:noFill/>
          </a:ln>
        </p:spPr>
      </p:pic>
      <p:sp>
        <p:nvSpPr>
          <p:cNvPr id="387" name="Google Shape;387;p25"/>
          <p:cNvSpPr txBox="1"/>
          <p:nvPr/>
        </p:nvSpPr>
        <p:spPr>
          <a:xfrm>
            <a:off x="693900" y="2305900"/>
            <a:ext cx="7213200" cy="250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Current State:</a:t>
            </a:r>
            <a:endParaRPr b="1">
              <a:solidFill>
                <a:srgbClr val="000099"/>
              </a:solidFill>
              <a:latin typeface="Montserrat"/>
              <a:ea typeface="Montserrat"/>
              <a:cs typeface="Montserrat"/>
              <a:sym typeface="Montserrat"/>
            </a:endParaRPr>
          </a:p>
          <a:p>
            <a:pPr indent="0" lvl="0" marL="0" rtl="0" algn="l">
              <a:spcBef>
                <a:spcPts val="0"/>
              </a:spcBef>
              <a:spcAft>
                <a:spcPts val="0"/>
              </a:spcAft>
              <a:buNone/>
            </a:pPr>
            <a:r>
              <a:t/>
            </a:r>
            <a:endParaRPr b="1">
              <a:solidFill>
                <a:srgbClr val="000099"/>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Conducting 3 POCs to determine the accuracy of each demo. Vendors</a:t>
            </a:r>
            <a:r>
              <a:rPr b="1" lang="en">
                <a:solidFill>
                  <a:schemeClr val="dk1"/>
                </a:solidFill>
                <a:latin typeface="Montserrat"/>
                <a:ea typeface="Montserrat"/>
                <a:cs typeface="Montserrat"/>
                <a:sym typeface="Montserrat"/>
              </a:rPr>
              <a:t>:</a:t>
            </a:r>
            <a:r>
              <a:rPr lang="en">
                <a:solidFill>
                  <a:schemeClr val="dk1"/>
                </a:solidFill>
                <a:latin typeface="Montserrat"/>
                <a:ea typeface="Montserrat"/>
                <a:cs typeface="Montserrat"/>
                <a:sym typeface="Montserrat"/>
              </a:rPr>
              <a:t> HawkEye, ChyronHego, Genius/Second Spectrum.</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Stadium Evaluations</a:t>
            </a:r>
            <a:r>
              <a:rPr lang="en">
                <a:solidFill>
                  <a:schemeClr val="dk1"/>
                </a:solidFill>
                <a:latin typeface="Montserrat"/>
                <a:ea typeface="Montserrat"/>
                <a:cs typeface="Montserrat"/>
                <a:sym typeface="Montserrat"/>
              </a:rPr>
              <a:t>: Each vendor is undergoing evaluations and testing in stadiums upon </a:t>
            </a:r>
            <a:r>
              <a:rPr lang="en">
                <a:solidFill>
                  <a:schemeClr val="dk1"/>
                </a:solidFill>
                <a:latin typeface="Montserrat"/>
                <a:ea typeface="Montserrat"/>
                <a:cs typeface="Montserrat"/>
                <a:sym typeface="Montserrat"/>
              </a:rPr>
              <a:t>approval</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Vendor Scorecard &amp; Partner Screening</a:t>
            </a:r>
            <a:r>
              <a:rPr lang="en">
                <a:solidFill>
                  <a:schemeClr val="dk1"/>
                </a:solidFill>
                <a:latin typeface="Montserrat"/>
                <a:ea typeface="Montserrat"/>
                <a:cs typeface="Montserrat"/>
                <a:sym typeface="Montserrat"/>
              </a:rPr>
              <a:t>: A vendor scorecard has been developed  to assess compatibility and are actively screening potential partners during the Proof of Concept (POC) phase.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grpSp>
        <p:nvGrpSpPr>
          <p:cNvPr id="388" name="Google Shape;388;p25"/>
          <p:cNvGrpSpPr/>
          <p:nvPr/>
        </p:nvGrpSpPr>
        <p:grpSpPr>
          <a:xfrm>
            <a:off x="7559482" y="469763"/>
            <a:ext cx="1138404" cy="288582"/>
            <a:chOff x="299295" y="2006438"/>
            <a:chExt cx="2659200" cy="674100"/>
          </a:xfrm>
        </p:grpSpPr>
        <p:sp>
          <p:nvSpPr>
            <p:cNvPr id="389" name="Google Shape;389;p25"/>
            <p:cNvSpPr/>
            <p:nvPr/>
          </p:nvSpPr>
          <p:spPr>
            <a:xfrm>
              <a:off x="299295" y="2006438"/>
              <a:ext cx="2659200" cy="674100"/>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390" name="Google Shape;390;p25"/>
            <p:cNvSpPr/>
            <p:nvPr/>
          </p:nvSpPr>
          <p:spPr>
            <a:xfrm>
              <a:off x="702809" y="2100854"/>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ROI</a:t>
              </a:r>
              <a:endParaRPr b="1" i="0" sz="900" u="none" cap="none" strike="noStrike">
                <a:solidFill>
                  <a:schemeClr val="lt2"/>
                </a:solidFill>
                <a:latin typeface="Century Gothic"/>
                <a:ea typeface="Century Gothic"/>
                <a:cs typeface="Century Gothic"/>
                <a:sym typeface="Century Gothic"/>
              </a:endParaRPr>
            </a:p>
          </p:txBody>
        </p:sp>
      </p:grpSp>
      <p:sp>
        <p:nvSpPr>
          <p:cNvPr id="391" name="Google Shape;391;p25"/>
          <p:cNvSpPr/>
          <p:nvPr/>
        </p:nvSpPr>
        <p:spPr>
          <a:xfrm>
            <a:off x="7699723" y="435626"/>
            <a:ext cx="1040930" cy="35683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6"/>
          <p:cNvSpPr txBox="1"/>
          <p:nvPr>
            <p:ph idx="4294967295" type="title"/>
          </p:nvPr>
        </p:nvSpPr>
        <p:spPr>
          <a:xfrm>
            <a:off x="725550" y="365275"/>
            <a:ext cx="7756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rPr>
              <a:t>Optical Tracking, Cont. </a:t>
            </a:r>
            <a:endParaRPr b="1" sz="3300">
              <a:solidFill>
                <a:srgbClr val="EF4138"/>
              </a:solidFill>
              <a:latin typeface="Montserrat"/>
              <a:ea typeface="Montserrat"/>
              <a:cs typeface="Montserrat"/>
              <a:sym typeface="Montserrat"/>
            </a:endParaRPr>
          </a:p>
        </p:txBody>
      </p:sp>
      <p:sp>
        <p:nvSpPr>
          <p:cNvPr id="397" name="Google Shape;397;p26"/>
          <p:cNvSpPr txBox="1"/>
          <p:nvPr/>
        </p:nvSpPr>
        <p:spPr>
          <a:xfrm>
            <a:off x="725550" y="1439963"/>
            <a:ext cx="6670500" cy="14316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None/>
            </a:pPr>
            <a:r>
              <a:rPr b="1" lang="en">
                <a:solidFill>
                  <a:srgbClr val="000099"/>
                </a:solidFill>
                <a:latin typeface="Montserrat"/>
                <a:ea typeface="Montserrat"/>
                <a:cs typeface="Montserrat"/>
                <a:sym typeface="Montserrat"/>
              </a:rPr>
              <a:t>Use Case</a:t>
            </a:r>
            <a:endParaRPr b="1">
              <a:solidFill>
                <a:srgbClr val="000099"/>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Line-to-Gain</a:t>
            </a:r>
            <a:r>
              <a:rPr lang="en">
                <a:solidFill>
                  <a:schemeClr val="dk1"/>
                </a:solidFill>
                <a:latin typeface="Montserrat"/>
                <a:ea typeface="Montserrat"/>
                <a:cs typeface="Montserrat"/>
                <a:sym typeface="Montserrat"/>
              </a:rPr>
              <a:t>: Utilize optical tracking technology to improve the accuracy of line-to-gain detection.</a:t>
            </a:r>
            <a:endParaRPr>
              <a:solidFill>
                <a:schemeClr val="dk1"/>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Game Presentation:</a:t>
            </a:r>
            <a:r>
              <a:rPr lang="en">
                <a:solidFill>
                  <a:schemeClr val="dk1"/>
                </a:solidFill>
                <a:latin typeface="Montserrat"/>
                <a:ea typeface="Montserrat"/>
                <a:cs typeface="Montserrat"/>
                <a:sym typeface="Montserrat"/>
              </a:rPr>
              <a:t> Optimized data utilization for all games (Including in-stadium and broadcast executions).</a:t>
            </a:r>
            <a:endParaRPr>
              <a:solidFill>
                <a:schemeClr val="dk1"/>
              </a:solidFill>
              <a:latin typeface="Montserrat"/>
              <a:ea typeface="Montserrat"/>
              <a:cs typeface="Montserrat"/>
              <a:sym typeface="Montserrat"/>
            </a:endParaRPr>
          </a:p>
          <a:p>
            <a:pPr indent="0" lvl="0" marL="914400" marR="0" rtl="0" algn="l">
              <a:lnSpc>
                <a:spcPct val="100000"/>
              </a:lnSpc>
              <a:spcBef>
                <a:spcPts val="0"/>
              </a:spcBef>
              <a:spcAft>
                <a:spcPts val="0"/>
              </a:spcAft>
              <a:buNone/>
            </a:pPr>
            <a:r>
              <a:t/>
            </a:r>
            <a:endParaRPr>
              <a:solidFill>
                <a:schemeClr val="dk1"/>
              </a:solidFill>
              <a:latin typeface="Montserrat"/>
              <a:ea typeface="Montserrat"/>
              <a:cs typeface="Montserrat"/>
              <a:sym typeface="Montserrat"/>
            </a:endParaRPr>
          </a:p>
        </p:txBody>
      </p:sp>
      <p:sp>
        <p:nvSpPr>
          <p:cNvPr id="398" name="Google Shape;398;p26"/>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399" name="Google Shape;399;p26"/>
          <p:cNvSpPr txBox="1"/>
          <p:nvPr/>
        </p:nvSpPr>
        <p:spPr>
          <a:xfrm>
            <a:off x="725550" y="2730750"/>
            <a:ext cx="7213200" cy="212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Next Steps </a:t>
            </a:r>
            <a:endParaRPr b="1">
              <a:solidFill>
                <a:srgbClr val="000099"/>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a:solidFill>
                <a:schemeClr val="dk1"/>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EF4138"/>
              </a:buClr>
              <a:buSzPts val="1400"/>
              <a:buChar char="➔"/>
            </a:pPr>
            <a:r>
              <a:rPr lang="en">
                <a:solidFill>
                  <a:schemeClr val="dk1"/>
                </a:solidFill>
                <a:latin typeface="Montserrat"/>
                <a:ea typeface="Montserrat"/>
                <a:cs typeface="Montserrat"/>
                <a:sym typeface="Montserrat"/>
              </a:rPr>
              <a:t>Data accuracy comparison among vendors, aiming for consistently achieving ½ inch accuracy or better ( ½ or less).</a:t>
            </a:r>
            <a:endParaRPr>
              <a:solidFill>
                <a:schemeClr val="dk1"/>
              </a:solidFill>
              <a:latin typeface="Montserrat"/>
              <a:ea typeface="Montserrat"/>
              <a:cs typeface="Montserrat"/>
              <a:sym typeface="Montserrat"/>
            </a:endParaRPr>
          </a:p>
          <a:p>
            <a:pPr indent="-317500" lvl="0" marL="457200" marR="0" rtl="0" algn="l">
              <a:lnSpc>
                <a:spcPct val="100000"/>
              </a:lnSpc>
              <a:spcBef>
                <a:spcPts val="0"/>
              </a:spcBef>
              <a:spcAft>
                <a:spcPts val="0"/>
              </a:spcAft>
              <a:buClr>
                <a:srgbClr val="EF4138"/>
              </a:buClr>
              <a:buSzPts val="1400"/>
              <a:buChar char="➔"/>
            </a:pPr>
            <a:r>
              <a:rPr lang="en">
                <a:solidFill>
                  <a:schemeClr val="dk1"/>
                </a:solidFill>
                <a:latin typeface="Montserrat"/>
                <a:ea typeface="Montserrat"/>
                <a:cs typeface="Montserrat"/>
                <a:sym typeface="Montserrat"/>
              </a:rPr>
              <a:t>Identify the vendor that best aligns with the goals identified through RFI Vendor Evaluation Scorecard.</a:t>
            </a:r>
            <a:endParaRPr sz="1200">
              <a:solidFill>
                <a:srgbClr val="374151"/>
              </a:solidFill>
              <a:latin typeface="Roboto"/>
              <a:ea typeface="Roboto"/>
              <a:cs typeface="Roboto"/>
              <a:sym typeface="Roboto"/>
            </a:endParaRPr>
          </a:p>
          <a:p>
            <a:pPr indent="0" lvl="0" marL="457200" rtl="0" algn="l">
              <a:lnSpc>
                <a:spcPct val="115000"/>
              </a:lnSpc>
              <a:spcBef>
                <a:spcPts val="0"/>
              </a:spcBef>
              <a:spcAft>
                <a:spcPts val="0"/>
              </a:spcAft>
              <a:buNone/>
            </a:pPr>
            <a:r>
              <a:t/>
            </a:r>
            <a:endParaRPr sz="1200">
              <a:solidFill>
                <a:srgbClr val="374151"/>
              </a:solidFill>
              <a:latin typeface="Roboto"/>
              <a:ea typeface="Roboto"/>
              <a:cs typeface="Roboto"/>
              <a:sym typeface="Roboto"/>
            </a:endParaRPr>
          </a:p>
          <a:p>
            <a:pPr indent="0" lvl="0" marL="457200" rtl="0" algn="l">
              <a:spcBef>
                <a:spcPts val="0"/>
              </a:spcBef>
              <a:spcAft>
                <a:spcPts val="0"/>
              </a:spcAft>
              <a:buNone/>
            </a:pPr>
            <a:r>
              <a:t/>
            </a:r>
            <a:endParaRPr b="1">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graphicFrame>
        <p:nvGraphicFramePr>
          <p:cNvPr id="404" name="Google Shape;404;p27"/>
          <p:cNvGraphicFramePr/>
          <p:nvPr/>
        </p:nvGraphicFramePr>
        <p:xfrm>
          <a:off x="510775" y="1550400"/>
          <a:ext cx="3000000" cy="3000000"/>
        </p:xfrm>
        <a:graphic>
          <a:graphicData uri="http://schemas.openxmlformats.org/drawingml/2006/table">
            <a:tbl>
              <a:tblPr>
                <a:noFill/>
                <a:tableStyleId>{E71CDCBF-DB96-496A-9D63-6544212617A7}</a:tableStyleId>
              </a:tblPr>
              <a:tblGrid>
                <a:gridCol w="1306950"/>
                <a:gridCol w="2385400"/>
                <a:gridCol w="2288550"/>
                <a:gridCol w="2204850"/>
              </a:tblGrid>
              <a:tr h="694350">
                <a:tc>
                  <a:txBody>
                    <a:bodyPr/>
                    <a:lstStyle/>
                    <a:p>
                      <a:pPr indent="0" lvl="0" marL="0" rtl="0" algn="ctr">
                        <a:spcBef>
                          <a:spcPts val="0"/>
                        </a:spcBef>
                        <a:spcAft>
                          <a:spcPts val="0"/>
                        </a:spcAft>
                        <a:buNone/>
                      </a:pPr>
                      <a:r>
                        <a:t/>
                      </a:r>
                      <a:endParaRPr b="1" sz="1200">
                        <a:solidFill>
                          <a:srgbClr val="000099"/>
                        </a:solidFill>
                        <a:latin typeface="Montserrat"/>
                        <a:ea typeface="Montserrat"/>
                        <a:cs typeface="Montserrat"/>
                        <a:sym typeface="Montserrat"/>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200">
                          <a:solidFill>
                            <a:srgbClr val="000099"/>
                          </a:solidFill>
                          <a:latin typeface="Montserrat"/>
                          <a:ea typeface="Montserrat"/>
                          <a:cs typeface="Montserrat"/>
                          <a:sym typeface="Montserrat"/>
                        </a:rPr>
                        <a:t>HawkEye</a:t>
                      </a:r>
                      <a:endParaRPr sz="1200">
                        <a:solidFill>
                          <a:schemeClr val="dk1"/>
                        </a:solidFill>
                        <a:highlight>
                          <a:srgbClr val="FFFF00"/>
                        </a:highlight>
                        <a:latin typeface="Montserrat"/>
                        <a:ea typeface="Montserrat"/>
                        <a:cs typeface="Montserrat"/>
                        <a:sym typeface="Montserrat"/>
                      </a:endParaRPr>
                    </a:p>
                    <a:p>
                      <a:pPr indent="0" lvl="0" marL="0" rtl="0" algn="ctr">
                        <a:spcBef>
                          <a:spcPts val="0"/>
                        </a:spcBef>
                        <a:spcAft>
                          <a:spcPts val="0"/>
                        </a:spcAft>
                        <a:buNone/>
                      </a:pPr>
                      <a:r>
                        <a:rPr i="1" lang="en" sz="1200">
                          <a:latin typeface="Montserrat"/>
                          <a:ea typeface="Montserrat"/>
                          <a:cs typeface="Montserrat"/>
                          <a:sym typeface="Montserrat"/>
                        </a:rPr>
                        <a:t>Current Vendor</a:t>
                      </a:r>
                      <a:endParaRPr i="1" sz="1200">
                        <a:latin typeface="Montserrat"/>
                        <a:ea typeface="Montserrat"/>
                        <a:cs typeface="Montserrat"/>
                        <a:sym typeface="Montserrat"/>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200">
                          <a:solidFill>
                            <a:srgbClr val="000099"/>
                          </a:solidFill>
                          <a:latin typeface="Montserrat"/>
                          <a:ea typeface="Montserrat"/>
                          <a:cs typeface="Montserrat"/>
                          <a:sym typeface="Montserrat"/>
                        </a:rPr>
                        <a:t>Genius/Second Spectrum</a:t>
                      </a:r>
                      <a:endParaRPr b="1" sz="1200">
                        <a:solidFill>
                          <a:srgbClr val="000099"/>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i="1" lang="en" sz="1200">
                          <a:solidFill>
                            <a:schemeClr val="dk1"/>
                          </a:solidFill>
                          <a:latin typeface="Montserrat"/>
                          <a:ea typeface="Montserrat"/>
                          <a:cs typeface="Montserrat"/>
                          <a:sym typeface="Montserrat"/>
                        </a:rPr>
                        <a:t>Current Vendor</a:t>
                      </a:r>
                      <a:endParaRPr i="1" sz="1200">
                        <a:solidFill>
                          <a:srgbClr val="000099"/>
                        </a:solidFill>
                        <a:latin typeface="Montserrat"/>
                        <a:ea typeface="Montserrat"/>
                        <a:cs typeface="Montserrat"/>
                        <a:sym typeface="Montserrat"/>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b="1" lang="en" sz="1200">
                          <a:solidFill>
                            <a:srgbClr val="000099"/>
                          </a:solidFill>
                          <a:latin typeface="Montserrat"/>
                          <a:ea typeface="Montserrat"/>
                          <a:cs typeface="Montserrat"/>
                          <a:sym typeface="Montserrat"/>
                        </a:rPr>
                        <a:t>ChyronHego</a:t>
                      </a:r>
                      <a:endParaRPr b="1" sz="1200">
                        <a:solidFill>
                          <a:srgbClr val="000099"/>
                        </a:solidFill>
                        <a:latin typeface="Montserrat"/>
                        <a:ea typeface="Montserrat"/>
                        <a:cs typeface="Montserrat"/>
                        <a:sym typeface="Montserrat"/>
                      </a:endParaRPr>
                    </a:p>
                    <a:p>
                      <a:pPr indent="0" lvl="0" marL="0" rtl="0" algn="ctr">
                        <a:spcBef>
                          <a:spcPts val="0"/>
                        </a:spcBef>
                        <a:spcAft>
                          <a:spcPts val="0"/>
                        </a:spcAft>
                        <a:buClr>
                          <a:schemeClr val="dk1"/>
                        </a:buClr>
                        <a:buSzPts val="1100"/>
                        <a:buFont typeface="Arial"/>
                        <a:buNone/>
                      </a:pPr>
                      <a:r>
                        <a:rPr i="1" lang="en" sz="1200">
                          <a:solidFill>
                            <a:schemeClr val="dk1"/>
                          </a:solidFill>
                          <a:latin typeface="Montserrat"/>
                          <a:ea typeface="Montserrat"/>
                          <a:cs typeface="Montserrat"/>
                          <a:sym typeface="Montserrat"/>
                        </a:rPr>
                        <a:t>New Vendor</a:t>
                      </a:r>
                      <a:endParaRPr i="1" sz="1200">
                        <a:solidFill>
                          <a:srgbClr val="000099"/>
                        </a:solidFill>
                        <a:latin typeface="Montserrat"/>
                        <a:ea typeface="Montserrat"/>
                        <a:cs typeface="Montserrat"/>
                        <a:sym typeface="Montserrat"/>
                      </a:endParaRPr>
                    </a:p>
                  </a:txBody>
                  <a:tcPr marT="91425" marB="91425" marR="91425" marL="91425" anchor="ctr">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887850">
                <a:tc>
                  <a:txBody>
                    <a:bodyPr/>
                    <a:lstStyle/>
                    <a:p>
                      <a:pPr indent="0" lvl="0" marL="0" rtl="0" algn="l">
                        <a:spcBef>
                          <a:spcPts val="0"/>
                        </a:spcBef>
                        <a:spcAft>
                          <a:spcPts val="0"/>
                        </a:spcAft>
                        <a:buNone/>
                      </a:pPr>
                      <a:r>
                        <a:rPr b="1" lang="en" sz="1300">
                          <a:solidFill>
                            <a:srgbClr val="000099"/>
                          </a:solidFill>
                          <a:latin typeface="Montserrat"/>
                          <a:ea typeface="Montserrat"/>
                          <a:cs typeface="Montserrat"/>
                          <a:sym typeface="Montserrat"/>
                        </a:rPr>
                        <a:t>Overview</a:t>
                      </a:r>
                      <a:r>
                        <a:rPr lang="en" sz="1300">
                          <a:latin typeface="Montserrat"/>
                          <a:ea typeface="Montserrat"/>
                          <a:cs typeface="Montserrat"/>
                          <a:sym typeface="Montserrat"/>
                        </a:rPr>
                        <a:t> </a:t>
                      </a:r>
                      <a:endParaRPr sz="13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Technology is currently deployed in 3 stadiums </a:t>
                      </a:r>
                      <a:r>
                        <a:rPr lang="en" sz="1100">
                          <a:latin typeface="Montserrat"/>
                          <a:ea typeface="Montserrat"/>
                          <a:cs typeface="Montserrat"/>
                          <a:sym typeface="Montserrat"/>
                        </a:rPr>
                        <a:t>(LV, MIA, NY)</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SoFi Stadium (LA)</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Technology has been deployed at 5 stadiums for MLS soccer (ATL, CAR, CHI, NE, SEA)</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731350">
                <a:tc>
                  <a:txBody>
                    <a:bodyPr/>
                    <a:lstStyle/>
                    <a:p>
                      <a:pPr indent="0" lvl="0" marL="0" rtl="0" algn="l">
                        <a:spcBef>
                          <a:spcPts val="0"/>
                        </a:spcBef>
                        <a:spcAft>
                          <a:spcPts val="0"/>
                        </a:spcAft>
                        <a:buNone/>
                      </a:pPr>
                      <a:r>
                        <a:rPr b="1" lang="en" sz="1300">
                          <a:solidFill>
                            <a:srgbClr val="000099"/>
                          </a:solidFill>
                          <a:latin typeface="Montserrat"/>
                          <a:ea typeface="Montserrat"/>
                          <a:cs typeface="Montserrat"/>
                          <a:sym typeface="Montserrat"/>
                        </a:rPr>
                        <a:t>Update</a:t>
                      </a:r>
                      <a:endParaRPr sz="13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Data from testing has been analyzed </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100">
                          <a:solidFill>
                            <a:schemeClr val="dk1"/>
                          </a:solidFill>
                          <a:latin typeface="Montserrat"/>
                          <a:ea typeface="Montserrat"/>
                          <a:cs typeface="Montserrat"/>
                          <a:sym typeface="Montserrat"/>
                        </a:rPr>
                        <a:t>Installation has been completed in SoFi Stadium </a:t>
                      </a:r>
                      <a:r>
                        <a:rPr lang="en" sz="1100">
                          <a:solidFill>
                            <a:schemeClr val="dk1"/>
                          </a:solidFill>
                          <a:latin typeface="Montserrat"/>
                          <a:ea typeface="Montserrat"/>
                          <a:cs typeface="Montserrat"/>
                          <a:sym typeface="Montserrat"/>
                        </a:rPr>
                        <a:t>(LA)</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NDA has been signed </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r h="1055150">
                <a:tc>
                  <a:txBody>
                    <a:bodyPr/>
                    <a:lstStyle/>
                    <a:p>
                      <a:pPr indent="0" lvl="0" marL="0" rtl="0" algn="l">
                        <a:spcBef>
                          <a:spcPts val="0"/>
                        </a:spcBef>
                        <a:spcAft>
                          <a:spcPts val="0"/>
                        </a:spcAft>
                        <a:buNone/>
                      </a:pPr>
                      <a:r>
                        <a:rPr b="1" lang="en" sz="1300">
                          <a:solidFill>
                            <a:srgbClr val="000099"/>
                          </a:solidFill>
                          <a:latin typeface="Montserrat"/>
                          <a:ea typeface="Montserrat"/>
                          <a:cs typeface="Montserrat"/>
                          <a:sym typeface="Montserrat"/>
                        </a:rPr>
                        <a:t>Next Steps </a:t>
                      </a:r>
                      <a:endParaRPr sz="13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A</a:t>
                      </a:r>
                      <a:r>
                        <a:rPr lang="en" sz="1100">
                          <a:latin typeface="Montserrat"/>
                          <a:ea typeface="Montserrat"/>
                          <a:cs typeface="Montserrat"/>
                          <a:sym typeface="Montserrat"/>
                        </a:rPr>
                        <a:t> r</a:t>
                      </a:r>
                      <a:r>
                        <a:rPr lang="en" sz="1100">
                          <a:latin typeface="Montserrat"/>
                          <a:ea typeface="Montserrat"/>
                          <a:cs typeface="Montserrat"/>
                          <a:sym typeface="Montserrat"/>
                        </a:rPr>
                        <a:t>eview with the Competition Committee </a:t>
                      </a:r>
                      <a:r>
                        <a:rPr lang="en" sz="1100">
                          <a:latin typeface="Montserrat"/>
                          <a:ea typeface="Montserrat"/>
                          <a:cs typeface="Montserrat"/>
                          <a:sym typeface="Montserrat"/>
                        </a:rPr>
                        <a:t> and the Future of Football Committee scheduled during Combine (Feb 27 - Mar 1)</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Tech evaluation scheduled for the January 7th game</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Montserrat"/>
                          <a:ea typeface="Montserrat"/>
                          <a:cs typeface="Montserrat"/>
                          <a:sym typeface="Montserrat"/>
                        </a:rPr>
                        <a:t>Validating solution internally before enabling system for January 7th</a:t>
                      </a:r>
                      <a:endParaRPr sz="1100">
                        <a:latin typeface="Montserrat"/>
                        <a:ea typeface="Montserrat"/>
                        <a:cs typeface="Montserrat"/>
                        <a:sym typeface="Montserrat"/>
                      </a:endParaRPr>
                    </a:p>
                  </a:txBody>
                  <a:tcPr marT="91425" marB="91425" marR="91425" marL="91425">
                    <a:lnL cap="flat" cmpd="sng" w="9525">
                      <a:solidFill>
                        <a:srgbClr val="D8D8D8"/>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8D8D8"/>
                      </a:solidFill>
                      <a:prstDash val="solid"/>
                      <a:round/>
                      <a:headEnd len="sm" w="sm" type="none"/>
                      <a:tailEnd len="sm" w="sm" type="none"/>
                    </a:lnB>
                  </a:tcPr>
                </a:tc>
              </a:tr>
            </a:tbl>
          </a:graphicData>
        </a:graphic>
      </p:graphicFrame>
      <p:sp>
        <p:nvSpPr>
          <p:cNvPr id="405" name="Google Shape;405;p27"/>
          <p:cNvSpPr txBox="1"/>
          <p:nvPr>
            <p:ph idx="4294967295" type="title"/>
          </p:nvPr>
        </p:nvSpPr>
        <p:spPr>
          <a:xfrm>
            <a:off x="725550" y="365275"/>
            <a:ext cx="7756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rPr>
              <a:t>Optical Tracking </a:t>
            </a:r>
            <a:endParaRPr b="1" sz="3300">
              <a:solidFill>
                <a:srgbClr val="EF4138"/>
              </a:solidFill>
            </a:endParaRPr>
          </a:p>
          <a:p>
            <a:pPr indent="0" lvl="0" marL="0" rtl="0" algn="l">
              <a:spcBef>
                <a:spcPts val="0"/>
              </a:spcBef>
              <a:spcAft>
                <a:spcPts val="0"/>
              </a:spcAft>
              <a:buClr>
                <a:srgbClr val="EF4138"/>
              </a:buClr>
              <a:buSzPts val="1400"/>
              <a:buFont typeface="Montserrat"/>
              <a:buNone/>
            </a:pPr>
            <a:r>
              <a:rPr b="1" lang="en" sz="2000">
                <a:solidFill>
                  <a:srgbClr val="000099"/>
                </a:solidFill>
              </a:rPr>
              <a:t>Vendor Assessment</a:t>
            </a:r>
            <a:endParaRPr b="1" sz="2000">
              <a:solidFill>
                <a:srgbClr val="000099"/>
              </a:solidFill>
            </a:endParaRPr>
          </a:p>
          <a:p>
            <a:pPr indent="0" lvl="0" marL="0" rtl="0" algn="l">
              <a:spcBef>
                <a:spcPts val="0"/>
              </a:spcBef>
              <a:spcAft>
                <a:spcPts val="0"/>
              </a:spcAft>
              <a:buClr>
                <a:srgbClr val="EF4138"/>
              </a:buClr>
              <a:buSzPts val="1400"/>
              <a:buFont typeface="Montserrat"/>
              <a:buNone/>
            </a:pPr>
            <a:r>
              <a:t/>
            </a:r>
            <a:endParaRPr b="1" sz="3300">
              <a:solidFill>
                <a:srgbClr val="EF413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8"/>
          <p:cNvSpPr txBox="1"/>
          <p:nvPr>
            <p:ph idx="4294967295" type="title"/>
          </p:nvPr>
        </p:nvSpPr>
        <p:spPr>
          <a:xfrm>
            <a:off x="693900" y="327700"/>
            <a:ext cx="7756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latin typeface="Montserrat"/>
                <a:ea typeface="Montserrat"/>
                <a:cs typeface="Montserrat"/>
                <a:sym typeface="Montserrat"/>
              </a:rPr>
              <a:t>Optical Tracking                             </a:t>
            </a:r>
            <a:endParaRPr b="1" sz="3300">
              <a:solidFill>
                <a:srgbClr val="EF4138"/>
              </a:solidFill>
              <a:latin typeface="Montserrat"/>
              <a:ea typeface="Montserrat"/>
              <a:cs typeface="Montserrat"/>
              <a:sym typeface="Montserrat"/>
            </a:endParaRPr>
          </a:p>
        </p:txBody>
      </p:sp>
      <p:sp>
        <p:nvSpPr>
          <p:cNvPr id="411" name="Google Shape;411;p28"/>
          <p:cNvSpPr txBox="1"/>
          <p:nvPr/>
        </p:nvSpPr>
        <p:spPr>
          <a:xfrm>
            <a:off x="1268400" y="1163138"/>
            <a:ext cx="6670500" cy="7851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None/>
            </a:pPr>
            <a:r>
              <a:rPr b="1" lang="en" sz="1400">
                <a:solidFill>
                  <a:srgbClr val="000099"/>
                </a:solidFill>
                <a:latin typeface="Montserrat"/>
                <a:ea typeface="Montserrat"/>
                <a:cs typeface="Montserrat"/>
                <a:sym typeface="Montserrat"/>
              </a:rPr>
              <a:t>Overall Scope</a:t>
            </a:r>
            <a:r>
              <a:rPr b="1" lang="en">
                <a:solidFill>
                  <a:schemeClr val="dk1"/>
                </a:solidFill>
                <a:latin typeface="Montserrat"/>
                <a:ea typeface="Montserrat"/>
                <a:cs typeface="Montserrat"/>
                <a:sym typeface="Montserrat"/>
              </a:rPr>
              <a:t>:  </a:t>
            </a:r>
            <a:r>
              <a:rPr lang="en" sz="1400">
                <a:solidFill>
                  <a:schemeClr val="dk1"/>
                </a:solidFill>
                <a:latin typeface="Montserrat"/>
                <a:ea typeface="Montserrat"/>
                <a:cs typeface="Montserrat"/>
                <a:sym typeface="Montserrat"/>
              </a:rPr>
              <a:t>The optical tracking scope aims to identify an innovative </a:t>
            </a:r>
            <a:r>
              <a:rPr lang="en">
                <a:solidFill>
                  <a:schemeClr val="dk1"/>
                </a:solidFill>
                <a:latin typeface="Montserrat"/>
                <a:ea typeface="Montserrat"/>
                <a:cs typeface="Montserrat"/>
                <a:sym typeface="Montserrat"/>
              </a:rPr>
              <a:t>solution for line-to-gain detection and other officiating use cases. Optical tracking will be able to inform </a:t>
            </a:r>
            <a:r>
              <a:rPr lang="en" sz="1400">
                <a:solidFill>
                  <a:schemeClr val="dk1"/>
                </a:solidFill>
                <a:latin typeface="Montserrat"/>
                <a:ea typeface="Montserrat"/>
                <a:cs typeface="Montserrat"/>
                <a:sym typeface="Montserrat"/>
              </a:rPr>
              <a:t>re</a:t>
            </a:r>
            <a:r>
              <a:rPr lang="en">
                <a:solidFill>
                  <a:schemeClr val="dk1"/>
                </a:solidFill>
                <a:latin typeface="Montserrat"/>
                <a:ea typeface="Montserrat"/>
                <a:cs typeface="Montserrat"/>
                <a:sym typeface="Montserrat"/>
              </a:rPr>
              <a:t>al-time </a:t>
            </a:r>
            <a:r>
              <a:rPr lang="en" sz="1400">
                <a:solidFill>
                  <a:schemeClr val="dk1"/>
                </a:solidFill>
                <a:latin typeface="Montserrat"/>
                <a:ea typeface="Montserrat"/>
                <a:cs typeface="Montserrat"/>
                <a:sym typeface="Montserrat"/>
              </a:rPr>
              <a:t>officiating</a:t>
            </a:r>
            <a:r>
              <a:rPr lang="en">
                <a:solidFill>
                  <a:schemeClr val="dk1"/>
                </a:solidFill>
                <a:latin typeface="Montserrat"/>
                <a:ea typeface="Montserrat"/>
                <a:cs typeface="Montserrat"/>
                <a:sym typeface="Montserrat"/>
              </a:rPr>
              <a:t>.</a:t>
            </a:r>
            <a:endParaRPr sz="1400">
              <a:solidFill>
                <a:schemeClr val="dk1"/>
              </a:solidFill>
              <a:highlight>
                <a:srgbClr val="FFFF00"/>
              </a:highlight>
              <a:latin typeface="Montserrat"/>
              <a:ea typeface="Montserrat"/>
              <a:cs typeface="Montserrat"/>
              <a:sym typeface="Montserrat"/>
            </a:endParaRPr>
          </a:p>
        </p:txBody>
      </p:sp>
      <p:sp>
        <p:nvSpPr>
          <p:cNvPr id="412" name="Google Shape;412;p28"/>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pic>
        <p:nvPicPr>
          <p:cNvPr id="413" name="Google Shape;413;p28"/>
          <p:cNvPicPr preferRelativeResize="0"/>
          <p:nvPr/>
        </p:nvPicPr>
        <p:blipFill>
          <a:blip r:embed="rId4">
            <a:alphaModFix/>
          </a:blip>
          <a:stretch>
            <a:fillRect/>
          </a:stretch>
        </p:blipFill>
        <p:spPr>
          <a:xfrm>
            <a:off x="865225" y="1185014"/>
            <a:ext cx="392750" cy="392750"/>
          </a:xfrm>
          <a:prstGeom prst="rect">
            <a:avLst/>
          </a:prstGeom>
          <a:noFill/>
          <a:ln>
            <a:noFill/>
          </a:ln>
        </p:spPr>
      </p:pic>
      <p:sp>
        <p:nvSpPr>
          <p:cNvPr id="414" name="Google Shape;414;p28"/>
          <p:cNvSpPr txBox="1"/>
          <p:nvPr/>
        </p:nvSpPr>
        <p:spPr>
          <a:xfrm>
            <a:off x="693900" y="2305900"/>
            <a:ext cx="7213200" cy="250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Current State:</a:t>
            </a:r>
            <a:endParaRPr b="1">
              <a:solidFill>
                <a:srgbClr val="000099"/>
              </a:solidFill>
              <a:latin typeface="Montserrat"/>
              <a:ea typeface="Montserrat"/>
              <a:cs typeface="Montserrat"/>
              <a:sym typeface="Montserrat"/>
            </a:endParaRPr>
          </a:p>
          <a:p>
            <a:pPr indent="0" lvl="0" marL="0" rtl="0" algn="l">
              <a:spcBef>
                <a:spcPts val="0"/>
              </a:spcBef>
              <a:spcAft>
                <a:spcPts val="0"/>
              </a:spcAft>
              <a:buNone/>
            </a:pPr>
            <a:r>
              <a:t/>
            </a:r>
            <a:endParaRPr b="1">
              <a:solidFill>
                <a:srgbClr val="000099"/>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Conducting 3 POCs to determine the accuracy of each demo. Vendors:</a:t>
            </a:r>
            <a:r>
              <a:rPr lang="en">
                <a:solidFill>
                  <a:schemeClr val="dk1"/>
                </a:solidFill>
                <a:latin typeface="Montserrat"/>
                <a:ea typeface="Montserrat"/>
                <a:cs typeface="Montserrat"/>
                <a:sym typeface="Montserrat"/>
              </a:rPr>
              <a:t> HawkEye, ChyronHego, Genius/Second Spectrum.</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Stadium Evaluations</a:t>
            </a:r>
            <a:r>
              <a:rPr lang="en">
                <a:solidFill>
                  <a:schemeClr val="dk1"/>
                </a:solidFill>
                <a:latin typeface="Montserrat"/>
                <a:ea typeface="Montserrat"/>
                <a:cs typeface="Montserrat"/>
                <a:sym typeface="Montserrat"/>
              </a:rPr>
              <a:t>: Each vendor is undergoing evaluations and testing in stadiums upon </a:t>
            </a:r>
            <a:r>
              <a:rPr lang="en">
                <a:solidFill>
                  <a:schemeClr val="dk1"/>
                </a:solidFill>
                <a:latin typeface="Montserrat"/>
                <a:ea typeface="Montserrat"/>
                <a:cs typeface="Montserrat"/>
                <a:sym typeface="Montserrat"/>
              </a:rPr>
              <a:t>approval</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Vendor Scorecard &amp; Partner Screening</a:t>
            </a:r>
            <a:r>
              <a:rPr lang="en">
                <a:solidFill>
                  <a:schemeClr val="dk1"/>
                </a:solidFill>
                <a:latin typeface="Montserrat"/>
                <a:ea typeface="Montserrat"/>
                <a:cs typeface="Montserrat"/>
                <a:sym typeface="Montserrat"/>
              </a:rPr>
              <a:t>: A vendor scorecard has been developed  to assess compatibility and are actively screening potential partners during the Proof of Concept (POC) phase.</a:t>
            </a: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grpSp>
        <p:nvGrpSpPr>
          <p:cNvPr id="415" name="Google Shape;415;p28"/>
          <p:cNvGrpSpPr/>
          <p:nvPr/>
        </p:nvGrpSpPr>
        <p:grpSpPr>
          <a:xfrm>
            <a:off x="7559482" y="469763"/>
            <a:ext cx="1138404" cy="288582"/>
            <a:chOff x="299295" y="2006438"/>
            <a:chExt cx="2659200" cy="674100"/>
          </a:xfrm>
        </p:grpSpPr>
        <p:sp>
          <p:nvSpPr>
            <p:cNvPr id="416" name="Google Shape;416;p28"/>
            <p:cNvSpPr/>
            <p:nvPr/>
          </p:nvSpPr>
          <p:spPr>
            <a:xfrm>
              <a:off x="299295" y="2006438"/>
              <a:ext cx="2659200" cy="674100"/>
            </a:xfrm>
            <a:prstGeom prst="roundRect">
              <a:avLst>
                <a:gd fmla="val 50000" name="adj"/>
              </a:avLst>
            </a:prstGeom>
            <a:solidFill>
              <a:schemeClr val="accen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417" name="Google Shape;417;p28"/>
            <p:cNvSpPr/>
            <p:nvPr/>
          </p:nvSpPr>
          <p:spPr>
            <a:xfrm>
              <a:off x="702809" y="2100854"/>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ROI</a:t>
              </a:r>
              <a:endParaRPr b="1" i="0" sz="900" u="none" cap="none" strike="noStrike">
                <a:solidFill>
                  <a:schemeClr val="lt2"/>
                </a:solidFill>
                <a:latin typeface="Century Gothic"/>
                <a:ea typeface="Century Gothic"/>
                <a:cs typeface="Century Gothic"/>
                <a:sym typeface="Century Gothic"/>
              </a:endParaRPr>
            </a:p>
          </p:txBody>
        </p:sp>
      </p:grpSp>
      <p:sp>
        <p:nvSpPr>
          <p:cNvPr id="418" name="Google Shape;418;p28"/>
          <p:cNvSpPr/>
          <p:nvPr/>
        </p:nvSpPr>
        <p:spPr>
          <a:xfrm>
            <a:off x="7699723" y="435626"/>
            <a:ext cx="1040930" cy="35683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9"/>
          <p:cNvSpPr txBox="1"/>
          <p:nvPr/>
        </p:nvSpPr>
        <p:spPr>
          <a:xfrm>
            <a:off x="1268400" y="1163138"/>
            <a:ext cx="6670500" cy="7851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Overall Scope</a:t>
            </a:r>
            <a:r>
              <a:rPr b="1" lang="en">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NFL View's primary emphasis is player health and safety. Their concentration encompasses player-related elements such as player speed, impact force and injury prevention.</a:t>
            </a:r>
            <a:endParaRPr b="1">
              <a:solidFill>
                <a:srgbClr val="000099"/>
              </a:solidFill>
              <a:latin typeface="Montserrat"/>
              <a:ea typeface="Montserrat"/>
              <a:cs typeface="Montserrat"/>
              <a:sym typeface="Montserrat"/>
            </a:endParaRPr>
          </a:p>
        </p:txBody>
      </p:sp>
      <p:sp>
        <p:nvSpPr>
          <p:cNvPr id="424" name="Google Shape;424;p29"/>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425" name="Google Shape;425;p29"/>
          <p:cNvSpPr txBox="1"/>
          <p:nvPr>
            <p:ph idx="4294967295" type="title"/>
          </p:nvPr>
        </p:nvSpPr>
        <p:spPr>
          <a:xfrm>
            <a:off x="693900" y="327700"/>
            <a:ext cx="6178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rPr>
              <a:t>NFL View</a:t>
            </a:r>
            <a:endParaRPr b="1" sz="3300">
              <a:solidFill>
                <a:srgbClr val="EF4138"/>
              </a:solidFill>
              <a:latin typeface="Montserrat"/>
              <a:ea typeface="Montserrat"/>
              <a:cs typeface="Montserrat"/>
              <a:sym typeface="Montserrat"/>
            </a:endParaRPr>
          </a:p>
        </p:txBody>
      </p:sp>
      <p:pic>
        <p:nvPicPr>
          <p:cNvPr id="426" name="Google Shape;426;p29"/>
          <p:cNvPicPr preferRelativeResize="0"/>
          <p:nvPr/>
        </p:nvPicPr>
        <p:blipFill>
          <a:blip r:embed="rId4">
            <a:alphaModFix/>
          </a:blip>
          <a:stretch>
            <a:fillRect/>
          </a:stretch>
        </p:blipFill>
        <p:spPr>
          <a:xfrm>
            <a:off x="865225" y="1185014"/>
            <a:ext cx="392750" cy="392750"/>
          </a:xfrm>
          <a:prstGeom prst="rect">
            <a:avLst/>
          </a:prstGeom>
          <a:noFill/>
          <a:ln>
            <a:noFill/>
          </a:ln>
        </p:spPr>
      </p:pic>
      <p:sp>
        <p:nvSpPr>
          <p:cNvPr id="427" name="Google Shape;427;p29"/>
          <p:cNvSpPr txBox="1"/>
          <p:nvPr/>
        </p:nvSpPr>
        <p:spPr>
          <a:xfrm>
            <a:off x="725550" y="2604200"/>
            <a:ext cx="7213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a:solidFill>
                  <a:srgbClr val="000099"/>
                </a:solidFill>
                <a:latin typeface="Montserrat"/>
                <a:ea typeface="Montserrat"/>
                <a:cs typeface="Montserrat"/>
                <a:sym typeface="Montserrat"/>
              </a:rPr>
              <a:t>Current State:</a:t>
            </a:r>
            <a:endParaRPr b="1">
              <a:solidFill>
                <a:srgbClr val="000099"/>
              </a:solidFill>
              <a:latin typeface="Montserrat"/>
              <a:ea typeface="Montserrat"/>
              <a:cs typeface="Montserrat"/>
              <a:sym typeface="Montserrat"/>
            </a:endParaRPr>
          </a:p>
          <a:p>
            <a:pPr indent="0" lvl="0" marL="0" rtl="0" algn="l">
              <a:spcBef>
                <a:spcPts val="0"/>
              </a:spcBef>
              <a:spcAft>
                <a:spcPts val="0"/>
              </a:spcAft>
              <a:buNone/>
            </a:pPr>
            <a:r>
              <a:t/>
            </a:r>
            <a:endParaRPr b="1">
              <a:solidFill>
                <a:srgbClr val="000099"/>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Char char="➔"/>
            </a:pPr>
            <a:r>
              <a:rPr lang="en">
                <a:solidFill>
                  <a:schemeClr val="dk1"/>
                </a:solidFill>
                <a:latin typeface="Montserrat"/>
                <a:ea typeface="Montserrat"/>
                <a:cs typeface="Montserrat"/>
                <a:sym typeface="Montserrat"/>
              </a:rPr>
              <a:t>Enhance data collection for player health and safety.</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Char char="➔"/>
            </a:pPr>
            <a:r>
              <a:rPr lang="en">
                <a:solidFill>
                  <a:schemeClr val="dk1"/>
                </a:solidFill>
                <a:latin typeface="Montserrat"/>
                <a:ea typeface="Montserrat"/>
                <a:cs typeface="Montserrat"/>
                <a:sym typeface="Montserrat"/>
              </a:rPr>
              <a:t>Three years of testing and utilizing original Intel cameras for player movement tracking.</a:t>
            </a:r>
            <a:endParaRPr sz="1100">
              <a:solidFill>
                <a:schemeClr val="dk1"/>
              </a:solidFill>
            </a:endParaRPr>
          </a:p>
          <a:p>
            <a:pPr indent="0" lvl="0" marL="457200" rtl="0" algn="l">
              <a:spcBef>
                <a:spcPts val="0"/>
              </a:spcBef>
              <a:spcAft>
                <a:spcPts val="0"/>
              </a:spcAft>
              <a:buNone/>
            </a:pPr>
            <a:r>
              <a:t/>
            </a:r>
            <a:endParaRPr b="1">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grpSp>
        <p:nvGrpSpPr>
          <p:cNvPr id="428" name="Google Shape;428;p29"/>
          <p:cNvGrpSpPr/>
          <p:nvPr/>
        </p:nvGrpSpPr>
        <p:grpSpPr>
          <a:xfrm>
            <a:off x="7343346" y="521001"/>
            <a:ext cx="1138404" cy="288582"/>
            <a:chOff x="299295" y="2006438"/>
            <a:chExt cx="2659200" cy="674100"/>
          </a:xfrm>
        </p:grpSpPr>
        <p:sp>
          <p:nvSpPr>
            <p:cNvPr id="429" name="Google Shape;429;p29"/>
            <p:cNvSpPr/>
            <p:nvPr/>
          </p:nvSpPr>
          <p:spPr>
            <a:xfrm>
              <a:off x="299295" y="2006438"/>
              <a:ext cx="2659200" cy="674100"/>
            </a:xfrm>
            <a:prstGeom prst="roundRect">
              <a:avLst>
                <a:gd fmla="val 50000" name="adj"/>
              </a:avLst>
            </a:prstGeom>
            <a:solidFill>
              <a:srgbClr val="EF413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430" name="Google Shape;430;p29"/>
            <p:cNvSpPr/>
            <p:nvPr/>
          </p:nvSpPr>
          <p:spPr>
            <a:xfrm>
              <a:off x="702809" y="2100853"/>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Concept </a:t>
              </a:r>
              <a:endParaRPr b="1" i="0" sz="900" u="none" cap="none" strike="noStrike">
                <a:solidFill>
                  <a:schemeClr val="lt2"/>
                </a:solidFill>
                <a:latin typeface="Century Gothic"/>
                <a:ea typeface="Century Gothic"/>
                <a:cs typeface="Century Gothic"/>
                <a:sym typeface="Century Gothic"/>
              </a:endParaRPr>
            </a:p>
          </p:txBody>
        </p:sp>
      </p:grpSp>
      <p:sp>
        <p:nvSpPr>
          <p:cNvPr id="431" name="Google Shape;431;p29"/>
          <p:cNvSpPr/>
          <p:nvPr/>
        </p:nvSpPr>
        <p:spPr>
          <a:xfrm>
            <a:off x="7504637" y="486864"/>
            <a:ext cx="1040930" cy="35683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0"/>
          <p:cNvSpPr txBox="1"/>
          <p:nvPr>
            <p:ph idx="4294967295" type="title"/>
          </p:nvPr>
        </p:nvSpPr>
        <p:spPr>
          <a:xfrm>
            <a:off x="725550" y="365275"/>
            <a:ext cx="7756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rPr>
              <a:t>NFL View</a:t>
            </a:r>
            <a:endParaRPr b="1" sz="3300">
              <a:solidFill>
                <a:srgbClr val="EF4138"/>
              </a:solidFill>
              <a:latin typeface="Montserrat"/>
              <a:ea typeface="Montserrat"/>
              <a:cs typeface="Montserrat"/>
              <a:sym typeface="Montserrat"/>
            </a:endParaRPr>
          </a:p>
        </p:txBody>
      </p:sp>
      <p:sp>
        <p:nvSpPr>
          <p:cNvPr id="437" name="Google Shape;437;p30"/>
          <p:cNvSpPr txBox="1"/>
          <p:nvPr/>
        </p:nvSpPr>
        <p:spPr>
          <a:xfrm>
            <a:off x="725550" y="1013113"/>
            <a:ext cx="6670500" cy="25197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None/>
            </a:pPr>
            <a:r>
              <a:rPr b="1" lang="en">
                <a:solidFill>
                  <a:srgbClr val="000099"/>
                </a:solidFill>
                <a:latin typeface="Montserrat"/>
                <a:ea typeface="Montserrat"/>
                <a:cs typeface="Montserrat"/>
                <a:sym typeface="Montserrat"/>
              </a:rPr>
              <a:t>Use Case </a:t>
            </a:r>
            <a:endParaRPr b="1">
              <a:solidFill>
                <a:srgbClr val="000099"/>
              </a:solidFill>
              <a:latin typeface="Montserrat"/>
              <a:ea typeface="Montserrat"/>
              <a:cs typeface="Montserrat"/>
              <a:sym typeface="Montserrat"/>
            </a:endParaRPr>
          </a:p>
          <a:p>
            <a:pPr indent="0" lvl="0" marL="0" marR="0" rtl="0" algn="l">
              <a:spcBef>
                <a:spcPts val="0"/>
              </a:spcBef>
              <a:spcAft>
                <a:spcPts val="0"/>
              </a:spcAft>
              <a:buNone/>
            </a:pPr>
            <a:r>
              <a:t/>
            </a:r>
            <a:endParaRPr b="1">
              <a:solidFill>
                <a:srgbClr val="000099"/>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Player Health and Safety</a:t>
            </a:r>
            <a:r>
              <a:rPr lang="en">
                <a:solidFill>
                  <a:schemeClr val="dk1"/>
                </a:solidFill>
                <a:latin typeface="Montserrat"/>
                <a:ea typeface="Montserrat"/>
                <a:cs typeface="Montserrat"/>
                <a:sym typeface="Montserrat"/>
              </a:rPr>
              <a:t>: Proactively preventing injuries by identifying game events that enhance player safety.</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Identifying Game events:</a:t>
            </a:r>
            <a:r>
              <a:rPr lang="en">
                <a:solidFill>
                  <a:schemeClr val="dk1"/>
                </a:solidFill>
                <a:latin typeface="Montserrat"/>
                <a:ea typeface="Montserrat"/>
                <a:cs typeface="Montserrat"/>
                <a:sym typeface="Montserrat"/>
              </a:rPr>
              <a:t> Identifying game events can help improve player engagement and enhance the overall gaming experience.</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EF4138"/>
              </a:buClr>
              <a:buSzPts val="1400"/>
              <a:buFont typeface="Montserrat"/>
              <a:buChar char="➔"/>
            </a:pPr>
            <a:r>
              <a:rPr b="1" lang="en">
                <a:solidFill>
                  <a:schemeClr val="dk1"/>
                </a:solidFill>
                <a:latin typeface="Montserrat"/>
                <a:ea typeface="Montserrat"/>
                <a:cs typeface="Montserrat"/>
                <a:sym typeface="Montserrat"/>
              </a:rPr>
              <a:t>Skeletal tracking</a:t>
            </a:r>
            <a:r>
              <a:rPr lang="en" sz="1200">
                <a:solidFill>
                  <a:srgbClr val="374151"/>
                </a:solidFill>
                <a:latin typeface="Roboto"/>
                <a:ea typeface="Roboto"/>
                <a:cs typeface="Roboto"/>
                <a:sym typeface="Roboto"/>
              </a:rPr>
              <a:t>: </a:t>
            </a:r>
            <a:r>
              <a:rPr lang="en">
                <a:solidFill>
                  <a:schemeClr val="dk1"/>
                </a:solidFill>
                <a:latin typeface="Montserrat"/>
                <a:ea typeface="Montserrat"/>
                <a:cs typeface="Montserrat"/>
                <a:sym typeface="Montserrat"/>
              </a:rPr>
              <a:t>This is implemented to proactively enhance player safety and performance.</a:t>
            </a:r>
            <a:endParaRPr>
              <a:solidFill>
                <a:schemeClr val="dk1"/>
              </a:solidFill>
              <a:latin typeface="Montserrat"/>
              <a:ea typeface="Montserrat"/>
              <a:cs typeface="Montserrat"/>
              <a:sym typeface="Montserrat"/>
            </a:endParaRPr>
          </a:p>
          <a:p>
            <a:pPr indent="0" lvl="0" marL="0" marR="0" rtl="0" algn="l">
              <a:spcBef>
                <a:spcPts val="0"/>
              </a:spcBef>
              <a:spcAft>
                <a:spcPts val="0"/>
              </a:spcAft>
              <a:buNone/>
            </a:pPr>
            <a:r>
              <a:t/>
            </a:r>
            <a:endParaRPr b="1">
              <a:solidFill>
                <a:srgbClr val="000099"/>
              </a:solidFill>
              <a:latin typeface="Montserrat"/>
              <a:ea typeface="Montserrat"/>
              <a:cs typeface="Montserrat"/>
              <a:sym typeface="Montserrat"/>
            </a:endParaRPr>
          </a:p>
        </p:txBody>
      </p:sp>
      <p:sp>
        <p:nvSpPr>
          <p:cNvPr id="438" name="Google Shape;438;p30"/>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
        <p:nvSpPr>
          <p:cNvPr id="439" name="Google Shape;439;p30"/>
          <p:cNvSpPr txBox="1"/>
          <p:nvPr/>
        </p:nvSpPr>
        <p:spPr>
          <a:xfrm>
            <a:off x="781875" y="3337650"/>
            <a:ext cx="7213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Next Steps </a:t>
            </a:r>
            <a:endParaRPr b="1">
              <a:solidFill>
                <a:srgbClr val="000099"/>
              </a:solidFill>
              <a:latin typeface="Montserrat"/>
              <a:ea typeface="Montserrat"/>
              <a:cs typeface="Montserrat"/>
              <a:sym typeface="Montserrat"/>
            </a:endParaRPr>
          </a:p>
          <a:p>
            <a:pPr indent="0" lvl="0" marL="0" rtl="0" algn="l">
              <a:spcBef>
                <a:spcPts val="0"/>
              </a:spcBef>
              <a:spcAft>
                <a:spcPts val="0"/>
              </a:spcAft>
              <a:buNone/>
            </a:pPr>
            <a:r>
              <a:t/>
            </a:r>
            <a:endParaRPr b="1">
              <a:solidFill>
                <a:srgbClr val="000099"/>
              </a:solidFill>
              <a:latin typeface="Montserrat"/>
              <a:ea typeface="Montserrat"/>
              <a:cs typeface="Montserrat"/>
              <a:sym typeface="Montserrat"/>
            </a:endParaRPr>
          </a:p>
          <a:p>
            <a:pPr indent="-317500" lvl="0" marL="457200" rtl="0" algn="l">
              <a:spcBef>
                <a:spcPts val="0"/>
              </a:spcBef>
              <a:spcAft>
                <a:spcPts val="0"/>
              </a:spcAft>
              <a:buClr>
                <a:srgbClr val="EF4138"/>
              </a:buClr>
              <a:buSzPts val="1400"/>
              <a:buFont typeface="Montserrat"/>
              <a:buChar char="➔"/>
            </a:pPr>
            <a:r>
              <a:rPr lang="en">
                <a:solidFill>
                  <a:schemeClr val="dk1"/>
                </a:solidFill>
                <a:latin typeface="Montserrat"/>
                <a:ea typeface="Montserrat"/>
                <a:cs typeface="Montserrat"/>
                <a:sym typeface="Montserrat"/>
              </a:rPr>
              <a:t>Collaborating with the PHS team to create a comprehensive plan for business testing, cost analysis, and project timeline development.</a:t>
            </a:r>
            <a:endParaRPr b="1">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1"/>
              </a:solidFill>
              <a:latin typeface="Montserrat"/>
              <a:ea typeface="Montserrat"/>
              <a:cs typeface="Montserrat"/>
              <a:sym typeface="Montserrat"/>
            </a:endParaRPr>
          </a:p>
        </p:txBody>
      </p:sp>
      <p:grpSp>
        <p:nvGrpSpPr>
          <p:cNvPr id="440" name="Google Shape;440;p30"/>
          <p:cNvGrpSpPr/>
          <p:nvPr/>
        </p:nvGrpSpPr>
        <p:grpSpPr>
          <a:xfrm>
            <a:off x="7343346" y="521001"/>
            <a:ext cx="1138404" cy="288582"/>
            <a:chOff x="299295" y="2006438"/>
            <a:chExt cx="2659200" cy="674100"/>
          </a:xfrm>
        </p:grpSpPr>
        <p:sp>
          <p:nvSpPr>
            <p:cNvPr id="441" name="Google Shape;441;p30"/>
            <p:cNvSpPr/>
            <p:nvPr/>
          </p:nvSpPr>
          <p:spPr>
            <a:xfrm>
              <a:off x="299295" y="2006438"/>
              <a:ext cx="2659200" cy="674100"/>
            </a:xfrm>
            <a:prstGeom prst="roundRect">
              <a:avLst>
                <a:gd fmla="val 50000" name="adj"/>
              </a:avLst>
            </a:prstGeom>
            <a:solidFill>
              <a:srgbClr val="EF413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
          <p:nvSpPr>
            <p:cNvPr id="442" name="Google Shape;442;p30"/>
            <p:cNvSpPr/>
            <p:nvPr/>
          </p:nvSpPr>
          <p:spPr>
            <a:xfrm>
              <a:off x="702809" y="2100853"/>
              <a:ext cx="1852200" cy="4854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2"/>
                  </a:solidFill>
                  <a:latin typeface="Century Gothic"/>
                  <a:ea typeface="Century Gothic"/>
                  <a:cs typeface="Century Gothic"/>
                  <a:sym typeface="Century Gothic"/>
                </a:rPr>
                <a:t>Concept </a:t>
              </a:r>
              <a:endParaRPr b="1" i="0" sz="900" u="none" cap="none" strike="noStrike">
                <a:solidFill>
                  <a:schemeClr val="lt2"/>
                </a:solidFill>
                <a:latin typeface="Century Gothic"/>
                <a:ea typeface="Century Gothic"/>
                <a:cs typeface="Century Gothic"/>
                <a:sym typeface="Century Gothic"/>
              </a:endParaRPr>
            </a:p>
          </p:txBody>
        </p:sp>
      </p:grpSp>
      <p:sp>
        <p:nvSpPr>
          <p:cNvPr id="443" name="Google Shape;443;p30"/>
          <p:cNvSpPr/>
          <p:nvPr/>
        </p:nvSpPr>
        <p:spPr>
          <a:xfrm>
            <a:off x="7504637" y="486864"/>
            <a:ext cx="1040930" cy="356830"/>
          </a:xfrm>
          <a:custGeom>
            <a:rect b="b" l="l" r="r" t="t"/>
            <a:pathLst>
              <a:path extrusionOk="0" h="834690" w="2434925">
                <a:moveTo>
                  <a:pt x="0" y="0"/>
                </a:moveTo>
                <a:lnTo>
                  <a:pt x="2017580" y="0"/>
                </a:lnTo>
                <a:cubicBezTo>
                  <a:pt x="2248073" y="0"/>
                  <a:pt x="2434925" y="186852"/>
                  <a:pt x="2434925" y="417345"/>
                </a:cubicBezTo>
                <a:lnTo>
                  <a:pt x="2434924" y="417345"/>
                </a:lnTo>
                <a:cubicBezTo>
                  <a:pt x="2434924" y="647838"/>
                  <a:pt x="2248072" y="834690"/>
                  <a:pt x="2017579" y="834690"/>
                </a:cubicBezTo>
              </a:path>
            </a:pathLst>
          </a:custGeom>
          <a:noFill/>
          <a:ln cap="flat" cmpd="sng" w="12700">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dk1"/>
              </a:buClr>
              <a:buSzPts val="1400"/>
              <a:buFont typeface="Calibri"/>
              <a:buNone/>
            </a:pPr>
            <a:r>
              <a:t/>
            </a:r>
            <a:endParaRPr b="0" i="0" sz="1400" u="none" cap="none" strike="noStrike">
              <a:solidFill>
                <a:schemeClr val="accen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31"/>
          <p:cNvSpPr txBox="1"/>
          <p:nvPr/>
        </p:nvSpPr>
        <p:spPr>
          <a:xfrm>
            <a:off x="1268400" y="1163138"/>
            <a:ext cx="6670500" cy="7851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Overall Scope</a:t>
            </a:r>
            <a:r>
              <a:rPr b="1" lang="en">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NFL View's primary emphasis is player health and safety. Their concentration encompasses player-related elements such as player speed, impact force and injury prevention.</a:t>
            </a:r>
            <a:endParaRPr b="1">
              <a:solidFill>
                <a:srgbClr val="000099"/>
              </a:solidFill>
              <a:latin typeface="Montserrat"/>
              <a:ea typeface="Montserrat"/>
              <a:cs typeface="Montserrat"/>
              <a:sym typeface="Montserrat"/>
            </a:endParaRPr>
          </a:p>
        </p:txBody>
      </p:sp>
      <p:sp>
        <p:nvSpPr>
          <p:cNvPr id="449" name="Google Shape;449;p31"/>
          <p:cNvSpPr txBox="1"/>
          <p:nvPr>
            <p:ph idx="4294967295" type="title"/>
          </p:nvPr>
        </p:nvSpPr>
        <p:spPr>
          <a:xfrm>
            <a:off x="693900" y="327700"/>
            <a:ext cx="6178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EF4138"/>
              </a:buClr>
              <a:buSzPts val="1400"/>
              <a:buFont typeface="Montserrat"/>
              <a:buNone/>
            </a:pPr>
            <a:r>
              <a:rPr b="1" lang="en" sz="3300">
                <a:solidFill>
                  <a:srgbClr val="EF4138"/>
                </a:solidFill>
              </a:rPr>
              <a:t>NFL View</a:t>
            </a:r>
            <a:endParaRPr b="1" sz="3300">
              <a:solidFill>
                <a:srgbClr val="EF4138"/>
              </a:solidFill>
              <a:latin typeface="Montserrat"/>
              <a:ea typeface="Montserrat"/>
              <a:cs typeface="Montserrat"/>
              <a:sym typeface="Montserrat"/>
            </a:endParaRPr>
          </a:p>
        </p:txBody>
      </p:sp>
      <p:pic>
        <p:nvPicPr>
          <p:cNvPr id="450" name="Google Shape;450;p31"/>
          <p:cNvPicPr preferRelativeResize="0"/>
          <p:nvPr/>
        </p:nvPicPr>
        <p:blipFill>
          <a:blip r:embed="rId3">
            <a:alphaModFix/>
          </a:blip>
          <a:stretch>
            <a:fillRect/>
          </a:stretch>
        </p:blipFill>
        <p:spPr>
          <a:xfrm>
            <a:off x="865225" y="1185014"/>
            <a:ext cx="392750" cy="392750"/>
          </a:xfrm>
          <a:prstGeom prst="rect">
            <a:avLst/>
          </a:prstGeom>
          <a:noFill/>
          <a:ln>
            <a:noFill/>
          </a:ln>
        </p:spPr>
      </p:pic>
      <p:sp>
        <p:nvSpPr>
          <p:cNvPr id="451" name="Google Shape;451;p31"/>
          <p:cNvSpPr txBox="1"/>
          <p:nvPr/>
        </p:nvSpPr>
        <p:spPr>
          <a:xfrm>
            <a:off x="865225" y="2344275"/>
            <a:ext cx="7890900" cy="266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000099"/>
                </a:solidFill>
                <a:latin typeface="Montserrat"/>
                <a:ea typeface="Montserrat"/>
                <a:cs typeface="Montserrat"/>
                <a:sym typeface="Montserrat"/>
              </a:rPr>
              <a:t>Strategic Alignment</a:t>
            </a:r>
            <a:endParaRPr>
              <a:solidFill>
                <a:schemeClr val="dk1"/>
              </a:solidFill>
              <a:latin typeface="Montserrat"/>
              <a:ea typeface="Montserrat"/>
              <a:cs typeface="Montserrat"/>
              <a:sym typeface="Montserrat"/>
            </a:endParaRPr>
          </a:p>
          <a:p>
            <a:pPr indent="0" lvl="0" marL="0" rtl="0" algn="l">
              <a:spcBef>
                <a:spcPts val="0"/>
              </a:spcBef>
              <a:spcAft>
                <a:spcPts val="0"/>
              </a:spcAft>
              <a:buNone/>
            </a:pPr>
            <a:r>
              <a:rPr b="1" lang="en" sz="2200">
                <a:solidFill>
                  <a:srgbClr val="EF4138"/>
                </a:solidFill>
                <a:latin typeface="Montserrat"/>
                <a:ea typeface="Montserrat"/>
                <a:cs typeface="Montserrat"/>
                <a:sym typeface="Montserrat"/>
              </a:rPr>
              <a:t>→</a:t>
            </a:r>
            <a:r>
              <a:rPr lang="en">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New Technology	</a:t>
            </a:r>
            <a:r>
              <a:rPr b="1" lang="en" sz="2200">
                <a:solidFill>
                  <a:srgbClr val="EF4138"/>
                </a:solidFill>
                <a:latin typeface="Montserrat"/>
                <a:ea typeface="Montserrat"/>
                <a:cs typeface="Montserrat"/>
                <a:sym typeface="Montserrat"/>
              </a:rPr>
              <a:t>→</a:t>
            </a:r>
            <a:r>
              <a:rPr lang="en">
                <a:solidFill>
                  <a:schemeClr val="dk1"/>
                </a:solidFill>
                <a:latin typeface="Montserrat"/>
                <a:ea typeface="Montserrat"/>
                <a:cs typeface="Montserrat"/>
                <a:sym typeface="Montserrat"/>
              </a:rPr>
              <a:t>	</a:t>
            </a:r>
            <a:r>
              <a:rPr lang="en">
                <a:solidFill>
                  <a:schemeClr val="dk1"/>
                </a:solidFill>
                <a:latin typeface="Montserrat"/>
                <a:ea typeface="Montserrat"/>
                <a:cs typeface="Montserrat"/>
                <a:sym typeface="Montserrat"/>
              </a:rPr>
              <a:t>Non-Game Media	</a:t>
            </a:r>
            <a:r>
              <a:rPr b="1" lang="en" sz="2200">
                <a:solidFill>
                  <a:srgbClr val="EF4138"/>
                </a:solidFill>
                <a:latin typeface="Montserrat"/>
                <a:ea typeface="Montserrat"/>
                <a:cs typeface="Montserrat"/>
                <a:sym typeface="Montserrat"/>
              </a:rPr>
              <a:t>→</a:t>
            </a:r>
            <a:r>
              <a:rPr lang="en">
                <a:solidFill>
                  <a:schemeClr val="dk1"/>
                </a:solidFill>
                <a:latin typeface="Montserrat"/>
                <a:ea typeface="Montserrat"/>
                <a:cs typeface="Montserrat"/>
                <a:sym typeface="Montserrat"/>
              </a:rPr>
              <a:t>	International Expansion</a:t>
            </a:r>
            <a:endParaRPr>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lnSpc>
                <a:spcPct val="115000"/>
              </a:lnSpc>
              <a:spcBef>
                <a:spcPts val="0"/>
              </a:spcBef>
              <a:spcAft>
                <a:spcPts val="0"/>
              </a:spcAft>
              <a:buNone/>
            </a:pPr>
            <a:r>
              <a:rPr b="1" lang="en">
                <a:solidFill>
                  <a:srgbClr val="000099"/>
                </a:solidFill>
                <a:latin typeface="Montserrat"/>
                <a:ea typeface="Montserrat"/>
                <a:cs typeface="Montserrat"/>
                <a:sym typeface="Montserrat"/>
              </a:rPr>
              <a:t>POC already completed – June thru October​</a:t>
            </a:r>
            <a:endParaRPr sz="1800">
              <a:solidFill>
                <a:schemeClr val="dk1"/>
              </a:solidFill>
              <a:highlight>
                <a:srgbClr val="F5F5F5"/>
              </a:highlight>
              <a:latin typeface="Montserrat"/>
              <a:ea typeface="Montserrat"/>
              <a:cs typeface="Montserrat"/>
              <a:sym typeface="Montserrat"/>
            </a:endParaRPr>
          </a:p>
          <a:p>
            <a:pPr indent="0" lvl="0" marL="0" rtl="0" algn="l">
              <a:lnSpc>
                <a:spcPct val="115000"/>
              </a:lnSpc>
              <a:spcBef>
                <a:spcPts val="0"/>
              </a:spcBef>
              <a:spcAft>
                <a:spcPts val="0"/>
              </a:spcAft>
              <a:buNone/>
            </a:pPr>
            <a:r>
              <a:rPr lang="en">
                <a:solidFill>
                  <a:schemeClr val="dk1"/>
                </a:solidFill>
                <a:latin typeface="Montserrat"/>
                <a:ea typeface="Montserrat"/>
                <a:cs typeface="Montserrat"/>
                <a:sym typeface="Montserrat"/>
              </a:rPr>
              <a:t>100 hours of NFL content indexed, 10 taxonomies fine-tuned​</a:t>
            </a:r>
            <a:endParaRPr sz="1800">
              <a:solidFill>
                <a:schemeClr val="dk1"/>
              </a:solidFill>
              <a:highlight>
                <a:srgbClr val="F5F5F5"/>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800">
                <a:solidFill>
                  <a:schemeClr val="dk1"/>
                </a:solidFill>
                <a:highlight>
                  <a:srgbClr val="F5F5F5"/>
                </a:highlight>
                <a:latin typeface="Montserrat"/>
                <a:ea typeface="Montserrat"/>
                <a:cs typeface="Montserrat"/>
                <a:sym typeface="Montserrat"/>
              </a:rPr>
              <a:t>​</a:t>
            </a:r>
            <a:endParaRPr sz="1000">
              <a:solidFill>
                <a:schemeClr val="dk1"/>
              </a:solidFill>
              <a:highlight>
                <a:srgbClr val="F5F5F5"/>
              </a:highlight>
              <a:latin typeface="Montserrat"/>
              <a:ea typeface="Montserrat"/>
              <a:cs typeface="Montserrat"/>
              <a:sym typeface="Montserrat"/>
            </a:endParaRPr>
          </a:p>
          <a:p>
            <a:pPr indent="0" lvl="0" marL="0" rtl="0" algn="l">
              <a:lnSpc>
                <a:spcPct val="115000"/>
              </a:lnSpc>
              <a:spcBef>
                <a:spcPts val="0"/>
              </a:spcBef>
              <a:spcAft>
                <a:spcPts val="0"/>
              </a:spcAft>
              <a:buNone/>
            </a:pPr>
            <a:r>
              <a:rPr b="1" lang="en">
                <a:solidFill>
                  <a:srgbClr val="000099"/>
                </a:solidFill>
                <a:latin typeface="Montserrat"/>
                <a:ea typeface="Montserrat"/>
                <a:cs typeface="Montserrat"/>
                <a:sym typeface="Montserrat"/>
              </a:rPr>
              <a:t>Phase One Goals – April 2024​</a:t>
            </a:r>
            <a:endParaRPr sz="1800">
              <a:solidFill>
                <a:schemeClr val="dk1"/>
              </a:solidFill>
              <a:highlight>
                <a:srgbClr val="F5F5F5"/>
              </a:highlight>
              <a:latin typeface="Montserrat"/>
              <a:ea typeface="Montserrat"/>
              <a:cs typeface="Montserrat"/>
              <a:sym typeface="Montserrat"/>
            </a:endParaRPr>
          </a:p>
          <a:p>
            <a:pPr indent="-317500" lvl="0" marL="457200" rtl="0" algn="l">
              <a:lnSpc>
                <a:spcPct val="115000"/>
              </a:lnSpc>
              <a:spcBef>
                <a:spcPts val="0"/>
              </a:spcBef>
              <a:spcAft>
                <a:spcPts val="0"/>
              </a:spcAft>
              <a:buClr>
                <a:srgbClr val="EF4138"/>
              </a:buClr>
              <a:buSzPts val="1400"/>
              <a:buFont typeface="Montserrat"/>
              <a:buChar char="➔"/>
            </a:pPr>
            <a:r>
              <a:rPr lang="en">
                <a:solidFill>
                  <a:schemeClr val="dk1"/>
                </a:solidFill>
                <a:latin typeface="Montserrat"/>
                <a:ea typeface="Montserrat"/>
                <a:cs typeface="Montserrat"/>
                <a:sym typeface="Montserrat"/>
              </a:rPr>
              <a:t>Direct integration of TwelveLabs API with Vidispine MAM ​</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EF4138"/>
              </a:buClr>
              <a:buSzPts val="1400"/>
              <a:buFont typeface="Montserrat"/>
              <a:buChar char="➔"/>
            </a:pPr>
            <a:r>
              <a:rPr lang="en">
                <a:solidFill>
                  <a:schemeClr val="dk1"/>
                </a:solidFill>
                <a:latin typeface="Montserrat"/>
                <a:ea typeface="Montserrat"/>
                <a:cs typeface="Montserrat"/>
                <a:sym typeface="Montserrat"/>
              </a:rPr>
              <a:t>Build, test and refine integration and validate results​</a:t>
            </a:r>
            <a:endParaRPr>
              <a:solidFill>
                <a:schemeClr val="dk1"/>
              </a:solidFill>
              <a:latin typeface="Montserrat"/>
              <a:ea typeface="Montserrat"/>
              <a:cs typeface="Montserrat"/>
              <a:sym typeface="Montserrat"/>
            </a:endParaRPr>
          </a:p>
          <a:p>
            <a:pPr indent="-317500" lvl="0" marL="457200" rtl="0" algn="l">
              <a:lnSpc>
                <a:spcPct val="115000"/>
              </a:lnSpc>
              <a:spcBef>
                <a:spcPts val="0"/>
              </a:spcBef>
              <a:spcAft>
                <a:spcPts val="0"/>
              </a:spcAft>
              <a:buClr>
                <a:srgbClr val="EF4138"/>
              </a:buClr>
              <a:buSzPts val="1400"/>
              <a:buFont typeface="Montserrat"/>
              <a:buChar char="➔"/>
            </a:pPr>
            <a:r>
              <a:rPr lang="en">
                <a:solidFill>
                  <a:schemeClr val="dk1"/>
                </a:solidFill>
                <a:latin typeface="Montserrat"/>
                <a:ea typeface="Montserrat"/>
                <a:cs typeface="Montserrat"/>
                <a:sym typeface="Montserrat"/>
              </a:rPr>
              <a:t>Identify and engage power users to test and provide feedback​</a:t>
            </a:r>
            <a:endParaRPr>
              <a:solidFill>
                <a:schemeClr val="dk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2"/>
          <p:cNvSpPr txBox="1"/>
          <p:nvPr>
            <p:ph idx="1" type="body"/>
          </p:nvPr>
        </p:nvSpPr>
        <p:spPr>
          <a:xfrm>
            <a:off x="383136" y="752475"/>
            <a:ext cx="1316700" cy="1195500"/>
          </a:xfrm>
          <a:prstGeom prst="rect">
            <a:avLst/>
          </a:prstGeom>
          <a:solidFill>
            <a:srgbClr val="FFFFFF"/>
          </a:solidFill>
          <a:ln>
            <a:noFill/>
          </a:ln>
        </p:spPr>
        <p:txBody>
          <a:bodyPr anchorCtr="0" anchor="ctr" bIns="34275" lIns="68575" spcFirstLastPara="1" rIns="68575" wrap="square" tIns="34275">
            <a:noAutofit/>
          </a:bodyPr>
          <a:lstStyle/>
          <a:p>
            <a:pPr indent="-133350" lvl="0" marL="127000" rtl="0" algn="l">
              <a:spcBef>
                <a:spcPts val="0"/>
              </a:spcBef>
              <a:spcAft>
                <a:spcPts val="0"/>
              </a:spcAft>
              <a:buClr>
                <a:schemeClr val="dk2"/>
              </a:buClr>
              <a:buSzPts val="700"/>
              <a:buFont typeface="Arial"/>
              <a:buChar char="•"/>
            </a:pPr>
            <a:r>
              <a:rPr lang="en">
                <a:solidFill>
                  <a:schemeClr val="dk2"/>
                </a:solidFill>
              </a:rPr>
              <a:t>Current media search process is inefficient and time consuming</a:t>
            </a:r>
            <a:endParaRPr/>
          </a:p>
          <a:p>
            <a:pPr indent="-133350" lvl="0" marL="127000" rtl="0" algn="l">
              <a:spcBef>
                <a:spcPts val="100"/>
              </a:spcBef>
              <a:spcAft>
                <a:spcPts val="0"/>
              </a:spcAft>
              <a:buClr>
                <a:schemeClr val="dk2"/>
              </a:buClr>
              <a:buSzPts val="700"/>
              <a:buFont typeface="Arial"/>
              <a:buChar char="•"/>
            </a:pPr>
            <a:r>
              <a:rPr lang="en">
                <a:solidFill>
                  <a:schemeClr val="dk2"/>
                </a:solidFill>
              </a:rPr>
              <a:t>Most content is not logged, buried deep in the archive, and impossible to find.</a:t>
            </a:r>
            <a:endParaRPr/>
          </a:p>
          <a:p>
            <a:pPr indent="-133350" lvl="0" marL="127000" rtl="0" algn="l">
              <a:spcBef>
                <a:spcPts val="100"/>
              </a:spcBef>
              <a:spcAft>
                <a:spcPts val="0"/>
              </a:spcAft>
              <a:buClr>
                <a:schemeClr val="dk2"/>
              </a:buClr>
              <a:buSzPts val="700"/>
              <a:buFont typeface="Arial"/>
              <a:buChar char="•"/>
            </a:pPr>
            <a:r>
              <a:rPr lang="en">
                <a:solidFill>
                  <a:schemeClr val="dk2"/>
                </a:solidFill>
              </a:rPr>
              <a:t>Human logging process is antiquated, costly and error prone ($25K / year)</a:t>
            </a:r>
            <a:endParaRPr>
              <a:solidFill>
                <a:schemeClr val="dk2"/>
              </a:solidFill>
              <a:latin typeface="Arial"/>
              <a:ea typeface="Arial"/>
              <a:cs typeface="Arial"/>
              <a:sym typeface="Arial"/>
            </a:endParaRPr>
          </a:p>
        </p:txBody>
      </p:sp>
      <p:sp>
        <p:nvSpPr>
          <p:cNvPr id="457" name="Google Shape;457;p32"/>
          <p:cNvSpPr txBox="1"/>
          <p:nvPr>
            <p:ph idx="2" type="body"/>
          </p:nvPr>
        </p:nvSpPr>
        <p:spPr>
          <a:xfrm>
            <a:off x="2047125" y="798425"/>
            <a:ext cx="1513200" cy="1147800"/>
          </a:xfrm>
          <a:prstGeom prst="rect">
            <a:avLst/>
          </a:prstGeom>
          <a:solidFill>
            <a:srgbClr val="FFFFFF"/>
          </a:solidFill>
          <a:ln>
            <a:noFill/>
          </a:ln>
        </p:spPr>
        <p:txBody>
          <a:bodyPr anchorCtr="0" anchor="ctr" bIns="34275" lIns="68575" spcFirstLastPara="1" rIns="68575" wrap="square" tIns="34275">
            <a:noAutofit/>
          </a:bodyPr>
          <a:lstStyle/>
          <a:p>
            <a:pPr indent="0" lvl="0" marL="0" rtl="0" algn="ctr">
              <a:spcBef>
                <a:spcPts val="0"/>
              </a:spcBef>
              <a:spcAft>
                <a:spcPts val="0"/>
              </a:spcAft>
              <a:buClr>
                <a:schemeClr val="dk1"/>
              </a:buClr>
              <a:buSzPts val="700"/>
              <a:buNone/>
            </a:pPr>
            <a:r>
              <a:rPr b="1" i="1" lang="en" sz="800">
                <a:solidFill>
                  <a:schemeClr val="dk2"/>
                </a:solidFill>
              </a:rPr>
              <a:t>Develop an automated solution leveraging Multi-Modal AI via the TwelveLabs API to allow Natural Language search across our content library at a scale</a:t>
            </a:r>
            <a:r>
              <a:rPr b="1" i="1" lang="en" sz="800">
                <a:solidFill>
                  <a:schemeClr val="dk2"/>
                </a:solidFill>
                <a:highlight>
                  <a:srgbClr val="F5F5F5"/>
                </a:highlight>
              </a:rPr>
              <a:t>.</a:t>
            </a:r>
            <a:endParaRPr b="1" i="1" sz="800">
              <a:solidFill>
                <a:schemeClr val="dk2"/>
              </a:solidFill>
            </a:endParaRPr>
          </a:p>
        </p:txBody>
      </p:sp>
      <p:sp>
        <p:nvSpPr>
          <p:cNvPr id="458" name="Google Shape;458;p32"/>
          <p:cNvSpPr txBox="1"/>
          <p:nvPr>
            <p:ph idx="3" type="body"/>
          </p:nvPr>
        </p:nvSpPr>
        <p:spPr>
          <a:xfrm>
            <a:off x="3907631" y="800100"/>
            <a:ext cx="13155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rPr>
              <a:t>Develop a natural language (AI/ML) search tool for media assets within the NFL to unlocking previously unavailable content</a:t>
            </a:r>
            <a:endParaRPr>
              <a:solidFill>
                <a:srgbClr val="222222"/>
              </a:solidFill>
              <a:latin typeface="Arial"/>
              <a:ea typeface="Arial"/>
              <a:cs typeface="Arial"/>
              <a:sym typeface="Arial"/>
            </a:endParaRPr>
          </a:p>
          <a:p>
            <a:pPr indent="-133350" lvl="0" marL="127000" rtl="0" algn="l">
              <a:spcBef>
                <a:spcPts val="100"/>
              </a:spcBef>
              <a:spcAft>
                <a:spcPts val="0"/>
              </a:spcAft>
              <a:buClr>
                <a:srgbClr val="222222"/>
              </a:buClr>
              <a:buSzPts val="700"/>
              <a:buFont typeface="Arial"/>
              <a:buChar char="•"/>
            </a:pPr>
            <a:r>
              <a:rPr lang="en">
                <a:solidFill>
                  <a:srgbClr val="222222"/>
                </a:solidFill>
              </a:rPr>
              <a:t>Train model for a customized taxonomy for exclusive use by the NFL</a:t>
            </a:r>
            <a:endParaRPr>
              <a:solidFill>
                <a:srgbClr val="222222"/>
              </a:solidFill>
            </a:endParaRPr>
          </a:p>
        </p:txBody>
      </p:sp>
      <p:sp>
        <p:nvSpPr>
          <p:cNvPr id="459" name="Google Shape;459;p32"/>
          <p:cNvSpPr txBox="1"/>
          <p:nvPr>
            <p:ph idx="4" type="body"/>
          </p:nvPr>
        </p:nvSpPr>
        <p:spPr>
          <a:xfrm>
            <a:off x="5498584" y="799595"/>
            <a:ext cx="13560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rPr>
              <a:t>Faster search efficiency</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Improved discovery of our media archive, uncovering assets previously buried in the archive</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Quick adoption, as it utilizes UI  tools already in use</a:t>
            </a:r>
            <a:endParaRPr>
              <a:solidFill>
                <a:srgbClr val="222222"/>
              </a:solidFill>
            </a:endParaRPr>
          </a:p>
        </p:txBody>
      </p:sp>
      <p:sp>
        <p:nvSpPr>
          <p:cNvPr id="460" name="Google Shape;460;p32"/>
          <p:cNvSpPr txBox="1"/>
          <p:nvPr>
            <p:ph idx="5" type="body"/>
          </p:nvPr>
        </p:nvSpPr>
        <p:spPr>
          <a:xfrm>
            <a:off x="7258702" y="823081"/>
            <a:ext cx="13155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latin typeface="Arial"/>
                <a:ea typeface="Arial"/>
                <a:cs typeface="Arial"/>
                <a:sym typeface="Arial"/>
              </a:rPr>
              <a:t>Internal Content Creators</a:t>
            </a:r>
            <a:endParaRPr>
              <a:solidFill>
                <a:srgbClr val="222222"/>
              </a:solidFill>
              <a:latin typeface="Arial"/>
              <a:ea typeface="Arial"/>
              <a:cs typeface="Arial"/>
              <a:sym typeface="Arial"/>
            </a:endParaRPr>
          </a:p>
          <a:p>
            <a:pPr indent="-133350" lvl="0" marL="127000" rtl="0" algn="l">
              <a:spcBef>
                <a:spcPts val="100"/>
              </a:spcBef>
              <a:spcAft>
                <a:spcPts val="0"/>
              </a:spcAft>
              <a:buClr>
                <a:srgbClr val="222222"/>
              </a:buClr>
              <a:buSzPts val="700"/>
              <a:buFont typeface="Arial"/>
              <a:buChar char="•"/>
            </a:pPr>
            <a:r>
              <a:rPr lang="en">
                <a:solidFill>
                  <a:srgbClr val="222222"/>
                </a:solidFill>
                <a:latin typeface="Arial"/>
                <a:ea typeface="Arial"/>
                <a:cs typeface="Arial"/>
                <a:sym typeface="Arial"/>
              </a:rPr>
              <a:t>NFL Media Producers</a:t>
            </a:r>
            <a:endParaRPr>
              <a:solidFill>
                <a:srgbClr val="222222"/>
              </a:solidFill>
              <a:latin typeface="Arial"/>
              <a:ea typeface="Arial"/>
              <a:cs typeface="Arial"/>
              <a:sym typeface="Arial"/>
            </a:endParaRPr>
          </a:p>
          <a:p>
            <a:pPr indent="-133350" lvl="0" marL="127000" rtl="0" algn="l">
              <a:spcBef>
                <a:spcPts val="100"/>
              </a:spcBef>
              <a:spcAft>
                <a:spcPts val="0"/>
              </a:spcAft>
              <a:buClr>
                <a:srgbClr val="222222"/>
              </a:buClr>
              <a:buSzPts val="700"/>
              <a:buChar char="•"/>
            </a:pPr>
            <a:r>
              <a:rPr lang="en">
                <a:solidFill>
                  <a:srgbClr val="222222"/>
                </a:solidFill>
              </a:rPr>
              <a:t>Complience</a:t>
            </a:r>
            <a:endParaRPr>
              <a:solidFill>
                <a:srgbClr val="222222"/>
              </a:solidFill>
            </a:endParaRPr>
          </a:p>
          <a:p>
            <a:pPr indent="-88900" lvl="0" marL="127000" rtl="0" algn="l">
              <a:spcBef>
                <a:spcPts val="100"/>
              </a:spcBef>
              <a:spcAft>
                <a:spcPts val="0"/>
              </a:spcAft>
              <a:buClr>
                <a:schemeClr val="dk1"/>
              </a:buClr>
              <a:buSzPts val="700"/>
              <a:buFont typeface="Arial"/>
              <a:buNone/>
            </a:pPr>
            <a:r>
              <a:t/>
            </a:r>
            <a:endParaRPr>
              <a:solidFill>
                <a:srgbClr val="222222"/>
              </a:solidFill>
              <a:latin typeface="Arial"/>
              <a:ea typeface="Arial"/>
              <a:cs typeface="Arial"/>
              <a:sym typeface="Arial"/>
            </a:endParaRPr>
          </a:p>
        </p:txBody>
      </p:sp>
      <p:sp>
        <p:nvSpPr>
          <p:cNvPr id="461" name="Google Shape;461;p32"/>
          <p:cNvSpPr txBox="1"/>
          <p:nvPr>
            <p:ph idx="6" type="body"/>
          </p:nvPr>
        </p:nvSpPr>
        <p:spPr>
          <a:xfrm>
            <a:off x="389090" y="2224088"/>
            <a:ext cx="13155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rPr>
              <a:t>M</a:t>
            </a:r>
            <a:r>
              <a:rPr lang="en">
                <a:solidFill>
                  <a:srgbClr val="222222"/>
                </a:solidFill>
                <a:latin typeface="Arial"/>
                <a:ea typeface="Arial"/>
                <a:cs typeface="Arial"/>
                <a:sym typeface="Arial"/>
              </a:rPr>
              <a:t>anual asset tagging</a:t>
            </a:r>
            <a:endParaRPr/>
          </a:p>
          <a:p>
            <a:pPr indent="-133350" lvl="0" marL="127000" rtl="0" algn="l">
              <a:spcBef>
                <a:spcPts val="100"/>
              </a:spcBef>
              <a:spcAft>
                <a:spcPts val="0"/>
              </a:spcAft>
              <a:buClr>
                <a:srgbClr val="222222"/>
              </a:buClr>
              <a:buSzPts val="700"/>
              <a:buFont typeface="Arial"/>
              <a:buChar char="•"/>
            </a:pPr>
            <a:r>
              <a:rPr lang="en">
                <a:solidFill>
                  <a:srgbClr val="222222"/>
                </a:solidFill>
                <a:latin typeface="Arial"/>
                <a:ea typeface="Arial"/>
                <a:cs typeface="Arial"/>
                <a:sym typeface="Arial"/>
              </a:rPr>
              <a:t>Not logging content </a:t>
            </a:r>
            <a:r>
              <a:rPr lang="en">
                <a:solidFill>
                  <a:srgbClr val="222222"/>
                </a:solidFill>
              </a:rPr>
              <a:t>at all</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Traditional AI methods</a:t>
            </a:r>
            <a:endParaRPr/>
          </a:p>
        </p:txBody>
      </p:sp>
      <p:sp>
        <p:nvSpPr>
          <p:cNvPr id="462" name="Google Shape;462;p32"/>
          <p:cNvSpPr txBox="1"/>
          <p:nvPr>
            <p:ph idx="7" type="body"/>
          </p:nvPr>
        </p:nvSpPr>
        <p:spPr>
          <a:xfrm>
            <a:off x="2097979" y="2224088"/>
            <a:ext cx="13155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rPr>
              <a:t>Accuracy of search results</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Search time reduced from minutes/hours to seconds</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Is the indexing pipeline sustainable?</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Faster u</a:t>
            </a:r>
            <a:r>
              <a:rPr lang="en">
                <a:solidFill>
                  <a:srgbClr val="222222"/>
                </a:solidFill>
                <a:latin typeface="Arial"/>
                <a:ea typeface="Arial"/>
                <a:cs typeface="Arial"/>
                <a:sym typeface="Arial"/>
              </a:rPr>
              <a:t>ser adoption </a:t>
            </a:r>
            <a:endParaRPr/>
          </a:p>
        </p:txBody>
      </p:sp>
      <p:sp>
        <p:nvSpPr>
          <p:cNvPr id="463" name="Google Shape;463;p32"/>
          <p:cNvSpPr txBox="1"/>
          <p:nvPr>
            <p:ph idx="8" type="body"/>
          </p:nvPr>
        </p:nvSpPr>
        <p:spPr>
          <a:xfrm>
            <a:off x="3806850" y="2170475"/>
            <a:ext cx="1513200" cy="10860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rPr>
              <a:t>TwelveLabs multi-modal AI extracts multiple features from video such as time, objects, text in video, conversation, faces, and actions, synthesizing this information into vectors.</a:t>
            </a:r>
            <a:endParaRPr>
              <a:solidFill>
                <a:srgbClr val="222222"/>
              </a:solidFill>
            </a:endParaRPr>
          </a:p>
          <a:p>
            <a:pPr indent="-133350" lvl="0" marL="127000" rtl="0" algn="l">
              <a:spcBef>
                <a:spcPts val="0"/>
              </a:spcBef>
              <a:spcAft>
                <a:spcPts val="0"/>
              </a:spcAft>
              <a:buClr>
                <a:srgbClr val="222222"/>
              </a:buClr>
              <a:buSzPts val="700"/>
              <a:buChar char="•"/>
            </a:pPr>
            <a:r>
              <a:rPr lang="en">
                <a:solidFill>
                  <a:srgbClr val="222222"/>
                </a:solidFill>
              </a:rPr>
              <a:t>Vectors enable fast, semantic and scalable search using nat</a:t>
            </a:r>
            <a:r>
              <a:rPr lang="en">
                <a:solidFill>
                  <a:srgbClr val="222222"/>
                </a:solidFill>
              </a:rPr>
              <a:t>ural language</a:t>
            </a:r>
            <a:r>
              <a:rPr lang="en" sz="900">
                <a:solidFill>
                  <a:schemeClr val="dk2"/>
                </a:solidFill>
                <a:highlight>
                  <a:srgbClr val="F5F5F5"/>
                </a:highlight>
              </a:rPr>
              <a:t>.</a:t>
            </a:r>
            <a:endParaRPr>
              <a:solidFill>
                <a:srgbClr val="222222"/>
              </a:solidFill>
            </a:endParaRPr>
          </a:p>
        </p:txBody>
      </p:sp>
      <p:sp>
        <p:nvSpPr>
          <p:cNvPr id="464" name="Google Shape;464;p32"/>
          <p:cNvSpPr txBox="1"/>
          <p:nvPr>
            <p:ph idx="9" type="body"/>
          </p:nvPr>
        </p:nvSpPr>
        <p:spPr>
          <a:xfrm>
            <a:off x="5555767" y="2231916"/>
            <a:ext cx="13560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rgbClr val="222222"/>
              </a:buClr>
              <a:buSzPts val="700"/>
              <a:buFont typeface="Arial"/>
              <a:buChar char="•"/>
            </a:pPr>
            <a:r>
              <a:rPr lang="en">
                <a:solidFill>
                  <a:srgbClr val="222222"/>
                </a:solidFill>
              </a:rPr>
              <a:t>Direct integration into the NFL's existing MAM system</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Develop indexing and search pipeline</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Fine-Tune NFL Taxonomies</a:t>
            </a:r>
            <a:endParaRPr/>
          </a:p>
          <a:p>
            <a:pPr indent="-133350" lvl="0" marL="127000" rtl="0" algn="l">
              <a:spcBef>
                <a:spcPts val="100"/>
              </a:spcBef>
              <a:spcAft>
                <a:spcPts val="0"/>
              </a:spcAft>
              <a:buClr>
                <a:srgbClr val="222222"/>
              </a:buClr>
              <a:buSzPts val="700"/>
              <a:buFont typeface="Arial"/>
              <a:buChar char="•"/>
            </a:pPr>
            <a:r>
              <a:rPr lang="en">
                <a:solidFill>
                  <a:srgbClr val="222222"/>
                </a:solidFill>
              </a:rPr>
              <a:t>Deployment and testing during 2023 Playoffs to determine capabilities and benefits</a:t>
            </a:r>
            <a:endParaRPr/>
          </a:p>
          <a:p>
            <a:pPr indent="0" lvl="0" marL="0" rtl="0" algn="l">
              <a:spcBef>
                <a:spcPts val="100"/>
              </a:spcBef>
              <a:spcAft>
                <a:spcPts val="0"/>
              </a:spcAft>
              <a:buClr>
                <a:schemeClr val="dk1"/>
              </a:buClr>
              <a:buSzPts val="700"/>
              <a:buNone/>
            </a:pPr>
            <a:r>
              <a:t/>
            </a:r>
            <a:endParaRPr>
              <a:solidFill>
                <a:srgbClr val="222222"/>
              </a:solidFill>
              <a:latin typeface="Arial"/>
              <a:ea typeface="Arial"/>
              <a:cs typeface="Arial"/>
              <a:sym typeface="Arial"/>
            </a:endParaRPr>
          </a:p>
        </p:txBody>
      </p:sp>
      <p:sp>
        <p:nvSpPr>
          <p:cNvPr id="465" name="Google Shape;465;p32"/>
          <p:cNvSpPr txBox="1"/>
          <p:nvPr>
            <p:ph idx="13" type="body"/>
          </p:nvPr>
        </p:nvSpPr>
        <p:spPr>
          <a:xfrm>
            <a:off x="7336990" y="2224088"/>
            <a:ext cx="1315500" cy="11478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chemeClr val="dk1"/>
              </a:buClr>
              <a:buSzPts val="700"/>
              <a:buFont typeface="Arial"/>
              <a:buChar char="•"/>
            </a:pPr>
            <a:r>
              <a:rPr lang="en"/>
              <a:t>NFL Media Teams  (L.A., NJ, NY)</a:t>
            </a:r>
            <a:endParaRPr/>
          </a:p>
          <a:p>
            <a:pPr indent="-133350" lvl="0" marL="127000" rtl="0" algn="l">
              <a:spcBef>
                <a:spcPts val="100"/>
              </a:spcBef>
              <a:spcAft>
                <a:spcPts val="0"/>
              </a:spcAft>
              <a:buClr>
                <a:schemeClr val="dk1"/>
              </a:buClr>
              <a:buSzPts val="700"/>
              <a:buFont typeface="Arial"/>
              <a:buChar char="•"/>
            </a:pPr>
            <a:r>
              <a:rPr lang="en"/>
              <a:t>NFL Game Operations</a:t>
            </a:r>
            <a:endParaRPr/>
          </a:p>
          <a:p>
            <a:pPr indent="-88900" lvl="0" marL="127000" rtl="0" algn="l">
              <a:spcBef>
                <a:spcPts val="100"/>
              </a:spcBef>
              <a:spcAft>
                <a:spcPts val="0"/>
              </a:spcAft>
              <a:buClr>
                <a:schemeClr val="dk1"/>
              </a:buClr>
              <a:buSzPts val="700"/>
              <a:buFont typeface="Arial"/>
              <a:buNone/>
            </a:pPr>
            <a:r>
              <a:t/>
            </a:r>
            <a:endParaRPr>
              <a:latin typeface="Arial"/>
              <a:ea typeface="Arial"/>
              <a:cs typeface="Arial"/>
              <a:sym typeface="Arial"/>
            </a:endParaRPr>
          </a:p>
        </p:txBody>
      </p:sp>
      <p:sp>
        <p:nvSpPr>
          <p:cNvPr id="466" name="Google Shape;466;p32"/>
          <p:cNvSpPr txBox="1"/>
          <p:nvPr>
            <p:ph idx="14" type="body"/>
          </p:nvPr>
        </p:nvSpPr>
        <p:spPr>
          <a:xfrm>
            <a:off x="345690" y="3649771"/>
            <a:ext cx="3420600" cy="1086000"/>
          </a:xfrm>
          <a:prstGeom prst="rect">
            <a:avLst/>
          </a:prstGeom>
          <a:solidFill>
            <a:srgbClr val="FFFFFF"/>
          </a:solid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700"/>
              <a:buNone/>
            </a:pPr>
            <a:r>
              <a:rPr lang="en">
                <a:latin typeface="Arial"/>
                <a:ea typeface="Arial"/>
                <a:cs typeface="Arial"/>
                <a:sym typeface="Arial"/>
              </a:rPr>
              <a:t>Integration, development, testing, and initial deployment:</a:t>
            </a:r>
            <a:endParaRPr/>
          </a:p>
          <a:p>
            <a:pPr indent="-133350" lvl="0" marL="127000" rtl="0" algn="l">
              <a:spcBef>
                <a:spcPts val="100"/>
              </a:spcBef>
              <a:spcAft>
                <a:spcPts val="0"/>
              </a:spcAft>
              <a:buClr>
                <a:schemeClr val="dk1"/>
              </a:buClr>
              <a:buSzPts val="700"/>
              <a:buFont typeface="Arial"/>
              <a:buChar char="•"/>
            </a:pPr>
            <a:r>
              <a:rPr lang="en">
                <a:latin typeface="Arial"/>
                <a:ea typeface="Arial"/>
                <a:cs typeface="Arial"/>
                <a:sym typeface="Arial"/>
              </a:rPr>
              <a:t>ARVATO SYSTEMS NORTH AMERICA $15,000</a:t>
            </a:r>
            <a:endParaRPr/>
          </a:p>
          <a:p>
            <a:pPr indent="-133350" lvl="0" marL="127000" rtl="0" algn="l">
              <a:spcBef>
                <a:spcPts val="100"/>
              </a:spcBef>
              <a:spcAft>
                <a:spcPts val="0"/>
              </a:spcAft>
              <a:buClr>
                <a:schemeClr val="dk1"/>
              </a:buClr>
              <a:buSzPts val="700"/>
              <a:buFont typeface="Arial"/>
              <a:buChar char="•"/>
            </a:pPr>
            <a:r>
              <a:rPr lang="en">
                <a:latin typeface="Arial"/>
                <a:ea typeface="Arial"/>
                <a:cs typeface="Arial"/>
                <a:sym typeface="Arial"/>
              </a:rPr>
              <a:t>TwelveLabs $36,300</a:t>
            </a:r>
            <a:endParaRPr/>
          </a:p>
          <a:p>
            <a:pPr indent="0" lvl="0" marL="0" rtl="0" algn="l">
              <a:spcBef>
                <a:spcPts val="100"/>
              </a:spcBef>
              <a:spcAft>
                <a:spcPts val="0"/>
              </a:spcAft>
              <a:buClr>
                <a:schemeClr val="dk1"/>
              </a:buClr>
              <a:buSzPts val="700"/>
              <a:buNone/>
            </a:pPr>
            <a:r>
              <a:t/>
            </a:r>
            <a:endParaRPr>
              <a:latin typeface="Arial"/>
              <a:ea typeface="Arial"/>
              <a:cs typeface="Arial"/>
              <a:sym typeface="Arial"/>
            </a:endParaRPr>
          </a:p>
          <a:p>
            <a:pPr indent="0" lvl="0" marL="0" rtl="0" algn="l">
              <a:spcBef>
                <a:spcPts val="100"/>
              </a:spcBef>
              <a:spcAft>
                <a:spcPts val="0"/>
              </a:spcAft>
              <a:buClr>
                <a:schemeClr val="dk1"/>
              </a:buClr>
              <a:buSzPts val="700"/>
              <a:buNone/>
            </a:pPr>
            <a:r>
              <a:rPr b="1" lang="en"/>
              <a:t>Total: $51,300</a:t>
            </a:r>
            <a:endParaRPr b="1"/>
          </a:p>
          <a:p>
            <a:pPr indent="0" lvl="0" marL="0" rtl="0" algn="l">
              <a:spcBef>
                <a:spcPts val="100"/>
              </a:spcBef>
              <a:spcAft>
                <a:spcPts val="0"/>
              </a:spcAft>
              <a:buClr>
                <a:schemeClr val="dk1"/>
              </a:buClr>
              <a:buSzPts val="700"/>
              <a:buNone/>
            </a:pPr>
            <a:r>
              <a:t/>
            </a:r>
            <a:endParaRPr>
              <a:latin typeface="Arial"/>
              <a:ea typeface="Arial"/>
              <a:cs typeface="Arial"/>
              <a:sym typeface="Arial"/>
            </a:endParaRPr>
          </a:p>
        </p:txBody>
      </p:sp>
      <p:sp>
        <p:nvSpPr>
          <p:cNvPr id="467" name="Google Shape;467;p32"/>
          <p:cNvSpPr txBox="1"/>
          <p:nvPr>
            <p:ph idx="15" type="body"/>
          </p:nvPr>
        </p:nvSpPr>
        <p:spPr>
          <a:xfrm>
            <a:off x="4649391" y="3657600"/>
            <a:ext cx="3400500" cy="1086000"/>
          </a:xfrm>
          <a:prstGeom prst="rect">
            <a:avLst/>
          </a:prstGeom>
          <a:solidFill>
            <a:srgbClr val="FFFFFF"/>
          </a:solidFill>
          <a:ln>
            <a:noFill/>
          </a:ln>
        </p:spPr>
        <p:txBody>
          <a:bodyPr anchorCtr="0" anchor="t" bIns="34275" lIns="68575" spcFirstLastPara="1" rIns="68575" wrap="square" tIns="34275">
            <a:noAutofit/>
          </a:bodyPr>
          <a:lstStyle/>
          <a:p>
            <a:pPr indent="-133350" lvl="0" marL="127000" rtl="0" algn="l">
              <a:spcBef>
                <a:spcPts val="0"/>
              </a:spcBef>
              <a:spcAft>
                <a:spcPts val="0"/>
              </a:spcAft>
              <a:buClr>
                <a:schemeClr val="dk1"/>
              </a:buClr>
              <a:buSzPts val="700"/>
              <a:buFont typeface="Arial"/>
              <a:buChar char="•"/>
            </a:pPr>
            <a:r>
              <a:rPr lang="en">
                <a:latin typeface="Arial"/>
                <a:ea typeface="Arial"/>
                <a:cs typeface="Arial"/>
                <a:sym typeface="Arial"/>
              </a:rPr>
              <a:t>Cost savings from increased efficiency and accuracy.</a:t>
            </a:r>
            <a:endParaRPr/>
          </a:p>
          <a:p>
            <a:pPr indent="-133350" lvl="0" marL="127000" rtl="0" algn="l">
              <a:spcBef>
                <a:spcPts val="100"/>
              </a:spcBef>
              <a:spcAft>
                <a:spcPts val="0"/>
              </a:spcAft>
              <a:buClr>
                <a:schemeClr val="dk1"/>
              </a:buClr>
              <a:buSzPts val="700"/>
              <a:buFont typeface="Arial"/>
              <a:buChar char="•"/>
            </a:pPr>
            <a:r>
              <a:rPr lang="en">
                <a:latin typeface="Arial"/>
                <a:ea typeface="Arial"/>
                <a:cs typeface="Arial"/>
                <a:sym typeface="Arial"/>
              </a:rPr>
              <a:t>Exploration of Gen AI technology targeting potential applications within the NFL.</a:t>
            </a:r>
            <a:endParaRPr/>
          </a:p>
          <a:p>
            <a:pPr indent="-133350" lvl="0" marL="127000" rtl="0" algn="l">
              <a:spcBef>
                <a:spcPts val="100"/>
              </a:spcBef>
              <a:spcAft>
                <a:spcPts val="0"/>
              </a:spcAft>
              <a:buClr>
                <a:schemeClr val="dk1"/>
              </a:buClr>
              <a:buSzPts val="700"/>
              <a:buFont typeface="Arial"/>
              <a:buChar char="•"/>
            </a:pPr>
            <a:r>
              <a:rPr lang="en">
                <a:latin typeface="Arial"/>
                <a:ea typeface="Arial"/>
                <a:cs typeface="Arial"/>
                <a:sym typeface="Arial"/>
              </a:rPr>
              <a:t>Gaining leverage from existing investments in our media asset library utilizing emerging Gen AI technology.</a:t>
            </a:r>
            <a:endParaRPr>
              <a:latin typeface="Arial"/>
              <a:ea typeface="Arial"/>
              <a:cs typeface="Arial"/>
              <a:sym typeface="Arial"/>
            </a:endParaRPr>
          </a:p>
        </p:txBody>
      </p:sp>
      <p:sp>
        <p:nvSpPr>
          <p:cNvPr id="468" name="Google Shape;468;p32"/>
          <p:cNvSpPr txBox="1"/>
          <p:nvPr>
            <p:ph idx="16" type="body"/>
          </p:nvPr>
        </p:nvSpPr>
        <p:spPr>
          <a:xfrm>
            <a:off x="3657600" y="285750"/>
            <a:ext cx="1295400" cy="171600"/>
          </a:xfrm>
          <a:prstGeom prst="rect">
            <a:avLst/>
          </a:prstGeom>
          <a:solidFill>
            <a:srgbClr val="FFFFFF"/>
          </a:solid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700"/>
              <a:buNone/>
            </a:pPr>
            <a:r>
              <a:rPr lang="en">
                <a:latin typeface="Arial"/>
                <a:ea typeface="Arial"/>
                <a:cs typeface="Arial"/>
                <a:sym typeface="Arial"/>
              </a:rPr>
              <a:t>MutliModal AI</a:t>
            </a:r>
            <a:endParaRPr/>
          </a:p>
        </p:txBody>
      </p:sp>
      <p:sp>
        <p:nvSpPr>
          <p:cNvPr id="469" name="Google Shape;469;p32"/>
          <p:cNvSpPr txBox="1"/>
          <p:nvPr>
            <p:ph idx="17" type="body"/>
          </p:nvPr>
        </p:nvSpPr>
        <p:spPr>
          <a:xfrm>
            <a:off x="5120879" y="285750"/>
            <a:ext cx="1052400" cy="171600"/>
          </a:xfrm>
          <a:prstGeom prst="rect">
            <a:avLst/>
          </a:prstGeom>
          <a:solidFill>
            <a:srgbClr val="FFFFFF"/>
          </a:solid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700"/>
              <a:buNone/>
            </a:pPr>
            <a:r>
              <a:rPr lang="en">
                <a:latin typeface="Arial"/>
                <a:ea typeface="Arial"/>
                <a:cs typeface="Arial"/>
                <a:sym typeface="Arial"/>
              </a:rPr>
              <a:t>Meloni Boatswain</a:t>
            </a:r>
            <a:endParaRPr>
              <a:latin typeface="Arial"/>
              <a:ea typeface="Arial"/>
              <a:cs typeface="Arial"/>
              <a:sym typeface="Arial"/>
            </a:endParaRPr>
          </a:p>
        </p:txBody>
      </p:sp>
      <p:sp>
        <p:nvSpPr>
          <p:cNvPr id="470" name="Google Shape;470;p32"/>
          <p:cNvSpPr txBox="1"/>
          <p:nvPr>
            <p:ph idx="18" type="body"/>
          </p:nvPr>
        </p:nvSpPr>
        <p:spPr>
          <a:xfrm>
            <a:off x="7162800" y="285750"/>
            <a:ext cx="1066800" cy="171600"/>
          </a:xfrm>
          <a:prstGeom prst="rect">
            <a:avLst/>
          </a:prstGeom>
          <a:solidFill>
            <a:srgbClr val="FFFFFF"/>
          </a:solid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700"/>
              <a:buNone/>
            </a:pPr>
            <a:r>
              <a:rPr lang="en"/>
              <a:t>12/12/2023</a:t>
            </a:r>
            <a:endParaRPr>
              <a:latin typeface="Arial"/>
              <a:ea typeface="Arial"/>
              <a:cs typeface="Arial"/>
              <a:sym typeface="Arial"/>
            </a:endParaRPr>
          </a:p>
        </p:txBody>
      </p:sp>
      <p:sp>
        <p:nvSpPr>
          <p:cNvPr id="471" name="Google Shape;471;p32"/>
          <p:cNvSpPr txBox="1"/>
          <p:nvPr>
            <p:ph idx="19" type="body"/>
          </p:nvPr>
        </p:nvSpPr>
        <p:spPr>
          <a:xfrm>
            <a:off x="8534400" y="285750"/>
            <a:ext cx="381000" cy="171600"/>
          </a:xfrm>
          <a:prstGeom prst="rect">
            <a:avLst/>
          </a:prstGeom>
          <a:solidFill>
            <a:srgbClr val="FFFFFF"/>
          </a:solid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700"/>
              <a:buNone/>
            </a:pPr>
            <a:r>
              <a:rPr lang="en"/>
              <a:t>1.1</a:t>
            </a:r>
            <a:endParaRPr>
              <a:latin typeface="Arial"/>
              <a:ea typeface="Arial"/>
              <a:cs typeface="Arial"/>
              <a:sym typeface="Arial"/>
            </a:endParaRPr>
          </a:p>
        </p:txBody>
      </p:sp>
      <p:sp>
        <p:nvSpPr>
          <p:cNvPr id="472" name="Google Shape;472;p32"/>
          <p:cNvSpPr/>
          <p:nvPr/>
        </p:nvSpPr>
        <p:spPr>
          <a:xfrm>
            <a:off x="1042988" y="4843463"/>
            <a:ext cx="7058100" cy="150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lang="en" sz="500">
                <a:solidFill>
                  <a:srgbClr val="808080"/>
                </a:solidFill>
                <a:latin typeface="Arial"/>
                <a:ea typeface="Arial"/>
                <a:cs typeface="Arial"/>
                <a:sym typeface="Arial"/>
              </a:rPr>
              <a:t>Draft By: Meloni Boatswain – N-Ovate Solutions</a:t>
            </a:r>
            <a:endParaRPr sz="5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3"/>
          <p:cNvSpPr txBox="1"/>
          <p:nvPr>
            <p:ph idx="4294967295" type="title"/>
          </p:nvPr>
        </p:nvSpPr>
        <p:spPr>
          <a:xfrm>
            <a:off x="-197075" y="2285400"/>
            <a:ext cx="9402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EF4138"/>
              </a:buClr>
              <a:buSzPts val="1400"/>
              <a:buFont typeface="Montserrat"/>
              <a:buNone/>
            </a:pPr>
            <a:r>
              <a:rPr b="1" lang="en" sz="3300">
                <a:solidFill>
                  <a:srgbClr val="EF4138"/>
                </a:solidFill>
              </a:rPr>
              <a:t>Multimodal AI Video Pitch</a:t>
            </a:r>
            <a:endParaRPr b="1" sz="3300">
              <a:solidFill>
                <a:srgbClr val="EF4138"/>
              </a:solidFill>
            </a:endParaRPr>
          </a:p>
        </p:txBody>
      </p:sp>
      <p:sp>
        <p:nvSpPr>
          <p:cNvPr id="478" name="Google Shape;478;p33"/>
          <p:cNvSpPr txBox="1"/>
          <p:nvPr/>
        </p:nvSpPr>
        <p:spPr>
          <a:xfrm>
            <a:off x="941726" y="1143944"/>
            <a:ext cx="6716400" cy="5694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None/>
            </a:pPr>
            <a:r>
              <a:t/>
            </a:r>
            <a:endParaRPr i="0" sz="1400" strike="noStrike">
              <a:solidFill>
                <a:schemeClr val="dk1"/>
              </a:solidFill>
              <a:latin typeface="Montserrat"/>
              <a:ea typeface="Montserrat"/>
              <a:cs typeface="Montserrat"/>
              <a:sym typeface="Montserrat"/>
            </a:endParaRPr>
          </a:p>
          <a:p>
            <a:pPr indent="0" lvl="0" marL="0" marR="0" rtl="0" algn="l">
              <a:spcBef>
                <a:spcPts val="0"/>
              </a:spcBef>
              <a:spcAft>
                <a:spcPts val="0"/>
              </a:spcAft>
              <a:buNone/>
            </a:pPr>
            <a:r>
              <a:t/>
            </a:r>
            <a:endParaRPr b="0" i="0" sz="1400" u="none" strike="noStrike">
              <a:solidFill>
                <a:schemeClr val="dk1"/>
              </a:solidFill>
              <a:latin typeface="Montserrat"/>
              <a:ea typeface="Montserrat"/>
              <a:cs typeface="Montserrat"/>
              <a:sym typeface="Montserrat"/>
            </a:endParaRPr>
          </a:p>
        </p:txBody>
      </p:sp>
      <p:sp>
        <p:nvSpPr>
          <p:cNvPr id="479" name="Google Shape;479;p33"/>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4"/>
          <p:cNvSpPr txBox="1"/>
          <p:nvPr>
            <p:ph idx="4294967295" type="title"/>
          </p:nvPr>
        </p:nvSpPr>
        <p:spPr>
          <a:xfrm>
            <a:off x="-197075" y="2285400"/>
            <a:ext cx="9402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EF4138"/>
              </a:buClr>
              <a:buSzPts val="1400"/>
              <a:buFont typeface="Montserrat"/>
              <a:buNone/>
            </a:pPr>
            <a:r>
              <a:rPr b="1" lang="en" sz="3300">
                <a:solidFill>
                  <a:srgbClr val="EF4138"/>
                </a:solidFill>
              </a:rPr>
              <a:t>Pitch Feedback</a:t>
            </a:r>
            <a:endParaRPr b="1" sz="3300">
              <a:solidFill>
                <a:srgbClr val="EF4138"/>
              </a:solidFill>
              <a:latin typeface="Montserrat"/>
              <a:ea typeface="Montserrat"/>
              <a:cs typeface="Montserrat"/>
              <a:sym typeface="Montserrat"/>
            </a:endParaRPr>
          </a:p>
        </p:txBody>
      </p:sp>
      <p:sp>
        <p:nvSpPr>
          <p:cNvPr id="485" name="Google Shape;485;p34"/>
          <p:cNvSpPr txBox="1"/>
          <p:nvPr/>
        </p:nvSpPr>
        <p:spPr>
          <a:xfrm>
            <a:off x="941726" y="1143944"/>
            <a:ext cx="6716400" cy="569400"/>
          </a:xfrm>
          <a:prstGeom prst="rect">
            <a:avLst/>
          </a:prstGeom>
          <a:noFill/>
          <a:ln>
            <a:noFill/>
          </a:ln>
        </p:spPr>
        <p:txBody>
          <a:bodyPr anchorCtr="0" anchor="t" bIns="68575" lIns="68575" spcFirstLastPara="1" rIns="68575" wrap="square" tIns="68575">
            <a:spAutoFit/>
          </a:bodyPr>
          <a:lstStyle/>
          <a:p>
            <a:pPr indent="0" lvl="0" marL="0" marR="0" rtl="0" algn="l">
              <a:spcBef>
                <a:spcPts val="0"/>
              </a:spcBef>
              <a:spcAft>
                <a:spcPts val="0"/>
              </a:spcAft>
              <a:buNone/>
            </a:pPr>
            <a:r>
              <a:t/>
            </a:r>
            <a:endParaRPr i="0" sz="1400" strike="noStrike">
              <a:solidFill>
                <a:schemeClr val="dk1"/>
              </a:solidFill>
              <a:latin typeface="Montserrat"/>
              <a:ea typeface="Montserrat"/>
              <a:cs typeface="Montserrat"/>
              <a:sym typeface="Montserrat"/>
            </a:endParaRPr>
          </a:p>
          <a:p>
            <a:pPr indent="0" lvl="0" marL="0" marR="0" rtl="0" algn="l">
              <a:spcBef>
                <a:spcPts val="0"/>
              </a:spcBef>
              <a:spcAft>
                <a:spcPts val="0"/>
              </a:spcAft>
              <a:buNone/>
            </a:pPr>
            <a:r>
              <a:t/>
            </a:r>
            <a:endParaRPr b="0" i="0" sz="1400" u="none" strike="noStrike">
              <a:solidFill>
                <a:schemeClr val="dk1"/>
              </a:solidFill>
              <a:latin typeface="Montserrat"/>
              <a:ea typeface="Montserrat"/>
              <a:cs typeface="Montserrat"/>
              <a:sym typeface="Montserrat"/>
            </a:endParaRPr>
          </a:p>
        </p:txBody>
      </p:sp>
      <p:sp>
        <p:nvSpPr>
          <p:cNvPr id="486" name="Google Shape;486;p34"/>
          <p:cNvSpPr/>
          <p:nvPr/>
        </p:nvSpPr>
        <p:spPr>
          <a:xfrm>
            <a:off x="8188099" y="4031069"/>
            <a:ext cx="772176" cy="912829"/>
          </a:xfrm>
          <a:custGeom>
            <a:rect b="b" l="l" r="r" t="t"/>
            <a:pathLst>
              <a:path extrusionOk="0" h="6638759" w="12869601">
                <a:moveTo>
                  <a:pt x="0" y="0"/>
                </a:moveTo>
                <a:lnTo>
                  <a:pt x="12869601" y="0"/>
                </a:lnTo>
                <a:lnTo>
                  <a:pt x="12869601" y="6638759"/>
                </a:lnTo>
                <a:lnTo>
                  <a:pt x="0" y="6638759"/>
                </a:lnTo>
                <a:lnTo>
                  <a:pt x="0" y="0"/>
                </a:lnTo>
                <a:close/>
              </a:path>
            </a:pathLst>
          </a:custGeom>
          <a:blipFill rotWithShape="1">
            <a:blip r:embed="rId3">
              <a:alphaModFix/>
            </a:blip>
            <a:stretch>
              <a:fillRect b="-27147" l="-102802" r="-109932" t="-28588"/>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cxnSp>
        <p:nvCxnSpPr>
          <p:cNvPr id="491" name="Google Shape;491;p35"/>
          <p:cNvCxnSpPr/>
          <p:nvPr/>
        </p:nvCxnSpPr>
        <p:spPr>
          <a:xfrm>
            <a:off x="2771550" y="0"/>
            <a:ext cx="0" cy="3838800"/>
          </a:xfrm>
          <a:prstGeom prst="straightConnector1">
            <a:avLst/>
          </a:prstGeom>
          <a:noFill/>
          <a:ln cap="flat" cmpd="sng" w="9525">
            <a:solidFill>
              <a:srgbClr val="666666"/>
            </a:solidFill>
            <a:prstDash val="solid"/>
            <a:round/>
            <a:headEnd len="med" w="med" type="none"/>
            <a:tailEnd len="med" w="med" type="none"/>
          </a:ln>
        </p:spPr>
      </p:cxnSp>
      <p:sp>
        <p:nvSpPr>
          <p:cNvPr id="492" name="Google Shape;492;p35"/>
          <p:cNvSpPr txBox="1"/>
          <p:nvPr>
            <p:ph type="ctrTitle"/>
          </p:nvPr>
        </p:nvSpPr>
        <p:spPr>
          <a:xfrm>
            <a:off x="3022903" y="1050669"/>
            <a:ext cx="5290800" cy="2844600"/>
          </a:xfrm>
          <a:prstGeom prst="rect">
            <a:avLst/>
          </a:prstGeom>
        </p:spPr>
        <p:txBody>
          <a:bodyPr anchorCtr="0" anchor="b" bIns="91425" lIns="91425" spcFirstLastPara="1" rIns="91425" wrap="square" tIns="91425">
            <a:normAutofit/>
          </a:bodyPr>
          <a:lstStyle/>
          <a:p>
            <a:pPr indent="0" lvl="0" marL="0" rtl="0" algn="l">
              <a:lnSpc>
                <a:spcPct val="80000"/>
              </a:lnSpc>
              <a:spcBef>
                <a:spcPts val="0"/>
              </a:spcBef>
              <a:spcAft>
                <a:spcPts val="0"/>
              </a:spcAft>
              <a:buClr>
                <a:schemeClr val="dk1"/>
              </a:buClr>
              <a:buSzPts val="1100"/>
              <a:buFont typeface="Arial"/>
              <a:buNone/>
            </a:pPr>
            <a:r>
              <a:rPr b="1" lang="en" sz="3600">
                <a:solidFill>
                  <a:srgbClr val="000099"/>
                </a:solidFill>
              </a:rPr>
              <a:t>Next Steps</a:t>
            </a:r>
            <a:endParaRPr sz="3600"/>
          </a:p>
        </p:txBody>
      </p:sp>
      <p:sp>
        <p:nvSpPr>
          <p:cNvPr id="493" name="Google Shape;493;p35"/>
          <p:cNvSpPr/>
          <p:nvPr/>
        </p:nvSpPr>
        <p:spPr>
          <a:xfrm>
            <a:off x="8254299" y="4087814"/>
            <a:ext cx="524821" cy="737059"/>
          </a:xfrm>
          <a:custGeom>
            <a:rect b="b" l="l" r="r" t="t"/>
            <a:pathLst>
              <a:path extrusionOk="0" h="737059" w="524821">
                <a:moveTo>
                  <a:pt x="0" y="0"/>
                </a:moveTo>
                <a:lnTo>
                  <a:pt x="524821" y="0"/>
                </a:lnTo>
                <a:lnTo>
                  <a:pt x="524821" y="737059"/>
                </a:lnTo>
                <a:lnTo>
                  <a:pt x="0" y="73705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6"/>
          <p:cNvSpPr txBox="1"/>
          <p:nvPr/>
        </p:nvSpPr>
        <p:spPr>
          <a:xfrm>
            <a:off x="876617" y="95250"/>
            <a:ext cx="7810200" cy="3693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lang="en" sz="2400">
                <a:solidFill>
                  <a:srgbClr val="C00000"/>
                </a:solidFill>
                <a:latin typeface="Montserrat"/>
                <a:ea typeface="Montserrat"/>
                <a:cs typeface="Montserrat"/>
                <a:sym typeface="Montserrat"/>
              </a:rPr>
              <a:t>Disruptive Innovation Zone Placements</a:t>
            </a:r>
            <a:endParaRPr sz="1100"/>
          </a:p>
        </p:txBody>
      </p:sp>
      <p:graphicFrame>
        <p:nvGraphicFramePr>
          <p:cNvPr id="500" name="Google Shape;500;p36"/>
          <p:cNvGraphicFramePr/>
          <p:nvPr/>
        </p:nvGraphicFramePr>
        <p:xfrm>
          <a:off x="480863" y="839650"/>
          <a:ext cx="3000000" cy="3000000"/>
        </p:xfrm>
        <a:graphic>
          <a:graphicData uri="http://schemas.openxmlformats.org/drawingml/2006/table">
            <a:tbl>
              <a:tblPr bandRow="1">
                <a:noFill/>
                <a:tableStyleId>{F0863061-04CA-4EAB-8348-4A41C09F2EE4}</a:tableStyleId>
              </a:tblPr>
              <a:tblGrid>
                <a:gridCol w="3871625"/>
                <a:gridCol w="4310650"/>
              </a:tblGrid>
              <a:tr h="288975">
                <a:tc>
                  <a:txBody>
                    <a:bodyPr/>
                    <a:lstStyle/>
                    <a:p>
                      <a:pPr indent="0" lvl="2" marL="393700" marR="0" rtl="0" algn="ctr">
                        <a:lnSpc>
                          <a:spcPct val="100000"/>
                        </a:lnSpc>
                        <a:spcBef>
                          <a:spcPts val="0"/>
                        </a:spcBef>
                        <a:spcAft>
                          <a:spcPts val="0"/>
                        </a:spcAft>
                        <a:buClr>
                          <a:schemeClr val="lt1"/>
                        </a:buClr>
                        <a:buSzPts val="1200"/>
                        <a:buFont typeface="Arial"/>
                        <a:buNone/>
                      </a:pPr>
                      <a:r>
                        <a:rPr b="1" i="0" lang="en" sz="1200" u="none" cap="none" strike="noStrike">
                          <a:solidFill>
                            <a:schemeClr val="lt1"/>
                          </a:solidFill>
                          <a:latin typeface="Open Sans"/>
                          <a:ea typeface="Open Sans"/>
                          <a:cs typeface="Open Sans"/>
                          <a:sym typeface="Open Sans"/>
                        </a:rPr>
                        <a:t>Incubation Zone</a:t>
                      </a:r>
                      <a:endParaRPr sz="1100"/>
                    </a:p>
                  </a:txBody>
                  <a:tcPr marT="22850" marB="228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66092"/>
                    </a:solidFill>
                  </a:tcPr>
                </a:tc>
                <a:tc>
                  <a:txBody>
                    <a:bodyPr/>
                    <a:lstStyle/>
                    <a:p>
                      <a:pPr indent="0" lvl="2" marL="393700" marR="0" rtl="0" algn="ctr">
                        <a:spcBef>
                          <a:spcPts val="0"/>
                        </a:spcBef>
                        <a:spcAft>
                          <a:spcPts val="0"/>
                        </a:spcAft>
                        <a:buClr>
                          <a:schemeClr val="lt1"/>
                        </a:buClr>
                        <a:buSzPts val="1200"/>
                        <a:buFont typeface="Arial"/>
                        <a:buNone/>
                      </a:pPr>
                      <a:r>
                        <a:rPr b="1" lang="en" sz="1200" u="none" cap="none" strike="noStrike">
                          <a:solidFill>
                            <a:schemeClr val="lt1"/>
                          </a:solidFill>
                          <a:latin typeface="Open Sans"/>
                          <a:ea typeface="Open Sans"/>
                          <a:cs typeface="Open Sans"/>
                          <a:sym typeface="Open Sans"/>
                        </a:rPr>
                        <a:t>Transformation Zone</a:t>
                      </a:r>
                      <a:endParaRPr sz="1100"/>
                    </a:p>
                  </a:txBody>
                  <a:tcPr marT="22850" marB="228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66092"/>
                    </a:solidFill>
                  </a:tcPr>
                </a:tc>
              </a:tr>
              <a:tr h="3654375">
                <a:tc>
                  <a:txBody>
                    <a:bodyPr/>
                    <a:lstStyle/>
                    <a:p>
                      <a:pPr indent="-203200" lvl="1" marL="254000" marR="0" rtl="0" algn="l">
                        <a:lnSpc>
                          <a:spcPct val="100000"/>
                        </a:lnSpc>
                        <a:spcBef>
                          <a:spcPts val="0"/>
                        </a:spcBef>
                        <a:spcAft>
                          <a:spcPts val="0"/>
                        </a:spcAft>
                        <a:buClr>
                          <a:srgbClr val="003A74"/>
                        </a:buClr>
                        <a:buSzPts val="1200"/>
                        <a:buFont typeface="Arial"/>
                        <a:buChar char="⚬"/>
                      </a:pPr>
                      <a:r>
                        <a:rPr b="0" i="0" lang="en" sz="1200" u="none" cap="none" strike="noStrike">
                          <a:solidFill>
                            <a:srgbClr val="003A74"/>
                          </a:solidFill>
                          <a:latin typeface="Open Sans"/>
                          <a:ea typeface="Open Sans"/>
                          <a:cs typeface="Open Sans"/>
                          <a:sym typeface="Open Sans"/>
                        </a:rPr>
                        <a:t>Develop an MVP: </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Focus on developing a minimum viable product (MVP) quickly and efficiently to gain early feedback and validate the core concept.</a:t>
                      </a:r>
                      <a:endParaRPr sz="1100"/>
                    </a:p>
                    <a:p>
                      <a:pPr indent="-203200" lvl="1" marL="254000" marR="0" rtl="0" algn="l">
                        <a:lnSpc>
                          <a:spcPct val="100000"/>
                        </a:lnSpc>
                        <a:spcBef>
                          <a:spcPts val="500"/>
                        </a:spcBef>
                        <a:spcAft>
                          <a:spcPts val="0"/>
                        </a:spcAft>
                        <a:buClr>
                          <a:srgbClr val="003A74"/>
                        </a:buClr>
                        <a:buSzPts val="1200"/>
                        <a:buFont typeface="Arial"/>
                        <a:buChar char="⚬"/>
                      </a:pPr>
                      <a:r>
                        <a:rPr b="0" i="0" lang="en" sz="1200" u="none" cap="none" strike="noStrike">
                          <a:solidFill>
                            <a:srgbClr val="003A74"/>
                          </a:solidFill>
                          <a:latin typeface="Open Sans"/>
                          <a:ea typeface="Open Sans"/>
                          <a:cs typeface="Open Sans"/>
                          <a:sym typeface="Open Sans"/>
                        </a:rPr>
                        <a:t>Milestones:</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MVP Prototype completed within X weeks/months.</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User testing conducted with Y participants.</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Key learnings and insights documented.</a:t>
                      </a:r>
                      <a:endParaRPr sz="1100"/>
                    </a:p>
                    <a:p>
                      <a:pPr indent="-203200" lvl="1" marL="254000" marR="0" rtl="0" algn="l">
                        <a:lnSpc>
                          <a:spcPct val="100000"/>
                        </a:lnSpc>
                        <a:spcBef>
                          <a:spcPts val="500"/>
                        </a:spcBef>
                        <a:spcAft>
                          <a:spcPts val="0"/>
                        </a:spcAft>
                        <a:buClr>
                          <a:srgbClr val="003A74"/>
                        </a:buClr>
                        <a:buSzPts val="1200"/>
                        <a:buFont typeface="Arial"/>
                        <a:buChar char="⚬"/>
                      </a:pPr>
                      <a:r>
                        <a:rPr b="0" i="0" lang="en" sz="1200" u="none" cap="none" strike="noStrike">
                          <a:solidFill>
                            <a:srgbClr val="003A74"/>
                          </a:solidFill>
                          <a:latin typeface="Open Sans"/>
                          <a:ea typeface="Open Sans"/>
                          <a:cs typeface="Open Sans"/>
                          <a:sym typeface="Open Sans"/>
                        </a:rPr>
                        <a:t>Success Criteria:</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MVP demonstrates core functionality and potential value.</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User feedback validates the problem and need for the solution.</a:t>
                      </a:r>
                      <a:endParaRPr sz="1100"/>
                    </a:p>
                    <a:p>
                      <a:pPr indent="-203200" lvl="2" marL="596900" marR="0" rtl="0" algn="l">
                        <a:lnSpc>
                          <a:spcPct val="100000"/>
                        </a:lnSpc>
                        <a:spcBef>
                          <a:spcPts val="500"/>
                        </a:spcBef>
                        <a:spcAft>
                          <a:spcPts val="0"/>
                        </a:spcAft>
                        <a:buClr>
                          <a:srgbClr val="003A74"/>
                        </a:buClr>
                        <a:buSzPts val="1000"/>
                        <a:buFont typeface="Arial"/>
                        <a:buChar char="⚬"/>
                      </a:pPr>
                      <a:r>
                        <a:rPr b="0" i="0" lang="en" sz="1000" u="none" cap="none" strike="noStrike">
                          <a:solidFill>
                            <a:srgbClr val="003A74"/>
                          </a:solidFill>
                          <a:latin typeface="Open Sans"/>
                          <a:ea typeface="Open Sans"/>
                          <a:cs typeface="Open Sans"/>
                          <a:sym typeface="Open Sans"/>
                        </a:rPr>
                        <a:t>Clear path identified for further development based on testing results.</a:t>
                      </a:r>
                      <a:endParaRPr b="0" i="0" sz="900" u="none" cap="none" strike="noStrike">
                        <a:solidFill>
                          <a:srgbClr val="003A74"/>
                        </a:solidFill>
                        <a:latin typeface="Open Sans"/>
                        <a:ea typeface="Open Sans"/>
                        <a:cs typeface="Open Sans"/>
                        <a:sym typeface="Open Sans"/>
                      </a:endParaRPr>
                    </a:p>
                  </a:txBody>
                  <a:tcPr marT="22850" marB="22850"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203200" lvl="1" marL="254000" marR="0" rtl="0" algn="l">
                        <a:spcBef>
                          <a:spcPts val="0"/>
                        </a:spcBef>
                        <a:spcAft>
                          <a:spcPts val="0"/>
                        </a:spcAft>
                        <a:buClr>
                          <a:srgbClr val="003A74"/>
                        </a:buClr>
                        <a:buSzPts val="1200"/>
                        <a:buFont typeface="Arial"/>
                        <a:buChar char="⚬"/>
                      </a:pPr>
                      <a:r>
                        <a:rPr lang="en" sz="1200" u="none" cap="none" strike="noStrike">
                          <a:solidFill>
                            <a:srgbClr val="003A74"/>
                          </a:solidFill>
                          <a:latin typeface="Open Sans"/>
                          <a:ea typeface="Open Sans"/>
                          <a:cs typeface="Open Sans"/>
                          <a:sym typeface="Open Sans"/>
                        </a:rPr>
                        <a:t>Conduct a pilot project: </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Implement the idea on a smaller scale to test its feasibility and impact within a controlled environment.</a:t>
                      </a:r>
                      <a:endParaRPr sz="1100"/>
                    </a:p>
                    <a:p>
                      <a:pPr indent="-203200" lvl="1" marL="254000" marR="0" rtl="0" algn="l">
                        <a:spcBef>
                          <a:spcPts val="500"/>
                        </a:spcBef>
                        <a:spcAft>
                          <a:spcPts val="0"/>
                        </a:spcAft>
                        <a:buClr>
                          <a:srgbClr val="003A74"/>
                        </a:buClr>
                        <a:buSzPts val="1200"/>
                        <a:buFont typeface="Arial"/>
                        <a:buChar char="⚬"/>
                      </a:pPr>
                      <a:r>
                        <a:rPr lang="en" sz="1200" u="none" cap="none" strike="noStrike">
                          <a:solidFill>
                            <a:srgbClr val="003A74"/>
                          </a:solidFill>
                          <a:latin typeface="Open Sans"/>
                          <a:ea typeface="Open Sans"/>
                          <a:cs typeface="Open Sans"/>
                          <a:sym typeface="Open Sans"/>
                        </a:rPr>
                        <a:t>Milestones:</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Pilot project plan established within X weeks/months.</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Pilot launched and executed successfully for Y timeframe.</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Data and metrics collected to measure impact on KPIs and other critical areas.</a:t>
                      </a:r>
                      <a:endParaRPr sz="1100"/>
                    </a:p>
                    <a:p>
                      <a:pPr indent="-203200" lvl="1" marL="254000" marR="0" rtl="0" algn="l">
                        <a:spcBef>
                          <a:spcPts val="500"/>
                        </a:spcBef>
                        <a:spcAft>
                          <a:spcPts val="0"/>
                        </a:spcAft>
                        <a:buClr>
                          <a:srgbClr val="003A74"/>
                        </a:buClr>
                        <a:buSzPts val="1200"/>
                        <a:buFont typeface="Arial"/>
                        <a:buChar char="⚬"/>
                      </a:pPr>
                      <a:r>
                        <a:rPr lang="en" sz="1200" u="none" cap="none" strike="noStrike">
                          <a:solidFill>
                            <a:srgbClr val="003A74"/>
                          </a:solidFill>
                          <a:latin typeface="Open Sans"/>
                          <a:ea typeface="Open Sans"/>
                          <a:cs typeface="Open Sans"/>
                          <a:sym typeface="Open Sans"/>
                        </a:rPr>
                        <a:t>Success Criteria:</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Pilot proves the idea's scalability and ability to generate desired outcomes.</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Financial modeling demonstrates strong ROI potential.</a:t>
                      </a:r>
                      <a:endParaRPr sz="1100"/>
                    </a:p>
                    <a:p>
                      <a:pPr indent="-203200" lvl="2" marL="596900" marR="0" rtl="0" algn="l">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Clear plan for full-scale launch developed based on pilot learnings.</a:t>
                      </a:r>
                      <a:endParaRPr sz="900" u="none" cap="none" strike="noStrike">
                        <a:solidFill>
                          <a:srgbClr val="003A74"/>
                        </a:solidFill>
                        <a:latin typeface="Open Sans"/>
                        <a:ea typeface="Open Sans"/>
                        <a:cs typeface="Open Sans"/>
                        <a:sym typeface="Open Sans"/>
                      </a:endParaRPr>
                    </a:p>
                  </a:txBody>
                  <a:tcPr marT="22850" marB="22850"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7"/>
          <p:cNvSpPr txBox="1"/>
          <p:nvPr/>
        </p:nvSpPr>
        <p:spPr>
          <a:xfrm>
            <a:off x="876617" y="95250"/>
            <a:ext cx="7810200" cy="5727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t/>
            </a:r>
            <a:endParaRPr sz="1100"/>
          </a:p>
          <a:p>
            <a:pPr indent="0" lvl="0" marL="0" marR="0" rtl="0" algn="ctr">
              <a:lnSpc>
                <a:spcPct val="150000"/>
              </a:lnSpc>
              <a:spcBef>
                <a:spcPts val="0"/>
              </a:spcBef>
              <a:spcAft>
                <a:spcPts val="0"/>
              </a:spcAft>
              <a:buNone/>
            </a:pPr>
            <a:r>
              <a:rPr b="1" lang="en" sz="2400">
                <a:solidFill>
                  <a:srgbClr val="C00000"/>
                </a:solidFill>
                <a:latin typeface="Montserrat"/>
                <a:ea typeface="Montserrat"/>
                <a:cs typeface="Montserrat"/>
                <a:sym typeface="Montserrat"/>
              </a:rPr>
              <a:t>Sustaining Innovation Zone Placements</a:t>
            </a:r>
            <a:endParaRPr sz="1100"/>
          </a:p>
        </p:txBody>
      </p:sp>
      <p:graphicFrame>
        <p:nvGraphicFramePr>
          <p:cNvPr id="507" name="Google Shape;507;p37"/>
          <p:cNvGraphicFramePr/>
          <p:nvPr/>
        </p:nvGraphicFramePr>
        <p:xfrm>
          <a:off x="423288" y="939287"/>
          <a:ext cx="3000000" cy="3000000"/>
        </p:xfrm>
        <a:graphic>
          <a:graphicData uri="http://schemas.openxmlformats.org/drawingml/2006/table">
            <a:tbl>
              <a:tblPr bandRow="1">
                <a:noFill/>
                <a:tableStyleId>{F0863061-04CA-4EAB-8348-4A41C09F2EE4}</a:tableStyleId>
              </a:tblPr>
              <a:tblGrid>
                <a:gridCol w="4368300"/>
                <a:gridCol w="3929125"/>
              </a:tblGrid>
              <a:tr h="304200">
                <a:tc>
                  <a:txBody>
                    <a:bodyPr/>
                    <a:lstStyle/>
                    <a:p>
                      <a:pPr indent="0" lvl="2" marL="393700" marR="0" rtl="0" algn="ctr">
                        <a:lnSpc>
                          <a:spcPct val="100000"/>
                        </a:lnSpc>
                        <a:spcBef>
                          <a:spcPts val="0"/>
                        </a:spcBef>
                        <a:spcAft>
                          <a:spcPts val="0"/>
                        </a:spcAft>
                        <a:buClr>
                          <a:schemeClr val="lt1"/>
                        </a:buClr>
                        <a:buSzPts val="1200"/>
                        <a:buFont typeface="Arial"/>
                        <a:buNone/>
                      </a:pPr>
                      <a:r>
                        <a:rPr b="1" i="0" lang="en" sz="1200" u="none" cap="none" strike="noStrike">
                          <a:solidFill>
                            <a:schemeClr val="lt1"/>
                          </a:solidFill>
                          <a:latin typeface="Open Sans"/>
                          <a:ea typeface="Open Sans"/>
                          <a:cs typeface="Open Sans"/>
                          <a:sym typeface="Open Sans"/>
                        </a:rPr>
                        <a:t>Performance Zone</a:t>
                      </a:r>
                      <a:endParaRPr sz="1100"/>
                    </a:p>
                  </a:txBody>
                  <a:tcPr marT="22850" marB="228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66092"/>
                    </a:solidFill>
                  </a:tcPr>
                </a:tc>
                <a:tc>
                  <a:txBody>
                    <a:bodyPr/>
                    <a:lstStyle/>
                    <a:p>
                      <a:pPr indent="0" lvl="2" marL="393700" marR="0" rtl="0" algn="ctr">
                        <a:spcBef>
                          <a:spcPts val="0"/>
                        </a:spcBef>
                        <a:spcAft>
                          <a:spcPts val="0"/>
                        </a:spcAft>
                        <a:buClr>
                          <a:schemeClr val="lt1"/>
                        </a:buClr>
                        <a:buSzPts val="1200"/>
                        <a:buFont typeface="Arial"/>
                        <a:buNone/>
                      </a:pPr>
                      <a:r>
                        <a:rPr b="1" lang="en" sz="1200" u="none" cap="none" strike="noStrike">
                          <a:solidFill>
                            <a:schemeClr val="lt1"/>
                          </a:solidFill>
                          <a:latin typeface="Open Sans"/>
                          <a:ea typeface="Open Sans"/>
                          <a:cs typeface="Open Sans"/>
                          <a:sym typeface="Open Sans"/>
                        </a:rPr>
                        <a:t>Productivity Zone</a:t>
                      </a:r>
                      <a:endParaRPr sz="1100"/>
                    </a:p>
                  </a:txBody>
                  <a:tcPr marT="22850" marB="22850" marR="45725" marL="457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66092"/>
                    </a:solidFill>
                  </a:tcPr>
                </a:tc>
              </a:tr>
              <a:tr h="3566150">
                <a:tc>
                  <a:txBody>
                    <a:bodyPr/>
                    <a:lstStyle/>
                    <a:p>
                      <a:pPr indent="-203200" lvl="1" marL="254000" marR="0" rtl="0" algn="l">
                        <a:lnSpc>
                          <a:spcPct val="100000"/>
                        </a:lnSpc>
                        <a:spcBef>
                          <a:spcPts val="0"/>
                        </a:spcBef>
                        <a:spcAft>
                          <a:spcPts val="0"/>
                        </a:spcAft>
                        <a:buClr>
                          <a:srgbClr val="003A74"/>
                        </a:buClr>
                        <a:buSzPts val="1200"/>
                        <a:buFont typeface="Arial"/>
                        <a:buChar char="⚬"/>
                      </a:pPr>
                      <a:r>
                        <a:rPr b="0" i="0" lang="en" sz="1200" u="none" cap="none" strike="noStrike">
                          <a:solidFill>
                            <a:srgbClr val="003A74"/>
                          </a:solidFill>
                          <a:latin typeface="Open Sans"/>
                          <a:ea typeface="Open Sans"/>
                          <a:cs typeface="Open Sans"/>
                          <a:sym typeface="Open Sans"/>
                        </a:rPr>
                        <a:t>Integrate and deploy: </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Seamlessly integrate the idea into existing NFL operations and performance metrics.</a:t>
                      </a:r>
                      <a:endParaRPr sz="1100"/>
                    </a:p>
                    <a:p>
                      <a:pPr indent="-203200" lvl="1" marL="254000" marR="0" rtl="0" algn="l">
                        <a:lnSpc>
                          <a:spcPct val="100000"/>
                        </a:lnSpc>
                        <a:spcBef>
                          <a:spcPts val="500"/>
                        </a:spcBef>
                        <a:spcAft>
                          <a:spcPts val="0"/>
                        </a:spcAft>
                        <a:buClr>
                          <a:srgbClr val="003A74"/>
                        </a:buClr>
                        <a:buSzPts val="1200"/>
                        <a:buFont typeface="Arial"/>
                        <a:buChar char="⚬"/>
                      </a:pPr>
                      <a:r>
                        <a:rPr b="0" i="0" lang="en" sz="1200" u="none" cap="none" strike="noStrike">
                          <a:solidFill>
                            <a:srgbClr val="003A74"/>
                          </a:solidFill>
                          <a:latin typeface="Open Sans"/>
                          <a:ea typeface="Open Sans"/>
                          <a:cs typeface="Open Sans"/>
                          <a:sym typeface="Open Sans"/>
                        </a:rPr>
                        <a:t>Milestones: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Implementation plan developed within X weeks/months.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Idea integration completed with minimal disruption to existing systems.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Training and support provided to relevant stakeholders.</a:t>
                      </a:r>
                      <a:endParaRPr sz="1100"/>
                    </a:p>
                    <a:p>
                      <a:pPr indent="-203200" lvl="1" marL="254000" marR="0" rtl="0" algn="l">
                        <a:lnSpc>
                          <a:spcPct val="100000"/>
                        </a:lnSpc>
                        <a:spcBef>
                          <a:spcPts val="500"/>
                        </a:spcBef>
                        <a:spcAft>
                          <a:spcPts val="0"/>
                        </a:spcAft>
                        <a:buClr>
                          <a:srgbClr val="003A74"/>
                        </a:buClr>
                        <a:buSzPts val="1200"/>
                        <a:buFont typeface="Arial"/>
                        <a:buChar char="⚬"/>
                      </a:pPr>
                      <a:r>
                        <a:rPr b="0" i="0" lang="en" sz="1200" u="none" cap="none" strike="noStrike">
                          <a:solidFill>
                            <a:srgbClr val="003A74"/>
                          </a:solidFill>
                          <a:latin typeface="Open Sans"/>
                          <a:ea typeface="Open Sans"/>
                          <a:cs typeface="Open Sans"/>
                          <a:sym typeface="Open Sans"/>
                        </a:rPr>
                        <a:t>Success Criteria:</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Measurable improvement in target KPIs (e.g., increased fan engagement, revenue growth, contribution margins).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Positive user feedback and adoption from internal stakeholders.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Successful integration with existing systems and infrastructure.</a:t>
                      </a:r>
                      <a:endParaRPr sz="1100"/>
                    </a:p>
                  </a:txBody>
                  <a:tcPr marT="22850" marB="22850"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203200" lvl="1" marL="254000" marR="0" rtl="0" algn="l">
                        <a:spcBef>
                          <a:spcPts val="0"/>
                        </a:spcBef>
                        <a:spcAft>
                          <a:spcPts val="0"/>
                        </a:spcAft>
                        <a:buClr>
                          <a:srgbClr val="003A74"/>
                        </a:buClr>
                        <a:buSzPts val="1200"/>
                        <a:buFont typeface="Arial"/>
                        <a:buChar char="⚬"/>
                      </a:pPr>
                      <a:r>
                        <a:rPr lang="en" sz="1200" u="none" cap="none" strike="noStrike">
                          <a:solidFill>
                            <a:srgbClr val="003A74"/>
                          </a:solidFill>
                          <a:latin typeface="Open Sans"/>
                          <a:ea typeface="Open Sans"/>
                          <a:cs typeface="Open Sans"/>
                          <a:sym typeface="Open Sans"/>
                        </a:rPr>
                        <a:t>Implement and optimize: </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Implement the idea to automate tasks, streamline processes, and optimize resource allocation.</a:t>
                      </a:r>
                      <a:endParaRPr sz="1100"/>
                    </a:p>
                    <a:p>
                      <a:pPr indent="-203200" lvl="1" marL="254000" marR="0" rtl="0" algn="l">
                        <a:spcBef>
                          <a:spcPts val="500"/>
                        </a:spcBef>
                        <a:spcAft>
                          <a:spcPts val="0"/>
                        </a:spcAft>
                        <a:buClr>
                          <a:srgbClr val="003A74"/>
                        </a:buClr>
                        <a:buSzPts val="1200"/>
                        <a:buFont typeface="Arial"/>
                        <a:buChar char="⚬"/>
                      </a:pPr>
                      <a:r>
                        <a:rPr lang="en" sz="1200" u="none" cap="none" strike="noStrike">
                          <a:solidFill>
                            <a:srgbClr val="003A74"/>
                          </a:solidFill>
                          <a:latin typeface="Open Sans"/>
                          <a:ea typeface="Open Sans"/>
                          <a:cs typeface="Open Sans"/>
                          <a:sym typeface="Open Sans"/>
                        </a:rPr>
                        <a:t>Milestones: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Implementation plan developed within X weeks/months.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Key processes identified for optimization.</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Technology infrastructure established to support automation.</a:t>
                      </a:r>
                      <a:endParaRPr sz="1100"/>
                    </a:p>
                    <a:p>
                      <a:pPr indent="-203200" lvl="1" marL="254000" marR="0" rtl="0" algn="l">
                        <a:spcBef>
                          <a:spcPts val="500"/>
                        </a:spcBef>
                        <a:spcAft>
                          <a:spcPts val="0"/>
                        </a:spcAft>
                        <a:buClr>
                          <a:srgbClr val="003A74"/>
                        </a:buClr>
                        <a:buSzPts val="1200"/>
                        <a:buFont typeface="Arial"/>
                        <a:buChar char="⚬"/>
                      </a:pPr>
                      <a:r>
                        <a:rPr lang="en" sz="1200" u="none" cap="none" strike="noStrike">
                          <a:solidFill>
                            <a:srgbClr val="003A74"/>
                          </a:solidFill>
                          <a:latin typeface="Open Sans"/>
                          <a:ea typeface="Open Sans"/>
                          <a:cs typeface="Open Sans"/>
                          <a:sym typeface="Open Sans"/>
                        </a:rPr>
                        <a:t>Success Criteria:</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Demonstrated cost savings or resource optimization based on implemented changes.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Improved efficiency and reduced waste in target processes.</a:t>
                      </a:r>
                      <a:endParaRPr sz="1100"/>
                    </a:p>
                    <a:p>
                      <a:pPr indent="-203200" lvl="2" marL="596900" marR="0" rtl="0" algn="l">
                        <a:lnSpc>
                          <a:spcPct val="100000"/>
                        </a:lnSpc>
                        <a:spcBef>
                          <a:spcPts val="500"/>
                        </a:spcBef>
                        <a:spcAft>
                          <a:spcPts val="0"/>
                        </a:spcAft>
                        <a:buClr>
                          <a:srgbClr val="003A74"/>
                        </a:buClr>
                        <a:buSzPts val="1000"/>
                        <a:buFont typeface="Arial"/>
                        <a:buChar char="⚬"/>
                      </a:pPr>
                      <a:r>
                        <a:rPr lang="en" sz="1000" u="none" cap="none" strike="noStrike">
                          <a:solidFill>
                            <a:srgbClr val="003A74"/>
                          </a:solidFill>
                          <a:latin typeface="Open Sans"/>
                          <a:ea typeface="Open Sans"/>
                          <a:cs typeface="Open Sans"/>
                          <a:sym typeface="Open Sans"/>
                        </a:rPr>
                        <a:t>Positive feedback from stakeholders impacted by the changes.</a:t>
                      </a:r>
                      <a:endParaRPr sz="1100"/>
                    </a:p>
                  </a:txBody>
                  <a:tcPr marT="22850" marB="22850" marR="45725" marL="457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8"/>
          <p:cNvSpPr/>
          <p:nvPr/>
        </p:nvSpPr>
        <p:spPr>
          <a:xfrm>
            <a:off x="1381494" y="2085995"/>
            <a:ext cx="818388" cy="636422"/>
          </a:xfrm>
          <a:custGeom>
            <a:rect b="b" l="l" r="r" t="t"/>
            <a:pathLst>
              <a:path extrusionOk="0" h="848563" w="1091184">
                <a:moveTo>
                  <a:pt x="0" y="0"/>
                </a:moveTo>
                <a:lnTo>
                  <a:pt x="1091184" y="0"/>
                </a:lnTo>
                <a:lnTo>
                  <a:pt x="1091184" y="848563"/>
                </a:lnTo>
                <a:lnTo>
                  <a:pt x="0" y="848563"/>
                </a:lnTo>
                <a:lnTo>
                  <a:pt x="0" y="0"/>
                </a:lnTo>
                <a:close/>
              </a:path>
            </a:pathLst>
          </a:custGeom>
          <a:blipFill rotWithShape="1">
            <a:blip r:embed="rId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3" name="Google Shape;513;p38"/>
          <p:cNvSpPr/>
          <p:nvPr/>
        </p:nvSpPr>
        <p:spPr>
          <a:xfrm>
            <a:off x="7159588" y="2378603"/>
            <a:ext cx="361188" cy="435254"/>
          </a:xfrm>
          <a:custGeom>
            <a:rect b="b" l="l" r="r" t="t"/>
            <a:pathLst>
              <a:path extrusionOk="0" h="580339" w="481584">
                <a:moveTo>
                  <a:pt x="0" y="0"/>
                </a:moveTo>
                <a:lnTo>
                  <a:pt x="481584" y="0"/>
                </a:lnTo>
                <a:lnTo>
                  <a:pt x="481584" y="580339"/>
                </a:lnTo>
                <a:lnTo>
                  <a:pt x="0" y="580339"/>
                </a:lnTo>
                <a:lnTo>
                  <a:pt x="0" y="0"/>
                </a:lnTo>
                <a:close/>
              </a:path>
            </a:pathLst>
          </a:custGeom>
          <a:blipFill rotWithShape="1">
            <a:blip r:embed="rId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4" name="Google Shape;514;p38"/>
          <p:cNvSpPr/>
          <p:nvPr/>
        </p:nvSpPr>
        <p:spPr>
          <a:xfrm>
            <a:off x="802867" y="1223904"/>
            <a:ext cx="7087132" cy="1646452"/>
          </a:xfrm>
          <a:custGeom>
            <a:rect b="b" l="l" r="r" t="t"/>
            <a:pathLst>
              <a:path extrusionOk="0" h="2195269" w="9449509">
                <a:moveTo>
                  <a:pt x="0" y="0"/>
                </a:moveTo>
                <a:lnTo>
                  <a:pt x="9449508" y="0"/>
                </a:lnTo>
                <a:lnTo>
                  <a:pt x="9449508" y="2195268"/>
                </a:lnTo>
                <a:lnTo>
                  <a:pt x="0" y="2195268"/>
                </a:lnTo>
                <a:lnTo>
                  <a:pt x="0" y="0"/>
                </a:lnTo>
                <a:close/>
              </a:path>
            </a:pathLst>
          </a:custGeom>
          <a:blipFill rotWithShape="1">
            <a:blip r:embed="rId5">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5" name="Google Shape;515;p38"/>
          <p:cNvSpPr/>
          <p:nvPr/>
        </p:nvSpPr>
        <p:spPr>
          <a:xfrm>
            <a:off x="924294" y="2092395"/>
            <a:ext cx="541325" cy="562356"/>
          </a:xfrm>
          <a:custGeom>
            <a:rect b="b" l="l" r="r" t="t"/>
            <a:pathLst>
              <a:path extrusionOk="0" h="749808" w="721766">
                <a:moveTo>
                  <a:pt x="0" y="0"/>
                </a:moveTo>
                <a:lnTo>
                  <a:pt x="721766" y="0"/>
                </a:lnTo>
                <a:lnTo>
                  <a:pt x="721766" y="749808"/>
                </a:lnTo>
                <a:lnTo>
                  <a:pt x="0" y="749808"/>
                </a:lnTo>
                <a:lnTo>
                  <a:pt x="0" y="0"/>
                </a:lnTo>
                <a:close/>
              </a:path>
            </a:pathLst>
          </a:custGeom>
          <a:blipFill rotWithShape="1">
            <a:blip r:embed="rId6">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6" name="Google Shape;516;p38"/>
          <p:cNvSpPr/>
          <p:nvPr/>
        </p:nvSpPr>
        <p:spPr>
          <a:xfrm>
            <a:off x="3721444" y="2172863"/>
            <a:ext cx="673913" cy="413308"/>
          </a:xfrm>
          <a:custGeom>
            <a:rect b="b" l="l" r="r" t="t"/>
            <a:pathLst>
              <a:path extrusionOk="0" h="551078" w="898550">
                <a:moveTo>
                  <a:pt x="0" y="0"/>
                </a:moveTo>
                <a:lnTo>
                  <a:pt x="898550" y="0"/>
                </a:lnTo>
                <a:lnTo>
                  <a:pt x="898550" y="551078"/>
                </a:lnTo>
                <a:lnTo>
                  <a:pt x="0" y="551078"/>
                </a:lnTo>
                <a:lnTo>
                  <a:pt x="0" y="0"/>
                </a:lnTo>
                <a:close/>
              </a:path>
            </a:pathLst>
          </a:custGeom>
          <a:blipFill rotWithShape="1">
            <a:blip r:embed="rId7">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7" name="Google Shape;517;p38"/>
          <p:cNvSpPr/>
          <p:nvPr/>
        </p:nvSpPr>
        <p:spPr>
          <a:xfrm>
            <a:off x="4441991" y="2139944"/>
            <a:ext cx="542239" cy="479146"/>
          </a:xfrm>
          <a:custGeom>
            <a:rect b="b" l="l" r="r" t="t"/>
            <a:pathLst>
              <a:path extrusionOk="0" h="638861" w="722986">
                <a:moveTo>
                  <a:pt x="0" y="0"/>
                </a:moveTo>
                <a:lnTo>
                  <a:pt x="722986" y="0"/>
                </a:lnTo>
                <a:lnTo>
                  <a:pt x="722986" y="638860"/>
                </a:lnTo>
                <a:lnTo>
                  <a:pt x="0" y="638860"/>
                </a:lnTo>
                <a:lnTo>
                  <a:pt x="0" y="0"/>
                </a:lnTo>
                <a:close/>
              </a:path>
            </a:pathLst>
          </a:custGeom>
          <a:blipFill rotWithShape="1">
            <a:blip r:embed="rId8">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8" name="Google Shape;518;p38"/>
          <p:cNvSpPr/>
          <p:nvPr/>
        </p:nvSpPr>
        <p:spPr>
          <a:xfrm>
            <a:off x="2303209" y="2047589"/>
            <a:ext cx="1220724" cy="677570"/>
          </a:xfrm>
          <a:custGeom>
            <a:rect b="b" l="l" r="r" t="t"/>
            <a:pathLst>
              <a:path extrusionOk="0" h="903427" w="1627632">
                <a:moveTo>
                  <a:pt x="0" y="0"/>
                </a:moveTo>
                <a:lnTo>
                  <a:pt x="1627632" y="0"/>
                </a:lnTo>
                <a:lnTo>
                  <a:pt x="1627632" y="903428"/>
                </a:lnTo>
                <a:lnTo>
                  <a:pt x="0" y="903428"/>
                </a:lnTo>
                <a:lnTo>
                  <a:pt x="0" y="0"/>
                </a:lnTo>
                <a:close/>
              </a:path>
            </a:pathLst>
          </a:custGeom>
          <a:blipFill rotWithShape="1">
            <a:blip r:embed="rId9">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19" name="Google Shape;519;p38"/>
          <p:cNvSpPr/>
          <p:nvPr/>
        </p:nvSpPr>
        <p:spPr>
          <a:xfrm>
            <a:off x="5095787" y="2178349"/>
            <a:ext cx="603504" cy="402336"/>
          </a:xfrm>
          <a:custGeom>
            <a:rect b="b" l="l" r="r" t="t"/>
            <a:pathLst>
              <a:path extrusionOk="0" h="536448" w="804672">
                <a:moveTo>
                  <a:pt x="0" y="0"/>
                </a:moveTo>
                <a:lnTo>
                  <a:pt x="804672" y="0"/>
                </a:lnTo>
                <a:lnTo>
                  <a:pt x="804672" y="536448"/>
                </a:lnTo>
                <a:lnTo>
                  <a:pt x="0" y="536448"/>
                </a:lnTo>
                <a:lnTo>
                  <a:pt x="0" y="0"/>
                </a:lnTo>
                <a:close/>
              </a:path>
            </a:pathLst>
          </a:custGeom>
          <a:blipFill rotWithShape="1">
            <a:blip r:embed="rId10">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0" name="Google Shape;520;p38"/>
          <p:cNvSpPr/>
          <p:nvPr/>
        </p:nvSpPr>
        <p:spPr>
          <a:xfrm>
            <a:off x="5692890" y="2115255"/>
            <a:ext cx="634594" cy="210312"/>
          </a:xfrm>
          <a:custGeom>
            <a:rect b="b" l="l" r="r" t="t"/>
            <a:pathLst>
              <a:path extrusionOk="0" h="280416" w="846125">
                <a:moveTo>
                  <a:pt x="0" y="0"/>
                </a:moveTo>
                <a:lnTo>
                  <a:pt x="846125" y="0"/>
                </a:lnTo>
                <a:lnTo>
                  <a:pt x="846125" y="280416"/>
                </a:lnTo>
                <a:lnTo>
                  <a:pt x="0" y="280416"/>
                </a:lnTo>
                <a:lnTo>
                  <a:pt x="0" y="0"/>
                </a:lnTo>
                <a:close/>
              </a:path>
            </a:pathLst>
          </a:custGeom>
          <a:blipFill rotWithShape="1">
            <a:blip r:embed="rId11">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1" name="Google Shape;521;p38"/>
          <p:cNvSpPr/>
          <p:nvPr/>
        </p:nvSpPr>
        <p:spPr>
          <a:xfrm>
            <a:off x="5812676" y="2367629"/>
            <a:ext cx="425196" cy="210312"/>
          </a:xfrm>
          <a:custGeom>
            <a:rect b="b" l="l" r="r" t="t"/>
            <a:pathLst>
              <a:path extrusionOk="0" h="280416" w="566928">
                <a:moveTo>
                  <a:pt x="0" y="0"/>
                </a:moveTo>
                <a:lnTo>
                  <a:pt x="566928" y="0"/>
                </a:lnTo>
                <a:lnTo>
                  <a:pt x="566928" y="280416"/>
                </a:lnTo>
                <a:lnTo>
                  <a:pt x="0" y="280416"/>
                </a:lnTo>
                <a:lnTo>
                  <a:pt x="0" y="0"/>
                </a:lnTo>
                <a:close/>
              </a:path>
            </a:pathLst>
          </a:custGeom>
          <a:blipFill rotWithShape="1">
            <a:blip r:embed="rId12">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2" name="Google Shape;522;p38"/>
          <p:cNvSpPr/>
          <p:nvPr/>
        </p:nvSpPr>
        <p:spPr>
          <a:xfrm>
            <a:off x="6661240" y="2027473"/>
            <a:ext cx="372160" cy="372160"/>
          </a:xfrm>
          <a:custGeom>
            <a:rect b="b" l="l" r="r" t="t"/>
            <a:pathLst>
              <a:path extrusionOk="0" h="496214" w="496214">
                <a:moveTo>
                  <a:pt x="0" y="0"/>
                </a:moveTo>
                <a:lnTo>
                  <a:pt x="496214" y="0"/>
                </a:lnTo>
                <a:lnTo>
                  <a:pt x="496214" y="496214"/>
                </a:lnTo>
                <a:lnTo>
                  <a:pt x="0" y="496214"/>
                </a:lnTo>
                <a:lnTo>
                  <a:pt x="0" y="0"/>
                </a:lnTo>
                <a:close/>
              </a:path>
            </a:pathLst>
          </a:custGeom>
          <a:blipFill rotWithShape="1">
            <a:blip r:embed="rId1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3" name="Google Shape;523;p38"/>
          <p:cNvSpPr/>
          <p:nvPr/>
        </p:nvSpPr>
        <p:spPr>
          <a:xfrm>
            <a:off x="7279374" y="2021987"/>
            <a:ext cx="372160" cy="372160"/>
          </a:xfrm>
          <a:custGeom>
            <a:rect b="b" l="l" r="r" t="t"/>
            <a:pathLst>
              <a:path extrusionOk="0" h="496214" w="496214">
                <a:moveTo>
                  <a:pt x="0" y="0"/>
                </a:moveTo>
                <a:lnTo>
                  <a:pt x="496214" y="0"/>
                </a:lnTo>
                <a:lnTo>
                  <a:pt x="496214" y="496214"/>
                </a:lnTo>
                <a:lnTo>
                  <a:pt x="0" y="496214"/>
                </a:lnTo>
                <a:lnTo>
                  <a:pt x="0" y="0"/>
                </a:lnTo>
                <a:close/>
              </a:path>
            </a:pathLst>
          </a:custGeom>
          <a:blipFill rotWithShape="1">
            <a:blip r:embed="rId1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4" name="Google Shape;524;p38"/>
          <p:cNvSpPr/>
          <p:nvPr/>
        </p:nvSpPr>
        <p:spPr>
          <a:xfrm>
            <a:off x="2239087" y="1594961"/>
            <a:ext cx="5715" cy="1170432"/>
          </a:xfrm>
          <a:custGeom>
            <a:rect b="b" l="l" r="r" t="t"/>
            <a:pathLst>
              <a:path extrusionOk="0" h="1560576" w="7620">
                <a:moveTo>
                  <a:pt x="0" y="0"/>
                </a:moveTo>
                <a:lnTo>
                  <a:pt x="7620" y="0"/>
                </a:lnTo>
                <a:lnTo>
                  <a:pt x="7620" y="1560576"/>
                </a:lnTo>
                <a:lnTo>
                  <a:pt x="0" y="1560576"/>
                </a:lnTo>
                <a:lnTo>
                  <a:pt x="0" y="0"/>
                </a:lnTo>
                <a:close/>
              </a:path>
            </a:pathLst>
          </a:custGeom>
          <a:blipFill rotWithShape="1">
            <a:blip r:embed="rId15">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5" name="Google Shape;525;p38"/>
          <p:cNvSpPr/>
          <p:nvPr/>
        </p:nvSpPr>
        <p:spPr>
          <a:xfrm>
            <a:off x="3632632" y="1594961"/>
            <a:ext cx="5715" cy="1170432"/>
          </a:xfrm>
          <a:custGeom>
            <a:rect b="b" l="l" r="r" t="t"/>
            <a:pathLst>
              <a:path extrusionOk="0" h="1560576" w="7620">
                <a:moveTo>
                  <a:pt x="0" y="0"/>
                </a:moveTo>
                <a:lnTo>
                  <a:pt x="7620" y="0"/>
                </a:lnTo>
                <a:lnTo>
                  <a:pt x="7620" y="1560576"/>
                </a:lnTo>
                <a:lnTo>
                  <a:pt x="0" y="1560576"/>
                </a:lnTo>
                <a:lnTo>
                  <a:pt x="0" y="0"/>
                </a:lnTo>
                <a:close/>
              </a:path>
            </a:pathLst>
          </a:custGeom>
          <a:blipFill rotWithShape="1">
            <a:blip r:embed="rId15">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6" name="Google Shape;526;p38"/>
          <p:cNvSpPr/>
          <p:nvPr/>
        </p:nvSpPr>
        <p:spPr>
          <a:xfrm>
            <a:off x="802868" y="1556860"/>
            <a:ext cx="7087132" cy="3057257"/>
          </a:xfrm>
          <a:custGeom>
            <a:rect b="b" l="l" r="r" t="t"/>
            <a:pathLst>
              <a:path extrusionOk="0" h="4076342" w="9449509">
                <a:moveTo>
                  <a:pt x="0" y="0"/>
                </a:moveTo>
                <a:lnTo>
                  <a:pt x="9449508" y="0"/>
                </a:lnTo>
                <a:lnTo>
                  <a:pt x="9449508" y="4076342"/>
                </a:lnTo>
                <a:lnTo>
                  <a:pt x="0" y="4076342"/>
                </a:lnTo>
                <a:lnTo>
                  <a:pt x="0" y="0"/>
                </a:lnTo>
                <a:close/>
              </a:path>
            </a:pathLst>
          </a:custGeom>
          <a:blipFill rotWithShape="1">
            <a:blip r:embed="rId16">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7" name="Google Shape;527;p38"/>
          <p:cNvSpPr/>
          <p:nvPr/>
        </p:nvSpPr>
        <p:spPr>
          <a:xfrm>
            <a:off x="973672" y="3996176"/>
            <a:ext cx="681228" cy="384048"/>
          </a:xfrm>
          <a:custGeom>
            <a:rect b="b" l="l" r="r" t="t"/>
            <a:pathLst>
              <a:path extrusionOk="0" h="512064" w="908304">
                <a:moveTo>
                  <a:pt x="0" y="0"/>
                </a:moveTo>
                <a:lnTo>
                  <a:pt x="908304" y="0"/>
                </a:lnTo>
                <a:lnTo>
                  <a:pt x="908304" y="512064"/>
                </a:lnTo>
                <a:lnTo>
                  <a:pt x="0" y="512064"/>
                </a:lnTo>
                <a:lnTo>
                  <a:pt x="0" y="0"/>
                </a:lnTo>
                <a:close/>
              </a:path>
            </a:pathLst>
          </a:custGeom>
          <a:blipFill rotWithShape="1">
            <a:blip r:embed="rId17">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8" name="Google Shape;528;p38"/>
          <p:cNvSpPr/>
          <p:nvPr/>
        </p:nvSpPr>
        <p:spPr>
          <a:xfrm>
            <a:off x="2387334" y="3958685"/>
            <a:ext cx="862280" cy="386792"/>
          </a:xfrm>
          <a:custGeom>
            <a:rect b="b" l="l" r="r" t="t"/>
            <a:pathLst>
              <a:path extrusionOk="0" h="515722" w="1149706">
                <a:moveTo>
                  <a:pt x="0" y="0"/>
                </a:moveTo>
                <a:lnTo>
                  <a:pt x="1149705" y="0"/>
                </a:lnTo>
                <a:lnTo>
                  <a:pt x="1149705" y="515722"/>
                </a:lnTo>
                <a:lnTo>
                  <a:pt x="0" y="515722"/>
                </a:lnTo>
                <a:lnTo>
                  <a:pt x="0" y="0"/>
                </a:lnTo>
                <a:close/>
              </a:path>
            </a:pathLst>
          </a:custGeom>
          <a:blipFill rotWithShape="1">
            <a:blip r:embed="rId18">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29" name="Google Shape;529;p38"/>
          <p:cNvSpPr/>
          <p:nvPr/>
        </p:nvSpPr>
        <p:spPr>
          <a:xfrm>
            <a:off x="1711592" y="4084873"/>
            <a:ext cx="552298" cy="189281"/>
          </a:xfrm>
          <a:custGeom>
            <a:rect b="b" l="l" r="r" t="t"/>
            <a:pathLst>
              <a:path extrusionOk="0" h="252374" w="736397">
                <a:moveTo>
                  <a:pt x="0" y="0"/>
                </a:moveTo>
                <a:lnTo>
                  <a:pt x="736397" y="0"/>
                </a:lnTo>
                <a:lnTo>
                  <a:pt x="736397" y="252374"/>
                </a:lnTo>
                <a:lnTo>
                  <a:pt x="0" y="252374"/>
                </a:lnTo>
                <a:lnTo>
                  <a:pt x="0" y="0"/>
                </a:lnTo>
                <a:close/>
              </a:path>
            </a:pathLst>
          </a:custGeom>
          <a:blipFill rotWithShape="1">
            <a:blip r:embed="rId19">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0" name="Google Shape;530;p38"/>
          <p:cNvSpPr/>
          <p:nvPr/>
        </p:nvSpPr>
        <p:spPr>
          <a:xfrm>
            <a:off x="906806" y="3441935"/>
            <a:ext cx="2200275" cy="220599"/>
          </a:xfrm>
          <a:custGeom>
            <a:rect b="b" l="l" r="r" t="t"/>
            <a:pathLst>
              <a:path extrusionOk="0" h="294132" w="2933700">
                <a:moveTo>
                  <a:pt x="0" y="0"/>
                </a:moveTo>
                <a:lnTo>
                  <a:pt x="2933700" y="0"/>
                </a:lnTo>
                <a:lnTo>
                  <a:pt x="2933700" y="294132"/>
                </a:lnTo>
                <a:lnTo>
                  <a:pt x="0" y="294132"/>
                </a:lnTo>
                <a:lnTo>
                  <a:pt x="0" y="0"/>
                </a:lnTo>
                <a:close/>
              </a:path>
            </a:pathLst>
          </a:custGeom>
          <a:blipFill rotWithShape="1">
            <a:blip r:embed="rId20">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1" name="Google Shape;531;p38"/>
          <p:cNvSpPr/>
          <p:nvPr/>
        </p:nvSpPr>
        <p:spPr>
          <a:xfrm>
            <a:off x="3251327" y="3441935"/>
            <a:ext cx="2200275" cy="220599"/>
          </a:xfrm>
          <a:custGeom>
            <a:rect b="b" l="l" r="r" t="t"/>
            <a:pathLst>
              <a:path extrusionOk="0" h="294132" w="2933700">
                <a:moveTo>
                  <a:pt x="0" y="0"/>
                </a:moveTo>
                <a:lnTo>
                  <a:pt x="2933700" y="0"/>
                </a:lnTo>
                <a:lnTo>
                  <a:pt x="2933700" y="294132"/>
                </a:lnTo>
                <a:lnTo>
                  <a:pt x="0" y="294132"/>
                </a:lnTo>
                <a:lnTo>
                  <a:pt x="0" y="0"/>
                </a:lnTo>
                <a:close/>
              </a:path>
            </a:pathLst>
          </a:custGeom>
          <a:blipFill rotWithShape="1">
            <a:blip r:embed="rId20">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2" name="Google Shape;532;p38"/>
          <p:cNvSpPr/>
          <p:nvPr/>
        </p:nvSpPr>
        <p:spPr>
          <a:xfrm>
            <a:off x="5595860" y="3371535"/>
            <a:ext cx="2200275" cy="220599"/>
          </a:xfrm>
          <a:custGeom>
            <a:rect b="b" l="l" r="r" t="t"/>
            <a:pathLst>
              <a:path extrusionOk="0" h="294132" w="2933700">
                <a:moveTo>
                  <a:pt x="0" y="0"/>
                </a:moveTo>
                <a:lnTo>
                  <a:pt x="2933700" y="0"/>
                </a:lnTo>
                <a:lnTo>
                  <a:pt x="2933700" y="294132"/>
                </a:lnTo>
                <a:lnTo>
                  <a:pt x="0" y="294132"/>
                </a:lnTo>
                <a:lnTo>
                  <a:pt x="0" y="0"/>
                </a:lnTo>
                <a:close/>
              </a:path>
            </a:pathLst>
          </a:custGeom>
          <a:blipFill rotWithShape="1">
            <a:blip r:embed="rId20">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3" name="Google Shape;533;p38"/>
          <p:cNvSpPr/>
          <p:nvPr/>
        </p:nvSpPr>
        <p:spPr>
          <a:xfrm>
            <a:off x="3576968" y="3988861"/>
            <a:ext cx="585216" cy="486460"/>
          </a:xfrm>
          <a:custGeom>
            <a:rect b="b" l="l" r="r" t="t"/>
            <a:pathLst>
              <a:path extrusionOk="0" h="648614" w="780288">
                <a:moveTo>
                  <a:pt x="0" y="0"/>
                </a:moveTo>
                <a:lnTo>
                  <a:pt x="780288" y="0"/>
                </a:lnTo>
                <a:lnTo>
                  <a:pt x="780288" y="648614"/>
                </a:lnTo>
                <a:lnTo>
                  <a:pt x="0" y="648614"/>
                </a:lnTo>
                <a:lnTo>
                  <a:pt x="0" y="0"/>
                </a:lnTo>
                <a:close/>
              </a:path>
            </a:pathLst>
          </a:custGeom>
          <a:blipFill rotWithShape="1">
            <a:blip r:embed="rId21">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4" name="Google Shape;534;p38"/>
          <p:cNvSpPr/>
          <p:nvPr/>
        </p:nvSpPr>
        <p:spPr>
          <a:xfrm>
            <a:off x="4474909" y="4004405"/>
            <a:ext cx="713232" cy="476402"/>
          </a:xfrm>
          <a:custGeom>
            <a:rect b="b" l="l" r="r" t="t"/>
            <a:pathLst>
              <a:path extrusionOk="0" h="635203" w="950976">
                <a:moveTo>
                  <a:pt x="0" y="0"/>
                </a:moveTo>
                <a:lnTo>
                  <a:pt x="950976" y="0"/>
                </a:lnTo>
                <a:lnTo>
                  <a:pt x="950976" y="635204"/>
                </a:lnTo>
                <a:lnTo>
                  <a:pt x="0" y="635204"/>
                </a:lnTo>
                <a:lnTo>
                  <a:pt x="0" y="0"/>
                </a:lnTo>
                <a:close/>
              </a:path>
            </a:pathLst>
          </a:custGeom>
          <a:blipFill rotWithShape="1">
            <a:blip r:embed="rId22">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5" name="Google Shape;535;p38"/>
          <p:cNvSpPr/>
          <p:nvPr/>
        </p:nvSpPr>
        <p:spPr>
          <a:xfrm>
            <a:off x="7221767" y="3868160"/>
            <a:ext cx="576986" cy="532181"/>
          </a:xfrm>
          <a:custGeom>
            <a:rect b="b" l="l" r="r" t="t"/>
            <a:pathLst>
              <a:path extrusionOk="0" h="709574" w="769315">
                <a:moveTo>
                  <a:pt x="0" y="0"/>
                </a:moveTo>
                <a:lnTo>
                  <a:pt x="769315" y="0"/>
                </a:lnTo>
                <a:lnTo>
                  <a:pt x="769315" y="709574"/>
                </a:lnTo>
                <a:lnTo>
                  <a:pt x="0" y="709574"/>
                </a:lnTo>
                <a:lnTo>
                  <a:pt x="0" y="0"/>
                </a:lnTo>
                <a:close/>
              </a:path>
            </a:pathLst>
          </a:custGeom>
          <a:blipFill rotWithShape="1">
            <a:blip r:embed="rId2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6" name="Google Shape;536;p38"/>
          <p:cNvSpPr/>
          <p:nvPr/>
        </p:nvSpPr>
        <p:spPr>
          <a:xfrm>
            <a:off x="6718847" y="3925767"/>
            <a:ext cx="392278" cy="451714"/>
          </a:xfrm>
          <a:custGeom>
            <a:rect b="b" l="l" r="r" t="t"/>
            <a:pathLst>
              <a:path extrusionOk="0" h="602285" w="523037">
                <a:moveTo>
                  <a:pt x="0" y="0"/>
                </a:moveTo>
                <a:lnTo>
                  <a:pt x="523037" y="0"/>
                </a:lnTo>
                <a:lnTo>
                  <a:pt x="523037" y="602285"/>
                </a:lnTo>
                <a:lnTo>
                  <a:pt x="0" y="602285"/>
                </a:lnTo>
                <a:lnTo>
                  <a:pt x="0" y="0"/>
                </a:lnTo>
                <a:close/>
              </a:path>
            </a:pathLst>
          </a:custGeom>
          <a:blipFill rotWithShape="1">
            <a:blip r:embed="rId2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7" name="Google Shape;537;p38"/>
          <p:cNvSpPr/>
          <p:nvPr/>
        </p:nvSpPr>
        <p:spPr>
          <a:xfrm>
            <a:off x="5815420" y="3827012"/>
            <a:ext cx="720547" cy="410566"/>
          </a:xfrm>
          <a:custGeom>
            <a:rect b="b" l="l" r="r" t="t"/>
            <a:pathLst>
              <a:path extrusionOk="0" h="547421" w="960730">
                <a:moveTo>
                  <a:pt x="0" y="0"/>
                </a:moveTo>
                <a:lnTo>
                  <a:pt x="960729" y="0"/>
                </a:lnTo>
                <a:lnTo>
                  <a:pt x="960729" y="547420"/>
                </a:lnTo>
                <a:lnTo>
                  <a:pt x="0" y="547420"/>
                </a:lnTo>
                <a:lnTo>
                  <a:pt x="0" y="0"/>
                </a:lnTo>
                <a:close/>
              </a:path>
            </a:pathLst>
          </a:custGeom>
          <a:blipFill rotWithShape="1">
            <a:blip r:embed="rId25">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8" name="Google Shape;538;p38"/>
          <p:cNvSpPr/>
          <p:nvPr/>
        </p:nvSpPr>
        <p:spPr>
          <a:xfrm>
            <a:off x="6050420" y="4182713"/>
            <a:ext cx="251460" cy="344728"/>
          </a:xfrm>
          <a:custGeom>
            <a:rect b="b" l="l" r="r" t="t"/>
            <a:pathLst>
              <a:path extrusionOk="0" h="459638" w="335280">
                <a:moveTo>
                  <a:pt x="0" y="0"/>
                </a:moveTo>
                <a:lnTo>
                  <a:pt x="335280" y="0"/>
                </a:lnTo>
                <a:lnTo>
                  <a:pt x="335280" y="459639"/>
                </a:lnTo>
                <a:lnTo>
                  <a:pt x="0" y="459639"/>
                </a:lnTo>
                <a:lnTo>
                  <a:pt x="0" y="0"/>
                </a:lnTo>
                <a:close/>
              </a:path>
            </a:pathLst>
          </a:custGeom>
          <a:blipFill rotWithShape="1">
            <a:blip r:embed="rId26">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39" name="Google Shape;539;p38"/>
          <p:cNvSpPr/>
          <p:nvPr/>
        </p:nvSpPr>
        <p:spPr>
          <a:xfrm>
            <a:off x="1842049" y="3889649"/>
            <a:ext cx="392278" cy="14630"/>
          </a:xfrm>
          <a:custGeom>
            <a:rect b="b" l="l" r="r" t="t"/>
            <a:pathLst>
              <a:path extrusionOk="0" h="19507" w="523037">
                <a:moveTo>
                  <a:pt x="0" y="0"/>
                </a:moveTo>
                <a:lnTo>
                  <a:pt x="523037" y="0"/>
                </a:lnTo>
                <a:lnTo>
                  <a:pt x="523037" y="19507"/>
                </a:lnTo>
                <a:lnTo>
                  <a:pt x="0" y="19507"/>
                </a:lnTo>
                <a:lnTo>
                  <a:pt x="0" y="0"/>
                </a:lnTo>
                <a:close/>
              </a:path>
            </a:pathLst>
          </a:custGeom>
          <a:blipFill rotWithShape="1">
            <a:blip r:embed="rId27">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0" name="Google Shape;540;p38"/>
          <p:cNvSpPr/>
          <p:nvPr/>
        </p:nvSpPr>
        <p:spPr>
          <a:xfrm>
            <a:off x="2534249" y="3889649"/>
            <a:ext cx="396850" cy="14630"/>
          </a:xfrm>
          <a:custGeom>
            <a:rect b="b" l="l" r="r" t="t"/>
            <a:pathLst>
              <a:path extrusionOk="0" h="19507" w="529133">
                <a:moveTo>
                  <a:pt x="0" y="0"/>
                </a:moveTo>
                <a:lnTo>
                  <a:pt x="529133" y="0"/>
                </a:lnTo>
                <a:lnTo>
                  <a:pt x="529133" y="19507"/>
                </a:lnTo>
                <a:lnTo>
                  <a:pt x="0" y="19507"/>
                </a:lnTo>
                <a:lnTo>
                  <a:pt x="0" y="0"/>
                </a:lnTo>
                <a:close/>
              </a:path>
            </a:pathLst>
          </a:custGeom>
          <a:blipFill rotWithShape="1">
            <a:blip r:embed="rId28">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1" name="Google Shape;541;p38"/>
          <p:cNvSpPr/>
          <p:nvPr/>
        </p:nvSpPr>
        <p:spPr>
          <a:xfrm>
            <a:off x="3706813" y="3889649"/>
            <a:ext cx="300838" cy="14630"/>
          </a:xfrm>
          <a:custGeom>
            <a:rect b="b" l="l" r="r" t="t"/>
            <a:pathLst>
              <a:path extrusionOk="0" h="19507" w="401117">
                <a:moveTo>
                  <a:pt x="0" y="0"/>
                </a:moveTo>
                <a:lnTo>
                  <a:pt x="401117" y="0"/>
                </a:lnTo>
                <a:lnTo>
                  <a:pt x="401117" y="19507"/>
                </a:lnTo>
                <a:lnTo>
                  <a:pt x="0" y="19507"/>
                </a:lnTo>
                <a:lnTo>
                  <a:pt x="0" y="0"/>
                </a:lnTo>
                <a:close/>
              </a:path>
            </a:pathLst>
          </a:custGeom>
          <a:blipFill rotWithShape="1">
            <a:blip r:embed="rId29">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2" name="Google Shape;542;p38"/>
          <p:cNvSpPr/>
          <p:nvPr/>
        </p:nvSpPr>
        <p:spPr>
          <a:xfrm>
            <a:off x="4374479" y="3889649"/>
            <a:ext cx="929030" cy="14630"/>
          </a:xfrm>
          <a:custGeom>
            <a:rect b="b" l="l" r="r" t="t"/>
            <a:pathLst>
              <a:path extrusionOk="0" h="19507" w="1238707">
                <a:moveTo>
                  <a:pt x="0" y="0"/>
                </a:moveTo>
                <a:lnTo>
                  <a:pt x="1238707" y="0"/>
                </a:lnTo>
                <a:lnTo>
                  <a:pt x="1238707" y="19507"/>
                </a:lnTo>
                <a:lnTo>
                  <a:pt x="0" y="19507"/>
                </a:lnTo>
                <a:lnTo>
                  <a:pt x="0" y="0"/>
                </a:lnTo>
                <a:close/>
              </a:path>
            </a:pathLst>
          </a:custGeom>
          <a:blipFill rotWithShape="1">
            <a:blip r:embed="rId30">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3" name="Google Shape;543;p38"/>
          <p:cNvSpPr/>
          <p:nvPr/>
        </p:nvSpPr>
        <p:spPr>
          <a:xfrm>
            <a:off x="6056895" y="3889649"/>
            <a:ext cx="237744" cy="14630"/>
          </a:xfrm>
          <a:custGeom>
            <a:rect b="b" l="l" r="r" t="t"/>
            <a:pathLst>
              <a:path extrusionOk="0" h="19507" w="316992">
                <a:moveTo>
                  <a:pt x="0" y="0"/>
                </a:moveTo>
                <a:lnTo>
                  <a:pt x="316992" y="0"/>
                </a:lnTo>
                <a:lnTo>
                  <a:pt x="316992" y="19507"/>
                </a:lnTo>
                <a:lnTo>
                  <a:pt x="0" y="19507"/>
                </a:lnTo>
                <a:lnTo>
                  <a:pt x="0" y="0"/>
                </a:lnTo>
                <a:close/>
              </a:path>
            </a:pathLst>
          </a:custGeom>
          <a:blipFill rotWithShape="1">
            <a:blip r:embed="rId31">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4" name="Google Shape;544;p38"/>
          <p:cNvSpPr/>
          <p:nvPr/>
        </p:nvSpPr>
        <p:spPr>
          <a:xfrm>
            <a:off x="6815162" y="3872120"/>
            <a:ext cx="671170" cy="14630"/>
          </a:xfrm>
          <a:custGeom>
            <a:rect b="b" l="l" r="r" t="t"/>
            <a:pathLst>
              <a:path extrusionOk="0" h="19507" w="894893">
                <a:moveTo>
                  <a:pt x="0" y="0"/>
                </a:moveTo>
                <a:lnTo>
                  <a:pt x="894893" y="0"/>
                </a:lnTo>
                <a:lnTo>
                  <a:pt x="894893" y="19507"/>
                </a:lnTo>
                <a:lnTo>
                  <a:pt x="0" y="19507"/>
                </a:lnTo>
                <a:lnTo>
                  <a:pt x="0" y="0"/>
                </a:lnTo>
                <a:close/>
              </a:path>
            </a:pathLst>
          </a:custGeom>
          <a:blipFill rotWithShape="1">
            <a:blip r:embed="rId32">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5" name="Google Shape;545;p38"/>
          <p:cNvSpPr/>
          <p:nvPr/>
        </p:nvSpPr>
        <p:spPr>
          <a:xfrm>
            <a:off x="854800" y="804920"/>
            <a:ext cx="7053682" cy="480060"/>
          </a:xfrm>
          <a:custGeom>
            <a:rect b="b" l="l" r="r" t="t"/>
            <a:pathLst>
              <a:path extrusionOk="0" h="640080" w="9404909">
                <a:moveTo>
                  <a:pt x="0" y="0"/>
                </a:moveTo>
                <a:lnTo>
                  <a:pt x="9404908" y="0"/>
                </a:lnTo>
                <a:lnTo>
                  <a:pt x="9404908" y="640080"/>
                </a:lnTo>
                <a:lnTo>
                  <a:pt x="0" y="640080"/>
                </a:lnTo>
                <a:lnTo>
                  <a:pt x="0" y="0"/>
                </a:lnTo>
                <a:close/>
              </a:path>
            </a:pathLst>
          </a:custGeom>
          <a:blipFill rotWithShape="1">
            <a:blip r:embed="rId33">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6" name="Google Shape;546;p38"/>
          <p:cNvSpPr/>
          <p:nvPr/>
        </p:nvSpPr>
        <p:spPr>
          <a:xfrm>
            <a:off x="1734452" y="899098"/>
            <a:ext cx="5295290" cy="336505"/>
          </a:xfrm>
          <a:custGeom>
            <a:rect b="b" l="l" r="r" t="t"/>
            <a:pathLst>
              <a:path extrusionOk="0" h="448673" w="7060387">
                <a:moveTo>
                  <a:pt x="0" y="0"/>
                </a:moveTo>
                <a:lnTo>
                  <a:pt x="7060387" y="0"/>
                </a:lnTo>
                <a:lnTo>
                  <a:pt x="7060387" y="448673"/>
                </a:lnTo>
                <a:lnTo>
                  <a:pt x="0" y="448673"/>
                </a:lnTo>
                <a:lnTo>
                  <a:pt x="0" y="0"/>
                </a:lnTo>
                <a:close/>
              </a:path>
            </a:pathLst>
          </a:custGeom>
          <a:blipFill rotWithShape="1">
            <a:blip r:embed="rId34">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7" name="Google Shape;547;p38"/>
          <p:cNvSpPr/>
          <p:nvPr/>
        </p:nvSpPr>
        <p:spPr>
          <a:xfrm>
            <a:off x="880180" y="792307"/>
            <a:ext cx="7005218" cy="431597"/>
          </a:xfrm>
          <a:custGeom>
            <a:rect b="b" l="l" r="r" t="t"/>
            <a:pathLst>
              <a:path extrusionOk="0" h="575462" w="9340291">
                <a:moveTo>
                  <a:pt x="0" y="0"/>
                </a:moveTo>
                <a:lnTo>
                  <a:pt x="9340291" y="0"/>
                </a:lnTo>
                <a:lnTo>
                  <a:pt x="9340291" y="575463"/>
                </a:lnTo>
                <a:lnTo>
                  <a:pt x="0" y="575463"/>
                </a:lnTo>
                <a:lnTo>
                  <a:pt x="0" y="0"/>
                </a:lnTo>
                <a:close/>
              </a:path>
            </a:pathLst>
          </a:custGeom>
          <a:blipFill rotWithShape="1">
            <a:blip r:embed="rId35">
              <a:alphaModFix/>
            </a:blip>
            <a:stretch>
              <a:fillRect b="0"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48" name="Google Shape;548;p38"/>
          <p:cNvSpPr txBox="1"/>
          <p:nvPr/>
        </p:nvSpPr>
        <p:spPr>
          <a:xfrm>
            <a:off x="3862107" y="1281071"/>
            <a:ext cx="968767" cy="213375"/>
          </a:xfrm>
          <a:prstGeom prst="rect">
            <a:avLst/>
          </a:prstGeom>
          <a:noFill/>
          <a:ln>
            <a:noFill/>
          </a:ln>
        </p:spPr>
        <p:txBody>
          <a:bodyPr anchorCtr="0" anchor="t" bIns="0" lIns="0" spcFirstLastPara="1" rIns="0" wrap="square" tIns="0">
            <a:spAutoFit/>
          </a:bodyPr>
          <a:lstStyle/>
          <a:p>
            <a:pPr indent="0" lvl="0" marL="0" marR="0" rtl="0" algn="l">
              <a:lnSpc>
                <a:spcPct val="140046"/>
              </a:lnSpc>
              <a:spcBef>
                <a:spcPts val="0"/>
              </a:spcBef>
              <a:spcAft>
                <a:spcPts val="0"/>
              </a:spcAft>
              <a:buNone/>
            </a:pPr>
            <a:r>
              <a:rPr lang="en" sz="1300">
                <a:solidFill>
                  <a:srgbClr val="FFFFFF"/>
                </a:solidFill>
                <a:latin typeface="IBM Plex Sans"/>
                <a:ea typeface="IBM Plex Sans"/>
                <a:cs typeface="IBM Plex Sans"/>
                <a:sym typeface="IBM Plex Sans"/>
              </a:rPr>
              <a:t>Focus Areas</a:t>
            </a:r>
            <a:endParaRPr sz="1100"/>
          </a:p>
        </p:txBody>
      </p:sp>
      <p:sp>
        <p:nvSpPr>
          <p:cNvPr id="549" name="Google Shape;549;p38"/>
          <p:cNvSpPr txBox="1"/>
          <p:nvPr/>
        </p:nvSpPr>
        <p:spPr>
          <a:xfrm>
            <a:off x="3339984" y="3142103"/>
            <a:ext cx="2012240" cy="213375"/>
          </a:xfrm>
          <a:prstGeom prst="rect">
            <a:avLst/>
          </a:prstGeom>
          <a:noFill/>
          <a:ln>
            <a:noFill/>
          </a:ln>
        </p:spPr>
        <p:txBody>
          <a:bodyPr anchorCtr="0" anchor="t" bIns="0" lIns="0" spcFirstLastPara="1" rIns="0" wrap="square" tIns="0">
            <a:spAutoFit/>
          </a:bodyPr>
          <a:lstStyle/>
          <a:p>
            <a:pPr indent="0" lvl="0" marL="0" marR="0" rtl="0" algn="l">
              <a:lnSpc>
                <a:spcPct val="140046"/>
              </a:lnSpc>
              <a:spcBef>
                <a:spcPts val="0"/>
              </a:spcBef>
              <a:spcAft>
                <a:spcPts val="0"/>
              </a:spcAft>
              <a:buNone/>
            </a:pPr>
            <a:r>
              <a:rPr lang="en" sz="1300">
                <a:solidFill>
                  <a:srgbClr val="FFFFFF"/>
                </a:solidFill>
                <a:latin typeface="IBM Plex Sans"/>
                <a:ea typeface="IBM Plex Sans"/>
                <a:cs typeface="IBM Plex Sans"/>
                <a:sym typeface="IBM Plex Sans"/>
              </a:rPr>
              <a:t>Foundational Investments</a:t>
            </a:r>
            <a:endParaRPr sz="1100"/>
          </a:p>
        </p:txBody>
      </p:sp>
      <p:sp>
        <p:nvSpPr>
          <p:cNvPr id="550" name="Google Shape;550;p38"/>
          <p:cNvSpPr txBox="1"/>
          <p:nvPr/>
        </p:nvSpPr>
        <p:spPr>
          <a:xfrm>
            <a:off x="1083765" y="3726588"/>
            <a:ext cx="482575"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Quality</a:t>
            </a:r>
            <a:endParaRPr sz="1100"/>
          </a:p>
        </p:txBody>
      </p:sp>
      <p:sp>
        <p:nvSpPr>
          <p:cNvPr id="551" name="Google Shape;551;p38"/>
          <p:cNvSpPr txBox="1"/>
          <p:nvPr/>
        </p:nvSpPr>
        <p:spPr>
          <a:xfrm>
            <a:off x="1232264" y="1602134"/>
            <a:ext cx="634731"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Direct-to-</a:t>
            </a:r>
            <a:endParaRPr sz="1100"/>
          </a:p>
        </p:txBody>
      </p:sp>
      <p:sp>
        <p:nvSpPr>
          <p:cNvPr id="552" name="Google Shape;552;p38"/>
          <p:cNvSpPr txBox="1"/>
          <p:nvPr/>
        </p:nvSpPr>
        <p:spPr>
          <a:xfrm>
            <a:off x="1808519" y="3400073"/>
            <a:ext cx="426242" cy="509029"/>
          </a:xfrm>
          <a:prstGeom prst="rect">
            <a:avLst/>
          </a:prstGeom>
          <a:noFill/>
          <a:ln>
            <a:noFill/>
          </a:ln>
        </p:spPr>
        <p:txBody>
          <a:bodyPr anchorCtr="0" anchor="t" bIns="0" lIns="0" spcFirstLastPara="1" rIns="0" wrap="square" tIns="0">
            <a:spAutoFit/>
          </a:bodyPr>
          <a:lstStyle/>
          <a:p>
            <a:pPr indent="0" lvl="0" marL="0" marR="0" rtl="0" algn="just">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Game Youth</a:t>
            </a:r>
            <a:endParaRPr sz="1100"/>
          </a:p>
        </p:txBody>
      </p:sp>
      <p:sp>
        <p:nvSpPr>
          <p:cNvPr id="553" name="Google Shape;553;p38"/>
          <p:cNvSpPr txBox="1"/>
          <p:nvPr/>
        </p:nvSpPr>
        <p:spPr>
          <a:xfrm>
            <a:off x="2534398" y="3726588"/>
            <a:ext cx="396987"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PH&amp;S</a:t>
            </a:r>
            <a:endParaRPr sz="1100"/>
          </a:p>
        </p:txBody>
      </p:sp>
      <p:sp>
        <p:nvSpPr>
          <p:cNvPr id="554" name="Google Shape;554;p38"/>
          <p:cNvSpPr txBox="1"/>
          <p:nvPr/>
        </p:nvSpPr>
        <p:spPr>
          <a:xfrm>
            <a:off x="2516110" y="1687476"/>
            <a:ext cx="855307"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International</a:t>
            </a:r>
            <a:endParaRPr sz="1100"/>
          </a:p>
        </p:txBody>
      </p:sp>
      <p:sp>
        <p:nvSpPr>
          <p:cNvPr id="555" name="Google Shape;555;p38"/>
          <p:cNvSpPr txBox="1"/>
          <p:nvPr/>
        </p:nvSpPr>
        <p:spPr>
          <a:xfrm>
            <a:off x="3997592" y="1602134"/>
            <a:ext cx="689269"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Legalized </a:t>
            </a:r>
            <a:endParaRPr sz="1100"/>
          </a:p>
        </p:txBody>
      </p:sp>
      <p:sp>
        <p:nvSpPr>
          <p:cNvPr id="556" name="Google Shape;556;p38"/>
          <p:cNvSpPr txBox="1"/>
          <p:nvPr/>
        </p:nvSpPr>
        <p:spPr>
          <a:xfrm>
            <a:off x="3249625" y="3400075"/>
            <a:ext cx="2054100" cy="489000"/>
          </a:xfrm>
          <a:prstGeom prst="rect">
            <a:avLst/>
          </a:prstGeom>
          <a:noFill/>
          <a:ln>
            <a:noFill/>
          </a:ln>
        </p:spPr>
        <p:txBody>
          <a:bodyPr anchorCtr="0" anchor="t" bIns="0" lIns="0" spcFirstLastPara="1" rIns="0" wrap="square" tIns="0">
            <a:spAutoFit/>
          </a:bodyPr>
          <a:lstStyle/>
          <a:p>
            <a:pPr indent="0" lvl="0" marL="0" marR="0" rtl="0" algn="ctr">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Fan Development </a:t>
            </a:r>
            <a:endParaRPr sz="1100"/>
          </a:p>
          <a:p>
            <a:pPr indent="0" lvl="0" marL="0" marR="0" rtl="0" algn="l">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             Avid            Youth / Latinx</a:t>
            </a:r>
            <a:endParaRPr sz="1100"/>
          </a:p>
        </p:txBody>
      </p:sp>
      <p:sp>
        <p:nvSpPr>
          <p:cNvPr id="557" name="Google Shape;557;p38"/>
          <p:cNvSpPr txBox="1"/>
          <p:nvPr/>
        </p:nvSpPr>
        <p:spPr>
          <a:xfrm>
            <a:off x="5350904" y="1602134"/>
            <a:ext cx="760970"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Non-Game </a:t>
            </a:r>
            <a:endParaRPr sz="1100"/>
          </a:p>
        </p:txBody>
      </p:sp>
      <p:sp>
        <p:nvSpPr>
          <p:cNvPr id="558" name="Google Shape;558;p38"/>
          <p:cNvSpPr txBox="1"/>
          <p:nvPr/>
        </p:nvSpPr>
        <p:spPr>
          <a:xfrm>
            <a:off x="6951488" y="1602134"/>
            <a:ext cx="334934" cy="18250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lang="en" sz="1100">
                <a:solidFill>
                  <a:srgbClr val="000000"/>
                </a:solidFill>
                <a:latin typeface="IBM Plex Sans"/>
                <a:ea typeface="IBM Plex Sans"/>
                <a:cs typeface="IBM Plex Sans"/>
                <a:sym typeface="IBM Plex Sans"/>
              </a:rPr>
              <a:t>New </a:t>
            </a:r>
            <a:endParaRPr sz="1100"/>
          </a:p>
        </p:txBody>
      </p:sp>
      <p:sp>
        <p:nvSpPr>
          <p:cNvPr id="559" name="Google Shape;559;p38"/>
          <p:cNvSpPr txBox="1"/>
          <p:nvPr/>
        </p:nvSpPr>
        <p:spPr>
          <a:xfrm>
            <a:off x="5664101" y="3348986"/>
            <a:ext cx="2134800" cy="501900"/>
          </a:xfrm>
          <a:prstGeom prst="rect">
            <a:avLst/>
          </a:prstGeom>
          <a:noFill/>
          <a:ln>
            <a:noFill/>
          </a:ln>
        </p:spPr>
        <p:txBody>
          <a:bodyPr anchorCtr="0" anchor="t" bIns="0" lIns="0" spcFirstLastPara="1" rIns="0" wrap="square" tIns="0">
            <a:spAutoFit/>
          </a:bodyPr>
          <a:lstStyle/>
          <a:p>
            <a:pPr indent="0" lvl="0" marL="0" marR="0" rtl="0" algn="ctr">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Business Operations</a:t>
            </a:r>
            <a:endParaRPr sz="1100"/>
          </a:p>
          <a:p>
            <a:pPr indent="0" lvl="0" marL="0" marR="0" rtl="0" algn="ctr">
              <a:lnSpc>
                <a:spcPct val="188844"/>
              </a:lnSpc>
              <a:spcBef>
                <a:spcPts val="0"/>
              </a:spcBef>
              <a:spcAft>
                <a:spcPts val="0"/>
              </a:spcAft>
              <a:buNone/>
            </a:pPr>
            <a:r>
              <a:rPr lang="en" sz="1100">
                <a:solidFill>
                  <a:srgbClr val="000000"/>
                </a:solidFill>
                <a:latin typeface="IBM Plex Sans"/>
                <a:ea typeface="IBM Plex Sans"/>
                <a:cs typeface="IBM Plex Sans"/>
                <a:sym typeface="IBM Plex Sans"/>
              </a:rPr>
              <a:t>DEI                Data/Tech</a:t>
            </a:r>
            <a:endParaRPr sz="1100"/>
          </a:p>
        </p:txBody>
      </p:sp>
      <p:sp>
        <p:nvSpPr>
          <p:cNvPr id="560" name="Google Shape;560;p38"/>
          <p:cNvSpPr txBox="1"/>
          <p:nvPr/>
        </p:nvSpPr>
        <p:spPr>
          <a:xfrm>
            <a:off x="1196603" y="1772955"/>
            <a:ext cx="705717" cy="182726"/>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Consumer</a:t>
            </a:r>
            <a:endParaRPr sz="1100"/>
          </a:p>
        </p:txBody>
      </p:sp>
      <p:sp>
        <p:nvSpPr>
          <p:cNvPr id="561" name="Google Shape;561;p38"/>
          <p:cNvSpPr txBox="1"/>
          <p:nvPr/>
        </p:nvSpPr>
        <p:spPr>
          <a:xfrm>
            <a:off x="3832086" y="1772955"/>
            <a:ext cx="980665" cy="182726"/>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Sports Betting</a:t>
            </a:r>
            <a:endParaRPr sz="1100"/>
          </a:p>
        </p:txBody>
      </p:sp>
      <p:sp>
        <p:nvSpPr>
          <p:cNvPr id="562" name="Google Shape;562;p38"/>
          <p:cNvSpPr txBox="1"/>
          <p:nvPr/>
        </p:nvSpPr>
        <p:spPr>
          <a:xfrm>
            <a:off x="5221974" y="1772955"/>
            <a:ext cx="979665" cy="182726"/>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Media Content</a:t>
            </a:r>
            <a:endParaRPr sz="1100"/>
          </a:p>
        </p:txBody>
      </p:sp>
      <p:sp>
        <p:nvSpPr>
          <p:cNvPr id="563" name="Google Shape;563;p38"/>
          <p:cNvSpPr txBox="1"/>
          <p:nvPr/>
        </p:nvSpPr>
        <p:spPr>
          <a:xfrm>
            <a:off x="6705514" y="1772955"/>
            <a:ext cx="787847" cy="182726"/>
          </a:xfrm>
          <a:prstGeom prst="rect">
            <a:avLst/>
          </a:prstGeom>
          <a:noFill/>
          <a:ln>
            <a:noFill/>
          </a:ln>
        </p:spPr>
        <p:txBody>
          <a:bodyPr anchorCtr="0" anchor="t" bIns="0" lIns="0" spcFirstLastPara="1" rIns="0" wrap="square" tIns="0">
            <a:spAutoFit/>
          </a:bodyPr>
          <a:lstStyle/>
          <a:p>
            <a:pPr indent="0" lvl="0" marL="0" marR="0" rtl="0" algn="l">
              <a:lnSpc>
                <a:spcPct val="140026"/>
              </a:lnSpc>
              <a:spcBef>
                <a:spcPts val="0"/>
              </a:spcBef>
              <a:spcAft>
                <a:spcPts val="0"/>
              </a:spcAft>
              <a:buNone/>
            </a:pPr>
            <a:r>
              <a:rPr lang="en" sz="1100">
                <a:solidFill>
                  <a:srgbClr val="000000"/>
                </a:solidFill>
                <a:latin typeface="IBM Plex Sans"/>
                <a:ea typeface="IBM Plex Sans"/>
                <a:cs typeface="IBM Plex Sans"/>
                <a:sym typeface="IBM Plex Sans"/>
              </a:rPr>
              <a:t>Technology</a:t>
            </a:r>
            <a:endParaRPr sz="1100"/>
          </a:p>
        </p:txBody>
      </p:sp>
      <p:sp>
        <p:nvSpPr>
          <p:cNvPr id="564" name="Google Shape;564;p38"/>
          <p:cNvSpPr txBox="1"/>
          <p:nvPr/>
        </p:nvSpPr>
        <p:spPr>
          <a:xfrm>
            <a:off x="6560124" y="2394564"/>
            <a:ext cx="542508" cy="12683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 sz="800">
                <a:solidFill>
                  <a:srgbClr val="000000"/>
                </a:solidFill>
                <a:latin typeface="Open Sans"/>
                <a:ea typeface="Open Sans"/>
                <a:cs typeface="Open Sans"/>
                <a:sym typeface="Open Sans"/>
              </a:rPr>
              <a:t>Blockchain</a:t>
            </a:r>
            <a:endParaRPr sz="1100"/>
          </a:p>
        </p:txBody>
      </p:sp>
      <p:sp>
        <p:nvSpPr>
          <p:cNvPr id="565" name="Google Shape;565;p38"/>
          <p:cNvSpPr txBox="1"/>
          <p:nvPr/>
        </p:nvSpPr>
        <p:spPr>
          <a:xfrm>
            <a:off x="2320737" y="4308707"/>
            <a:ext cx="812147" cy="157706"/>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lang="en" sz="1000">
                <a:solidFill>
                  <a:srgbClr val="000000"/>
                </a:solidFill>
                <a:latin typeface="IBM Plex Sans"/>
                <a:ea typeface="IBM Plex Sans"/>
                <a:cs typeface="IBM Plex Sans"/>
                <a:sym typeface="IBM Plex Sans"/>
              </a:rPr>
              <a:t>Digital Athlete</a:t>
            </a:r>
            <a:endParaRPr sz="1100"/>
          </a:p>
        </p:txBody>
      </p:sp>
      <p:sp>
        <p:nvSpPr>
          <p:cNvPr id="566" name="Google Shape;566;p38"/>
          <p:cNvSpPr txBox="1"/>
          <p:nvPr/>
        </p:nvSpPr>
        <p:spPr>
          <a:xfrm>
            <a:off x="6941046" y="4385699"/>
            <a:ext cx="426139" cy="157706"/>
          </a:xfrm>
          <a:prstGeom prst="rect">
            <a:avLst/>
          </a:prstGeom>
          <a:noFill/>
          <a:ln>
            <a:noFill/>
          </a:ln>
        </p:spPr>
        <p:txBody>
          <a:bodyPr anchorCtr="0" anchor="t" bIns="0" lIns="0" spcFirstLastPara="1" rIns="0" wrap="square" tIns="0">
            <a:spAutoFit/>
          </a:bodyPr>
          <a:lstStyle/>
          <a:p>
            <a:pPr indent="0" lvl="0" marL="0" marR="0" rtl="0" algn="l">
              <a:lnSpc>
                <a:spcPct val="140047"/>
              </a:lnSpc>
              <a:spcBef>
                <a:spcPts val="0"/>
              </a:spcBef>
              <a:spcAft>
                <a:spcPts val="0"/>
              </a:spcAft>
              <a:buNone/>
            </a:pPr>
            <a:r>
              <a:rPr lang="en" sz="1000">
                <a:solidFill>
                  <a:srgbClr val="000000"/>
                </a:solidFill>
                <a:latin typeface="IBM Plex Sans"/>
                <a:ea typeface="IBM Plex Sans"/>
                <a:cs typeface="IBM Plex Sans"/>
                <a:sym typeface="IBM Plex Sans"/>
              </a:rPr>
              <a:t>Fan 1:1</a:t>
            </a:r>
            <a:endParaRPr sz="1100"/>
          </a:p>
        </p:txBody>
      </p:sp>
      <p:sp>
        <p:nvSpPr>
          <p:cNvPr id="567" name="Google Shape;567;p38"/>
          <p:cNvSpPr txBox="1"/>
          <p:nvPr/>
        </p:nvSpPr>
        <p:spPr>
          <a:xfrm>
            <a:off x="751106" y="4611964"/>
            <a:ext cx="1765004" cy="108972"/>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None/>
            </a:pPr>
            <a:r>
              <a:rPr lang="en" sz="700">
                <a:solidFill>
                  <a:srgbClr val="000000"/>
                </a:solidFill>
                <a:latin typeface="Calibri"/>
                <a:ea typeface="Calibri"/>
                <a:cs typeface="Calibri"/>
                <a:sym typeface="Calibri"/>
              </a:rPr>
              <a:t>*League goals in no particular order</a:t>
            </a:r>
            <a:endParaRPr sz="1100"/>
          </a:p>
        </p:txBody>
      </p:sp>
      <p:sp>
        <p:nvSpPr>
          <p:cNvPr id="568" name="Google Shape;568;p38"/>
          <p:cNvSpPr txBox="1"/>
          <p:nvPr/>
        </p:nvSpPr>
        <p:spPr>
          <a:xfrm>
            <a:off x="1510153" y="899863"/>
            <a:ext cx="5728653" cy="224028"/>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lang="en" sz="1300">
                <a:solidFill>
                  <a:srgbClr val="FFFFFF"/>
                </a:solidFill>
                <a:latin typeface="IBM Plex Sans"/>
                <a:ea typeface="IBM Plex Sans"/>
                <a:cs typeface="IBM Plex Sans"/>
                <a:sym typeface="IBM Plex Sans"/>
              </a:rPr>
              <a:t>League Goals: Increase Consumption | Fan Growth | Grow Key Demographics</a:t>
            </a:r>
            <a:endParaRPr sz="1100"/>
          </a:p>
        </p:txBody>
      </p:sp>
      <p:sp>
        <p:nvSpPr>
          <p:cNvPr id="569" name="Google Shape;569;p38"/>
          <p:cNvSpPr txBox="1"/>
          <p:nvPr/>
        </p:nvSpPr>
        <p:spPr>
          <a:xfrm>
            <a:off x="235915" y="159654"/>
            <a:ext cx="4725620" cy="365536"/>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1" lang="en" sz="2200">
                <a:solidFill>
                  <a:srgbClr val="10253F"/>
                </a:solidFill>
                <a:latin typeface="IBM Plex Sans"/>
                <a:ea typeface="IBM Plex Sans"/>
                <a:cs typeface="IBM Plex Sans"/>
                <a:sym typeface="IBM Plex Sans"/>
              </a:rPr>
              <a:t>STRATEGIC PLANNING FOCUS</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