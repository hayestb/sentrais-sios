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</p:sldMasterIdLst>
  <p:notesMasterIdLst>
    <p:notesMasterId r:id="rId14"/>
  </p:notesMasterIdLst>
  <p:sldIdLst>
    <p:sldId id="2147479856" r:id="rId6"/>
    <p:sldId id="2147479853" r:id="rId7"/>
    <p:sldId id="2147479855" r:id="rId8"/>
    <p:sldId id="2147479846" r:id="rId9"/>
    <p:sldId id="2147479837" r:id="rId10"/>
    <p:sldId id="2147479847" r:id="rId11"/>
    <p:sldId id="2147479850" r:id="rId12"/>
    <p:sldId id="21474798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verGame Program Meeting" id="{54415E15-2CED-43E3-B8B2-067E3FB9C99D}">
          <p14:sldIdLst>
            <p14:sldId id="2147479856"/>
            <p14:sldId id="2147479853"/>
            <p14:sldId id="2147479855"/>
            <p14:sldId id="2147479846"/>
            <p14:sldId id="2147479837"/>
            <p14:sldId id="2147479847"/>
            <p14:sldId id="2147479850"/>
            <p14:sldId id="214747985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912218-26CF-B9A6-DAB2-7B1E28DB2DA7}" name="Lippert, Zephy" initials="" userId="S::Zephy.Lippert@nfl.com::d2b21156-7cac-4bfe-ba47-6797d0e30cac" providerId="AD"/>
  <p188:author id="{60BBF820-2A49-710D-C430-8F035B8A5016}" name="Donten, Victoria" initials="VD" userId="S::Victoria.Donten@nfl.com::f72b3a31-2fde-4cbf-982f-0e80ea35b6f0" providerId="AD"/>
  <p188:author id="{FA0039F0-FA80-C3CE-67E6-31771FA83AC7}" name="Navarro, Jacqueline" initials="JN" userId="S::Jacqueline.Navarro@nfl.com::fd76e6d0-fa05-479a-a35c-bd2771036dc1" providerId="AD"/>
  <p188:author id="{5C8C49F5-63F7-E3F1-B848-0AB7D2C6AC28}" name="Rodriguez-Barry, Kathryn" initials="KR" userId="S::Kathryn.Rodriguez-Barry@nfl.com::1a06c8ec-1d25-4d3b-a51d-12630351b929" providerId="AD"/>
  <p188:author id="{1016A6FD-5D09-656A-9924-499ECFFA5872}" name="Rodriguez-Barry, Kathryn" initials="RK" userId="S::kathryn.rodriguez-barry@nfl.com::1a06c8ec-1d25-4d3b-a51d-12630351b9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3FCDFF"/>
    <a:srgbClr val="C7DDF1"/>
    <a:srgbClr val="6FCDDE"/>
    <a:srgbClr val="6DCADC"/>
    <a:srgbClr val="5A9BD5"/>
    <a:srgbClr val="1C1C52"/>
    <a:srgbClr val="2929A7"/>
    <a:srgbClr val="191966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118" d="100"/>
          <a:sy n="118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93CEE-D8C3-46E5-A090-08E64835A32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07137-7275-417B-9FE7-8E230B229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07137-7275-417B-9FE7-8E230B229E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3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Objective: Decision making, approval and alignment</a:t>
            </a:r>
          </a:p>
          <a:p>
            <a:endParaRPr lang="en-US"/>
          </a:p>
          <a:p>
            <a:r>
              <a:rPr lang="en-US"/>
              <a:t>Meeting host </a:t>
            </a:r>
            <a:r>
              <a:rPr lang="en-US" err="1"/>
              <a:t>sandi</a:t>
            </a:r>
            <a:r>
              <a:rPr lang="en-US"/>
              <a:t> tori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07137-7275-417B-9FE7-8E230B229E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22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07137-7275-417B-9FE7-8E230B229E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81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9176-8603-DFE1-ADF0-DA78EEDA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F84AD-D15C-0C5C-DC9E-37546D9C9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D3B4-0FD1-A0F2-EBB6-DF496E628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D4C3-FBFC-73B5-EB7D-E2D13A7FF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07137-7275-417B-9FE7-8E230B229E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Another color for days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07137-7275-417B-9FE7-8E230B229E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3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4F00E3-E984-401D-9893-F6C95FFCE005}"/>
              </a:ext>
            </a:extLst>
          </p:cNvPr>
          <p:cNvSpPr/>
          <p:nvPr userDrawn="1"/>
        </p:nvSpPr>
        <p:spPr bwMode="auto">
          <a:xfrm>
            <a:off x="8216901" y="12701"/>
            <a:ext cx="647700" cy="24017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121907" tIns="60953" rIns="121907" bIns="60953" rtlCol="0" anchor="ctr" anchorCtr="1"/>
          <a:lstStyle/>
          <a:p>
            <a:pPr algn="ctr"/>
            <a:endParaRPr lang="en-US" sz="2400"/>
          </a:p>
        </p:txBody>
      </p:sp>
      <p:pic>
        <p:nvPicPr>
          <p:cNvPr id="5" name="Picture 4" descr="A close up of a network&#10;&#10;AI-generated content may be incorrect.">
            <a:extLst>
              <a:ext uri="{FF2B5EF4-FFF2-40B4-BE49-F238E27FC236}">
                <a16:creationId xmlns:a16="http://schemas.microsoft.com/office/drawing/2014/main" id="{A75A6467-79F7-C666-B799-20B6637840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88E7A5-4C40-E65C-562E-FD5F29F912B5}"/>
              </a:ext>
            </a:extLst>
          </p:cNvPr>
          <p:cNvSpPr/>
          <p:nvPr userDrawn="1"/>
        </p:nvSpPr>
        <p:spPr bwMode="auto">
          <a:xfrm>
            <a:off x="0" y="12701"/>
            <a:ext cx="12192000" cy="6858000"/>
          </a:xfrm>
          <a:prstGeom prst="rect">
            <a:avLst/>
          </a:prstGeom>
          <a:gradFill>
            <a:gsLst>
              <a:gs pos="6000">
                <a:srgbClr val="1C1C52">
                  <a:alpha val="0"/>
                </a:srgbClr>
              </a:gs>
              <a:gs pos="14000">
                <a:srgbClr val="1C1C52">
                  <a:alpha val="24000"/>
                </a:srgbClr>
              </a:gs>
              <a:gs pos="32000">
                <a:srgbClr val="1C1C52">
                  <a:alpha val="71000"/>
                </a:srgbClr>
              </a:gs>
              <a:gs pos="24000">
                <a:srgbClr val="1C1C52">
                  <a:alpha val="52000"/>
                </a:srgbClr>
              </a:gs>
              <a:gs pos="42000">
                <a:srgbClr val="1C1C52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873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50801"/>
            <a:ext cx="8525933" cy="615951"/>
          </a:xfrm>
        </p:spPr>
        <p:txBody>
          <a:bodyPr/>
          <a:lstStyle>
            <a:lvl1pPr>
              <a:defRPr sz="3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2B6D0-0DE4-FD96-C0F3-3101ADA4B163}"/>
              </a:ext>
            </a:extLst>
          </p:cNvPr>
          <p:cNvSpPr txBox="1"/>
          <p:nvPr userDrawn="1"/>
        </p:nvSpPr>
        <p:spPr>
          <a:xfrm>
            <a:off x="9141705" y="71963"/>
            <a:ext cx="292608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67" b="1" i="1">
                <a:solidFill>
                  <a:srgbClr val="C00000"/>
                </a:solidFill>
              </a:rPr>
              <a:t>CONFIDENTIAL </a:t>
            </a:r>
            <a:r>
              <a:rPr lang="en-US" sz="1067" b="1" i="1">
                <a:solidFill>
                  <a:schemeClr val="tx1"/>
                </a:solidFill>
              </a:rPr>
              <a:t>| </a:t>
            </a:r>
            <a:fld id="{F8728191-AEDE-45E9-85B4-CFB3EBC2DBC5}" type="slidenum">
              <a:rPr lang="en-US" sz="1067" b="1" i="1" smtClean="0">
                <a:solidFill>
                  <a:schemeClr val="tx1"/>
                </a:solidFill>
              </a:rPr>
              <a:pPr algn="r"/>
              <a:t>‹#›</a:t>
            </a:fld>
            <a:endParaRPr lang="en-US" sz="1067" b="1" i="1">
              <a:solidFill>
                <a:schemeClr val="tx1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9120695-0607-9FC5-0D08-ABB014242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28200" y="6525119"/>
            <a:ext cx="2540000" cy="457200"/>
          </a:xfrm>
        </p:spPr>
        <p:txBody>
          <a:bodyPr/>
          <a:lstStyle/>
          <a:p>
            <a:pPr>
              <a:defRPr/>
            </a:pPr>
            <a:fld id="{386B83BC-7853-424B-A404-CB03E7A940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 descr="A close up of a network&#10;&#10;AI-generated content may be incorrect.">
            <a:extLst>
              <a:ext uri="{FF2B5EF4-FFF2-40B4-BE49-F238E27FC236}">
                <a16:creationId xmlns:a16="http://schemas.microsoft.com/office/drawing/2014/main" id="{44F432F6-CF8D-7486-633D-3B12C8FCED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67" b="69408"/>
          <a:stretch>
            <a:fillRect/>
          </a:stretch>
        </p:blipFill>
        <p:spPr>
          <a:xfrm flipH="1">
            <a:off x="0" y="6230034"/>
            <a:ext cx="12192000" cy="6463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3EEC41-C710-0F0E-5D2D-43D94278A7A0}"/>
              </a:ext>
            </a:extLst>
          </p:cNvPr>
          <p:cNvSpPr/>
          <p:nvPr userDrawn="1"/>
        </p:nvSpPr>
        <p:spPr bwMode="auto">
          <a:xfrm>
            <a:off x="0" y="6211669"/>
            <a:ext cx="12192000" cy="646330"/>
          </a:xfrm>
          <a:prstGeom prst="rect">
            <a:avLst/>
          </a:prstGeom>
          <a:gradFill>
            <a:gsLst>
              <a:gs pos="6000">
                <a:srgbClr val="1C1C52">
                  <a:alpha val="0"/>
                </a:srgbClr>
              </a:gs>
              <a:gs pos="14000">
                <a:srgbClr val="1C1C52">
                  <a:alpha val="24000"/>
                </a:srgbClr>
              </a:gs>
              <a:gs pos="32000">
                <a:srgbClr val="1C1C52">
                  <a:alpha val="71000"/>
                </a:srgbClr>
              </a:gs>
              <a:gs pos="24000">
                <a:srgbClr val="1C1C52">
                  <a:alpha val="52000"/>
                </a:srgbClr>
              </a:gs>
              <a:gs pos="42000">
                <a:srgbClr val="1C1C52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4DE4D-8EF8-43F9-3C97-396440215FA3}"/>
              </a:ext>
            </a:extLst>
          </p:cNvPr>
          <p:cNvSpPr txBox="1"/>
          <p:nvPr userDrawn="1"/>
        </p:nvSpPr>
        <p:spPr>
          <a:xfrm>
            <a:off x="10375824" y="6365556"/>
            <a:ext cx="189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ndzone Tech Bold" panose="02000500000000020004" pitchFamily="50" charset="0"/>
                <a:ea typeface="+mn-ea"/>
                <a:cs typeface="+mn-cs"/>
              </a:rPr>
              <a:t>TECHNOLOGY</a:t>
            </a:r>
          </a:p>
        </p:txBody>
      </p:sp>
      <p:pic>
        <p:nvPicPr>
          <p:cNvPr id="15" name="Picture 14" descr="A logo of a football team&#10;&#10;AI-generated content may be incorrect.">
            <a:extLst>
              <a:ext uri="{FF2B5EF4-FFF2-40B4-BE49-F238E27FC236}">
                <a16:creationId xmlns:a16="http://schemas.microsoft.com/office/drawing/2014/main" id="{DC330B7D-7E3B-3BCB-E51B-1E29267F3F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64" y="6283521"/>
            <a:ext cx="365760" cy="50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553200"/>
            <a:ext cx="2540000" cy="457200"/>
          </a:xfrm>
        </p:spPr>
        <p:txBody>
          <a:bodyPr/>
          <a:lstStyle>
            <a:lvl1pPr fontAlgn="auto">
              <a:spcAft>
                <a:spcPts val="0"/>
              </a:spcAft>
              <a:defRPr sz="1400"/>
            </a:lvl1pPr>
          </a:lstStyle>
          <a:p>
            <a:pPr>
              <a:defRPr/>
            </a:pPr>
            <a:fld id="{DC6470FA-A0CC-4F7B-B003-30D63C95CF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8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4978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600200"/>
            <a:ext cx="4978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A1149465-44A4-4C4F-A950-EAB2F5F936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7FBFA176-89B4-47A0-B582-4C142026E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1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9697ABE2-334C-46BE-846A-8BF96331EB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5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EDE67EE-2204-0704-3421-9CA1D241C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28200" y="6525119"/>
            <a:ext cx="2540000" cy="457200"/>
          </a:xfrm>
        </p:spPr>
        <p:txBody>
          <a:bodyPr/>
          <a:lstStyle/>
          <a:p>
            <a:pPr>
              <a:defRPr/>
            </a:pPr>
            <a:fld id="{386B83BC-7853-424B-A404-CB03E7A940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 descr="A close up of a network&#10;&#10;AI-generated content may be incorrect.">
            <a:extLst>
              <a:ext uri="{FF2B5EF4-FFF2-40B4-BE49-F238E27FC236}">
                <a16:creationId xmlns:a16="http://schemas.microsoft.com/office/drawing/2014/main" id="{C63538E2-8CF2-23EC-9BA4-8F345FCBFF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67" b="69408"/>
          <a:stretch>
            <a:fillRect/>
          </a:stretch>
        </p:blipFill>
        <p:spPr>
          <a:xfrm flipH="1">
            <a:off x="0" y="6230034"/>
            <a:ext cx="12192000" cy="6463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756167-4A88-ECBB-AE58-4A36A75AAD5E}"/>
              </a:ext>
            </a:extLst>
          </p:cNvPr>
          <p:cNvSpPr/>
          <p:nvPr userDrawn="1"/>
        </p:nvSpPr>
        <p:spPr bwMode="auto">
          <a:xfrm>
            <a:off x="0" y="6211669"/>
            <a:ext cx="12192000" cy="646330"/>
          </a:xfrm>
          <a:prstGeom prst="rect">
            <a:avLst/>
          </a:prstGeom>
          <a:gradFill>
            <a:gsLst>
              <a:gs pos="6000">
                <a:srgbClr val="1C1C52">
                  <a:alpha val="0"/>
                </a:srgbClr>
              </a:gs>
              <a:gs pos="14000">
                <a:srgbClr val="1C1C52">
                  <a:alpha val="24000"/>
                </a:srgbClr>
              </a:gs>
              <a:gs pos="32000">
                <a:srgbClr val="1C1C52">
                  <a:alpha val="71000"/>
                </a:srgbClr>
              </a:gs>
              <a:gs pos="24000">
                <a:srgbClr val="1C1C52">
                  <a:alpha val="52000"/>
                </a:srgbClr>
              </a:gs>
              <a:gs pos="42000">
                <a:srgbClr val="1C1C52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endParaRPr lang="en-US"/>
          </a:p>
        </p:txBody>
      </p:sp>
      <p:pic>
        <p:nvPicPr>
          <p:cNvPr id="5" name="Picture 4" descr="A logo of a football team&#10;&#10;AI-generated content may be incorrect.">
            <a:extLst>
              <a:ext uri="{FF2B5EF4-FFF2-40B4-BE49-F238E27FC236}">
                <a16:creationId xmlns:a16="http://schemas.microsoft.com/office/drawing/2014/main" id="{CCFBCA10-312F-B9D3-7BE9-ACEAEB9DBF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64" y="6283521"/>
            <a:ext cx="365760" cy="502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A3BA6-FCF4-1D70-0799-5358AE3EFB44}"/>
              </a:ext>
            </a:extLst>
          </p:cNvPr>
          <p:cNvSpPr txBox="1"/>
          <p:nvPr userDrawn="1"/>
        </p:nvSpPr>
        <p:spPr>
          <a:xfrm>
            <a:off x="10375824" y="6365556"/>
            <a:ext cx="189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ndzone Tech Bold" panose="02000500000000020004" pitchFamily="50" charset="0"/>
                <a:ea typeface="+mn-ea"/>
                <a:cs typeface="+mn-cs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01398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A5B67E7E-249B-47C4-9B1E-F451467825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0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F3589616-FCEE-4EE4-BD2C-954942D760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6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9" y="1"/>
            <a:ext cx="10160000" cy="6159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93E70569-D765-44BA-881B-F4BF5E137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0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31200" y="0"/>
            <a:ext cx="27432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" y="0"/>
            <a:ext cx="80264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AC5AC8C1-9B1F-4CFD-9889-4705C80FB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15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0"/>
            <a:ext cx="1016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4978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0" y="1600200"/>
            <a:ext cx="4978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072310C3-D579-4271-A427-A4D282CEB1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6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0"/>
            <a:ext cx="1016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1600200"/>
            <a:ext cx="1016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Aft>
                <a:spcPts val="0"/>
              </a:spcAft>
              <a:defRPr sz="1800"/>
            </a:lvl1pPr>
          </a:lstStyle>
          <a:p>
            <a:pPr>
              <a:defRPr/>
            </a:pPr>
            <a:fld id="{7E3D1827-D463-401E-8455-6F06A07DB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62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73E561-1310-45B2-BDCC-D76633F7C7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3379" y="1282337"/>
            <a:ext cx="9765471" cy="5120640"/>
          </a:xfrm>
          <a:prstGeom prst="rect">
            <a:avLst/>
          </a:prstGeom>
        </p:spPr>
        <p:txBody>
          <a:bodyPr/>
          <a:lstStyle>
            <a:lvl1pPr marL="233351" indent="-23335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 b="1">
                <a:solidFill>
                  <a:srgbClr val="C00000"/>
                </a:solidFill>
                <a:latin typeface="All Pro Sans v3_880 SemiBold" pitchFamily="2" charset="77"/>
              </a:defRPr>
            </a:lvl1pPr>
            <a:lvl2pPr marL="628619" indent="-285737">
              <a:lnSpc>
                <a:spcPct val="100000"/>
              </a:lnSpc>
              <a:spcBef>
                <a:spcPts val="600"/>
              </a:spcBef>
              <a:buFontTx/>
              <a:buChar char="–"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All Pro Sans v3_880 SemiBold" pitchFamily="2" charset="77"/>
              </a:defRPr>
            </a:lvl2pPr>
            <a:lvl3pPr marL="857208" indent="-228589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ll Pro Sans v3_880 SemiBold" pitchFamily="2" charset="77"/>
              </a:defRPr>
            </a:lvl3pPr>
            <a:lvl4pPr marL="1085797" indent="-228589">
              <a:lnSpc>
                <a:spcPct val="100000"/>
              </a:lnSpc>
              <a:spcBef>
                <a:spcPts val="600"/>
              </a:spcBef>
              <a:buSzPct val="112000"/>
              <a:buFontTx/>
              <a:buChar char="»"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ll Pro Sans v3_880 SemiBold" pitchFamily="2" charset="77"/>
              </a:defRPr>
            </a:lvl4pPr>
            <a:lvl5pPr marL="1371532" indent="-285737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Ø"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ll Pro Sans v3_880 SemiBo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F32F0-9282-48C6-BA99-A4245E02BB9C}"/>
              </a:ext>
            </a:extLst>
          </p:cNvPr>
          <p:cNvSpPr/>
          <p:nvPr userDrawn="1"/>
        </p:nvSpPr>
        <p:spPr bwMode="auto">
          <a:xfrm>
            <a:off x="8216901" y="12701"/>
            <a:ext cx="647700" cy="24017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121907" tIns="60953" rIns="121907" bIns="60953" rtlCol="0" anchor="ctr" anchorCtr="1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68288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Agend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2656721"/>
              </p:ext>
            </p:extLst>
          </p:nvPr>
        </p:nvGraphicFramePr>
        <p:xfrm>
          <a:off x="1813" y="1443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2" name="Object 5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" y="1443"/>
                        <a:ext cx="1809" cy="14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A541435-AD10-4B0C-B75A-F46957C8DA58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1" y="1"/>
            <a:ext cx="158751" cy="158751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solidFill>
                <a:schemeClr val="bg1"/>
              </a:solidFill>
              <a:latin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noProof="0"/>
              <a:t>The agenda page uses same basic slide format and is built with usability in mind: a simple bulleted list</a:t>
            </a:r>
          </a:p>
        </p:txBody>
      </p:sp>
      <p:sp>
        <p:nvSpPr>
          <p:cNvPr id="4" name="Agenda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366186" y="1143000"/>
            <a:ext cx="11459633" cy="4937760"/>
          </a:xfrm>
        </p:spPr>
        <p:txBody>
          <a:bodyPr tIns="411480" anchor="t"/>
          <a:lstStyle>
            <a:lvl1pPr marL="182875" indent="-182875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baseline="0"/>
            </a:lvl1pPr>
            <a:lvl2pPr marL="182875" indent="-182875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b="1" baseline="0"/>
            </a:lvl2pPr>
            <a:lvl3pPr marL="356607" indent="-179384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F0502020204030204" pitchFamily="34" charset="0"/>
              <a:buChar char="−"/>
              <a:defRPr sz="1400" baseline="0"/>
            </a:lvl3pPr>
            <a:lvl4pPr marL="356607" indent="-179384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F0502020204030204" pitchFamily="34" charset="0"/>
              <a:buChar char="−"/>
              <a:defRPr sz="1400" b="1" baseline="0"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defRPr sz="1100"/>
            </a:lvl5pPr>
          </a:lstStyle>
          <a:p>
            <a:pPr lvl="0"/>
            <a:r>
              <a:rPr lang="en-US" noProof="0"/>
              <a:t>Agenda Items are set in 14pt Verdana Regular</a:t>
            </a:r>
          </a:p>
          <a:p>
            <a:pPr lvl="1"/>
            <a:r>
              <a:rPr lang="en-US" noProof="0"/>
              <a:t>The active agenda point can be highlighted by just hitting tab</a:t>
            </a:r>
          </a:p>
          <a:p>
            <a:pPr lvl="2"/>
            <a:r>
              <a:rPr lang="en-US" noProof="0"/>
              <a:t>A subsection will require two tabs</a:t>
            </a:r>
          </a:p>
          <a:p>
            <a:pPr lvl="3"/>
            <a:r>
              <a:rPr lang="en-US" noProof="0"/>
              <a:t>A highlighted subsection accordingly three tabs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/>
              <a:t>Draft/Strictly confidential 01/06/2017 13:41 (Used via “INSERT tab </a:t>
            </a:r>
            <a:r>
              <a:rPr lang="en-US">
                <a:sym typeface="Wingdings 3" panose="05040102010807070707" pitchFamily="18" charset="2"/>
              </a:rPr>
              <a:t></a:t>
            </a:r>
            <a:r>
              <a:rPr lang="en-US" noProof="0"/>
              <a:t> Header &amp; Footer </a:t>
            </a:r>
            <a:r>
              <a:rPr lang="en-US">
                <a:sym typeface="Wingdings 3" panose="05040102010807070707" pitchFamily="18" charset="2"/>
              </a:rPr>
              <a:t> </a:t>
            </a:r>
            <a:r>
              <a:rPr lang="en-US" noProof="0"/>
              <a:t>Fixed Date”)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Optional area for disclaimer (e.g. Due diligence) or sources (Inserted via “INSERT tab </a:t>
            </a:r>
            <a:r>
              <a:rPr lang="en-US">
                <a:sym typeface="Wingdings 3" panose="05040102010807070707" pitchFamily="18" charset="2"/>
              </a:rPr>
              <a:t></a:t>
            </a:r>
            <a:r>
              <a:rPr lang="en-US"/>
              <a:t> Headers &amp; Footers </a:t>
            </a:r>
            <a:r>
              <a:rPr lang="en-US">
                <a:sym typeface="Wingdings 3" panose="05040102010807070707" pitchFamily="18" charset="2"/>
              </a:rPr>
              <a:t></a:t>
            </a:r>
            <a:r>
              <a:rPr lang="en-US"/>
              <a:t> Footer”)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5763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59DF-5181-C988-C371-56D7A976E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868B9-2A96-30F5-4CB8-C02C4C6CF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6FBF73-271E-1EC5-5F6A-2A918AF38244}"/>
              </a:ext>
            </a:extLst>
          </p:cNvPr>
          <p:cNvSpPr txBox="1"/>
          <p:nvPr userDrawn="1"/>
        </p:nvSpPr>
        <p:spPr>
          <a:xfrm>
            <a:off x="9141705" y="71963"/>
            <a:ext cx="292608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67" b="1" i="1">
                <a:solidFill>
                  <a:srgbClr val="C00000"/>
                </a:solidFill>
                <a:latin typeface="Arial"/>
              </a:rPr>
              <a:t>CONFIDENTIAL </a:t>
            </a:r>
            <a:r>
              <a:rPr lang="en-US" sz="1067" b="1" i="1">
                <a:solidFill>
                  <a:srgbClr val="000000"/>
                </a:solidFill>
                <a:latin typeface="Arial"/>
              </a:rPr>
              <a:t>| </a:t>
            </a:r>
            <a:fld id="{F8728191-AEDE-45E9-85B4-CFB3EBC2DBC5}" type="slidenum">
              <a:rPr lang="en-US" sz="1067" b="1" i="1" smtClean="0">
                <a:solidFill>
                  <a:srgbClr val="000000"/>
                </a:solidFill>
                <a:latin typeface="Arial"/>
              </a:rPr>
              <a:pPr algn="r"/>
              <a:t>‹#›</a:t>
            </a:fld>
            <a:endParaRPr lang="en-US" sz="1067" b="1" i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D1F09-3C6F-AD19-0442-1B1E445CC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728200" y="6525119"/>
            <a:ext cx="2540000" cy="457200"/>
          </a:xfrm>
        </p:spPr>
        <p:txBody>
          <a:bodyPr/>
          <a:lstStyle/>
          <a:p>
            <a:pPr>
              <a:defRPr/>
            </a:pPr>
            <a:fld id="{386B83BC-7853-424B-A404-CB03E7A940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4" descr="A close up of a network&#10;&#10;AI-generated content may be incorrect.">
            <a:extLst>
              <a:ext uri="{FF2B5EF4-FFF2-40B4-BE49-F238E27FC236}">
                <a16:creationId xmlns:a16="http://schemas.microsoft.com/office/drawing/2014/main" id="{9D3E0D37-5E2D-0E39-5A32-945F6B610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67" b="69408"/>
          <a:stretch>
            <a:fillRect/>
          </a:stretch>
        </p:blipFill>
        <p:spPr>
          <a:xfrm flipH="1">
            <a:off x="0" y="6230034"/>
            <a:ext cx="12192000" cy="6463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7831C9-8068-5EBF-6DC9-F3AEC0709ECA}"/>
              </a:ext>
            </a:extLst>
          </p:cNvPr>
          <p:cNvSpPr/>
          <p:nvPr userDrawn="1"/>
        </p:nvSpPr>
        <p:spPr bwMode="auto">
          <a:xfrm>
            <a:off x="0" y="6211669"/>
            <a:ext cx="12192000" cy="646330"/>
          </a:xfrm>
          <a:prstGeom prst="rect">
            <a:avLst/>
          </a:prstGeom>
          <a:gradFill>
            <a:gsLst>
              <a:gs pos="6000">
                <a:srgbClr val="1C1C52">
                  <a:alpha val="0"/>
                </a:srgbClr>
              </a:gs>
              <a:gs pos="14000">
                <a:srgbClr val="1C1C52">
                  <a:alpha val="24000"/>
                </a:srgbClr>
              </a:gs>
              <a:gs pos="32000">
                <a:srgbClr val="1C1C52">
                  <a:alpha val="71000"/>
                </a:srgbClr>
              </a:gs>
              <a:gs pos="24000">
                <a:srgbClr val="1C1C52">
                  <a:alpha val="52000"/>
                </a:srgbClr>
              </a:gs>
              <a:gs pos="42000">
                <a:srgbClr val="1C1C52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84FC1-DADF-DA9F-B058-77F864E8F14D}"/>
              </a:ext>
            </a:extLst>
          </p:cNvPr>
          <p:cNvSpPr txBox="1"/>
          <p:nvPr userDrawn="1"/>
        </p:nvSpPr>
        <p:spPr>
          <a:xfrm>
            <a:off x="10375824" y="6365556"/>
            <a:ext cx="1892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ndzone Tech Bold" panose="02000500000000020004" pitchFamily="50" charset="0"/>
                <a:ea typeface="+mn-ea"/>
                <a:cs typeface="+mn-cs"/>
              </a:rPr>
              <a:t>TECHNOLOGY</a:t>
            </a:r>
          </a:p>
        </p:txBody>
      </p:sp>
      <p:pic>
        <p:nvPicPr>
          <p:cNvPr id="9" name="Picture 8" descr="A logo of a football team&#10;&#10;AI-generated content may be incorrect.">
            <a:extLst>
              <a:ext uri="{FF2B5EF4-FFF2-40B4-BE49-F238E27FC236}">
                <a16:creationId xmlns:a16="http://schemas.microsoft.com/office/drawing/2014/main" id="{FCD0DF78-D1A8-9A22-730F-F5624EF2B5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64" y="6283521"/>
            <a:ext cx="365760" cy="50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93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A90A-5CA5-A2E6-EF68-1798ACDB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EEC8-2E12-755F-8EC1-0532639C2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6D8ED-345C-4E8E-81A6-8FB345FD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87EE5-4362-8E10-487B-A6138826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AC1EA-C659-10F4-A2CE-A052DA97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16EE2-41E3-6843-236A-C628B0E87977}"/>
              </a:ext>
            </a:extLst>
          </p:cNvPr>
          <p:cNvSpPr txBox="1"/>
          <p:nvPr userDrawn="1"/>
        </p:nvSpPr>
        <p:spPr>
          <a:xfrm>
            <a:off x="9141705" y="71963"/>
            <a:ext cx="292608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67" b="1" i="1">
                <a:solidFill>
                  <a:srgbClr val="C00000"/>
                </a:solidFill>
              </a:rPr>
              <a:t>CONFIDENTIAL </a:t>
            </a:r>
            <a:r>
              <a:rPr lang="en-US" sz="1067" b="1" i="1">
                <a:solidFill>
                  <a:schemeClr val="tx1"/>
                </a:solidFill>
              </a:rPr>
              <a:t>| </a:t>
            </a:r>
            <a:fld id="{F8728191-AEDE-45E9-85B4-CFB3EBC2DBC5}" type="slidenum">
              <a:rPr lang="en-US" sz="1067" b="1" i="1" smtClean="0">
                <a:solidFill>
                  <a:schemeClr val="tx1"/>
                </a:solidFill>
              </a:rPr>
              <a:pPr algn="r"/>
              <a:t>‹#›</a:t>
            </a:fld>
            <a:endParaRPr lang="en-US" sz="1067" b="1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453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458D-0E4F-C2C5-3BD6-02FC45BAD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CE0C4-5D39-8B22-296C-E15CA9B2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74459-24EA-D05B-7AE5-7C38B2B8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043FD-0D2C-1893-EC75-16518500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ED2F-2790-EE84-FAEF-2C45CFBA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46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24E9-5BB2-C6EE-0E74-BFCFE148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43DDA-3256-2D89-D803-1755115C1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B1ED3-B982-A94F-F7BF-27A7D1925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0E856-A652-768E-EC38-5F9C4F8A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CEAD7-D0C1-E0E0-136C-1F19BC30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ACE91-5CEC-E765-8AAD-97C26BF0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06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0C19-B93B-DDFA-9C45-F0AB2AB2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74E69-8C34-088A-0552-1FECD7323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855C3-C9C2-4336-4A3B-DD76A043E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9709C-9C44-9BFD-15EB-7C3D095E2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4E339-5062-637B-7553-6F791065C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6E2847-6756-B65C-F15C-4B13D804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535F4-C9BE-5E85-3E28-59051E58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0719D-5F2E-29C4-E5F5-6C8A1058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63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5CF2-F451-94B9-3B19-9A2DDC2B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9F791-547A-00AC-9A58-B9746F5D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BEA16-C1C1-852F-E2F8-0D38B74D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C6E14-B49A-053D-1CFF-D3E7E29E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677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DECD2-1D28-CD68-A5BA-DCEF75F6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0DF3A-C7A5-1BB4-A7F3-F7EA0BEF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134B2-73ED-6E72-960B-9478E607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80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D06A-E2AB-E132-1E87-041CD7F2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479FF-B779-0216-8051-9C751161F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FC5A1-FA2D-EAF9-3790-F687CA9CB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6564A-AE60-FF88-0991-568296CD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7D276-B66B-EB24-AE80-2F15DF16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AF01F-C67D-DCC1-30A7-220F5929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49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4C44-D8E8-149D-27F8-D4E19EF6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13513-7310-F814-3333-F4EB1A704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FA182-7F58-711E-3E56-FD00A21F5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88B1C-9EA0-3005-B98C-C7988C04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6D995-18D7-9FB0-170E-C235C702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FD303-2FB1-06E2-5580-D25342A0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666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26D6-AAA8-6F00-9459-A3019D28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6698D-AFEE-624D-A51A-B2E67D7B7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8B7AF-11D5-148D-A5A0-59A5C01D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02D98-3BE2-920E-5903-69E679B3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2C91A-D231-41F7-B8DC-5812EEE9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4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D8B60-B004-C559-DC79-7A9920B6E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30E8A-BCDB-6C6A-72E6-702BA73D2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3280A-882F-CA5E-28BB-BC636ED4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7DFD1-7D05-868A-AAB3-37A0F1D1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F37D2-8914-4968-AA2C-21755958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4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1"/>
            <a:ext cx="10160000" cy="61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1016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38833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485627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defRPr sz="1400">
                <a:solidFill>
                  <a:srgbClr val="000000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9EDC33C-51F1-447A-890D-ABAF6F242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0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33" b="1">
          <a:solidFill>
            <a:srgbClr val="00396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5pPr>
      <a:lvl6pPr marL="457189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6pPr>
      <a:lvl7pPr marL="914377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7pPr>
      <a:lvl8pPr marL="1371566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8pPr>
      <a:lvl9pPr marL="1828754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500">
          <a:solidFill>
            <a:schemeClr val="tx1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1300">
          <a:solidFill>
            <a:schemeClr val="tx1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4161C-E631-5A77-FECC-DFD88F1D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D82E6-81BA-D400-4C22-2816065DA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DD7C-F301-88D6-3985-6939C0B79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2C580-1C64-4234-9A7A-8710A296B51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0E228-D898-2DD3-B936-AFCC9C260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1448B-950E-DC9F-24DE-B0E8E7CB8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EC002-CAD5-41F6-B92C-147DFEDE3F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F8820DD6-5CC6-D211-6238-A890E7EAB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52000" y="6485627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0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defRPr sz="1400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9EDC33C-51F1-447A-890D-ABAF6F242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2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28.xml"/><Relationship Id="rId21" Type="http://schemas.openxmlformats.org/officeDocument/2006/relationships/tags" Target="../tags/tag23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63" Type="http://schemas.openxmlformats.org/officeDocument/2006/relationships/tags" Target="../tags/tag65.xml"/><Relationship Id="rId68" Type="http://schemas.openxmlformats.org/officeDocument/2006/relationships/tags" Target="../tags/tag70.xml"/><Relationship Id="rId84" Type="http://schemas.openxmlformats.org/officeDocument/2006/relationships/tags" Target="../tags/tag86.xml"/><Relationship Id="rId89" Type="http://schemas.openxmlformats.org/officeDocument/2006/relationships/tags" Target="../tags/tag91.xml"/><Relationship Id="rId16" Type="http://schemas.openxmlformats.org/officeDocument/2006/relationships/tags" Target="../tags/tag18.xml"/><Relationship Id="rId11" Type="http://schemas.openxmlformats.org/officeDocument/2006/relationships/tags" Target="../tags/tag13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53" Type="http://schemas.openxmlformats.org/officeDocument/2006/relationships/tags" Target="../tags/tag55.xml"/><Relationship Id="rId58" Type="http://schemas.openxmlformats.org/officeDocument/2006/relationships/tags" Target="../tags/tag60.xml"/><Relationship Id="rId74" Type="http://schemas.openxmlformats.org/officeDocument/2006/relationships/tags" Target="../tags/tag76.xml"/><Relationship Id="rId79" Type="http://schemas.openxmlformats.org/officeDocument/2006/relationships/tags" Target="../tags/tag81.xml"/><Relationship Id="rId5" Type="http://schemas.openxmlformats.org/officeDocument/2006/relationships/tags" Target="../tags/tag7.xml"/><Relationship Id="rId90" Type="http://schemas.openxmlformats.org/officeDocument/2006/relationships/tags" Target="../tags/tag92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64" Type="http://schemas.openxmlformats.org/officeDocument/2006/relationships/tags" Target="../tags/tag66.xml"/><Relationship Id="rId69" Type="http://schemas.openxmlformats.org/officeDocument/2006/relationships/tags" Target="../tags/tag71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72" Type="http://schemas.openxmlformats.org/officeDocument/2006/relationships/tags" Target="../tags/tag74.xml"/><Relationship Id="rId80" Type="http://schemas.openxmlformats.org/officeDocument/2006/relationships/tags" Target="../tags/tag82.xml"/><Relationship Id="rId85" Type="http://schemas.openxmlformats.org/officeDocument/2006/relationships/tags" Target="../tags/tag87.xml"/><Relationship Id="rId93" Type="http://schemas.openxmlformats.org/officeDocument/2006/relationships/slideLayout" Target="../slideLayouts/slideLayout17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tags" Target="../tags/tag61.xml"/><Relationship Id="rId67" Type="http://schemas.openxmlformats.org/officeDocument/2006/relationships/tags" Target="../tags/tag69.xml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62" Type="http://schemas.openxmlformats.org/officeDocument/2006/relationships/tags" Target="../tags/tag64.xml"/><Relationship Id="rId70" Type="http://schemas.openxmlformats.org/officeDocument/2006/relationships/tags" Target="../tags/tag72.xml"/><Relationship Id="rId75" Type="http://schemas.openxmlformats.org/officeDocument/2006/relationships/tags" Target="../tags/tag77.xml"/><Relationship Id="rId83" Type="http://schemas.openxmlformats.org/officeDocument/2006/relationships/tags" Target="../tags/tag85.xml"/><Relationship Id="rId88" Type="http://schemas.openxmlformats.org/officeDocument/2006/relationships/tags" Target="../tags/tag90.xml"/><Relationship Id="rId91" Type="http://schemas.openxmlformats.org/officeDocument/2006/relationships/tags" Target="../tags/tag93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tags" Target="../tags/tag59.xml"/><Relationship Id="rId10" Type="http://schemas.openxmlformats.org/officeDocument/2006/relationships/tags" Target="../tags/tag12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60" Type="http://schemas.openxmlformats.org/officeDocument/2006/relationships/tags" Target="../tags/tag62.xml"/><Relationship Id="rId65" Type="http://schemas.openxmlformats.org/officeDocument/2006/relationships/tags" Target="../tags/tag67.xml"/><Relationship Id="rId73" Type="http://schemas.openxmlformats.org/officeDocument/2006/relationships/tags" Target="../tags/tag75.xml"/><Relationship Id="rId78" Type="http://schemas.openxmlformats.org/officeDocument/2006/relationships/tags" Target="../tags/tag80.xml"/><Relationship Id="rId81" Type="http://schemas.openxmlformats.org/officeDocument/2006/relationships/tags" Target="../tags/tag83.xml"/><Relationship Id="rId86" Type="http://schemas.openxmlformats.org/officeDocument/2006/relationships/tags" Target="../tags/tag88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9" Type="http://schemas.openxmlformats.org/officeDocument/2006/relationships/tags" Target="../tags/tag41.xml"/><Relationship Id="rId34" Type="http://schemas.openxmlformats.org/officeDocument/2006/relationships/tags" Target="../tags/tag36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76" Type="http://schemas.openxmlformats.org/officeDocument/2006/relationships/tags" Target="../tags/tag78.xml"/><Relationship Id="rId7" Type="http://schemas.openxmlformats.org/officeDocument/2006/relationships/tags" Target="../tags/tag9.xml"/><Relationship Id="rId71" Type="http://schemas.openxmlformats.org/officeDocument/2006/relationships/tags" Target="../tags/tag73.xml"/><Relationship Id="rId92" Type="http://schemas.openxmlformats.org/officeDocument/2006/relationships/tags" Target="../tags/tag94.xml"/><Relationship Id="rId2" Type="http://schemas.openxmlformats.org/officeDocument/2006/relationships/tags" Target="../tags/tag4.xml"/><Relationship Id="rId29" Type="http://schemas.openxmlformats.org/officeDocument/2006/relationships/tags" Target="../tags/tag31.xml"/><Relationship Id="rId24" Type="http://schemas.openxmlformats.org/officeDocument/2006/relationships/tags" Target="../tags/tag26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66" Type="http://schemas.openxmlformats.org/officeDocument/2006/relationships/tags" Target="../tags/tag68.xml"/><Relationship Id="rId87" Type="http://schemas.openxmlformats.org/officeDocument/2006/relationships/tags" Target="../tags/tag89.xml"/><Relationship Id="rId61" Type="http://schemas.openxmlformats.org/officeDocument/2006/relationships/tags" Target="../tags/tag63.xml"/><Relationship Id="rId82" Type="http://schemas.openxmlformats.org/officeDocument/2006/relationships/tags" Target="../tags/tag84.xml"/><Relationship Id="rId19" Type="http://schemas.openxmlformats.org/officeDocument/2006/relationships/tags" Target="../tags/tag21.xml"/><Relationship Id="rId14" Type="http://schemas.openxmlformats.org/officeDocument/2006/relationships/tags" Target="../tags/tag16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56" Type="http://schemas.openxmlformats.org/officeDocument/2006/relationships/tags" Target="../tags/tag58.xml"/><Relationship Id="rId77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football team&#10;&#10;AI-generated content may be incorrect.">
            <a:extLst>
              <a:ext uri="{FF2B5EF4-FFF2-40B4-BE49-F238E27FC236}">
                <a16:creationId xmlns:a16="http://schemas.microsoft.com/office/drawing/2014/main" id="{EC9B35DF-45AC-C0A8-1B3C-7BBC0274E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133" y="1878580"/>
            <a:ext cx="1847674" cy="253906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FD6F25-9004-6D65-5495-93A7CC0993CE}"/>
              </a:ext>
            </a:extLst>
          </p:cNvPr>
          <p:cNvSpPr txBox="1"/>
          <p:nvPr/>
        </p:nvSpPr>
        <p:spPr>
          <a:xfrm>
            <a:off x="688635" y="4488783"/>
            <a:ext cx="383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ndzone Tech Bold" panose="02000500000000020004" pitchFamily="50" charset="0"/>
                <a:ea typeface="+mn-ea"/>
                <a:cs typeface="+mn-cs"/>
              </a:rPr>
              <a:t>TECHNOLOGY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906C9648-78DA-44F7-5447-4CC7770A3646}"/>
              </a:ext>
            </a:extLst>
          </p:cNvPr>
          <p:cNvSpPr txBox="1"/>
          <p:nvPr/>
        </p:nvSpPr>
        <p:spPr>
          <a:xfrm>
            <a:off x="5209942" y="2287959"/>
            <a:ext cx="4689632" cy="50956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0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9FE6FF"/>
                </a:solidFill>
                <a:effectLst/>
                <a:uLnTx/>
                <a:uFillTx/>
                <a:latin typeface="Endzone Sans Light" panose="02000000000000000000" pitchFamily="50" charset="0"/>
                <a:ea typeface="+mn-ea"/>
                <a:cs typeface="+mn-cs"/>
              </a:rPr>
              <a:t>“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9FE6FF"/>
                </a:solidFill>
                <a:effectLst/>
                <a:uLnTx/>
                <a:uFillTx/>
                <a:latin typeface="Endzone Sans Light" panose="02000000000000000000" pitchFamily="50" charset="0"/>
                <a:ea typeface="+mn-ea"/>
                <a:cs typeface="+mn-cs"/>
              </a:rPr>
              <a:t>Operational Excellence”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49DF18F8-B5B1-0B97-19D3-21CC6CB972E6}"/>
              </a:ext>
            </a:extLst>
          </p:cNvPr>
          <p:cNvSpPr txBox="1"/>
          <p:nvPr/>
        </p:nvSpPr>
        <p:spPr>
          <a:xfrm>
            <a:off x="5209942" y="2922408"/>
            <a:ext cx="6259168" cy="589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0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dzone Sans Bold"/>
                <a:ea typeface="+mn-ea"/>
                <a:cs typeface="+mn-cs"/>
              </a:rPr>
              <a:t>NFL EverGame Program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47036-97D3-3786-2EA6-3B3B3E4A8D0A}"/>
              </a:ext>
            </a:extLst>
          </p:cNvPr>
          <p:cNvSpPr txBox="1"/>
          <p:nvPr/>
        </p:nvSpPr>
        <p:spPr>
          <a:xfrm>
            <a:off x="5209942" y="3618911"/>
            <a:ext cx="6319579" cy="646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dzone Sans Bold" pitchFamily="50" charset="0"/>
                <a:ea typeface="+mn-ea"/>
                <a:cs typeface="+mn-cs"/>
              </a:rPr>
              <a:t>2026 Program Committee Meeting</a:t>
            </a:r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dzone Sans Bold" pitchFamily="50" charset="0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ndzone Sans Bold" pitchFamily="50" charset="0"/>
                <a:ea typeface="+mn-ea"/>
                <a:cs typeface="+mn-cs"/>
              </a:rPr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170228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19A261-54C3-E767-B391-ACDD1A075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26872" y="7602158"/>
            <a:ext cx="2540000" cy="457200"/>
          </a:xfrm>
        </p:spPr>
        <p:txBody>
          <a:bodyPr/>
          <a:lstStyle/>
          <a:p>
            <a:pPr>
              <a:defRPr/>
            </a:pPr>
            <a:fld id="{3DA05260-9F6C-491C-A8B6-21C0D982E11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1BBEDE-43C1-E008-F046-830027BC798C}"/>
              </a:ext>
            </a:extLst>
          </p:cNvPr>
          <p:cNvSpPr txBox="1">
            <a:spLocks/>
          </p:cNvSpPr>
          <p:nvPr/>
        </p:nvSpPr>
        <p:spPr>
          <a:xfrm>
            <a:off x="70090" y="1105"/>
            <a:ext cx="5344391" cy="61595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>
                <a:solidFill>
                  <a:srgbClr val="0039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r>
              <a:rPr lang="en-US" sz="2800" kern="0">
                <a:solidFill>
                  <a:schemeClr val="accent2">
                    <a:lumMod val="50000"/>
                  </a:schemeClr>
                </a:solidFill>
              </a:rPr>
              <a:t>Agenda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84DADF-902D-8808-D7BE-58C7E988987F}"/>
              </a:ext>
            </a:extLst>
          </p:cNvPr>
          <p:cNvGrpSpPr/>
          <p:nvPr/>
        </p:nvGrpSpPr>
        <p:grpSpPr>
          <a:xfrm>
            <a:off x="1170987" y="1013854"/>
            <a:ext cx="4439920" cy="461665"/>
            <a:chOff x="883121" y="1070536"/>
            <a:chExt cx="4439920" cy="46166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9A20968-FA94-FF36-77FA-44981FDC2A19}"/>
                </a:ext>
              </a:extLst>
            </p:cNvPr>
            <p:cNvSpPr/>
            <p:nvPr/>
          </p:nvSpPr>
          <p:spPr bwMode="auto">
            <a:xfrm>
              <a:off x="883121" y="1077849"/>
              <a:ext cx="467360" cy="447040"/>
            </a:xfrm>
            <a:prstGeom prst="ellipse">
              <a:avLst/>
            </a:prstGeom>
            <a:solidFill>
              <a:srgbClr val="1919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0" tIns="45715" rIns="91430" bIns="45715" rtlCol="0" anchor="ctr" anchorCtr="1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</a:rPr>
                <a:t>&gt;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240FAC-6484-FD03-55B9-5B50860F4F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76400" y="1524889"/>
              <a:ext cx="3646641" cy="7312"/>
            </a:xfrm>
            <a:prstGeom prst="line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2A3195-D0FA-5233-0A09-0A393F3DA680}"/>
                </a:ext>
              </a:extLst>
            </p:cNvPr>
            <p:cNvSpPr txBox="1"/>
            <p:nvPr/>
          </p:nvSpPr>
          <p:spPr>
            <a:xfrm>
              <a:off x="1584161" y="1070536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Objective</a:t>
              </a:r>
              <a:endParaRPr lang="en-US" sz="24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52CFCC0-CB97-63B8-5122-BEEEE5DBE110}"/>
              </a:ext>
            </a:extLst>
          </p:cNvPr>
          <p:cNvGrpSpPr/>
          <p:nvPr/>
        </p:nvGrpSpPr>
        <p:grpSpPr>
          <a:xfrm>
            <a:off x="1170987" y="1947374"/>
            <a:ext cx="4474830" cy="468612"/>
            <a:chOff x="883121" y="1801890"/>
            <a:chExt cx="4474830" cy="46861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28E722-251C-C2F2-CC3A-D02C78753DD0}"/>
                </a:ext>
              </a:extLst>
            </p:cNvPr>
            <p:cNvSpPr txBox="1"/>
            <p:nvPr/>
          </p:nvSpPr>
          <p:spPr>
            <a:xfrm>
              <a:off x="1584161" y="1808837"/>
              <a:ext cx="3773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Organizational Structure</a:t>
              </a:r>
              <a:endParaRPr lang="en-US" sz="24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70006DD-5201-C824-A464-CDA7D5338E93}"/>
                </a:ext>
              </a:extLst>
            </p:cNvPr>
            <p:cNvSpPr/>
            <p:nvPr/>
          </p:nvSpPr>
          <p:spPr bwMode="auto">
            <a:xfrm>
              <a:off x="883121" y="1801890"/>
              <a:ext cx="467360" cy="447040"/>
            </a:xfrm>
            <a:prstGeom prst="ellipse">
              <a:avLst/>
            </a:prstGeom>
            <a:solidFill>
              <a:srgbClr val="1919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0" tIns="45715" rIns="91430" bIns="45715" rtlCol="0" anchor="ctr" anchorCtr="1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</a:rPr>
                <a:t>&gt;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A3F49B-22DE-DF51-FA87-7F9745E4F9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76400" y="2257413"/>
              <a:ext cx="3646641" cy="0"/>
            </a:xfrm>
            <a:prstGeom prst="line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74108E-26E9-E1AC-9B32-8D67699BCBBB}"/>
              </a:ext>
            </a:extLst>
          </p:cNvPr>
          <p:cNvGrpSpPr/>
          <p:nvPr/>
        </p:nvGrpSpPr>
        <p:grpSpPr>
          <a:xfrm>
            <a:off x="1170987" y="2887841"/>
            <a:ext cx="4439920" cy="486641"/>
            <a:chOff x="883121" y="2693625"/>
            <a:chExt cx="4439920" cy="48664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274F46-850D-4BD0-CF23-ED07878519AC}"/>
                </a:ext>
              </a:extLst>
            </p:cNvPr>
            <p:cNvSpPr/>
            <p:nvPr/>
          </p:nvSpPr>
          <p:spPr bwMode="auto">
            <a:xfrm>
              <a:off x="883121" y="2693625"/>
              <a:ext cx="467360" cy="447040"/>
            </a:xfrm>
            <a:prstGeom prst="ellipse">
              <a:avLst/>
            </a:prstGeom>
            <a:solidFill>
              <a:srgbClr val="1919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0" tIns="45715" rIns="91430" bIns="45715" rtlCol="0" anchor="ctr" anchorCtr="1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</a:rPr>
                <a:t>&gt;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61D28B-C895-C97E-9CBB-FA6BB9EE435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76400" y="3140666"/>
              <a:ext cx="3646641" cy="24763"/>
            </a:xfrm>
            <a:prstGeom prst="line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9535F9-2D67-FA7B-FE41-22B2CE70CCAD}"/>
                </a:ext>
              </a:extLst>
            </p:cNvPr>
            <p:cNvSpPr txBox="1"/>
            <p:nvPr/>
          </p:nvSpPr>
          <p:spPr>
            <a:xfrm>
              <a:off x="1584161" y="2718601"/>
              <a:ext cx="29049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Program Structure</a:t>
              </a:r>
              <a:endParaRPr lang="en-US" sz="24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403CA9-41F2-7F7C-4629-1B3B74A25CB0}"/>
              </a:ext>
            </a:extLst>
          </p:cNvPr>
          <p:cNvGrpSpPr/>
          <p:nvPr/>
        </p:nvGrpSpPr>
        <p:grpSpPr>
          <a:xfrm>
            <a:off x="1170987" y="3846337"/>
            <a:ext cx="4439920" cy="496571"/>
            <a:chOff x="883121" y="3434628"/>
            <a:chExt cx="4439920" cy="49657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33DFE3-6C5B-4D91-AF80-D484CFA2F1F1}"/>
                </a:ext>
              </a:extLst>
            </p:cNvPr>
            <p:cNvSpPr/>
            <p:nvPr/>
          </p:nvSpPr>
          <p:spPr bwMode="auto">
            <a:xfrm>
              <a:off x="883121" y="3434628"/>
              <a:ext cx="467360" cy="447040"/>
            </a:xfrm>
            <a:prstGeom prst="ellipse">
              <a:avLst/>
            </a:prstGeom>
            <a:solidFill>
              <a:srgbClr val="1919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0" tIns="45715" rIns="91430" bIns="45715" rtlCol="0" anchor="ctr" anchorCtr="1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</a:rPr>
                <a:t>&gt;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70CF09-4174-1E10-7FF8-4349BBF1CB0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76400" y="3881669"/>
              <a:ext cx="3646641" cy="11466"/>
            </a:xfrm>
            <a:prstGeom prst="line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7F6A698-2A94-735E-9BC4-53988FEE31A7}"/>
                </a:ext>
              </a:extLst>
            </p:cNvPr>
            <p:cNvSpPr txBox="1"/>
            <p:nvPr/>
          </p:nvSpPr>
          <p:spPr>
            <a:xfrm>
              <a:off x="1584161" y="3469534"/>
              <a:ext cx="16914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Scorecard</a:t>
              </a:r>
              <a:endParaRPr lang="en-US" sz="24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08817B-FCE2-8399-9709-E591026702DE}"/>
              </a:ext>
            </a:extLst>
          </p:cNvPr>
          <p:cNvGrpSpPr/>
          <p:nvPr/>
        </p:nvGrpSpPr>
        <p:grpSpPr>
          <a:xfrm>
            <a:off x="1170987" y="4814764"/>
            <a:ext cx="4439920" cy="461666"/>
            <a:chOff x="883121" y="4871446"/>
            <a:chExt cx="4439920" cy="46166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390CB8-6ECE-6F41-F0A6-24EB5F8389C7}"/>
                </a:ext>
              </a:extLst>
            </p:cNvPr>
            <p:cNvSpPr/>
            <p:nvPr/>
          </p:nvSpPr>
          <p:spPr bwMode="auto">
            <a:xfrm>
              <a:off x="883121" y="4886071"/>
              <a:ext cx="467360" cy="447040"/>
            </a:xfrm>
            <a:prstGeom prst="ellipse">
              <a:avLst/>
            </a:prstGeom>
            <a:solidFill>
              <a:srgbClr val="1919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0" tIns="45715" rIns="91430" bIns="45715" rtlCol="0" anchor="ctr" anchorCtr="1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</a:rPr>
                <a:t>&gt;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13A89E8-A22C-70FB-830A-568008ECB9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84161" y="5333112"/>
              <a:ext cx="3738880" cy="0"/>
            </a:xfrm>
            <a:prstGeom prst="line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4B0A92-4BCC-8E8A-7B5F-49A91D76B897}"/>
                </a:ext>
              </a:extLst>
            </p:cNvPr>
            <p:cNvSpPr txBox="1"/>
            <p:nvPr/>
          </p:nvSpPr>
          <p:spPr>
            <a:xfrm>
              <a:off x="1595600" y="4871446"/>
              <a:ext cx="17748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Milestones</a:t>
              </a:r>
              <a:endParaRPr lang="en-US" sz="240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1DEBD56-28C0-6DAE-3233-1618D8C0A2CA}"/>
              </a:ext>
            </a:extLst>
          </p:cNvPr>
          <p:cNvSpPr txBox="1"/>
          <p:nvPr/>
        </p:nvSpPr>
        <p:spPr>
          <a:xfrm>
            <a:off x="9141705" y="71963"/>
            <a:ext cx="292608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67" b="1" i="1">
                <a:solidFill>
                  <a:srgbClr val="C00000"/>
                </a:solidFill>
              </a:rPr>
              <a:t>CONFIDENTIAL </a:t>
            </a:r>
            <a:r>
              <a:rPr lang="en-US" sz="1067" b="1" i="1">
                <a:solidFill>
                  <a:schemeClr val="tx1"/>
                </a:solidFill>
              </a:rPr>
              <a:t>| </a:t>
            </a:r>
            <a:fld id="{F8728191-AEDE-45E9-85B4-CFB3EBC2DBC5}" type="slidenum">
              <a:rPr lang="en-US" sz="1067" b="1" i="1" smtClean="0">
                <a:solidFill>
                  <a:schemeClr val="tx1"/>
                </a:solidFill>
              </a:rPr>
              <a:pPr algn="r"/>
              <a:t>2</a:t>
            </a:fld>
            <a:endParaRPr lang="en-US" sz="1067" b="1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91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012603-3A03-9B4A-8C87-EB56CD8EA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26872" y="7602158"/>
            <a:ext cx="2540000" cy="457200"/>
          </a:xfrm>
        </p:spPr>
        <p:txBody>
          <a:bodyPr/>
          <a:lstStyle/>
          <a:p>
            <a:pPr>
              <a:defRPr/>
            </a:pPr>
            <a:fld id="{3DA05260-9F6C-491C-A8B6-21C0D982E11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56D6E2-7FAF-D450-C75E-70E17D554CBD}"/>
              </a:ext>
            </a:extLst>
          </p:cNvPr>
          <p:cNvSpPr txBox="1">
            <a:spLocks/>
          </p:cNvSpPr>
          <p:nvPr/>
        </p:nvSpPr>
        <p:spPr>
          <a:xfrm>
            <a:off x="70090" y="1105"/>
            <a:ext cx="7265603" cy="6159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>
                <a:solidFill>
                  <a:srgbClr val="0039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r>
              <a:rPr lang="en-US" sz="2800" kern="0" err="1">
                <a:solidFill>
                  <a:schemeClr val="accent2">
                    <a:lumMod val="50000"/>
                  </a:schemeClr>
                </a:solidFill>
              </a:rPr>
              <a:t>EverGame</a:t>
            </a:r>
            <a:r>
              <a:rPr lang="en-US" sz="2800" kern="0">
                <a:solidFill>
                  <a:schemeClr val="accent2">
                    <a:lumMod val="50000"/>
                  </a:schemeClr>
                </a:solidFill>
              </a:rPr>
              <a:t> Monthly Committee Meeting</a:t>
            </a:r>
            <a:endParaRPr lang="en-US" sz="2800" kern="0">
              <a:solidFill>
                <a:schemeClr val="accent2">
                  <a:lumMod val="50000"/>
                </a:schemeClr>
              </a:solidFill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76538-621D-1515-FBF3-33973B702E1A}"/>
              </a:ext>
            </a:extLst>
          </p:cNvPr>
          <p:cNvSpPr txBox="1"/>
          <p:nvPr/>
        </p:nvSpPr>
        <p:spPr>
          <a:xfrm>
            <a:off x="228599" y="1168352"/>
            <a:ext cx="1089328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Objective: </a:t>
            </a:r>
            <a:r>
              <a:rPr lang="en-US"/>
              <a:t>Decision making, approval, and alignment.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Meeting Frequency: </a:t>
            </a:r>
            <a:r>
              <a:rPr lang="en-US"/>
              <a:t>Monthly, third week of the month on Thursday;1 Hour.</a:t>
            </a:r>
            <a:endParaRPr lang="en-US" b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Key Participants: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/>
              <a:t>NFL: </a:t>
            </a:r>
            <a:r>
              <a:rPr lang="en-US"/>
              <a:t>Gary Brantley, Aaron Amendolia, Rama Ravindranathan, Tim Davidson, Sandra Manigault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/>
              <a:t>N-Ovate: </a:t>
            </a:r>
            <a:r>
              <a:rPr lang="en-US"/>
              <a:t>Tye Hayes, Knox Phillips, Erin Greene, Asia Lewis, Tionna Taylor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Meeting Host: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/>
              <a:t>Sandra Manigault (Primary)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/>
              <a:t>Victoria Donten (Alternative)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67613EB-7B88-472C-892D-BE54BB7EC522}"/>
              </a:ext>
            </a:extLst>
          </p:cNvPr>
          <p:cNvSpPr txBox="1"/>
          <p:nvPr/>
        </p:nvSpPr>
        <p:spPr>
          <a:xfrm>
            <a:off x="9141705" y="71963"/>
            <a:ext cx="292608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67" b="1" i="1">
                <a:solidFill>
                  <a:srgbClr val="C00000"/>
                </a:solidFill>
              </a:rPr>
              <a:t>CONFIDENTIAL </a:t>
            </a:r>
            <a:r>
              <a:rPr lang="en-US" sz="1067" b="1" i="1">
                <a:solidFill>
                  <a:schemeClr val="tx1"/>
                </a:solidFill>
              </a:rPr>
              <a:t>| </a:t>
            </a:r>
            <a:fld id="{F8728191-AEDE-45E9-85B4-CFB3EBC2DBC5}" type="slidenum">
              <a:rPr lang="en-US" sz="1067" b="1" i="1" smtClean="0">
                <a:solidFill>
                  <a:schemeClr val="tx1"/>
                </a:solidFill>
              </a:rPr>
              <a:pPr algn="r"/>
              <a:t>3</a:t>
            </a:fld>
            <a:endParaRPr lang="en-US" sz="1067" b="1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48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29222-37CB-60BC-8372-6EA986B6E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850112" y="6565239"/>
            <a:ext cx="346456" cy="457200"/>
          </a:xfrm>
        </p:spPr>
        <p:txBody>
          <a:bodyPr/>
          <a:lstStyle/>
          <a:p>
            <a:pPr>
              <a:defRPr/>
            </a:pPr>
            <a:fld id="{386B83BC-7853-424B-A404-CB03E7A9406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ACE159-BA68-2D38-F14A-AE0DDC7462B8}"/>
              </a:ext>
            </a:extLst>
          </p:cNvPr>
          <p:cNvSpPr/>
          <p:nvPr/>
        </p:nvSpPr>
        <p:spPr bwMode="auto">
          <a:xfrm>
            <a:off x="707981" y="2859255"/>
            <a:ext cx="10789920" cy="365760"/>
          </a:xfrm>
          <a:prstGeom prst="rect">
            <a:avLst/>
          </a:prstGeom>
          <a:solidFill>
            <a:srgbClr val="E5E7EB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b="1">
                <a:solidFill>
                  <a:srgbClr val="003760"/>
                </a:solidFill>
              </a:rPr>
              <a:t>EverGame Advisory Board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A036BC-EE87-F840-11F4-63383D013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856426"/>
              </p:ext>
            </p:extLst>
          </p:nvPr>
        </p:nvGraphicFramePr>
        <p:xfrm>
          <a:off x="693281" y="3362028"/>
          <a:ext cx="1922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20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32194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Program Lead (NFL)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77533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A084DD4-806A-E412-CE24-92B8DD6E0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115148"/>
              </p:ext>
            </p:extLst>
          </p:nvPr>
        </p:nvGraphicFramePr>
        <p:xfrm>
          <a:off x="2761663" y="3362028"/>
          <a:ext cx="6668675" cy="1098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8675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303838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Project Management 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7934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555F8B26-116C-5203-9B20-6DF20E80C332}"/>
              </a:ext>
            </a:extLst>
          </p:cNvPr>
          <p:cNvSpPr/>
          <p:nvPr/>
        </p:nvSpPr>
        <p:spPr bwMode="auto">
          <a:xfrm>
            <a:off x="1128961" y="3722036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Sandra </a:t>
            </a:r>
          </a:p>
          <a:p>
            <a:pPr algn="ctr"/>
            <a:r>
              <a:rPr lang="en-US" sz="900">
                <a:cs typeface="Arial"/>
              </a:rPr>
              <a:t>Manigault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C3C7E9-ED96-47D4-B2D5-0B1672DD3901}"/>
              </a:ext>
            </a:extLst>
          </p:cNvPr>
          <p:cNvSpPr/>
          <p:nvPr/>
        </p:nvSpPr>
        <p:spPr bwMode="auto">
          <a:xfrm>
            <a:off x="2839752" y="3820653"/>
            <a:ext cx="1026694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t" anchorCtr="1"/>
          <a:lstStyle/>
          <a:p>
            <a:pPr algn="ctr">
              <a:spcAft>
                <a:spcPts val="600"/>
              </a:spcAft>
            </a:pPr>
            <a:r>
              <a:rPr lang="en-US" sz="900"/>
              <a:t>Victoria </a:t>
            </a:r>
            <a:r>
              <a:rPr lang="en-US" sz="900">
                <a:cs typeface="Arial"/>
              </a:rPr>
              <a:t>Donten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BBD1BE-1E6F-72E3-E3F4-8C8D76BCBF10}"/>
              </a:ext>
            </a:extLst>
          </p:cNvPr>
          <p:cNvSpPr/>
          <p:nvPr/>
        </p:nvSpPr>
        <p:spPr bwMode="auto">
          <a:xfrm>
            <a:off x="5005634" y="3820653"/>
            <a:ext cx="1053493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t" anchorCtr="1"/>
          <a:lstStyle/>
          <a:p>
            <a:pPr algn="ctr"/>
            <a:r>
              <a:rPr lang="en-US" sz="900"/>
              <a:t>Jacqueline Navarro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C0F0915-6BE7-A4C4-C34E-2663F6245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46945"/>
              </p:ext>
            </p:extLst>
          </p:nvPr>
        </p:nvGraphicFramePr>
        <p:xfrm>
          <a:off x="9545865" y="3357618"/>
          <a:ext cx="19266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637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31472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Program Lead (N-Ovate)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7825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584BE767-3DCB-05A8-9E24-62BC8DC5E5EF}"/>
              </a:ext>
            </a:extLst>
          </p:cNvPr>
          <p:cNvSpPr/>
          <p:nvPr/>
        </p:nvSpPr>
        <p:spPr bwMode="auto">
          <a:xfrm>
            <a:off x="701040" y="4561869"/>
            <a:ext cx="10789920" cy="365760"/>
          </a:xfrm>
          <a:prstGeom prst="rect">
            <a:avLst/>
          </a:prstGeom>
          <a:solidFill>
            <a:srgbClr val="E5E7EB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b="1">
                <a:solidFill>
                  <a:srgbClr val="003760"/>
                </a:solidFill>
              </a:rPr>
              <a:t>Workstream Leads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C89517E-A83B-17E2-0743-760BBCC4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671490"/>
              </p:ext>
            </p:extLst>
          </p:nvPr>
        </p:nvGraphicFramePr>
        <p:xfrm>
          <a:off x="707981" y="5055199"/>
          <a:ext cx="2011680" cy="96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27409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Stadium Certification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68875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713BA418-3B7F-9432-37F8-AFC4F07AB44B}"/>
              </a:ext>
            </a:extLst>
          </p:cNvPr>
          <p:cNvSpPr/>
          <p:nvPr/>
        </p:nvSpPr>
        <p:spPr bwMode="auto">
          <a:xfrm>
            <a:off x="1155359" y="5377761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0" tIns="45715" rIns="0" bIns="45715" rtlCol="0" anchor="ctr" anchorCtr="1"/>
          <a:lstStyle/>
          <a:p>
            <a:pPr algn="ctr"/>
            <a:r>
              <a:rPr lang="en-US" sz="900"/>
              <a:t>Nik</a:t>
            </a:r>
          </a:p>
          <a:p>
            <a:pPr algn="ctr"/>
            <a:r>
              <a:rPr lang="en-US" sz="900"/>
              <a:t>Stamatakis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58FA5A5-0821-2894-EB7B-0824B5437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31503"/>
              </p:ext>
            </p:extLst>
          </p:nvPr>
        </p:nvGraphicFramePr>
        <p:xfrm>
          <a:off x="2872286" y="5056174"/>
          <a:ext cx="2011680" cy="96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27331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GDA Module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6868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8C8D4B94-6F71-9786-FF8F-F2984DFB4917}"/>
              </a:ext>
            </a:extLst>
          </p:cNvPr>
          <p:cNvSpPr/>
          <p:nvPr/>
        </p:nvSpPr>
        <p:spPr bwMode="auto">
          <a:xfrm>
            <a:off x="3361574" y="5377761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Mike Katzenoff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64578C2-D753-229A-856C-CBE5B7D5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75756"/>
              </p:ext>
            </p:extLst>
          </p:nvPr>
        </p:nvGraphicFramePr>
        <p:xfrm>
          <a:off x="9370512" y="5050743"/>
          <a:ext cx="2103120" cy="96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27331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IT Events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6868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37" name="Oval 36">
            <a:extLst>
              <a:ext uri="{FF2B5EF4-FFF2-40B4-BE49-F238E27FC236}">
                <a16:creationId xmlns:a16="http://schemas.microsoft.com/office/drawing/2014/main" id="{D15846CE-3F25-B9E9-C04D-87D7F919E655}"/>
              </a:ext>
            </a:extLst>
          </p:cNvPr>
          <p:cNvSpPr/>
          <p:nvPr/>
        </p:nvSpPr>
        <p:spPr bwMode="auto">
          <a:xfrm>
            <a:off x="9953145" y="5372330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Nick</a:t>
            </a:r>
          </a:p>
          <a:p>
            <a:pPr algn="ctr"/>
            <a:r>
              <a:rPr lang="en-US" sz="900"/>
              <a:t>Annucci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4AAE51A-70E7-9B36-A4CA-8C8D2067158C}"/>
              </a:ext>
            </a:extLst>
          </p:cNvPr>
          <p:cNvSpPr/>
          <p:nvPr/>
        </p:nvSpPr>
        <p:spPr bwMode="auto">
          <a:xfrm>
            <a:off x="6102941" y="3820653"/>
            <a:ext cx="1053493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t" anchorCtr="1"/>
          <a:lstStyle/>
          <a:p>
            <a:pPr algn="ctr"/>
            <a:r>
              <a:rPr lang="en-US" sz="900"/>
              <a:t>Asia </a:t>
            </a:r>
          </a:p>
          <a:p>
            <a:pPr algn="ctr"/>
            <a:r>
              <a:rPr lang="en-US" sz="900"/>
              <a:t>Lewis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1BAA80E-D445-9FA3-4407-EB53E600FA0E}"/>
              </a:ext>
            </a:extLst>
          </p:cNvPr>
          <p:cNvSpPr/>
          <p:nvPr/>
        </p:nvSpPr>
        <p:spPr bwMode="auto">
          <a:xfrm>
            <a:off x="9983403" y="3820447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Knox</a:t>
            </a:r>
          </a:p>
          <a:p>
            <a:pPr algn="ctr"/>
            <a:r>
              <a:rPr lang="en-US" sz="900">
                <a:cs typeface="Arial"/>
              </a:rPr>
              <a:t>Phillips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4621985-CEA1-C0A3-4F17-BD9FF17D0CF7}"/>
              </a:ext>
            </a:extLst>
          </p:cNvPr>
          <p:cNvSpPr/>
          <p:nvPr/>
        </p:nvSpPr>
        <p:spPr bwMode="auto">
          <a:xfrm>
            <a:off x="8295620" y="3820858"/>
            <a:ext cx="1051560" cy="585216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t" anchorCtr="1"/>
          <a:lstStyle/>
          <a:p>
            <a:pPr algn="ctr"/>
            <a:r>
              <a:rPr lang="en-US" sz="900"/>
              <a:t>Tionna</a:t>
            </a:r>
          </a:p>
          <a:p>
            <a:pPr algn="ctr"/>
            <a:r>
              <a:rPr lang="en-US" sz="900"/>
              <a:t>Taylor</a:t>
            </a:r>
          </a:p>
          <a:p>
            <a:pPr algn="ctr"/>
            <a:endParaRPr lang="en-US" sz="90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0612E74-0479-EE3C-6567-389299C763C3}"/>
              </a:ext>
            </a:extLst>
          </p:cNvPr>
          <p:cNvSpPr/>
          <p:nvPr/>
        </p:nvSpPr>
        <p:spPr bwMode="auto">
          <a:xfrm>
            <a:off x="7200248" y="3820858"/>
            <a:ext cx="1051560" cy="585216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t" anchorCtr="1"/>
          <a:lstStyle/>
          <a:p>
            <a:pPr algn="ctr"/>
            <a:r>
              <a:rPr lang="en-US" sz="900"/>
              <a:t>Erin</a:t>
            </a:r>
          </a:p>
          <a:p>
            <a:pPr algn="ctr"/>
            <a:r>
              <a:rPr lang="en-US" sz="900"/>
              <a:t> Greene</a:t>
            </a:r>
          </a:p>
          <a:p>
            <a:pPr algn="ctr"/>
            <a:endParaRPr lang="en-US" sz="900"/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65F9D3DD-9905-168C-EF85-CB05D7C11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100314"/>
              </p:ext>
            </p:extLst>
          </p:nvPr>
        </p:nvGraphicFramePr>
        <p:xfrm>
          <a:off x="7206207" y="5051147"/>
          <a:ext cx="2011680" cy="96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27412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IT Infrastructure Module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68599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52" name="Oval 51">
            <a:extLst>
              <a:ext uri="{FF2B5EF4-FFF2-40B4-BE49-F238E27FC236}">
                <a16:creationId xmlns:a16="http://schemas.microsoft.com/office/drawing/2014/main" id="{B0229783-271E-6D2E-D918-675E0EFCF949}"/>
              </a:ext>
            </a:extLst>
          </p:cNvPr>
          <p:cNvSpPr/>
          <p:nvPr/>
        </p:nvSpPr>
        <p:spPr bwMode="auto">
          <a:xfrm>
            <a:off x="7746930" y="5372330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Tim </a:t>
            </a:r>
          </a:p>
          <a:p>
            <a:pPr algn="ctr"/>
            <a:r>
              <a:rPr lang="en-US" sz="900"/>
              <a:t>Davidson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ACD3446F-EC44-1396-952C-42375C70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90" y="1105"/>
            <a:ext cx="8525933" cy="615951"/>
          </a:xfrm>
        </p:spPr>
        <p:txBody>
          <a:bodyPr/>
          <a:lstStyle/>
          <a:p>
            <a:r>
              <a:rPr lang="en-US" sz="2800">
                <a:solidFill>
                  <a:schemeClr val="accent2">
                    <a:lumMod val="50000"/>
                  </a:schemeClr>
                </a:solidFill>
              </a:rPr>
              <a:t>EverGame Program Organization Structure 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3753333-F7AF-CB8A-9105-1FE727D938CB}"/>
              </a:ext>
            </a:extLst>
          </p:cNvPr>
          <p:cNvSpPr/>
          <p:nvPr/>
        </p:nvSpPr>
        <p:spPr bwMode="auto">
          <a:xfrm>
            <a:off x="3910260" y="3820653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0" tIns="45715" rIns="0" bIns="45715" rtlCol="0" anchor="ctr" anchorCtr="1"/>
          <a:lstStyle/>
          <a:p>
            <a:pPr algn="ctr"/>
            <a:r>
              <a:rPr lang="en-US" sz="900"/>
              <a:t>Kathryn</a:t>
            </a:r>
          </a:p>
          <a:p>
            <a:pPr algn="ctr"/>
            <a:r>
              <a:rPr lang="en-US" sz="900">
                <a:cs typeface="Arial"/>
              </a:rPr>
              <a:t>Rodriguez-Barry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DEAF26-F9D3-B0F1-011D-B1CD8F4D8B42}"/>
              </a:ext>
            </a:extLst>
          </p:cNvPr>
          <p:cNvSpPr/>
          <p:nvPr/>
        </p:nvSpPr>
        <p:spPr bwMode="auto">
          <a:xfrm>
            <a:off x="1352551" y="665180"/>
            <a:ext cx="9486899" cy="1112385"/>
          </a:xfrm>
          <a:prstGeom prst="roundRect">
            <a:avLst/>
          </a:prstGeom>
          <a:solidFill>
            <a:srgbClr val="E5E7EB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t" anchorCtr="1"/>
          <a:lstStyle/>
          <a:p>
            <a:pPr algn="ctr"/>
            <a:r>
              <a:rPr lang="en-US" b="1">
                <a:solidFill>
                  <a:srgbClr val="003760"/>
                </a:solidFill>
              </a:rPr>
              <a:t>Steering Committee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897CF9-F84E-9249-7805-E3605A5BADA2}"/>
              </a:ext>
            </a:extLst>
          </p:cNvPr>
          <p:cNvSpPr/>
          <p:nvPr/>
        </p:nvSpPr>
        <p:spPr bwMode="auto">
          <a:xfrm>
            <a:off x="8303231" y="1121700"/>
            <a:ext cx="1051560" cy="539981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Tye</a:t>
            </a:r>
          </a:p>
          <a:p>
            <a:pPr algn="ctr"/>
            <a:r>
              <a:rPr lang="en-US" sz="900">
                <a:cs typeface="Arial"/>
              </a:rPr>
              <a:t>Hayes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3E78A1B-CB3E-E568-8560-086EE6AC9B79}"/>
              </a:ext>
            </a:extLst>
          </p:cNvPr>
          <p:cNvSpPr/>
          <p:nvPr/>
        </p:nvSpPr>
        <p:spPr bwMode="auto">
          <a:xfrm>
            <a:off x="4250072" y="1096595"/>
            <a:ext cx="1188720" cy="590190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Sandra </a:t>
            </a:r>
          </a:p>
          <a:p>
            <a:pPr algn="ctr"/>
            <a:r>
              <a:rPr lang="en-US" sz="900">
                <a:cs typeface="Arial"/>
              </a:rPr>
              <a:t>Manigault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90FF18A-2C6F-36F3-AC32-FEBBCDE4D463}"/>
              </a:ext>
            </a:extLst>
          </p:cNvPr>
          <p:cNvSpPr/>
          <p:nvPr/>
        </p:nvSpPr>
        <p:spPr bwMode="auto">
          <a:xfrm>
            <a:off x="2899019" y="1096595"/>
            <a:ext cx="1188720" cy="590190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Aaron Amendolia</a:t>
            </a:r>
            <a:endParaRPr lang="en-US" sz="900">
              <a:cs typeface="Arial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176278-36FC-84DB-392A-EF903DE73AF3}"/>
              </a:ext>
            </a:extLst>
          </p:cNvPr>
          <p:cNvSpPr/>
          <p:nvPr/>
        </p:nvSpPr>
        <p:spPr bwMode="auto">
          <a:xfrm>
            <a:off x="1547966" y="1096595"/>
            <a:ext cx="1188720" cy="590190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>
                <a:cs typeface="Arial"/>
              </a:rPr>
              <a:t>Gary </a:t>
            </a:r>
          </a:p>
          <a:p>
            <a:pPr algn="ctr"/>
            <a:r>
              <a:rPr lang="en-US" sz="900">
                <a:cs typeface="Arial"/>
              </a:rPr>
              <a:t>Brantley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274E6F0-C698-E494-61A4-030B616F9001}"/>
              </a:ext>
            </a:extLst>
          </p:cNvPr>
          <p:cNvSpPr/>
          <p:nvPr/>
        </p:nvSpPr>
        <p:spPr bwMode="auto">
          <a:xfrm>
            <a:off x="6952178" y="1096595"/>
            <a:ext cx="1188720" cy="590190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Tim </a:t>
            </a:r>
          </a:p>
          <a:p>
            <a:pPr algn="ctr"/>
            <a:r>
              <a:rPr lang="en-US" sz="900"/>
              <a:t>Davidson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42535AA-2B41-A1E7-5846-DA27A4A178CC}"/>
              </a:ext>
            </a:extLst>
          </p:cNvPr>
          <p:cNvSpPr/>
          <p:nvPr/>
        </p:nvSpPr>
        <p:spPr bwMode="auto">
          <a:xfrm>
            <a:off x="5601125" y="1096595"/>
            <a:ext cx="1188720" cy="590190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0" tIns="45715" rIns="0" bIns="45715" rtlCol="0" anchor="ctr" anchorCtr="1"/>
          <a:lstStyle/>
          <a:p>
            <a:pPr algn="ctr"/>
            <a:r>
              <a:rPr lang="en-US" sz="900"/>
              <a:t>Rama</a:t>
            </a:r>
          </a:p>
          <a:p>
            <a:pPr algn="ctr"/>
            <a:r>
              <a:rPr lang="en-US" sz="900"/>
              <a:t>Ravindranathan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0192865-9296-53EE-6D2D-A786E4D6196B}"/>
              </a:ext>
            </a:extLst>
          </p:cNvPr>
          <p:cNvSpPr/>
          <p:nvPr/>
        </p:nvSpPr>
        <p:spPr bwMode="auto">
          <a:xfrm>
            <a:off x="9517123" y="1121700"/>
            <a:ext cx="1051560" cy="539981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Knox</a:t>
            </a:r>
          </a:p>
          <a:p>
            <a:pPr algn="ctr"/>
            <a:r>
              <a:rPr lang="en-US" sz="900">
                <a:cs typeface="Arial"/>
              </a:rPr>
              <a:t>Phillips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7FCDB157-4C0E-63EA-0FEC-EBA1F77D3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990270"/>
              </p:ext>
            </p:extLst>
          </p:nvPr>
        </p:nvGraphicFramePr>
        <p:xfrm>
          <a:off x="3701469" y="1864765"/>
          <a:ext cx="4802944" cy="92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2944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2621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NFL Approvers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6522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60" name="Oval 59">
            <a:extLst>
              <a:ext uri="{FF2B5EF4-FFF2-40B4-BE49-F238E27FC236}">
                <a16:creationId xmlns:a16="http://schemas.microsoft.com/office/drawing/2014/main" id="{497C526A-CA72-3DAA-61B9-D390F72CD449}"/>
              </a:ext>
            </a:extLst>
          </p:cNvPr>
          <p:cNvSpPr/>
          <p:nvPr/>
        </p:nvSpPr>
        <p:spPr bwMode="auto">
          <a:xfrm>
            <a:off x="3873387" y="2190412"/>
            <a:ext cx="1188720" cy="523911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>
                <a:cs typeface="Arial"/>
              </a:rPr>
              <a:t>Gary </a:t>
            </a:r>
          </a:p>
          <a:p>
            <a:pPr algn="ctr"/>
            <a:r>
              <a:rPr lang="en-US" sz="900">
                <a:cs typeface="Arial"/>
              </a:rPr>
              <a:t>Brantley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63936FE-8441-4996-EA3D-B2AAA8AB455D}"/>
              </a:ext>
            </a:extLst>
          </p:cNvPr>
          <p:cNvSpPr/>
          <p:nvPr/>
        </p:nvSpPr>
        <p:spPr bwMode="auto">
          <a:xfrm>
            <a:off x="5471708" y="2190412"/>
            <a:ext cx="1188720" cy="523911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0" tIns="45715" rIns="0" bIns="45715" rtlCol="0" anchor="ctr" anchorCtr="1"/>
          <a:lstStyle/>
          <a:p>
            <a:pPr algn="ctr"/>
            <a:r>
              <a:rPr lang="en-US" sz="900"/>
              <a:t>Rama</a:t>
            </a:r>
          </a:p>
          <a:p>
            <a:pPr algn="ctr"/>
            <a:r>
              <a:rPr lang="en-US" sz="900"/>
              <a:t>Ravindranathan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11549E8-74A1-9055-041B-7914AAF557A0}"/>
              </a:ext>
            </a:extLst>
          </p:cNvPr>
          <p:cNvSpPr/>
          <p:nvPr/>
        </p:nvSpPr>
        <p:spPr bwMode="auto">
          <a:xfrm>
            <a:off x="7070029" y="2190412"/>
            <a:ext cx="1188720" cy="523911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Aaron Amendolia</a:t>
            </a:r>
            <a:endParaRPr lang="en-US" sz="900"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6F4B77-3EEE-B04B-B4F6-6CECDF62F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033496"/>
              </p:ext>
            </p:extLst>
          </p:nvPr>
        </p:nvGraphicFramePr>
        <p:xfrm>
          <a:off x="4992308" y="5058939"/>
          <a:ext cx="2103120" cy="96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01672962"/>
                    </a:ext>
                  </a:extLst>
                </a:gridCol>
              </a:tblGrid>
              <a:tr h="27331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Integrations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616"/>
                  </a:ext>
                </a:extLst>
              </a:tr>
              <a:tr h="6868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6673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DDF55702-918D-6FD5-B3B3-5BE2F8817C2D}"/>
              </a:ext>
            </a:extLst>
          </p:cNvPr>
          <p:cNvSpPr/>
          <p:nvPr/>
        </p:nvSpPr>
        <p:spPr bwMode="auto">
          <a:xfrm>
            <a:off x="5574941" y="5380526"/>
            <a:ext cx="1051560" cy="585627"/>
          </a:xfrm>
          <a:prstGeom prst="ellipse">
            <a:avLst/>
          </a:prstGeom>
          <a:solidFill>
            <a:srgbClr val="C7DDF1"/>
          </a:solidFill>
          <a:ln w="9525">
            <a:noFill/>
            <a:round/>
            <a:headEnd/>
            <a:tailEnd/>
          </a:ln>
        </p:spPr>
        <p:txBody>
          <a:bodyPr lIns="91430" tIns="45715" rIns="91430" bIns="45715" rtlCol="0" anchor="ctr" anchorCtr="1"/>
          <a:lstStyle/>
          <a:p>
            <a:pPr algn="ctr"/>
            <a:r>
              <a:rPr lang="en-US" sz="900"/>
              <a:t>David</a:t>
            </a:r>
          </a:p>
          <a:p>
            <a:pPr algn="ctr"/>
            <a:r>
              <a:rPr lang="en-US" sz="900"/>
              <a:t>Ng</a:t>
            </a:r>
          </a:p>
        </p:txBody>
      </p:sp>
    </p:spTree>
    <p:extLst>
      <p:ext uri="{BB962C8B-B14F-4D97-AF65-F5344CB8AC3E}">
        <p14:creationId xmlns:p14="http://schemas.microsoft.com/office/powerpoint/2010/main" val="140837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7191-7D22-3894-1E03-3AB37BED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Picture 8">
            <a:extLst>
              <a:ext uri="{FF2B5EF4-FFF2-40B4-BE49-F238E27FC236}">
                <a16:creationId xmlns:a16="http://schemas.microsoft.com/office/drawing/2014/main" id="{70884DE7-6D7F-3E52-14BD-E39A29167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083" y="1773202"/>
            <a:ext cx="3657599" cy="2257067"/>
          </a:xfrm>
          <a:prstGeom prst="roundRect">
            <a:avLst>
              <a:gd name="adj" fmla="val 1066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057771-A995-3337-C69C-D48B297D774E}"/>
              </a:ext>
            </a:extLst>
          </p:cNvPr>
          <p:cNvSpPr/>
          <p:nvPr/>
        </p:nvSpPr>
        <p:spPr>
          <a:xfrm>
            <a:off x="315202" y="650558"/>
            <a:ext cx="11460480" cy="928271"/>
          </a:xfrm>
          <a:prstGeom prst="roundRect">
            <a:avLst/>
          </a:prstGeom>
          <a:solidFill>
            <a:srgbClr val="1C1C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Arial"/>
                <a:cs typeface="Arial"/>
              </a:rPr>
              <a:t>EverGame Program – 3 Tracks | 4 Projects</a:t>
            </a:r>
            <a:endParaRPr 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71D00-9908-1CFB-3883-0992EB23D547}"/>
              </a:ext>
            </a:extLst>
          </p:cNvPr>
          <p:cNvSpPr/>
          <p:nvPr/>
        </p:nvSpPr>
        <p:spPr>
          <a:xfrm>
            <a:off x="452364" y="4701527"/>
            <a:ext cx="3383280" cy="132507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182880" rtlCol="0" anchor="t"/>
          <a:lstStyle/>
          <a:p>
            <a:pPr algn="ctr">
              <a:spcAft>
                <a:spcPts val="600"/>
              </a:spcAft>
            </a:pPr>
            <a:r>
              <a:rPr lang="en-US" sz="1200" b="1">
                <a:solidFill>
                  <a:srgbClr val="0037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Stadium Certification Project</a:t>
            </a:r>
          </a:p>
          <a:p>
            <a:pPr algn="ctr">
              <a:spcAft>
                <a:spcPts val="600"/>
              </a:spcAft>
            </a:pPr>
            <a:r>
              <a:rPr lang="en-US" altLang="en-US" sz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NFL IT with annual certification of 30 stadiums plus Hall of Fame (HOF) and international stadiums during the offseason in preparation for the upcoming year.</a:t>
            </a:r>
            <a:endParaRPr lang="en-US" sz="1200">
              <a:solidFill>
                <a:srgbClr val="0037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3012E7-742F-6165-529D-DC6CFE3159C2}"/>
              </a:ext>
            </a:extLst>
          </p:cNvPr>
          <p:cNvGrpSpPr/>
          <p:nvPr/>
        </p:nvGrpSpPr>
        <p:grpSpPr>
          <a:xfrm>
            <a:off x="315204" y="1797288"/>
            <a:ext cx="3657600" cy="2257067"/>
            <a:chOff x="4340018" y="1786799"/>
            <a:chExt cx="3657600" cy="2257067"/>
          </a:xfrm>
        </p:grpSpPr>
        <p:pic>
          <p:nvPicPr>
            <p:cNvPr id="12" name="Picture 11" descr="A group of people in a stadium with Arrowhead Stadium in the background&#10;&#10;AI-generated content may be incorrect.">
              <a:extLst>
                <a:ext uri="{FF2B5EF4-FFF2-40B4-BE49-F238E27FC236}">
                  <a16:creationId xmlns:a16="http://schemas.microsoft.com/office/drawing/2014/main" id="{C610E309-0BD1-003A-43EA-A83C5A922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8" t="-1" r="7228" b="34784"/>
            <a:stretch/>
          </p:blipFill>
          <p:spPr>
            <a:xfrm>
              <a:off x="4340018" y="1786799"/>
              <a:ext cx="3657600" cy="2257067"/>
            </a:xfrm>
            <a:prstGeom prst="roundRect">
              <a:avLst>
                <a:gd name="adj" fmla="val 9276"/>
              </a:avLst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5525B10-4194-8D01-71BB-8531030A723D}"/>
                </a:ext>
              </a:extLst>
            </p:cNvPr>
            <p:cNvSpPr/>
            <p:nvPr/>
          </p:nvSpPr>
          <p:spPr>
            <a:xfrm>
              <a:off x="4340018" y="1786799"/>
              <a:ext cx="3657600" cy="2257067"/>
            </a:xfrm>
            <a:prstGeom prst="roundRect">
              <a:avLst>
                <a:gd name="adj" fmla="val 7874"/>
              </a:avLst>
            </a:prstGeom>
            <a:solidFill>
              <a:srgbClr val="3B3838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1520" rtlCol="0" anchor="t"/>
            <a:lstStyle/>
            <a:p>
              <a:pPr algn="ctr">
                <a:spcAft>
                  <a:spcPts val="600"/>
                </a:spcAft>
              </a:pPr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STADIUM CERTIFICATION TRACK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Stadium Certification Project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E94D19-9055-F34A-9580-ADC7DEDAC1EA}"/>
              </a:ext>
            </a:extLst>
          </p:cNvPr>
          <p:cNvGrpSpPr/>
          <p:nvPr/>
        </p:nvGrpSpPr>
        <p:grpSpPr>
          <a:xfrm>
            <a:off x="4209024" y="1797288"/>
            <a:ext cx="3657600" cy="2257067"/>
            <a:chOff x="536784" y="1786799"/>
            <a:chExt cx="3657600" cy="2257067"/>
          </a:xfrm>
        </p:grpSpPr>
        <p:pic>
          <p:nvPicPr>
            <p:cNvPr id="15" name="Picture 14" descr="A football player diving for a ball&#10;&#10;AI-generated content may be incorrect.">
              <a:extLst>
                <a:ext uri="{FF2B5EF4-FFF2-40B4-BE49-F238E27FC236}">
                  <a16:creationId xmlns:a16="http://schemas.microsoft.com/office/drawing/2014/main" id="{DA768A76-7E29-EA45-F819-2335E957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58"/>
            <a:stretch/>
          </p:blipFill>
          <p:spPr>
            <a:xfrm>
              <a:off x="536784" y="1786799"/>
              <a:ext cx="3657600" cy="2257067"/>
            </a:xfrm>
            <a:prstGeom prst="roundRect">
              <a:avLst>
                <a:gd name="adj" fmla="val 8824"/>
              </a:avLst>
            </a:prstGeom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5FB5239-316C-C9F4-AFD1-905A4FF06DC1}"/>
                </a:ext>
              </a:extLst>
            </p:cNvPr>
            <p:cNvSpPr/>
            <p:nvPr/>
          </p:nvSpPr>
          <p:spPr>
            <a:xfrm>
              <a:off x="536784" y="1786799"/>
              <a:ext cx="3657600" cy="2257067"/>
            </a:xfrm>
            <a:prstGeom prst="roundRect">
              <a:avLst>
                <a:gd name="adj" fmla="val 7874"/>
              </a:avLst>
            </a:prstGeom>
            <a:solidFill>
              <a:srgbClr val="3B3838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1520" rtlCol="0" anchor="t"/>
            <a:lstStyle/>
            <a:p>
              <a:pPr algn="ctr">
                <a:spcAft>
                  <a:spcPts val="600"/>
                </a:spcAft>
              </a:pPr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GAMEDAY TRACK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GDA Module Project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IT Infrastructure Module Project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8B2E3BC-E0B8-5CAB-FF90-041D2BDB2E9D}"/>
              </a:ext>
            </a:extLst>
          </p:cNvPr>
          <p:cNvSpPr/>
          <p:nvPr/>
        </p:nvSpPr>
        <p:spPr>
          <a:xfrm>
            <a:off x="8240003" y="4701527"/>
            <a:ext cx="3383280" cy="11421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182880" rtlCol="0" anchor="t"/>
          <a:lstStyle/>
          <a:p>
            <a:pPr algn="ctr">
              <a:spcAft>
                <a:spcPts val="600"/>
              </a:spcAft>
            </a:pPr>
            <a:r>
              <a:rPr lang="en-US" sz="1200" b="1">
                <a:solidFill>
                  <a:srgbClr val="0037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Events Readiness Project</a:t>
            </a:r>
          </a:p>
          <a:p>
            <a:pPr algn="ctr">
              <a:spcAft>
                <a:spcPts val="600"/>
              </a:spcAft>
            </a:pP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the IT Events team with build out and set up of technology readiness for all tentpole events.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C8C0425-3123-7296-FBBD-7EFC300EDFF6}"/>
              </a:ext>
            </a:extLst>
          </p:cNvPr>
          <p:cNvSpPr txBox="1">
            <a:spLocks/>
          </p:cNvSpPr>
          <p:nvPr/>
        </p:nvSpPr>
        <p:spPr bwMode="auto">
          <a:xfrm>
            <a:off x="70090" y="1105"/>
            <a:ext cx="8525933" cy="61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333" b="1">
                <a:solidFill>
                  <a:srgbClr val="0039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3333CC">
                    <a:lumMod val="50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EverGame Program Structure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75AC27-F90B-41FB-7CDB-A008F7C75F64}"/>
              </a:ext>
            </a:extLst>
          </p:cNvPr>
          <p:cNvSpPr/>
          <p:nvPr/>
        </p:nvSpPr>
        <p:spPr>
          <a:xfrm>
            <a:off x="4346184" y="4701527"/>
            <a:ext cx="3383280" cy="121842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182880" rtlCol="0" anchor="t"/>
          <a:lstStyle/>
          <a:p>
            <a:pPr algn="ctr">
              <a:spcAft>
                <a:spcPts val="600"/>
              </a:spcAft>
            </a:pPr>
            <a:r>
              <a:rPr lang="en-US" sz="1200" b="1">
                <a:solidFill>
                  <a:srgbClr val="0037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GDA Module &amp; IT Infrastructure Projects</a:t>
            </a:r>
          </a:p>
          <a:p>
            <a:pPr algn="ctr">
              <a:spcAft>
                <a:spcPts val="600"/>
              </a:spcAft>
            </a:pPr>
            <a:r>
              <a:rPr lang="en-US" altLang="en-US" sz="12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NFL GDAs and NFL Infrastructure team with the set of game readiness activities IT is responsible for during game day as well as tentpole events.</a:t>
            </a:r>
            <a:endParaRPr lang="en-US" sz="1200">
              <a:solidFill>
                <a:srgbClr val="0037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58AD1B-4A15-9D44-5699-14FD8844E4E3}"/>
              </a:ext>
            </a:extLst>
          </p:cNvPr>
          <p:cNvGrpSpPr/>
          <p:nvPr/>
        </p:nvGrpSpPr>
        <p:grpSpPr>
          <a:xfrm>
            <a:off x="8102844" y="1797288"/>
            <a:ext cx="3657600" cy="2257067"/>
            <a:chOff x="8118082" y="1960917"/>
            <a:chExt cx="3657600" cy="225706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E15711-4C4C-B7B1-066A-629D63D68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8082" y="1960918"/>
              <a:ext cx="3657600" cy="2257066"/>
            </a:xfrm>
            <a:prstGeom prst="roundRect">
              <a:avLst>
                <a:gd name="adj" fmla="val 11415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DA709E-BC2F-043E-D5E9-DC292FB125E2}"/>
                </a:ext>
              </a:extLst>
            </p:cNvPr>
            <p:cNvSpPr/>
            <p:nvPr/>
          </p:nvSpPr>
          <p:spPr>
            <a:xfrm>
              <a:off x="8118082" y="1960917"/>
              <a:ext cx="3657600" cy="2257067"/>
            </a:xfrm>
            <a:prstGeom prst="roundRect">
              <a:avLst/>
            </a:prstGeom>
            <a:solidFill>
              <a:srgbClr val="3B3838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31520" rtlCol="0" anchor="t"/>
            <a:lstStyle/>
            <a:p>
              <a:pPr algn="ctr">
                <a:spcAft>
                  <a:spcPts val="600"/>
                </a:spcAft>
              </a:pPr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IT EVENTS READINESS TRACK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IT Events Readiness Project</a:t>
              </a:r>
            </a:p>
          </p:txBody>
        </p:sp>
      </p:grp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B831A7CD-483E-5E5F-69AD-AF23151F26B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144004" y="4054354"/>
            <a:ext cx="0" cy="649224"/>
          </a:xfrm>
          <a:prstGeom prst="straightConnector1">
            <a:avLst/>
          </a:prstGeom>
          <a:ln>
            <a:solidFill>
              <a:srgbClr val="1919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CAB18553-1430-2BA7-A272-86C53738F779}"/>
              </a:ext>
            </a:extLst>
          </p:cNvPr>
          <p:cNvCxnSpPr>
            <a:cxnSpLocks/>
            <a:stCxn id="19" idx="2"/>
            <a:endCxn id="5" idx="0"/>
          </p:cNvCxnSpPr>
          <p:nvPr/>
        </p:nvCxnSpPr>
        <p:spPr>
          <a:xfrm flipH="1">
            <a:off x="9931643" y="4054355"/>
            <a:ext cx="1" cy="647172"/>
          </a:xfrm>
          <a:prstGeom prst="straightConnector1">
            <a:avLst/>
          </a:prstGeom>
          <a:ln>
            <a:solidFill>
              <a:srgbClr val="1919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1D1104-7871-06E8-20DA-8C49A6778827}"/>
              </a:ext>
            </a:extLst>
          </p:cNvPr>
          <p:cNvCxnSpPr>
            <a:cxnSpLocks/>
            <a:stCxn id="16" idx="2"/>
            <a:endCxn id="2" idx="0"/>
          </p:cNvCxnSpPr>
          <p:nvPr/>
        </p:nvCxnSpPr>
        <p:spPr>
          <a:xfrm>
            <a:off x="6037824" y="4054355"/>
            <a:ext cx="0" cy="647172"/>
          </a:xfrm>
          <a:prstGeom prst="straightConnector1">
            <a:avLst/>
          </a:prstGeom>
          <a:ln>
            <a:solidFill>
              <a:srgbClr val="1919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3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2BFD-7BD2-FD1E-2F5E-4F4EDF3B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B26C4-F674-B444-6CDF-4CDA0F1A3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652000" y="6553200"/>
            <a:ext cx="2540000" cy="457200"/>
          </a:xfrm>
        </p:spPr>
        <p:txBody>
          <a:bodyPr/>
          <a:lstStyle/>
          <a:p>
            <a:pPr>
              <a:defRPr/>
            </a:pPr>
            <a:fld id="{386B83BC-7853-424B-A404-CB03E7A9406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0A217-970E-1562-1274-70A07092232F}"/>
              </a:ext>
            </a:extLst>
          </p:cNvPr>
          <p:cNvSpPr txBox="1"/>
          <p:nvPr/>
        </p:nvSpPr>
        <p:spPr>
          <a:xfrm>
            <a:off x="1890717" y="617056"/>
            <a:ext cx="8289259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/>
              <a:t>Stadium Certification – </a:t>
            </a:r>
            <a:r>
              <a:rPr lang="en-US" sz="2400" b="1" u="sng">
                <a:solidFill>
                  <a:srgbClr val="E97132"/>
                </a:solidFill>
              </a:rPr>
              <a:t>68</a:t>
            </a:r>
            <a:r>
              <a:rPr lang="en-US" sz="2400"/>
              <a:t> Days to Go-Live Date </a:t>
            </a:r>
            <a:r>
              <a:rPr lang="en-US" sz="2400" b="1">
                <a:solidFill>
                  <a:schemeClr val="accent2"/>
                </a:solidFill>
              </a:rPr>
              <a:t>March 31</a:t>
            </a:r>
            <a:r>
              <a:rPr lang="en-US" sz="2400" b="1" baseline="30000">
                <a:solidFill>
                  <a:schemeClr val="accent2"/>
                </a:solidFill>
              </a:rPr>
              <a:t>st</a:t>
            </a:r>
            <a:endParaRPr lang="en-US" sz="2400" b="1">
              <a:solidFill>
                <a:schemeClr val="accent2"/>
              </a:solidFill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/>
              <a:t>GDA – </a:t>
            </a:r>
            <a:r>
              <a:rPr lang="en-US" sz="2400" b="1" u="sng">
                <a:solidFill>
                  <a:srgbClr val="E97132"/>
                </a:solidFill>
              </a:rPr>
              <a:t>159</a:t>
            </a:r>
            <a:r>
              <a:rPr lang="en-US" sz="2400">
                <a:solidFill>
                  <a:srgbClr val="FF9900"/>
                </a:solidFill>
              </a:rPr>
              <a:t> </a:t>
            </a:r>
            <a:r>
              <a:rPr lang="en-US" sz="2400"/>
              <a:t>Days to Go-Live Date </a:t>
            </a:r>
            <a:r>
              <a:rPr lang="en-US" sz="2400" b="1">
                <a:solidFill>
                  <a:schemeClr val="accent2"/>
                </a:solidFill>
              </a:rPr>
              <a:t>June 30</a:t>
            </a:r>
            <a:r>
              <a:rPr lang="en-US" sz="2400" b="1" baseline="30000">
                <a:solidFill>
                  <a:schemeClr val="accent2"/>
                </a:solidFill>
              </a:rPr>
              <a:t>th</a:t>
            </a:r>
            <a:r>
              <a:rPr lang="en-US" sz="2400" b="1">
                <a:solidFill>
                  <a:schemeClr val="accent2"/>
                </a:solidFill>
              </a:rPr>
              <a:t> </a:t>
            </a:r>
            <a:endParaRPr lang="en-US" sz="2400" b="1">
              <a:solidFill>
                <a:schemeClr val="accent2"/>
              </a:solidFill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F05BF5-B26E-0F1E-53B1-987AFAA4E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258937"/>
              </p:ext>
            </p:extLst>
          </p:nvPr>
        </p:nvGraphicFramePr>
        <p:xfrm>
          <a:off x="160717" y="1822383"/>
          <a:ext cx="11870562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61182">
                  <a:extLst>
                    <a:ext uri="{9D8B030D-6E8A-4147-A177-3AD203B41FA5}">
                      <a16:colId xmlns:a16="http://schemas.microsoft.com/office/drawing/2014/main" val="844959594"/>
                    </a:ext>
                  </a:extLst>
                </a:gridCol>
                <a:gridCol w="1618230">
                  <a:extLst>
                    <a:ext uri="{9D8B030D-6E8A-4147-A177-3AD203B41FA5}">
                      <a16:colId xmlns:a16="http://schemas.microsoft.com/office/drawing/2014/main" val="4216037320"/>
                    </a:ext>
                  </a:extLst>
                </a:gridCol>
                <a:gridCol w="1618230">
                  <a:extLst>
                    <a:ext uri="{9D8B030D-6E8A-4147-A177-3AD203B41FA5}">
                      <a16:colId xmlns:a16="http://schemas.microsoft.com/office/drawing/2014/main" val="3460957132"/>
                    </a:ext>
                  </a:extLst>
                </a:gridCol>
                <a:gridCol w="1618230">
                  <a:extLst>
                    <a:ext uri="{9D8B030D-6E8A-4147-A177-3AD203B41FA5}">
                      <a16:colId xmlns:a16="http://schemas.microsoft.com/office/drawing/2014/main" val="1263127747"/>
                    </a:ext>
                  </a:extLst>
                </a:gridCol>
                <a:gridCol w="1618230">
                  <a:extLst>
                    <a:ext uri="{9D8B030D-6E8A-4147-A177-3AD203B41FA5}">
                      <a16:colId xmlns:a16="http://schemas.microsoft.com/office/drawing/2014/main" val="2091569737"/>
                    </a:ext>
                  </a:extLst>
                </a:gridCol>
                <a:gridCol w="1618230">
                  <a:extLst>
                    <a:ext uri="{9D8B030D-6E8A-4147-A177-3AD203B41FA5}">
                      <a16:colId xmlns:a16="http://schemas.microsoft.com/office/drawing/2014/main" val="2820472658"/>
                    </a:ext>
                  </a:extLst>
                </a:gridCol>
                <a:gridCol w="1618230">
                  <a:extLst>
                    <a:ext uri="{9D8B030D-6E8A-4147-A177-3AD203B41FA5}">
                      <a16:colId xmlns:a16="http://schemas.microsoft.com/office/drawing/2014/main" val="2383043061"/>
                    </a:ext>
                  </a:extLst>
                </a:gridCol>
              </a:tblGrid>
              <a:tr h="297965"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BRD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Business Approved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Business and Vendor Signoff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n-lt"/>
                        </a:rPr>
                        <a:t>Go-Live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10755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+mn-lt"/>
                        </a:rPr>
                        <a:t>Stadium Certification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2329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+mn-lt"/>
                        </a:rPr>
                        <a:t>GDA 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3980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IT Infrastructure Module</a:t>
                      </a:r>
                      <a:endParaRPr lang="en-US" sz="1200" b="1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744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+mn-lt"/>
                        </a:rPr>
                        <a:t>IT Events Readiness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3546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D12E59-E2F1-D019-4156-D2BCDC56B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236049"/>
              </p:ext>
            </p:extLst>
          </p:nvPr>
        </p:nvGraphicFramePr>
        <p:xfrm>
          <a:off x="2012021" y="5075722"/>
          <a:ext cx="816795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591">
                  <a:extLst>
                    <a:ext uri="{9D8B030D-6E8A-4147-A177-3AD203B41FA5}">
                      <a16:colId xmlns:a16="http://schemas.microsoft.com/office/drawing/2014/main" val="828326979"/>
                    </a:ext>
                  </a:extLst>
                </a:gridCol>
                <a:gridCol w="1633591">
                  <a:extLst>
                    <a:ext uri="{9D8B030D-6E8A-4147-A177-3AD203B41FA5}">
                      <a16:colId xmlns:a16="http://schemas.microsoft.com/office/drawing/2014/main" val="3775495633"/>
                    </a:ext>
                  </a:extLst>
                </a:gridCol>
                <a:gridCol w="1633591">
                  <a:extLst>
                    <a:ext uri="{9D8B030D-6E8A-4147-A177-3AD203B41FA5}">
                      <a16:colId xmlns:a16="http://schemas.microsoft.com/office/drawing/2014/main" val="3425840879"/>
                    </a:ext>
                  </a:extLst>
                </a:gridCol>
                <a:gridCol w="1633591">
                  <a:extLst>
                    <a:ext uri="{9D8B030D-6E8A-4147-A177-3AD203B41FA5}">
                      <a16:colId xmlns:a16="http://schemas.microsoft.com/office/drawing/2014/main" val="2906040865"/>
                    </a:ext>
                  </a:extLst>
                </a:gridCol>
                <a:gridCol w="1633591">
                  <a:extLst>
                    <a:ext uri="{9D8B030D-6E8A-4147-A177-3AD203B41FA5}">
                      <a16:colId xmlns:a16="http://schemas.microsoft.com/office/drawing/2014/main" val="3008422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Not started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On Track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At Risk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Off Track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578227"/>
                  </a:ext>
                </a:extLst>
              </a:tr>
              <a:tr h="15292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493983"/>
                  </a:ext>
                </a:extLst>
              </a:tr>
              <a:tr h="211182">
                <a:tc gridSpan="5">
                  <a:txBody>
                    <a:bodyPr/>
                    <a:lstStyle/>
                    <a:p>
                      <a:pPr algn="ctr"/>
                      <a:r>
                        <a:rPr lang="en-US" i="1"/>
                        <a:t> </a:t>
                      </a:r>
                      <a:r>
                        <a:rPr lang="en-US" sz="1050" i="1"/>
                        <a:t>Status reflects likelihood of meeting target date</a:t>
                      </a:r>
                      <a:endParaRPr lang="en-US" i="1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i="1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99799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E3F703C2-D2BC-19F5-146B-7B6ABBD09CE6}"/>
              </a:ext>
            </a:extLst>
          </p:cNvPr>
          <p:cNvSpPr txBox="1">
            <a:spLocks/>
          </p:cNvSpPr>
          <p:nvPr/>
        </p:nvSpPr>
        <p:spPr bwMode="auto">
          <a:xfrm>
            <a:off x="70090" y="1105"/>
            <a:ext cx="8525933" cy="61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333" b="1">
                <a:solidFill>
                  <a:srgbClr val="0039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r>
              <a:rPr lang="en-US" sz="2800" kern="0">
                <a:solidFill>
                  <a:schemeClr val="accent2">
                    <a:lumMod val="50000"/>
                  </a:schemeClr>
                </a:solidFill>
              </a:rPr>
              <a:t>EverGame Program Scorecard </a:t>
            </a:r>
            <a:r>
              <a:rPr lang="en-US" sz="1800" i="1" kern="0">
                <a:solidFill>
                  <a:schemeClr val="accent2">
                    <a:lumMod val="50000"/>
                  </a:schemeClr>
                </a:solidFill>
              </a:rPr>
              <a:t>as of January 22</a:t>
            </a:r>
            <a:r>
              <a:rPr lang="en-US" sz="1800" i="1" kern="0" baseline="30000">
                <a:solidFill>
                  <a:schemeClr val="accent2">
                    <a:lumMod val="50000"/>
                  </a:schemeClr>
                </a:solidFill>
              </a:rPr>
              <a:t>nd</a:t>
            </a:r>
            <a:r>
              <a:rPr lang="en-US" sz="1800" kern="0">
                <a:solidFill>
                  <a:schemeClr val="accent2">
                    <a:lumMod val="50000"/>
                  </a:schemeClr>
                </a:solidFill>
              </a:rPr>
              <a:t> </a:t>
            </a:r>
            <a:endParaRPr lang="en-US" sz="2800" kern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5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TLSHAPE_TB_00000000000000000000000000000000_ScaleContainer">
            <a:extLst>
              <a:ext uri="{FF2B5EF4-FFF2-40B4-BE49-F238E27FC236}">
                <a16:creationId xmlns:a16="http://schemas.microsoft.com/office/drawing/2014/main" id="{0414FC07-6EE6-1880-C9CF-A062C0DA42F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214952" y="944028"/>
            <a:ext cx="9890401" cy="381000"/>
          </a:xfrm>
          <a:prstGeom prst="roundRect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A22F427-D0BB-0153-CD49-54169C3F0711}"/>
              </a:ext>
            </a:extLst>
          </p:cNvPr>
          <p:cNvSpPr/>
          <p:nvPr/>
        </p:nvSpPr>
        <p:spPr>
          <a:xfrm>
            <a:off x="11519124" y="6427073"/>
            <a:ext cx="586370" cy="279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TLSHAPE_SL_9eb76584bb32452eac07fb2637baea1a_BackgroundRectangle">
            <a:extLst>
              <a:ext uri="{FF2B5EF4-FFF2-40B4-BE49-F238E27FC236}">
                <a16:creationId xmlns:a16="http://schemas.microsoft.com/office/drawing/2014/main" id="{92C99601-83E9-8784-59C0-2F8AE529E9B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72895" y="4121304"/>
            <a:ext cx="12032461" cy="2625806"/>
          </a:xfrm>
          <a:prstGeom prst="rect">
            <a:avLst/>
          </a:prstGeom>
          <a:solidFill>
            <a:srgbClr val="A5A5A5">
              <a:alpha val="14902"/>
            </a:srgbClr>
          </a:solidFill>
          <a:ln w="9525">
            <a:noFill/>
            <a:round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91430" tIns="45715" rIns="91430" bIns="45715" rtlCol="0" anchor="ctr" anchorCtr="1"/>
          <a:lstStyle/>
          <a:p>
            <a:pPr algn="ctr"/>
            <a:endParaRPr lang="en-US"/>
          </a:p>
        </p:txBody>
      </p:sp>
      <p:sp>
        <p:nvSpPr>
          <p:cNvPr id="246" name="OTLSHAPE_SL_9eb76584bb32452eac07fb2637baea1a_BackgroundRectangle">
            <a:extLst>
              <a:ext uri="{FF2B5EF4-FFF2-40B4-BE49-F238E27FC236}">
                <a16:creationId xmlns:a16="http://schemas.microsoft.com/office/drawing/2014/main" id="{AA28F522-6E06-B3D1-AE47-514307345BB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5170" y="1350370"/>
            <a:ext cx="12040324" cy="2683997"/>
          </a:xfrm>
          <a:prstGeom prst="rect">
            <a:avLst/>
          </a:prstGeom>
          <a:solidFill>
            <a:srgbClr val="A5A5A5">
              <a:alpha val="14902"/>
            </a:srgbClr>
          </a:solidFill>
          <a:ln w="9525">
            <a:noFill/>
            <a:round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91430" tIns="45715" rIns="91430" bIns="45715" rtlCol="0" anchor="ctr" anchorCtr="1"/>
          <a:lstStyle/>
          <a:p>
            <a:pPr algn="ctr"/>
            <a:endParaRPr lang="en-US"/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48C4331D-0239-4DFE-8C26-4BBAFAA52467}"/>
              </a:ext>
            </a:extLst>
          </p:cNvPr>
          <p:cNvCxnSpPr>
            <a:cxnSpLocks/>
          </p:cNvCxnSpPr>
          <p:nvPr/>
        </p:nvCxnSpPr>
        <p:spPr>
          <a:xfrm>
            <a:off x="4735429" y="897565"/>
            <a:ext cx="0" cy="5884184"/>
          </a:xfrm>
          <a:prstGeom prst="line">
            <a:avLst/>
          </a:prstGeom>
          <a:ln w="19050">
            <a:solidFill>
              <a:srgbClr val="C00000"/>
            </a:solidFill>
            <a:prstDash val="dash"/>
            <a:headEnd type="oval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5" name="OTLSHAPE_T_11f294d07641494ba0f467d346c40e03_HorizontalConnector1">
            <a:extLst>
              <a:ext uri="{FF2B5EF4-FFF2-40B4-BE49-F238E27FC236}">
                <a16:creationId xmlns:a16="http://schemas.microsoft.com/office/drawing/2014/main" id="{9E6032B5-18EC-48B8-EF92-D2EDE9661D99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3441" y="1519868"/>
            <a:ext cx="284064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OTLSHAPE_T_3a7edfb7f4b9448a8cf6424bc282c4e7_HorizontalConnector1">
            <a:extLst>
              <a:ext uri="{FF2B5EF4-FFF2-40B4-BE49-F238E27FC236}">
                <a16:creationId xmlns:a16="http://schemas.microsoft.com/office/drawing/2014/main" id="{7DC5E733-7E7B-03F3-CB2C-0FF28094B1C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100128" y="1761168"/>
            <a:ext cx="219456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OTLSHAPE_T_20615ab85f96475a84ecb07903bad865_HorizontalConnector1">
            <a:extLst>
              <a:ext uri="{FF2B5EF4-FFF2-40B4-BE49-F238E27FC236}">
                <a16:creationId xmlns:a16="http://schemas.microsoft.com/office/drawing/2014/main" id="{906EED26-F1F1-9615-1C7A-18660372ECE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1962461" y="1946712"/>
            <a:ext cx="2845807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OTLSHAPE_T_a1e57305c5684ee5ba3ba6d9b2340063_HorizontalConnector1">
            <a:extLst>
              <a:ext uri="{FF2B5EF4-FFF2-40B4-BE49-F238E27FC236}">
                <a16:creationId xmlns:a16="http://schemas.microsoft.com/office/drawing/2014/main" id="{A735552C-61A5-53C9-ADC7-5C1FEE192233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1646988" y="2172363"/>
            <a:ext cx="3805461" cy="7772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OTLSHAPE_T_b34e7b9c28b34273a3bed6220e6f3aad_HorizontalConnector1">
            <a:extLst>
              <a:ext uri="{FF2B5EF4-FFF2-40B4-BE49-F238E27FC236}">
                <a16:creationId xmlns:a16="http://schemas.microsoft.com/office/drawing/2014/main" id="{A184E4EA-8814-C925-1664-F9B89069641A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2091900" y="2389818"/>
            <a:ext cx="293730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OTLSHAPE_T_1db18853e0d6417faa8a3f4a8199c833_HorizontalConnector1">
            <a:extLst>
              <a:ext uri="{FF2B5EF4-FFF2-40B4-BE49-F238E27FC236}">
                <a16:creationId xmlns:a16="http://schemas.microsoft.com/office/drawing/2014/main" id="{22CBCD18-4F97-A897-EED7-0183EC9F2BF5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1481258" y="2600762"/>
            <a:ext cx="4060353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OTLSHAPE_T_5abd0ca1e077431ba2b3ed5797474912_HorizontalConnector1">
            <a:extLst>
              <a:ext uri="{FF2B5EF4-FFF2-40B4-BE49-F238E27FC236}">
                <a16:creationId xmlns:a16="http://schemas.microsoft.com/office/drawing/2014/main" id="{DA762F72-AAEA-63D4-445E-8E1084DD058B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1380081" y="3033337"/>
            <a:ext cx="4894871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OTLSHAPE_T_e111e954a7134b78a204c5a920cb877a_HorizontalConnector1">
            <a:extLst>
              <a:ext uri="{FF2B5EF4-FFF2-40B4-BE49-F238E27FC236}">
                <a16:creationId xmlns:a16="http://schemas.microsoft.com/office/drawing/2014/main" id="{73C349C7-4992-EF80-CD2F-7C4BB8C2E0E5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843040" y="3468698"/>
            <a:ext cx="611942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OTLSHAPE_T_340766d64eb14b2baf0f7df1948c6c09_HorizontalConnector1">
            <a:extLst>
              <a:ext uri="{FF2B5EF4-FFF2-40B4-BE49-F238E27FC236}">
                <a16:creationId xmlns:a16="http://schemas.microsoft.com/office/drawing/2014/main" id="{E688DE52-348A-8CD0-4097-81E5A9731EB3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487247" y="3719756"/>
            <a:ext cx="4943163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OTLSHAPE_T_f5c021d236494ed896dd232b8094ecf0_HorizontalConnector1">
            <a:extLst>
              <a:ext uri="{FF2B5EF4-FFF2-40B4-BE49-F238E27FC236}">
                <a16:creationId xmlns:a16="http://schemas.microsoft.com/office/drawing/2014/main" id="{E1216093-8BC4-66BA-50FC-75E00E773CC9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913441" y="4266164"/>
            <a:ext cx="169477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OTLSHAPE_T_ebab0a0f3213478595040be056e3b8c7_HorizontalConnector1">
            <a:extLst>
              <a:ext uri="{FF2B5EF4-FFF2-40B4-BE49-F238E27FC236}">
                <a16:creationId xmlns:a16="http://schemas.microsoft.com/office/drawing/2014/main" id="{D41C56C1-1E15-5138-C8A6-7B81E47ECFA2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1121085" y="3905300"/>
            <a:ext cx="6574684" cy="0"/>
          </a:xfrm>
          <a:prstGeom prst="line">
            <a:avLst/>
          </a:prstGeom>
          <a:ln w="508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OTLSHAPE_T_8bcd7023d20f4eae9864be25131a51fb_HorizontalConnector1">
            <a:extLst>
              <a:ext uri="{FF2B5EF4-FFF2-40B4-BE49-F238E27FC236}">
                <a16:creationId xmlns:a16="http://schemas.microsoft.com/office/drawing/2014/main" id="{5F9FBAE4-2401-1AB7-7578-5AA265953D4D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2100129" y="4479587"/>
            <a:ext cx="119559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OTLSHAPE_T_c15dc3b95bae4523880209ef15a01990_HorizontalConnector1">
            <a:extLst>
              <a:ext uri="{FF2B5EF4-FFF2-40B4-BE49-F238E27FC236}">
                <a16:creationId xmlns:a16="http://schemas.microsoft.com/office/drawing/2014/main" id="{EBB79002-388A-BEC5-471D-BF6F74EF34FC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1801425" y="4702302"/>
            <a:ext cx="2044301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OTLSHAPE_T_54cd0fc412344cfeb7f5d6748afc36dc_HorizontalConnector1">
            <a:extLst>
              <a:ext uri="{FF2B5EF4-FFF2-40B4-BE49-F238E27FC236}">
                <a16:creationId xmlns:a16="http://schemas.microsoft.com/office/drawing/2014/main" id="{0D1C9E89-325D-E821-FD5B-018EEC0B7AFD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V="1">
            <a:off x="1965171" y="4886555"/>
            <a:ext cx="3128653" cy="10583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OTLSHAPE_T_722f98ca64874255b1887c2f5bf66cb6_HorizontalConnector1">
            <a:extLst>
              <a:ext uri="{FF2B5EF4-FFF2-40B4-BE49-F238E27FC236}">
                <a16:creationId xmlns:a16="http://schemas.microsoft.com/office/drawing/2014/main" id="{6F9F7554-6B84-C066-B66F-E5E925B4C702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>
            <a:off x="2026977" y="5138438"/>
            <a:ext cx="360626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OTLSHAPE_T_421d5919f1334384bb61ab62f138fedb_HorizontalConnector1">
            <a:extLst>
              <a:ext uri="{FF2B5EF4-FFF2-40B4-BE49-F238E27FC236}">
                <a16:creationId xmlns:a16="http://schemas.microsoft.com/office/drawing/2014/main" id="{D384DAF1-E883-3594-FB53-068F82813513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>
            <a:off x="1481259" y="5342567"/>
            <a:ext cx="4976998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OTLSHAPE_T_7b770fcd23d041abb7e60b64c41fb369_HorizontalConnector1">
            <a:extLst>
              <a:ext uri="{FF2B5EF4-FFF2-40B4-BE49-F238E27FC236}">
                <a16:creationId xmlns:a16="http://schemas.microsoft.com/office/drawing/2014/main" id="{54D6FAD0-68B6-631D-0376-040E8BA24686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1380081" y="5760428"/>
            <a:ext cx="631568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OTLSHAPE_T_4850c889fd5241ee9f4c5546662ce91e_HorizontalConnector1">
            <a:extLst>
              <a:ext uri="{FF2B5EF4-FFF2-40B4-BE49-F238E27FC236}">
                <a16:creationId xmlns:a16="http://schemas.microsoft.com/office/drawing/2014/main" id="{A6278143-AE8E-AD8F-650F-77D31386FFCC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1619265" y="6206167"/>
            <a:ext cx="7497356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OTLSHAPE_T_643adad9162a4cbe949e3c990854730d_HorizontalConnector1">
            <a:extLst>
              <a:ext uri="{FF2B5EF4-FFF2-40B4-BE49-F238E27FC236}">
                <a16:creationId xmlns:a16="http://schemas.microsoft.com/office/drawing/2014/main" id="{B69B18FC-42D2-17E1-855C-2F99842E9A29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2174171" y="6419589"/>
            <a:ext cx="836330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OTLSHAPE_T_aebc9f9d0e264f8e9cab6a4599c1e2c9_HorizontalConnector1">
            <a:extLst>
              <a:ext uri="{FF2B5EF4-FFF2-40B4-BE49-F238E27FC236}">
                <a16:creationId xmlns:a16="http://schemas.microsoft.com/office/drawing/2014/main" id="{3C9B53A0-4DCC-D286-EEFC-24410CA475D9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1121086" y="6642304"/>
            <a:ext cx="10515600" cy="0"/>
          </a:xfrm>
          <a:prstGeom prst="line">
            <a:avLst/>
          </a:prstGeom>
          <a:ln w="508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TLSHAPE_TB_00000000000000000000000000000000_TimescaleInterval1">
            <a:extLst>
              <a:ext uri="{FF2B5EF4-FFF2-40B4-BE49-F238E27FC236}">
                <a16:creationId xmlns:a16="http://schemas.microsoft.com/office/drawing/2014/main" id="{8DDA4A94-0340-9265-545E-07DE2C29397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278453" y="1026007"/>
            <a:ext cx="26494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rgbClr val="E7E6E6"/>
                </a:solidFill>
                <a:latin typeface="Calibri" panose="020F0502020204030204" pitchFamily="34" charset="0"/>
              </a:rPr>
              <a:t>Dec 2025</a:t>
            </a:r>
          </a:p>
        </p:txBody>
      </p:sp>
      <p:sp>
        <p:nvSpPr>
          <p:cNvPr id="188" name="OTLSHAPE_TB_00000000000000000000000000000000_TimescaleInterval2">
            <a:extLst>
              <a:ext uri="{FF2B5EF4-FFF2-40B4-BE49-F238E27FC236}">
                <a16:creationId xmlns:a16="http://schemas.microsoft.com/office/drawing/2014/main" id="{5426E373-C6EB-242E-6F46-993A158EC33C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3699302" y="987908"/>
            <a:ext cx="731520" cy="274320"/>
          </a:xfrm>
          <a:prstGeom prst="rect">
            <a:avLst/>
          </a:prstGeom>
          <a:solidFill>
            <a:srgbClr val="002060"/>
          </a:solidFill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rgbClr val="E7E6E6"/>
                </a:solidFill>
                <a:latin typeface="Calibri" panose="020F0502020204030204" pitchFamily="34" charset="0"/>
              </a:rPr>
              <a:t>Jan 2026</a:t>
            </a:r>
          </a:p>
        </p:txBody>
      </p:sp>
      <p:sp>
        <p:nvSpPr>
          <p:cNvPr id="189" name="OTLSHAPE_TB_00000000000000000000000000000000_TimescaleInterval3">
            <a:extLst>
              <a:ext uri="{FF2B5EF4-FFF2-40B4-BE49-F238E27FC236}">
                <a16:creationId xmlns:a16="http://schemas.microsoft.com/office/drawing/2014/main" id="{2174803E-1D22-ED53-FF3E-2AB202FF7518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5120153" y="1026007"/>
            <a:ext cx="25269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rgbClr val="E7E6E6"/>
                </a:solidFill>
                <a:latin typeface="Calibri" panose="020F0502020204030204" pitchFamily="34" charset="0"/>
              </a:rPr>
              <a:t>Feb 2026</a:t>
            </a:r>
          </a:p>
        </p:txBody>
      </p:sp>
      <p:sp>
        <p:nvSpPr>
          <p:cNvPr id="190" name="OTLSHAPE_TB_00000000000000000000000000000000_TimescaleInterval4">
            <a:extLst>
              <a:ext uri="{FF2B5EF4-FFF2-40B4-BE49-F238E27FC236}">
                <a16:creationId xmlns:a16="http://schemas.microsoft.com/office/drawing/2014/main" id="{333017D2-659B-2107-0D7C-2C95F5813C28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6403501" y="1026007"/>
            <a:ext cx="30296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rgbClr val="E7E6E6"/>
                </a:solidFill>
                <a:latin typeface="Calibri" panose="020F0502020204030204" pitchFamily="34" charset="0"/>
              </a:rPr>
              <a:t>Mar 2026</a:t>
            </a:r>
          </a:p>
        </p:txBody>
      </p:sp>
      <p:sp>
        <p:nvSpPr>
          <p:cNvPr id="191" name="OTLSHAPE_TB_00000000000000000000000000000000_TimescaleInterval5">
            <a:extLst>
              <a:ext uri="{FF2B5EF4-FFF2-40B4-BE49-F238E27FC236}">
                <a16:creationId xmlns:a16="http://schemas.microsoft.com/office/drawing/2014/main" id="{5A7E6CAB-4AEE-BC77-C128-AD1EF788A04C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7824350" y="1026007"/>
            <a:ext cx="25051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rgbClr val="E7E6E6"/>
                </a:solidFill>
                <a:latin typeface="Calibri" panose="020F0502020204030204" pitchFamily="34" charset="0"/>
              </a:rPr>
              <a:t>Apr 2026</a:t>
            </a:r>
          </a:p>
        </p:txBody>
      </p:sp>
      <p:sp>
        <p:nvSpPr>
          <p:cNvPr id="192" name="OTLSHAPE_TB_00000000000000000000000000000000_TimescaleInterval6">
            <a:extLst>
              <a:ext uri="{FF2B5EF4-FFF2-40B4-BE49-F238E27FC236}">
                <a16:creationId xmlns:a16="http://schemas.microsoft.com/office/drawing/2014/main" id="{CFE3D244-CAC4-B5E4-F651-5C507D44807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9199366" y="1026007"/>
            <a:ext cx="30655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rgbClr val="E7E6E6"/>
                </a:solidFill>
                <a:latin typeface="Calibri" panose="020F0502020204030204" pitchFamily="34" charset="0"/>
              </a:rPr>
              <a:t>May 2026</a:t>
            </a:r>
          </a:p>
        </p:txBody>
      </p:sp>
      <p:sp>
        <p:nvSpPr>
          <p:cNvPr id="193" name="OTLSHAPE_TB_00000000000000000000000000000000_TimescaleInterval7">
            <a:extLst>
              <a:ext uri="{FF2B5EF4-FFF2-40B4-BE49-F238E27FC236}">
                <a16:creationId xmlns:a16="http://schemas.microsoft.com/office/drawing/2014/main" id="{FA35DD88-D0C2-E405-BEF8-29441A673CF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0620216" y="1026007"/>
            <a:ext cx="23686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rgbClr val="E7E6E6"/>
                </a:solidFill>
                <a:latin typeface="Calibri" panose="020F0502020204030204" pitchFamily="34" charset="0"/>
              </a:rPr>
              <a:t>Jun 2026</a:t>
            </a:r>
          </a:p>
        </p:txBody>
      </p:sp>
      <p:cxnSp>
        <p:nvCxnSpPr>
          <p:cNvPr id="194" name="OTLSHAPE_TB_00000000000000000000000000000000_Separator1">
            <a:extLst>
              <a:ext uri="{FF2B5EF4-FFF2-40B4-BE49-F238E27FC236}">
                <a16:creationId xmlns:a16="http://schemas.microsoft.com/office/drawing/2014/main" id="{D23E9FD4-AF2C-1E9C-2D8C-0588FE648F9C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3570753" y="897565"/>
            <a:ext cx="0" cy="381000"/>
          </a:xfrm>
          <a:prstGeom prst="line">
            <a:avLst/>
          </a:prstGeom>
          <a:ln w="6350" cap="flat" cmpd="sng" algn="ctr">
            <a:solidFill>
              <a:srgbClr val="E7E6E6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OTLSHAPE_TB_00000000000000000000000000000000_Separator2">
            <a:extLst>
              <a:ext uri="{FF2B5EF4-FFF2-40B4-BE49-F238E27FC236}">
                <a16:creationId xmlns:a16="http://schemas.microsoft.com/office/drawing/2014/main" id="{085F7682-61E1-6251-73A0-172FD8DD9407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4991603" y="897565"/>
            <a:ext cx="0" cy="381000"/>
          </a:xfrm>
          <a:prstGeom prst="line">
            <a:avLst/>
          </a:prstGeom>
          <a:ln w="6350" cap="flat" cmpd="sng" algn="ctr">
            <a:solidFill>
              <a:srgbClr val="E7E6E6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OTLSHAPE_TB_00000000000000000000000000000000_Separator3">
            <a:extLst>
              <a:ext uri="{FF2B5EF4-FFF2-40B4-BE49-F238E27FC236}">
                <a16:creationId xmlns:a16="http://schemas.microsoft.com/office/drawing/2014/main" id="{296D395D-93E3-FA80-E172-A75E2BA84E54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6274951" y="897565"/>
            <a:ext cx="0" cy="381000"/>
          </a:xfrm>
          <a:prstGeom prst="line">
            <a:avLst/>
          </a:prstGeom>
          <a:ln w="6350" cap="flat" cmpd="sng" algn="ctr">
            <a:solidFill>
              <a:srgbClr val="E7E6E6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OTLSHAPE_TB_00000000000000000000000000000000_Separator4">
            <a:extLst>
              <a:ext uri="{FF2B5EF4-FFF2-40B4-BE49-F238E27FC236}">
                <a16:creationId xmlns:a16="http://schemas.microsoft.com/office/drawing/2014/main" id="{5BCE91A6-9B41-9D16-F0FB-FAE65642DD7F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7695801" y="897565"/>
            <a:ext cx="0" cy="381000"/>
          </a:xfrm>
          <a:prstGeom prst="line">
            <a:avLst/>
          </a:prstGeom>
          <a:ln w="6350" cap="flat" cmpd="sng" algn="ctr">
            <a:solidFill>
              <a:srgbClr val="E7E6E6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OTLSHAPE_TB_00000000000000000000000000000000_Separator5">
            <a:extLst>
              <a:ext uri="{FF2B5EF4-FFF2-40B4-BE49-F238E27FC236}">
                <a16:creationId xmlns:a16="http://schemas.microsoft.com/office/drawing/2014/main" id="{3F056FD3-71AD-A35C-B23F-CBED9AD953A4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9070817" y="897565"/>
            <a:ext cx="0" cy="381000"/>
          </a:xfrm>
          <a:prstGeom prst="line">
            <a:avLst/>
          </a:prstGeom>
          <a:ln w="6350" cap="flat" cmpd="sng" algn="ctr">
            <a:solidFill>
              <a:srgbClr val="E7E6E6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OTLSHAPE_TB_00000000000000000000000000000000_Separator6">
            <a:extLst>
              <a:ext uri="{FF2B5EF4-FFF2-40B4-BE49-F238E27FC236}">
                <a16:creationId xmlns:a16="http://schemas.microsoft.com/office/drawing/2014/main" id="{3433457D-4787-BFD5-BDF7-408516AC9251}"/>
              </a:ext>
            </a:extLst>
          </p:cNvPr>
          <p:cNvCxnSpPr/>
          <p:nvPr>
            <p:custDataLst>
              <p:tags r:id="rId36"/>
            </p:custDataLst>
          </p:nvPr>
        </p:nvCxnSpPr>
        <p:spPr>
          <a:xfrm>
            <a:off x="10491666" y="897565"/>
            <a:ext cx="0" cy="381000"/>
          </a:xfrm>
          <a:prstGeom prst="line">
            <a:avLst/>
          </a:prstGeom>
          <a:ln w="6350" cap="flat" cmpd="sng" algn="ctr">
            <a:solidFill>
              <a:srgbClr val="E7E6E6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TLSHAPE_T_11f294d07641494ba0f467d346c40e03_Shape">
            <a:extLst>
              <a:ext uri="{FF2B5EF4-FFF2-40B4-BE49-F238E27FC236}">
                <a16:creationId xmlns:a16="http://schemas.microsoft.com/office/drawing/2014/main" id="{1624301C-D67D-8700-5125-F6526CBFA2F3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745860" y="1431122"/>
            <a:ext cx="548640" cy="203200"/>
          </a:xfrm>
          <a:prstGeom prst="homePlat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TLSHAPE_T_3a7edfb7f4b9448a8cf6424bc282c4e7_Shape">
            <a:extLst>
              <a:ext uri="{FF2B5EF4-FFF2-40B4-BE49-F238E27FC236}">
                <a16:creationId xmlns:a16="http://schemas.microsoft.com/office/drawing/2014/main" id="{64574E68-5348-7495-AC49-3EBA8ABC0815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4242464" y="1641503"/>
            <a:ext cx="54864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TLSHAPE_T_20615ab85f96475a84ecb07903bad865_Shape">
            <a:extLst>
              <a:ext uri="{FF2B5EF4-FFF2-40B4-BE49-F238E27FC236}">
                <a16:creationId xmlns:a16="http://schemas.microsoft.com/office/drawing/2014/main" id="{232141E6-95D5-6CCC-8DF7-DA35F4363C53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4800039" y="1851884"/>
            <a:ext cx="5969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TLSHAPE_T_a1e57305c5684ee5ba3ba6d9b2340063_Shape">
            <a:extLst>
              <a:ext uri="{FF2B5EF4-FFF2-40B4-BE49-F238E27FC236}">
                <a16:creationId xmlns:a16="http://schemas.microsoft.com/office/drawing/2014/main" id="{EFBAB2F2-0BA8-DF7D-C7D8-D2628A6B9F00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5395879" y="2034387"/>
            <a:ext cx="1397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TLSHAPE_T_b34e7b9c28b34273a3bed6220e6f3aad_Shape">
            <a:extLst>
              <a:ext uri="{FF2B5EF4-FFF2-40B4-BE49-F238E27FC236}">
                <a16:creationId xmlns:a16="http://schemas.microsoft.com/office/drawing/2014/main" id="{46835A66-CB99-C790-DD54-DE84F32AE644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5029209" y="2272646"/>
            <a:ext cx="4699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TLSHAPE_T_1db18853e0d6417faa8a3f4a8199c833_Shape">
            <a:extLst>
              <a:ext uri="{FF2B5EF4-FFF2-40B4-BE49-F238E27FC236}">
                <a16:creationId xmlns:a16="http://schemas.microsoft.com/office/drawing/2014/main" id="{6B6BA091-6B58-8921-C6EC-490D88589C0C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5533381" y="2483027"/>
            <a:ext cx="6985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TLSHAPE_T_5abd0ca1e077431ba2b3ed5797474912_Shape">
            <a:extLst>
              <a:ext uri="{FF2B5EF4-FFF2-40B4-BE49-F238E27FC236}">
                <a16:creationId xmlns:a16="http://schemas.microsoft.com/office/drawing/2014/main" id="{B5644567-7770-20F2-ADE7-6BEE8AA490ED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6257431" y="2910139"/>
            <a:ext cx="717084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TLSHAPE_T_e111e954a7134b78a204c5a920cb877a_Shape">
            <a:extLst>
              <a:ext uri="{FF2B5EF4-FFF2-40B4-BE49-F238E27FC236}">
                <a16:creationId xmlns:a16="http://schemas.microsoft.com/office/drawing/2014/main" id="{F663310D-27BD-E91F-FDF9-A9CAA3F9E1F7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963524" y="3347009"/>
            <a:ext cx="4191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TLSHAPE_T_340766d64eb14b2baf0f7df1948c6c09_Shape">
            <a:extLst>
              <a:ext uri="{FF2B5EF4-FFF2-40B4-BE49-F238E27FC236}">
                <a16:creationId xmlns:a16="http://schemas.microsoft.com/office/drawing/2014/main" id="{1DD60E99-07DE-6DF3-F535-20F623060FFC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422180" y="3595026"/>
            <a:ext cx="109728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TLSHAPE_T_f5c021d236494ed896dd232b8094ecf0_Shape">
            <a:extLst>
              <a:ext uri="{FF2B5EF4-FFF2-40B4-BE49-F238E27FC236}">
                <a16:creationId xmlns:a16="http://schemas.microsoft.com/office/drawing/2014/main" id="{A285CF9F-FD45-E4DB-CD9C-7F26633CD325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2608212" y="4164565"/>
            <a:ext cx="647700" cy="203200"/>
          </a:xfrm>
          <a:prstGeom prst="homePlate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TLSHAPE_T_8bcd7023d20f4eae9864be25131a51fb_Shape">
            <a:extLst>
              <a:ext uri="{FF2B5EF4-FFF2-40B4-BE49-F238E27FC236}">
                <a16:creationId xmlns:a16="http://schemas.microsoft.com/office/drawing/2014/main" id="{94C361BD-05E9-3708-B8CF-7A3B03425EA5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3295720" y="4377987"/>
            <a:ext cx="508000" cy="203200"/>
          </a:xfrm>
          <a:prstGeom prst="homePlate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TLSHAPE_T_c15dc3b95bae4523880209ef15a01990_Shape">
            <a:extLst>
              <a:ext uri="{FF2B5EF4-FFF2-40B4-BE49-F238E27FC236}">
                <a16:creationId xmlns:a16="http://schemas.microsoft.com/office/drawing/2014/main" id="{E67CE874-55B0-35BB-F471-CCE7121E56C6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3845726" y="4591408"/>
            <a:ext cx="1104900" cy="203200"/>
          </a:xfrm>
          <a:prstGeom prst="homePlat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TLSHAPE_T_54cd0fc412344cfeb7f5d6748afc36dc_Shape">
            <a:extLst>
              <a:ext uri="{FF2B5EF4-FFF2-40B4-BE49-F238E27FC236}">
                <a16:creationId xmlns:a16="http://schemas.microsoft.com/office/drawing/2014/main" id="{F2B49394-0641-222B-E1DD-C32643ACAF0B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5083241" y="4795538"/>
            <a:ext cx="508000" cy="203200"/>
          </a:xfrm>
          <a:prstGeom prst="homePlat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TLSHAPE_T_722f98ca64874255b1887c2f5bf66cb6_Shape">
            <a:extLst>
              <a:ext uri="{FF2B5EF4-FFF2-40B4-BE49-F238E27FC236}">
                <a16:creationId xmlns:a16="http://schemas.microsoft.com/office/drawing/2014/main" id="{2D2D5802-0358-12B8-B71A-6740664F21B5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5633247" y="5036838"/>
            <a:ext cx="7874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TLSHAPE_T_421d5919f1334384bb61ab62f138fedb_Shape">
            <a:extLst>
              <a:ext uri="{FF2B5EF4-FFF2-40B4-BE49-F238E27FC236}">
                <a16:creationId xmlns:a16="http://schemas.microsoft.com/office/drawing/2014/main" id="{BE6207C9-0C75-382E-523E-2466A7FCD69D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6458257" y="5231673"/>
            <a:ext cx="11938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TLSHAPE_T_7b770fcd23d041abb7e60b64c41fb369_Shape">
            <a:extLst>
              <a:ext uri="{FF2B5EF4-FFF2-40B4-BE49-F238E27FC236}">
                <a16:creationId xmlns:a16="http://schemas.microsoft.com/office/drawing/2014/main" id="{806BA706-5009-7D9C-6A6E-734841D517AA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7705064" y="5658828"/>
            <a:ext cx="13843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TLSHAPE_T_4850c889fd5241ee9f4c5546662ce91e_Shape">
            <a:extLst>
              <a:ext uri="{FF2B5EF4-FFF2-40B4-BE49-F238E27FC236}">
                <a16:creationId xmlns:a16="http://schemas.microsoft.com/office/drawing/2014/main" id="{91BE8FFD-0022-5BC5-F30C-182520B4DB43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9116620" y="6104567"/>
            <a:ext cx="138430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TLSHAPE_T_643adad9162a4cbe949e3c990854730d_Shape">
            <a:extLst>
              <a:ext uri="{FF2B5EF4-FFF2-40B4-BE49-F238E27FC236}">
                <a16:creationId xmlns:a16="http://schemas.microsoft.com/office/drawing/2014/main" id="{F8863F79-6282-99CA-06E7-2551DCA9869C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10537470" y="6299404"/>
            <a:ext cx="1188720" cy="203200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TLSHAPE_T_11f294d07641494ba0f467d346c40e03_Title">
            <a:extLst>
              <a:ext uri="{FF2B5EF4-FFF2-40B4-BE49-F238E27FC236}">
                <a16:creationId xmlns:a16="http://schemas.microsoft.com/office/drawing/2014/main" id="{0F9EE6D5-3D9E-BA8B-52D0-CE43A8DC5388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646148" y="1426841"/>
            <a:ext cx="279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22">
                <a:solidFill>
                  <a:srgbClr val="737373"/>
                </a:solidFill>
                <a:latin typeface="Calibri" panose="020F0502020204030204" pitchFamily="34" charset="0"/>
              </a:rPr>
              <a:t>BRD</a:t>
            </a:r>
          </a:p>
        </p:txBody>
      </p:sp>
      <p:sp>
        <p:nvSpPr>
          <p:cNvPr id="221" name="OTLSHAPE_T_3a7edfb7f4b9448a8cf6424bc282c4e7_Title">
            <a:extLst>
              <a:ext uri="{FF2B5EF4-FFF2-40B4-BE49-F238E27FC236}">
                <a16:creationId xmlns:a16="http://schemas.microsoft.com/office/drawing/2014/main" id="{62935992-4DEF-A53F-C246-F105557D0424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646147" y="1643825"/>
            <a:ext cx="1460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6">
                <a:solidFill>
                  <a:srgbClr val="737373"/>
                </a:solidFill>
                <a:latin typeface="Calibri" panose="020F0502020204030204" pitchFamily="34" charset="0"/>
              </a:rPr>
              <a:t>BRD Business Approval</a:t>
            </a:r>
          </a:p>
        </p:txBody>
      </p:sp>
      <p:sp>
        <p:nvSpPr>
          <p:cNvPr id="222" name="OTLSHAPE_T_20615ab85f96475a84ecb07903bad865_Title">
            <a:extLst>
              <a:ext uri="{FF2B5EF4-FFF2-40B4-BE49-F238E27FC236}">
                <a16:creationId xmlns:a16="http://schemas.microsoft.com/office/drawing/2014/main" id="{A0D34CB7-8D5C-FB78-D723-30B987C475D0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646147" y="1860809"/>
            <a:ext cx="13208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4">
                <a:solidFill>
                  <a:srgbClr val="737373"/>
                </a:solidFill>
                <a:latin typeface="Calibri" panose="020F0502020204030204" pitchFamily="34" charset="0"/>
              </a:rPr>
              <a:t>BRD N-Ovate Review</a:t>
            </a:r>
          </a:p>
        </p:txBody>
      </p:sp>
      <p:sp>
        <p:nvSpPr>
          <p:cNvPr id="223" name="OTLSHAPE_T_a1e57305c5684ee5ba3ba6d9b2340063_Title">
            <a:extLst>
              <a:ext uri="{FF2B5EF4-FFF2-40B4-BE49-F238E27FC236}">
                <a16:creationId xmlns:a16="http://schemas.microsoft.com/office/drawing/2014/main" id="{C800C647-779B-FAD6-7B38-5245A65440F4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646147" y="2294777"/>
            <a:ext cx="1384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BRD All Team Sign-Off</a:t>
            </a:r>
          </a:p>
        </p:txBody>
      </p:sp>
      <p:sp>
        <p:nvSpPr>
          <p:cNvPr id="224" name="OTLSHAPE_T_b34e7b9c28b34273a3bed6220e6f3aad_Title">
            <a:extLst>
              <a:ext uri="{FF2B5EF4-FFF2-40B4-BE49-F238E27FC236}">
                <a16:creationId xmlns:a16="http://schemas.microsoft.com/office/drawing/2014/main" id="{34D76055-7858-C386-AAC9-30E65D6DDBB2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646147" y="2077793"/>
            <a:ext cx="952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BRD Workshop</a:t>
            </a:r>
          </a:p>
        </p:txBody>
      </p:sp>
      <p:sp>
        <p:nvSpPr>
          <p:cNvPr id="225" name="OTLSHAPE_T_1db18853e0d6417faa8a3f4a8199c833_Title">
            <a:extLst>
              <a:ext uri="{FF2B5EF4-FFF2-40B4-BE49-F238E27FC236}">
                <a16:creationId xmlns:a16="http://schemas.microsoft.com/office/drawing/2014/main" id="{B7508687-E2E6-E9B9-2A02-287150702290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646147" y="2511761"/>
            <a:ext cx="838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Design Phase</a:t>
            </a:r>
          </a:p>
        </p:txBody>
      </p:sp>
      <p:sp>
        <p:nvSpPr>
          <p:cNvPr id="226" name="OTLSHAPE_T_5abd0ca1e077431ba2b3ed5797474912_Title">
            <a:extLst>
              <a:ext uri="{FF2B5EF4-FFF2-40B4-BE49-F238E27FC236}">
                <a16:creationId xmlns:a16="http://schemas.microsoft.com/office/drawing/2014/main" id="{91A4C6A4-3A41-5451-9CCA-9E3DC0FCF6C5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646147" y="2938450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 panose="020F0502020204030204" pitchFamily="34" charset="0"/>
              </a:rPr>
              <a:t>Build Phase</a:t>
            </a:r>
          </a:p>
        </p:txBody>
      </p:sp>
      <p:sp>
        <p:nvSpPr>
          <p:cNvPr id="227" name="OTLSHAPE_T_e111e954a7134b78a204c5a920cb877a_Title">
            <a:extLst>
              <a:ext uri="{FF2B5EF4-FFF2-40B4-BE49-F238E27FC236}">
                <a16:creationId xmlns:a16="http://schemas.microsoft.com/office/drawing/2014/main" id="{A6D51575-7643-4C80-4A22-B820BCCE674A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646147" y="3359258"/>
            <a:ext cx="203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26">
                <a:solidFill>
                  <a:srgbClr val="737373"/>
                </a:solidFill>
                <a:latin typeface="Calibri" panose="020F0502020204030204" pitchFamily="34" charset="0"/>
              </a:rPr>
              <a:t>QA</a:t>
            </a:r>
          </a:p>
        </p:txBody>
      </p:sp>
      <p:sp>
        <p:nvSpPr>
          <p:cNvPr id="228" name="OTLSHAPE_T_340766d64eb14b2baf0f7df1948c6c09_Title">
            <a:extLst>
              <a:ext uri="{FF2B5EF4-FFF2-40B4-BE49-F238E27FC236}">
                <a16:creationId xmlns:a16="http://schemas.microsoft.com/office/drawing/2014/main" id="{C5561008-0606-C0C1-1278-CE8652285AB6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646147" y="3595292"/>
            <a:ext cx="876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 panose="020F0502020204030204" pitchFamily="34" charset="0"/>
              </a:rPr>
              <a:t>UAT &amp; Testing</a:t>
            </a:r>
          </a:p>
        </p:txBody>
      </p:sp>
      <p:sp>
        <p:nvSpPr>
          <p:cNvPr id="229" name="OTLSHAPE_T_f5c021d236494ed896dd232b8094ecf0_Title">
            <a:extLst>
              <a:ext uri="{FF2B5EF4-FFF2-40B4-BE49-F238E27FC236}">
                <a16:creationId xmlns:a16="http://schemas.microsoft.com/office/drawing/2014/main" id="{91C02DBC-9C89-7F09-6CFD-FF51D0187EBD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646149" y="4173137"/>
            <a:ext cx="279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22">
                <a:solidFill>
                  <a:srgbClr val="737373"/>
                </a:solidFill>
                <a:latin typeface="Calibri" panose="020F0502020204030204" pitchFamily="34" charset="0"/>
              </a:rPr>
              <a:t>BRD</a:t>
            </a:r>
          </a:p>
        </p:txBody>
      </p:sp>
      <p:sp>
        <p:nvSpPr>
          <p:cNvPr id="230" name="OTLSHAPE_T_ebab0a0f3213478595040be056e3b8c7_JoinedDate">
            <a:extLst>
              <a:ext uri="{FF2B5EF4-FFF2-40B4-BE49-F238E27FC236}">
                <a16:creationId xmlns:a16="http://schemas.microsoft.com/office/drawing/2014/main" id="{08D48A0D-63B8-FBA7-32C3-94B8CCD22CD8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7816356" y="3834426"/>
            <a:ext cx="381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latin typeface="Calibri" panose="020F0502020204030204" pitchFamily="34" charset="0"/>
              </a:rPr>
              <a:t>Mar 31</a:t>
            </a:r>
          </a:p>
        </p:txBody>
      </p:sp>
      <p:sp>
        <p:nvSpPr>
          <p:cNvPr id="231" name="OTLSHAPE_T_ebab0a0f3213478595040be056e3b8c7_Title">
            <a:extLst>
              <a:ext uri="{FF2B5EF4-FFF2-40B4-BE49-F238E27FC236}">
                <a16:creationId xmlns:a16="http://schemas.microsoft.com/office/drawing/2014/main" id="{D7043142-7105-6A33-25B9-7B12B7EA1609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646148" y="3812272"/>
            <a:ext cx="482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 panose="020F0502020204030204" pitchFamily="34" charset="0"/>
              </a:rPr>
              <a:t>Go-Live</a:t>
            </a:r>
          </a:p>
        </p:txBody>
      </p:sp>
      <p:sp>
        <p:nvSpPr>
          <p:cNvPr id="232" name="OTLSHAPE_T_8bcd7023d20f4eae9864be25131a51fb_Title">
            <a:extLst>
              <a:ext uri="{FF2B5EF4-FFF2-40B4-BE49-F238E27FC236}">
                <a16:creationId xmlns:a16="http://schemas.microsoft.com/office/drawing/2014/main" id="{3D48C0B4-558E-D379-3855-A70BF31844EB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646149" y="4389150"/>
            <a:ext cx="1460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6">
                <a:solidFill>
                  <a:srgbClr val="737373"/>
                </a:solidFill>
                <a:latin typeface="Calibri" panose="020F0502020204030204" pitchFamily="34" charset="0"/>
              </a:rPr>
              <a:t>BRD Business Approval</a:t>
            </a:r>
          </a:p>
        </p:txBody>
      </p:sp>
      <p:sp>
        <p:nvSpPr>
          <p:cNvPr id="233" name="OTLSHAPE_T_c15dc3b95bae4523880209ef15a01990_Title">
            <a:extLst>
              <a:ext uri="{FF2B5EF4-FFF2-40B4-BE49-F238E27FC236}">
                <a16:creationId xmlns:a16="http://schemas.microsoft.com/office/drawing/2014/main" id="{87EDED16-AFCC-E487-C112-1A1E75B151E0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646149" y="4605162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Simulation Testing</a:t>
            </a:r>
          </a:p>
        </p:txBody>
      </p:sp>
      <p:sp>
        <p:nvSpPr>
          <p:cNvPr id="234" name="OTLSHAPE_T_54cd0fc412344cfeb7f5d6748afc36dc_Title">
            <a:extLst>
              <a:ext uri="{FF2B5EF4-FFF2-40B4-BE49-F238E27FC236}">
                <a16:creationId xmlns:a16="http://schemas.microsoft.com/office/drawing/2014/main" id="{2288EDDC-3496-F550-A8A5-AC3823806134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646149" y="4821175"/>
            <a:ext cx="1373716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4">
                <a:solidFill>
                  <a:srgbClr val="737373"/>
                </a:solidFill>
                <a:latin typeface="Calibri"/>
                <a:ea typeface="Calibri"/>
                <a:cs typeface="Calibri"/>
              </a:rPr>
              <a:t>BRD N-Ovate Review</a:t>
            </a:r>
            <a:endParaRPr lang="en-US" sz="1200" b="1" spc="-4">
              <a:solidFill>
                <a:srgbClr val="737373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235" name="OTLSHAPE_T_722f98ca64874255b1887c2f5bf66cb6_Title">
            <a:extLst>
              <a:ext uri="{FF2B5EF4-FFF2-40B4-BE49-F238E27FC236}">
                <a16:creationId xmlns:a16="http://schemas.microsoft.com/office/drawing/2014/main" id="{EA1945E3-2082-21B4-FA6D-01AFCA72A9AF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646149" y="5037188"/>
            <a:ext cx="1384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BRD All Team Sign-Off</a:t>
            </a:r>
          </a:p>
        </p:txBody>
      </p:sp>
      <p:sp>
        <p:nvSpPr>
          <p:cNvPr id="236" name="OTLSHAPE_T_421d5919f1334384bb61ab62f138fedb_Title">
            <a:extLst>
              <a:ext uri="{FF2B5EF4-FFF2-40B4-BE49-F238E27FC236}">
                <a16:creationId xmlns:a16="http://schemas.microsoft.com/office/drawing/2014/main" id="{D6386B98-9045-E431-0596-52B3556FF25C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646149" y="5253200"/>
            <a:ext cx="838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Design Phase</a:t>
            </a:r>
          </a:p>
        </p:txBody>
      </p:sp>
      <p:sp>
        <p:nvSpPr>
          <p:cNvPr id="237" name="OTLSHAPE_T_7b770fcd23d041abb7e60b64c41fb369_Title">
            <a:extLst>
              <a:ext uri="{FF2B5EF4-FFF2-40B4-BE49-F238E27FC236}">
                <a16:creationId xmlns:a16="http://schemas.microsoft.com/office/drawing/2014/main" id="{42D75818-D439-3EF1-BF5A-6119BAFD6F21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646149" y="5685225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 panose="020F0502020204030204" pitchFamily="34" charset="0"/>
              </a:rPr>
              <a:t>Build Phase</a:t>
            </a:r>
          </a:p>
        </p:txBody>
      </p:sp>
      <p:sp>
        <p:nvSpPr>
          <p:cNvPr id="238" name="OTLSHAPE_T_4850c889fd5241ee9f4c5546662ce91e_Title">
            <a:extLst>
              <a:ext uri="{FF2B5EF4-FFF2-40B4-BE49-F238E27FC236}">
                <a16:creationId xmlns:a16="http://schemas.microsoft.com/office/drawing/2014/main" id="{A0C3D8A5-25D5-3308-DCF2-19779B006D76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646149" y="6117251"/>
            <a:ext cx="977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 panose="020F0502020204030204" pitchFamily="34" charset="0"/>
              </a:rPr>
              <a:t>Internal Testing</a:t>
            </a:r>
          </a:p>
        </p:txBody>
      </p:sp>
      <p:sp>
        <p:nvSpPr>
          <p:cNvPr id="239" name="OTLSHAPE_T_643adad9162a4cbe949e3c990854730d_Title">
            <a:extLst>
              <a:ext uri="{FF2B5EF4-FFF2-40B4-BE49-F238E27FC236}">
                <a16:creationId xmlns:a16="http://schemas.microsoft.com/office/drawing/2014/main" id="{E0002443-D383-9525-94E7-A190ABA817D8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646149" y="6333263"/>
            <a:ext cx="1536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4">
                <a:solidFill>
                  <a:srgbClr val="737373"/>
                </a:solidFill>
                <a:latin typeface="Calibri" panose="020F0502020204030204" pitchFamily="34" charset="0"/>
              </a:rPr>
              <a:t>User Acceptance Testing</a:t>
            </a:r>
          </a:p>
        </p:txBody>
      </p:sp>
      <p:sp>
        <p:nvSpPr>
          <p:cNvPr id="241" name="OTLSHAPE_T_aebc9f9d0e264f8e9cab6a4599c1e2c9_Title">
            <a:extLst>
              <a:ext uri="{FF2B5EF4-FFF2-40B4-BE49-F238E27FC236}">
                <a16:creationId xmlns:a16="http://schemas.microsoft.com/office/drawing/2014/main" id="{CB27409E-4A86-EA37-6B97-2500601F741B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646149" y="6549276"/>
            <a:ext cx="482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 panose="020F0502020204030204" pitchFamily="34" charset="0"/>
              </a:rPr>
              <a:t>Go-Live</a:t>
            </a:r>
          </a:p>
        </p:txBody>
      </p:sp>
      <p:sp>
        <p:nvSpPr>
          <p:cNvPr id="242" name="OTLSHAPE_M_0c5131a20adf4ba2b2e1786ac85585e1_Shape">
            <a:extLst>
              <a:ext uri="{FF2B5EF4-FFF2-40B4-BE49-F238E27FC236}">
                <a16:creationId xmlns:a16="http://schemas.microsoft.com/office/drawing/2014/main" id="{F8E49624-E5D6-7185-DBFA-9023E8279F59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7560541" y="3749646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B20E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TLSHAPE_M_107432cd6e4f4c968b72d0577d6a708e_Shape">
            <a:extLst>
              <a:ext uri="{FF2B5EF4-FFF2-40B4-BE49-F238E27FC236}">
                <a16:creationId xmlns:a16="http://schemas.microsoft.com/office/drawing/2014/main" id="{4F5D7206-1674-6A65-9D21-E98C46EB9F15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11586221" y="6445299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B20E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TLSHAPE_T_aebc9f9d0e264f8e9cab6a4599c1e2c9_JoinedDate">
            <a:extLst>
              <a:ext uri="{FF2B5EF4-FFF2-40B4-BE49-F238E27FC236}">
                <a16:creationId xmlns:a16="http://schemas.microsoft.com/office/drawing/2014/main" id="{7EC4BCC3-C502-0F00-9E29-87D553815611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1776562" y="6549750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>
                <a:latin typeface="Calibri" panose="020F0502020204030204" pitchFamily="34" charset="0"/>
              </a:rPr>
              <a:t>Jun 30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2942EC4-AD16-8C7D-5F52-92FFFCAE5861}"/>
              </a:ext>
            </a:extLst>
          </p:cNvPr>
          <p:cNvSpPr txBox="1"/>
          <p:nvPr/>
        </p:nvSpPr>
        <p:spPr>
          <a:xfrm rot="16200000">
            <a:off x="-1069632" y="2467637"/>
            <a:ext cx="2696429" cy="445287"/>
          </a:xfrm>
          <a:prstGeom prst="rect">
            <a:avLst/>
          </a:prstGeom>
          <a:solidFill>
            <a:srgbClr val="B4D2E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cap="small"/>
              <a:t>Stadium Certification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B1A6FE3-3E50-896C-5E80-ECA040935585}"/>
              </a:ext>
            </a:extLst>
          </p:cNvPr>
          <p:cNvSpPr txBox="1"/>
          <p:nvPr/>
        </p:nvSpPr>
        <p:spPr>
          <a:xfrm rot="16200000">
            <a:off x="-1034583" y="5209917"/>
            <a:ext cx="2626331" cy="448056"/>
          </a:xfrm>
          <a:prstGeom prst="rect">
            <a:avLst/>
          </a:prstGeom>
          <a:solidFill>
            <a:srgbClr val="5A9BD5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cap="small">
                <a:solidFill>
                  <a:schemeClr val="bg1"/>
                </a:solidFill>
              </a:rPr>
              <a:t>GDA Module</a:t>
            </a: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B8307098-63D3-687B-3368-6A6D0EE536CC}"/>
              </a:ext>
            </a:extLst>
          </p:cNvPr>
          <p:cNvGrpSpPr/>
          <p:nvPr/>
        </p:nvGrpSpPr>
        <p:grpSpPr>
          <a:xfrm>
            <a:off x="8990937" y="117491"/>
            <a:ext cx="1465264" cy="712238"/>
            <a:chOff x="240371" y="774829"/>
            <a:chExt cx="1219915" cy="712238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4A7285C3-E80B-6682-15DA-CAC6DED02EBF}"/>
                </a:ext>
              </a:extLst>
            </p:cNvPr>
            <p:cNvSpPr/>
            <p:nvPr/>
          </p:nvSpPr>
          <p:spPr>
            <a:xfrm>
              <a:off x="240371" y="774829"/>
              <a:ext cx="1219915" cy="7122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spcAft>
                  <a:spcPts val="600"/>
                </a:spcAft>
              </a:pPr>
              <a:r>
                <a:rPr lang="en-US" sz="1050">
                  <a:solidFill>
                    <a:schemeClr val="tx1"/>
                  </a:solidFill>
                </a:rPr>
                <a:t>Complete</a:t>
              </a:r>
            </a:p>
            <a:p>
              <a:pPr algn="r">
                <a:spcAft>
                  <a:spcPts val="600"/>
                </a:spcAft>
              </a:pPr>
              <a:r>
                <a:rPr lang="en-US" sz="1050">
                  <a:solidFill>
                    <a:schemeClr val="tx1"/>
                  </a:solidFill>
                </a:rPr>
                <a:t>In Progress</a:t>
              </a:r>
            </a:p>
            <a:p>
              <a:pPr algn="r">
                <a:spcAft>
                  <a:spcPts val="600"/>
                </a:spcAft>
              </a:pPr>
              <a:r>
                <a:rPr lang="en-US" sz="1050">
                  <a:solidFill>
                    <a:schemeClr val="tx1"/>
                  </a:solidFill>
                </a:rPr>
                <a:t>Not Started</a:t>
              </a:r>
            </a:p>
          </p:txBody>
        </p:sp>
        <p:sp>
          <p:nvSpPr>
            <p:cNvPr id="262" name="Rectangle: Rounded Corners 261">
              <a:extLst>
                <a:ext uri="{FF2B5EF4-FFF2-40B4-BE49-F238E27FC236}">
                  <a16:creationId xmlns:a16="http://schemas.microsoft.com/office/drawing/2014/main" id="{67FDA30F-37E6-EA4D-33A1-547C53FAC1F4}"/>
                </a:ext>
              </a:extLst>
            </p:cNvPr>
            <p:cNvSpPr/>
            <p:nvPr/>
          </p:nvSpPr>
          <p:spPr>
            <a:xfrm>
              <a:off x="352811" y="1060069"/>
              <a:ext cx="304516" cy="11853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: Rounded Corners 262">
              <a:extLst>
                <a:ext uri="{FF2B5EF4-FFF2-40B4-BE49-F238E27FC236}">
                  <a16:creationId xmlns:a16="http://schemas.microsoft.com/office/drawing/2014/main" id="{178C0CBF-4335-B263-F7CD-B4AC2C9C67C6}"/>
                </a:ext>
              </a:extLst>
            </p:cNvPr>
            <p:cNvSpPr/>
            <p:nvPr/>
          </p:nvSpPr>
          <p:spPr>
            <a:xfrm>
              <a:off x="352811" y="823409"/>
              <a:ext cx="304516" cy="118533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: Rounded Corners 263">
              <a:extLst>
                <a:ext uri="{FF2B5EF4-FFF2-40B4-BE49-F238E27FC236}">
                  <a16:creationId xmlns:a16="http://schemas.microsoft.com/office/drawing/2014/main" id="{8A5CAF45-8F49-DA58-3092-E6F18A865968}"/>
                </a:ext>
              </a:extLst>
            </p:cNvPr>
            <p:cNvSpPr/>
            <p:nvPr/>
          </p:nvSpPr>
          <p:spPr>
            <a:xfrm>
              <a:off x="352811" y="1296435"/>
              <a:ext cx="304516" cy="118533"/>
            </a:xfrm>
            <a:prstGeom prst="round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8032A0B2-C52F-6AC6-DFDE-85A134AE9850}"/>
              </a:ext>
            </a:extLst>
          </p:cNvPr>
          <p:cNvSpPr txBox="1"/>
          <p:nvPr/>
        </p:nvSpPr>
        <p:spPr>
          <a:xfrm>
            <a:off x="4430822" y="619476"/>
            <a:ext cx="1012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Today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77C605-AAAE-A232-128D-B2BDB2DB8D97}"/>
              </a:ext>
            </a:extLst>
          </p:cNvPr>
          <p:cNvSpPr txBox="1">
            <a:spLocks/>
          </p:cNvSpPr>
          <p:nvPr/>
        </p:nvSpPr>
        <p:spPr bwMode="auto">
          <a:xfrm>
            <a:off x="70090" y="1105"/>
            <a:ext cx="8525933" cy="61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333" b="1">
                <a:solidFill>
                  <a:srgbClr val="0039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3333CC">
                    <a:lumMod val="50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EverGame Program Milestones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75028-C9E3-FE35-4AB7-91DA4FAA2A52}"/>
              </a:ext>
            </a:extLst>
          </p:cNvPr>
          <p:cNvSpPr txBox="1"/>
          <p:nvPr/>
        </p:nvSpPr>
        <p:spPr>
          <a:xfrm>
            <a:off x="65170" y="488782"/>
            <a:ext cx="9254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Note, IT Infrastructure Module and IT Events Projects have not started.</a:t>
            </a:r>
          </a:p>
        </p:txBody>
      </p:sp>
      <p:cxnSp>
        <p:nvCxnSpPr>
          <p:cNvPr id="2" name="OTLSHAPE_T_1db18853e0d6417faa8a3f4a8199c833_HorizontalConnector1">
            <a:extLst>
              <a:ext uri="{FF2B5EF4-FFF2-40B4-BE49-F238E27FC236}">
                <a16:creationId xmlns:a16="http://schemas.microsoft.com/office/drawing/2014/main" id="{715A824B-3C3D-1893-A374-B3EE1E7A60C1}"/>
              </a:ext>
            </a:extLst>
          </p:cNvPr>
          <p:cNvCxnSpPr>
            <a:cxnSpLocks/>
          </p:cNvCxnSpPr>
          <p:nvPr>
            <p:custDataLst>
              <p:tags r:id="rId79"/>
            </p:custDataLst>
          </p:nvPr>
        </p:nvCxnSpPr>
        <p:spPr>
          <a:xfrm>
            <a:off x="1462672" y="2817900"/>
            <a:ext cx="411480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TLSHAPE_T_1db18853e0d6417faa8a3f4a8199c833_Title">
            <a:extLst>
              <a:ext uri="{FF2B5EF4-FFF2-40B4-BE49-F238E27FC236}">
                <a16:creationId xmlns:a16="http://schemas.microsoft.com/office/drawing/2014/main" id="{90117B01-5B75-14C1-033C-1E5BD50A6DE8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646147" y="2728745"/>
            <a:ext cx="838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8">
                <a:solidFill>
                  <a:srgbClr val="737373"/>
                </a:solidFill>
                <a:latin typeface="Calibri"/>
                <a:ea typeface="Calibri"/>
                <a:cs typeface="Calibri"/>
              </a:rPr>
              <a:t>ARB Review</a:t>
            </a:r>
            <a:endParaRPr lang="en-US"/>
          </a:p>
        </p:txBody>
      </p:sp>
      <p:sp>
        <p:nvSpPr>
          <p:cNvPr id="6" name="OTLSHAPE_M_0c5131a20adf4ba2b2e1786ac85585e1_Shape">
            <a:extLst>
              <a:ext uri="{FF2B5EF4-FFF2-40B4-BE49-F238E27FC236}">
                <a16:creationId xmlns:a16="http://schemas.microsoft.com/office/drawing/2014/main" id="{410505F9-41DA-8CC1-67B3-C23F5A6BE189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5523444" y="2693408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B20E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OTLSHAPE_T_5abd0ca1e077431ba2b3ed5797474912_HorizontalConnector1">
            <a:extLst>
              <a:ext uri="{FF2B5EF4-FFF2-40B4-BE49-F238E27FC236}">
                <a16:creationId xmlns:a16="http://schemas.microsoft.com/office/drawing/2014/main" id="{01ECD529-9347-13C0-4B7F-EE64FA70CE9C}"/>
              </a:ext>
            </a:extLst>
          </p:cNvPr>
          <p:cNvCxnSpPr>
            <a:cxnSpLocks/>
          </p:cNvCxnSpPr>
          <p:nvPr>
            <p:custDataLst>
              <p:tags r:id="rId82"/>
            </p:custDataLst>
          </p:nvPr>
        </p:nvCxnSpPr>
        <p:spPr>
          <a:xfrm>
            <a:off x="1380081" y="3255742"/>
            <a:ext cx="5108602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TLSHAPE_T_5abd0ca1e077431ba2b3ed5797474912_Shape">
            <a:extLst>
              <a:ext uri="{FF2B5EF4-FFF2-40B4-BE49-F238E27FC236}">
                <a16:creationId xmlns:a16="http://schemas.microsoft.com/office/drawing/2014/main" id="{EA4C2D88-AB05-3D9A-3AFE-769C80F721D0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6471161" y="3164970"/>
            <a:ext cx="503354" cy="175323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TLSHAPE_T_5abd0ca1e077431ba2b3ed5797474912_Title">
            <a:extLst>
              <a:ext uri="{FF2B5EF4-FFF2-40B4-BE49-F238E27FC236}">
                <a16:creationId xmlns:a16="http://schemas.microsoft.com/office/drawing/2014/main" id="{2B0CAB63-ED90-4B8D-AAA4-41102B4F6085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646147" y="3162713"/>
            <a:ext cx="820233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/>
                <a:ea typeface="Calibri"/>
                <a:cs typeface="Calibri"/>
              </a:rPr>
              <a:t>Integrations</a:t>
            </a:r>
          </a:p>
        </p:txBody>
      </p:sp>
      <p:cxnSp>
        <p:nvCxnSpPr>
          <p:cNvPr id="10" name="OTLSHAPE_T_7b770fcd23d041abb7e60b64c41fb369_HorizontalConnector1">
            <a:extLst>
              <a:ext uri="{FF2B5EF4-FFF2-40B4-BE49-F238E27FC236}">
                <a16:creationId xmlns:a16="http://schemas.microsoft.com/office/drawing/2014/main" id="{1717094D-F16A-B3E3-C32A-18CA8D29AC70}"/>
              </a:ext>
            </a:extLst>
          </p:cNvPr>
          <p:cNvCxnSpPr>
            <a:cxnSpLocks/>
          </p:cNvCxnSpPr>
          <p:nvPr>
            <p:custDataLst>
              <p:tags r:id="rId85"/>
            </p:custDataLst>
          </p:nvPr>
        </p:nvCxnSpPr>
        <p:spPr>
          <a:xfrm>
            <a:off x="1361495" y="5555989"/>
            <a:ext cx="631568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TLSHAPE_T_7b770fcd23d041abb7e60b64c41fb369_Title">
            <a:extLst>
              <a:ext uri="{FF2B5EF4-FFF2-40B4-BE49-F238E27FC236}">
                <a16:creationId xmlns:a16="http://schemas.microsoft.com/office/drawing/2014/main" id="{E38BCE2F-41B8-ACE2-C214-9DBF7B964A18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646148" y="5469213"/>
            <a:ext cx="97821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/>
                <a:ea typeface="Calibri"/>
                <a:cs typeface="Calibri"/>
              </a:rPr>
              <a:t>ARB Review</a:t>
            </a:r>
            <a:endParaRPr lang="en-US"/>
          </a:p>
        </p:txBody>
      </p:sp>
      <p:cxnSp>
        <p:nvCxnSpPr>
          <p:cNvPr id="12" name="OTLSHAPE_T_7b770fcd23d041abb7e60b64c41fb369_HorizontalConnector1">
            <a:extLst>
              <a:ext uri="{FF2B5EF4-FFF2-40B4-BE49-F238E27FC236}">
                <a16:creationId xmlns:a16="http://schemas.microsoft.com/office/drawing/2014/main" id="{D2FE92E1-E404-C6BF-0A5F-CE402B551135}"/>
              </a:ext>
            </a:extLst>
          </p:cNvPr>
          <p:cNvCxnSpPr>
            <a:cxnSpLocks/>
          </p:cNvCxnSpPr>
          <p:nvPr>
            <p:custDataLst>
              <p:tags r:id="rId87"/>
            </p:custDataLst>
          </p:nvPr>
        </p:nvCxnSpPr>
        <p:spPr>
          <a:xfrm>
            <a:off x="1417251" y="6011328"/>
            <a:ext cx="6780322" cy="1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TLSHAPE_T_7b770fcd23d041abb7e60b64c41fb369_Shape">
            <a:extLst>
              <a:ext uri="{FF2B5EF4-FFF2-40B4-BE49-F238E27FC236}">
                <a16:creationId xmlns:a16="http://schemas.microsoft.com/office/drawing/2014/main" id="{078C1126-2B67-767C-B525-BB4E3A4EB710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8197575" y="5928314"/>
            <a:ext cx="891788" cy="193908"/>
          </a:xfrm>
          <a:prstGeom prst="homePlate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TLSHAPE_T_7b770fcd23d041abb7e60b64c41fb369_Title">
            <a:extLst>
              <a:ext uri="{FF2B5EF4-FFF2-40B4-BE49-F238E27FC236}">
                <a16:creationId xmlns:a16="http://schemas.microsoft.com/office/drawing/2014/main" id="{538D3917-00D9-5523-D180-2DDA944EDC2D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655441" y="5901238"/>
            <a:ext cx="83882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spc="-10">
                <a:solidFill>
                  <a:srgbClr val="737373"/>
                </a:solidFill>
                <a:latin typeface="Calibri"/>
                <a:ea typeface="Calibri"/>
                <a:cs typeface="Calibri"/>
              </a:rPr>
              <a:t>Integrations</a:t>
            </a:r>
            <a:endParaRPr lang="en-US"/>
          </a:p>
        </p:txBody>
      </p:sp>
      <p:sp>
        <p:nvSpPr>
          <p:cNvPr id="15" name="OTLSHAPE_M_0c5131a20adf4ba2b2e1786ac85585e1_Shape">
            <a:extLst>
              <a:ext uri="{FF2B5EF4-FFF2-40B4-BE49-F238E27FC236}">
                <a16:creationId xmlns:a16="http://schemas.microsoft.com/office/drawing/2014/main" id="{BC9A36C4-AAB6-4041-85F9-7D76CE28692A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7664640" y="5366418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B20E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TLSHAPE_T_ebab0a0f3213478595040be056e3b8c7_JoinedDate">
            <a:extLst>
              <a:ext uri="{FF2B5EF4-FFF2-40B4-BE49-F238E27FC236}">
                <a16:creationId xmlns:a16="http://schemas.microsoft.com/office/drawing/2014/main" id="{EB6B7EB5-81CD-57EA-48F6-9FFE18633180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5762674" y="2754047"/>
            <a:ext cx="706243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latin typeface="Calibri"/>
                <a:ea typeface="Calibri"/>
                <a:cs typeface="Calibri"/>
              </a:rPr>
              <a:t>Feb 2026</a:t>
            </a:r>
            <a:endParaRPr lang="en-US" sz="1000" spc="-4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19" name="OTLSHAPE_T_ebab0a0f3213478595040be056e3b8c7_JoinedDate">
            <a:extLst>
              <a:ext uri="{FF2B5EF4-FFF2-40B4-BE49-F238E27FC236}">
                <a16:creationId xmlns:a16="http://schemas.microsoft.com/office/drawing/2014/main" id="{0AA22ACE-5BB0-B41B-E4B8-E895657FFB54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7912586" y="5419395"/>
            <a:ext cx="706243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latin typeface="Calibri"/>
                <a:ea typeface="Calibri"/>
                <a:cs typeface="Calibri"/>
              </a:rPr>
              <a:t>Mar 2026</a:t>
            </a:r>
            <a:endParaRPr lang="en-US" sz="1000" spc="-4">
              <a:latin typeface="Calibri" panose="020F050202020403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948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F138-E4AA-A2DD-1205-826D7BEFA6C8}"/>
              </a:ext>
            </a:extLst>
          </p:cNvPr>
          <p:cNvSpPr txBox="1">
            <a:spLocks/>
          </p:cNvSpPr>
          <p:nvPr/>
        </p:nvSpPr>
        <p:spPr>
          <a:xfrm>
            <a:off x="4411300" y="3121023"/>
            <a:ext cx="3369399" cy="61595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>
                <a:solidFill>
                  <a:srgbClr val="00396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pPr algn="ctr"/>
            <a:r>
              <a:rPr lang="en-US" sz="4000" kern="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3352018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NbnWPrgj7CKzerVj1zu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ectangleTimeband"/>
  <p:tag name="OTLTIMEBANDSHAPEHEIGHT" val="30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2018-05-10T23:59:00.0000000"/>
  <p:tag name="OTLTIMEBANDENDDATE" val="2026-07-01T23:59:00.0000000Z"/>
  <p:tag name="OTLTIMEBANDWORKINGDAYS" val="Standard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0"/>
  <p:tag name="OTLLEFTENDCAPSMARGINLEFT" val="81.9126637554588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1-13T23:59:00.0000000"/>
  <p:tag name="OTLMARKERSHAPE" val="OTL"/>
  <p:tag name="OTLSHAPETHICKNESSTYPE" val="Regular"/>
  <p:tag name="OTLSPACING" val="3"/>
  <p:tag name="OTLSTARTDATE" val="2026-01-05T00:00:00.0000000"/>
  <p:tag name="OTLWEEKNUMBERINGFORMAT" val="WNFormat1"/>
  <p:tag name="OTLWEEKNUMBERINGISVISIBLE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1-27T23:59:00.0000000"/>
  <p:tag name="OTLMARKERSHAPE" val="OTL"/>
  <p:tag name="OTLSHAPETHICKNESSTYPE" val="Regular"/>
  <p:tag name="OTLSPACING" val="3"/>
  <p:tag name="OTLSTARTDATE" val="2026-01-09T00:00:00.0000000"/>
  <p:tag name="OTLWEEKNUMBERINGFORMAT" val="WNFormat1"/>
  <p:tag name="OTLWEEKNUMBERINGISVISIBLE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09T23:59:00.0000000"/>
  <p:tag name="OTLMARKERSHAPE" val="OTL"/>
  <p:tag name="OTLSHAPETHICKNESSTYPE" val="Regular"/>
  <p:tag name="OTLSPACING" val="3"/>
  <p:tag name="OTLSTARTDATE" val="2026-01-28T00:00:00.0000000"/>
  <p:tag name="OTLWEEKNUMBERINGFORMAT" val="WNFormat1"/>
  <p:tag name="OTLWEEKNUMBERINGISVISIBLE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2T23:59:00.0000000"/>
  <p:tag name="OTLMARKERSHAPE" val="OTL"/>
  <p:tag name="OTLSHAPETHICKNESSTYPE" val="Regular"/>
  <p:tag name="OTLSPACING" val="3"/>
  <p:tag name="OTLSTARTDATE" val="2026-02-10T00:00:00.0000000"/>
  <p:tag name="OTLWEEKNUMBERINGFORMAT" val="WNFormat1"/>
  <p:tag name="OTLWEEKNUMBERINGISVISIBLE" val="Fals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1T23:59:00.0000000"/>
  <p:tag name="OTLMARKERSHAPE" val="OTL"/>
  <p:tag name="OTLSHAPETHICKNESSTYPE" val="Regular"/>
  <p:tag name="OTLSPACING" val="3"/>
  <p:tag name="OTLSTARTDATE" val="2026-02-02T00:00:00.0000000"/>
  <p:tag name="OTLWEEKNUMBERINGFORMAT" val="WNFormat1"/>
  <p:tag name="OTLWEEKNUMBERINGISVISIBLE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27T23:59:00.0000000"/>
  <p:tag name="OTLMARKERSHAPE" val="OTL"/>
  <p:tag name="OTLSHAPETHICKNESSTYPE" val="Regular"/>
  <p:tag name="OTLSPACING" val="3"/>
  <p:tag name="OTLSTARTDATE" val="2026-02-13T00:00:00.0000000"/>
  <p:tag name="OTLWEEKNUMBERINGFORMAT" val="WNFormat1"/>
  <p:tag name="OTLWEEKNUMBERINGISVISIBLE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5T23:59:00.0000000"/>
  <p:tag name="OTLMARKERSHAPE" val="OTL"/>
  <p:tag name="OTLSHAPETHICKNESSTYPE" val="Regular"/>
  <p:tag name="OTLSPACING" val="3"/>
  <p:tag name="OTLSTARTDATE" val="2026-03-01T00:00:00.0000000"/>
  <p:tag name="OTLWEEKNUMBERINGFORMAT" val="WNFormat1"/>
  <p:tag name="OTLWEEKNUMBERINGISVISIBLE" val="Fals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24T23:59:00.0000000"/>
  <p:tag name="OTLMARKERSHAPE" val="OTL"/>
  <p:tag name="OTLSHAPETHICKNESSTYPE" val="Regular"/>
  <p:tag name="OTLSPACING" val="3"/>
  <p:tag name="OTLSTARTDATE" val="2026-03-16T00:00:00.0000000"/>
  <p:tag name="OTLWEEKNUMBERINGFORMAT" val="WNFormat1"/>
  <p:tag name="OTLWEEKNUMBERINGISVISIBLE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24T23:59:00.0000000"/>
  <p:tag name="OTLMARKERSHAPE" val="OTL"/>
  <p:tag name="OTLSHAPETHICKNESSTYPE" val="Regular"/>
  <p:tag name="OTLSPACING" val="3"/>
  <p:tag name="OTLSTARTDATE" val="2026-03-05T00:00:00.0000000"/>
  <p:tag name="OTLWEEKNUMBERINGFORMAT" val="WNFormat1"/>
  <p:tag name="OTLWEEKNUMBERINGISVISIBLE" val="Fals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5-12-24T23:59:00.0000000Z"/>
  <p:tag name="OTLMARKERSHAPE" val="OTL"/>
  <p:tag name="OTLSHAPETHICKNESSTYPE" val="Regular"/>
  <p:tag name="OTLSPACING" val="3"/>
  <p:tag name="OTLSTARTDATE" val="2025-12-10T23:59:00.0000000Z"/>
  <p:tag name="OTLWEEKNUMBERINGFORMAT" val="WNFormat1"/>
  <p:tag name="OTLWEEKNUMBERINGISVISIBLE" val="Fals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1-05T23:59:00.0000000Z"/>
  <p:tag name="OTLMARKERSHAPE" val="OTL"/>
  <p:tag name="OTLSHAPETHICKNESSTYPE" val="Regular"/>
  <p:tag name="OTLSPACING" val="3"/>
  <p:tag name="OTLSTARTDATE" val="2025-12-25T23:59:00.0000000Z"/>
  <p:tag name="OTLWEEKNUMBERINGFORMAT" val="WNFormat1"/>
  <p:tag name="OTLWEEKNUMBERINGISVISIBLE" val="Fals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1-30T23:59:00.0000000Z"/>
  <p:tag name="OTLMARKERSHAPE" val="OTL"/>
  <p:tag name="OTLSHAPETHICKNESSTYPE" val="Regular"/>
  <p:tag name="OTLSPACING" val="3"/>
  <p:tag name="OTLSTARTDATE" val="2026-01-06T23:59:00.0000000Z"/>
  <p:tag name="OTLWEEKNUMBERINGFORMAT" val="WNFormat1"/>
  <p:tag name="OTLWEEKNUMBERINGISVISIBLE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3T23:59:00.0000000Z"/>
  <p:tag name="OTLMARKERSHAPE" val="OTL"/>
  <p:tag name="OTLSHAPETHICKNESSTYPE" val="Regular"/>
  <p:tag name="OTLSPACING" val="3"/>
  <p:tag name="OTLSTARTDATE" val="2026-02-02T23:59:00.0000000Z"/>
  <p:tag name="OTLWEEKNUMBERINGFORMAT" val="WNFormat1"/>
  <p:tag name="OTLWEEKNUMBERINGISVISIBLE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3T23:59:00.0000000Z"/>
  <p:tag name="OTLMARKERSHAPE" val="OTL"/>
  <p:tag name="OTLSHAPETHICKNESSTYPE" val="Regular"/>
  <p:tag name="OTLSPACING" val="3"/>
  <p:tag name="OTLSTARTDATE" val="2026-02-14T23:59:00.0000000Z"/>
  <p:tag name="OTLWEEKNUMBERINGFORMAT" val="WNFormat1"/>
  <p:tag name="OTLWEEKNUMBERINGISVISIBLE" val="Fals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30T23:59:00.0000000Z"/>
  <p:tag name="OTLMARKERSHAPE" val="OTL"/>
  <p:tag name="OTLSHAPETHICKNESSTYPE" val="Regular"/>
  <p:tag name="OTLSPACING" val="3"/>
  <p:tag name="OTLSTARTDATE" val="2026-03-04T23:59:00.0000000Z"/>
  <p:tag name="OTLWEEKNUMBERINGFORMAT" val="WNFormat1"/>
  <p:tag name="OTLWEEKNUMBERINGISVISIBLE" val="Fals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4-30T23:59:00.0000000Z"/>
  <p:tag name="OTLMARKERSHAPE" val="OTL"/>
  <p:tag name="OTLSHAPETHICKNESSTYPE" val="Regular"/>
  <p:tag name="OTLSPACING" val="3"/>
  <p:tag name="OTLSTARTDATE" val="2026-03-31T23:59:00.0000000Z"/>
  <p:tag name="OTLWEEKNUMBERINGFORMAT" val="WNFormat1"/>
  <p:tag name="OTLWEEKNUMBERINGISVISIBLE" val="Fals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5-31T23:59:00.0000000Z"/>
  <p:tag name="OTLMARKERSHAPE" val="OTL"/>
  <p:tag name="OTLSHAPETHICKNESSTYPE" val="Regular"/>
  <p:tag name="OTLSPACING" val="3"/>
  <p:tag name="OTLSTARTDATE" val="2026-05-01T23:59:00.0000000Z"/>
  <p:tag name="OTLWEEKNUMBERINGFORMAT" val="WNFormat1"/>
  <p:tag name="OTLWEEKNUMBERINGISVISIBLE" val="Fals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6-29T23:59:00.0000000Z"/>
  <p:tag name="OTLMARKERSHAPE" val="OTL"/>
  <p:tag name="OTLSHAPETHICKNESSTYPE" val="Regular"/>
  <p:tag name="OTLSPACING" val="3"/>
  <p:tag name="OTLSTARTDATE" val="2026-06-01T23:59:00.0000000Z"/>
  <p:tag name="OTLWEEKNUMBERINGFORMAT" val="WNFormat1"/>
  <p:tag name="OTLWEEKNUMBERINGISVISIBLE" val="Fals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" val="2026-03-31T23:59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MARKERSHAPE" val="OTL"/>
  <p:tag name="OTLMTITLE" val="Go-Live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" val="2026-06-30T23:59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MARKERSHAPE" val="OTL"/>
  <p:tag name="OTLMTITLE" val="Go-Live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" val="2026-03-31T23:59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MARKERSHAPE" val="OTL"/>
  <p:tag name="OTLMTITLE" val="Go-Live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5T23:59:00.0000000"/>
  <p:tag name="OTLMARKERSHAPE" val="OTL"/>
  <p:tag name="OTLSHAPETHICKNESSTYPE" val="Regular"/>
  <p:tag name="OTLSPACING" val="3"/>
  <p:tag name="OTLSTARTDATE" val="2026-03-01T00:00:00.0000000"/>
  <p:tag name="OTLWEEKNUMBERINGFORMAT" val="WNFormat1"/>
  <p:tag name="OTLWEEKNUMBERINGISVISIBLE" val="Fals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4-30T23:59:00.0000000Z"/>
  <p:tag name="OTLMARKERSHAPE" val="OTL"/>
  <p:tag name="OTLSHAPETHICKNESSTYPE" val="Regular"/>
  <p:tag name="OTLSPACING" val="3"/>
  <p:tag name="OTLSTARTDATE" val="2026-03-31T23:59:00.0000000Z"/>
  <p:tag name="OTLWEEKNUMBERINGFORMAT" val="WNFormat1"/>
  <p:tag name="OTLWEEKNUMBERINGISVISIBLE" val="Fals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" val="2026-03-31T23:59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MARKERSHAPE" val="OTL"/>
  <p:tag name="OTLMTITLE" val="Go-Live"/>
  <p:tag name="OTLPOSITIONONTASK" val="None"/>
  <p:tag name="OTLRELATEDTASKID" val="00000000-0000-0000-0000-000000000000"/>
  <p:tag name="OTLWEEKNUMBERINGFORMAT" val="WNFormat1"/>
  <p:tag name="OTLWEEKNUMBERINGISVISIBLE" val="Fals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4_Strategy v9">
  <a:themeElements>
    <a:clrScheme name="Strategy v9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ategy v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headEnd/>
          <a:tailEnd/>
        </a:ln>
      </a:spPr>
      <a:bodyPr lIns="91430" tIns="45715" rIns="91430" bIns="45715" anchor="ctr" anchorCtr="1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30" tIns="45715" rIns="91430" bIns="45715" numCol="1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5000"/>
          </a:lnSpc>
          <a:spcBef>
            <a:spcPct val="55000"/>
          </a:spcBef>
          <a:spcAft>
            <a:spcPct val="0"/>
          </a:spcAft>
          <a:buClr>
            <a:schemeClr val="tx1"/>
          </a:buClr>
          <a:buSzPct val="125000"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ategy v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y v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y v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y v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y v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y v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y v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3C5D96305D8D4EA7C2E64CACAA1D35" ma:contentTypeVersion="11" ma:contentTypeDescription="Create a new document." ma:contentTypeScope="" ma:versionID="9e3b726e8e219b2970ea193ab83865cf">
  <xsd:schema xmlns:xsd="http://www.w3.org/2001/XMLSchema" xmlns:xs="http://www.w3.org/2001/XMLSchema" xmlns:p="http://schemas.microsoft.com/office/2006/metadata/properties" xmlns:ns2="2d98d9aa-4e2a-4fcc-ba5a-8b77faf21c88" xmlns:ns3="6a4b2fc4-1bbd-493c-a8cb-35f606d6331a" targetNamespace="http://schemas.microsoft.com/office/2006/metadata/properties" ma:root="true" ma:fieldsID="766e48bd76b77575a1a5a3f3656ea8eb" ns2:_="" ns3:_="">
    <xsd:import namespace="2d98d9aa-4e2a-4fcc-ba5a-8b77faf21c88"/>
    <xsd:import namespace="6a4b2fc4-1bbd-493c-a8cb-35f606d633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98d9aa-4e2a-4fcc-ba5a-8b77faf21c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c62c691-b4f6-4c47-baa1-cb021ad457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4b2fc4-1bbd-493c-a8cb-35f606d6331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442853-ddb4-4c43-bbcb-d976b8491bdd}" ma:internalName="TaxCatchAll" ma:showField="CatchAllData" ma:web="6a4b2fc4-1bbd-493c-a8cb-35f606d633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4b2fc4-1bbd-493c-a8cb-35f606d6331a" xsi:nil="true"/>
    <lcf76f155ced4ddcb4097134ff3c332f xmlns="2d98d9aa-4e2a-4fcc-ba5a-8b77faf21c8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1C8F90-0B17-4DA6-8B0F-CF1294D3B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98d9aa-4e2a-4fcc-ba5a-8b77faf21c88"/>
    <ds:schemaRef ds:uri="6a4b2fc4-1bbd-493c-a8cb-35f606d633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EC6C5D-52E2-4D1A-945C-2A6DE737DF49}">
  <ds:schemaRefs>
    <ds:schemaRef ds:uri="55060ef8-706a-42d2-ae78-caa842bffc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a4b2fc4-1bbd-493c-a8cb-35f606d6331a"/>
    <ds:schemaRef ds:uri="2d98d9aa-4e2a-4fcc-ba5a-8b77faf21c88"/>
  </ds:schemaRefs>
</ds:datastoreItem>
</file>

<file path=customXml/itemProps3.xml><?xml version="1.0" encoding="utf-8"?>
<ds:datastoreItem xmlns:ds="http://schemas.openxmlformats.org/officeDocument/2006/customXml" ds:itemID="{47F73A5C-191C-4109-AA36-96788499196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b0ac8ce-1ef9-473b-b491-3ba03b6013fb}" enabled="1" method="Standard" siteId="{80090139-ad55-45f4-9bf7-34995ae28d9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Macintosh PowerPoint</Application>
  <PresentationFormat>Widescreen</PresentationFormat>
  <Paragraphs>172</Paragraphs>
  <Slides>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4" baseType="lpstr">
      <vt:lpstr>All Pro Sans v3_880 SemiBold</vt:lpstr>
      <vt:lpstr>Aptos</vt:lpstr>
      <vt:lpstr>Aptos Display</vt:lpstr>
      <vt:lpstr>Arial</vt:lpstr>
      <vt:lpstr>Calibri</vt:lpstr>
      <vt:lpstr>Courier New</vt:lpstr>
      <vt:lpstr>Endzone Sans Bold</vt:lpstr>
      <vt:lpstr>Endzone Sans Light</vt:lpstr>
      <vt:lpstr>Endzone Tech Bold</vt:lpstr>
      <vt:lpstr>Symbol</vt:lpstr>
      <vt:lpstr>Verdana</vt:lpstr>
      <vt:lpstr>Wingdings</vt:lpstr>
      <vt:lpstr>Wingdings 3</vt:lpstr>
      <vt:lpstr>4_Strategy v9</vt:lpstr>
      <vt:lpstr>Office Theme</vt:lpstr>
      <vt:lpstr>think-cell Slide</vt:lpstr>
      <vt:lpstr>PowerPoint Presentation</vt:lpstr>
      <vt:lpstr>PowerPoint Presentation</vt:lpstr>
      <vt:lpstr>PowerPoint Presentation</vt:lpstr>
      <vt:lpstr>EverGame Program Organization Structure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Donten, Victoria</dc:creator>
  <cp:lastModifiedBy>Tionna Taylor</cp:lastModifiedBy>
  <cp:revision>5</cp:revision>
  <dcterms:created xsi:type="dcterms:W3CDTF">2025-03-03T20:19:21Z</dcterms:created>
  <dcterms:modified xsi:type="dcterms:W3CDTF">2026-01-27T03:30:52Z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0x010100E53C5D96305D8D4EA7C2E64CACAA1D35</vt:lpwstr>
  </property>
  <property fmtid="{D5CDD505-2E9C-101B-9397-08002B2CF9AE}" pid="3" name="Order">
    <vt:r8>11400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