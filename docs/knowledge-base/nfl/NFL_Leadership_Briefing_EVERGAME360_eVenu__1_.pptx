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938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bc265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rasterized-gradient-d1250c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58497" y="469850"/>
            <a:ext cx="46270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NFL LEADERSHIP BRIEFING</a:t>
            </a:r>
            <a:endParaRPr lang="en-US" sz="975" dirty="0"/>
          </a:p>
        </p:txBody>
      </p:sp>
      <p:sp>
        <p:nvSpPr>
          <p:cNvPr id="5" name="Text 1"/>
          <p:cNvSpPr/>
          <p:nvPr/>
        </p:nvSpPr>
        <p:spPr>
          <a:xfrm>
            <a:off x="1518962" y="947886"/>
            <a:ext cx="5545064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13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INTELLIGENCE</a:t>
            </a:r>
            <a:endParaRPr lang="en-US" sz="3750" dirty="0"/>
          </a:p>
          <a:p>
            <a:pPr marL="0" indent="0" algn="ctr">
              <a:lnSpc>
                <a:spcPts val="4313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OPERATING SYSTEM</a:t>
            </a:r>
            <a:endParaRPr lang="en-US" sz="3750" dirty="0"/>
          </a:p>
        </p:txBody>
      </p:sp>
      <p:sp>
        <p:nvSpPr>
          <p:cNvPr id="6" name="Text 2"/>
          <p:cNvSpPr/>
          <p:nvPr/>
        </p:nvSpPr>
        <p:spPr>
          <a:xfrm>
            <a:off x="2556793" y="2386161"/>
            <a:ext cx="403041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1500"/>
              </a:spcBef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EVERGAME360 to League-Wide</a:t>
            </a:r>
            <a:endParaRPr lang="en-US" sz="1800" dirty="0"/>
          </a:p>
          <a:p>
            <a:pPr marL="0" indent="0" algn="ctr">
              <a:lnSpc>
                <a:spcPts val="2520"/>
              </a:lnSpc>
              <a:spcBef>
                <a:spcPts val="1500"/>
              </a:spcBef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Excellence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2457350" y="3521422"/>
            <a:ext cx="1376413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$6.3M</a:t>
            </a:r>
            <a:endParaRPr lang="en-US" sz="2850" dirty="0"/>
          </a:p>
        </p:txBody>
      </p:sp>
      <p:sp>
        <p:nvSpPr>
          <p:cNvPr id="8" name="Text 4"/>
          <p:cNvSpPr/>
          <p:nvPr/>
        </p:nvSpPr>
        <p:spPr>
          <a:xfrm>
            <a:off x="2457350" y="4066133"/>
            <a:ext cx="13764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CONTRACT</a:t>
            </a:r>
            <a:endParaRPr lang="en-US" sz="825" dirty="0"/>
          </a:p>
        </p:txBody>
      </p:sp>
      <p:sp>
        <p:nvSpPr>
          <p:cNvPr id="9" name="Text 5"/>
          <p:cNvSpPr/>
          <p:nvPr/>
        </p:nvSpPr>
        <p:spPr>
          <a:xfrm>
            <a:off x="4163169" y="3657451"/>
            <a:ext cx="9525" cy="4191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507151" y="3521422"/>
            <a:ext cx="861188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850" dirty="0"/>
          </a:p>
        </p:txBody>
      </p:sp>
      <p:sp>
        <p:nvSpPr>
          <p:cNvPr id="11" name="Text 7"/>
          <p:cNvSpPr/>
          <p:nvPr/>
        </p:nvSpPr>
        <p:spPr>
          <a:xfrm>
            <a:off x="4507151" y="4066133"/>
            <a:ext cx="8611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CLUBS READY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5702796" y="3657451"/>
            <a:ext cx="9525" cy="4191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049042" y="3521422"/>
            <a:ext cx="630293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2850" dirty="0"/>
          </a:p>
        </p:txBody>
      </p:sp>
      <p:sp>
        <p:nvSpPr>
          <p:cNvPr id="14" name="Text 10"/>
          <p:cNvSpPr/>
          <p:nvPr/>
        </p:nvSpPr>
        <p:spPr>
          <a:xfrm>
            <a:off x="6049042" y="4066133"/>
            <a:ext cx="6302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2732368" y="4365129"/>
            <a:ext cx="7860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86634" y="4398466"/>
            <a:ext cx="277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825" dirty="0"/>
          </a:p>
        </p:txBody>
      </p:sp>
      <p:sp>
        <p:nvSpPr>
          <p:cNvPr id="17" name="Text 13"/>
          <p:cNvSpPr/>
          <p:nvPr/>
        </p:nvSpPr>
        <p:spPr>
          <a:xfrm>
            <a:off x="3663208" y="4405015"/>
            <a:ext cx="27677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PROVEN CRISIS LEADERSHIP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905000" cy="57150"/>
          </a:xfrm>
          <a:prstGeom prst="rect">
            <a:avLst/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66700"/>
            <a:ext cx="8860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228600" y="470446"/>
            <a:ext cx="72089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272 Games. 32 Venues. Zero Unified Intelligence.</a:t>
            </a:r>
            <a:endParaRPr lang="en-US" sz="2400" dirty="0"/>
          </a:p>
        </p:txBody>
      </p:sp>
      <p:pic>
        <p:nvPicPr>
          <p:cNvPr id="5" name="Image 0" descr="/tmp/rasterized-gradient-ea741e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549896"/>
            <a:ext cx="4714875" cy="5904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1950" y="1664196"/>
            <a:ext cx="44982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Systems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1950" y="1879402"/>
            <a:ext cx="44982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club runs its own tech stack. League has no real-time visibility into Game Day operations.</a:t>
            </a:r>
            <a:endParaRPr lang="en-US" sz="825" dirty="0"/>
          </a:p>
        </p:txBody>
      </p:sp>
      <p:pic>
        <p:nvPicPr>
          <p:cNvPr id="8" name="Image 1" descr="/tmp/rasterized-gradient-23d63c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2235547"/>
            <a:ext cx="4714875" cy="5904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1950" y="2349847"/>
            <a:ext cx="44982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Reactive, Not Predictive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61950" y="2565053"/>
            <a:ext cx="44982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incidents happen, you learn after the fact. No early warning or pattern recognition.</a:t>
            </a:r>
            <a:endParaRPr lang="en-US" sz="825" dirty="0"/>
          </a:p>
        </p:txBody>
      </p:sp>
      <p:pic>
        <p:nvPicPr>
          <p:cNvPr id="11" name="Image 2" descr="/tmp/rasterized-gradient-910eb2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" y="2921198"/>
            <a:ext cx="4714875" cy="5904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1950" y="3035498"/>
            <a:ext cx="44982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Leakage Invisible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361950" y="3250704"/>
            <a:ext cx="44982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delays reduce per-cap spend. VIP experience failures undocumented.</a:t>
            </a:r>
            <a:endParaRPr lang="en-US" sz="825" dirty="0"/>
          </a:p>
        </p:txBody>
      </p:sp>
      <p:pic>
        <p:nvPicPr>
          <p:cNvPr id="14" name="Image 3" descr="/tmp/rasterized-gradient-072ccfe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3606850"/>
            <a:ext cx="4714875" cy="59040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1950" y="3721150"/>
            <a:ext cx="44982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225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Risk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361950" y="3936355"/>
            <a:ext cx="44982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different approaches to safety and standards. No unified certification.</a:t>
            </a:r>
            <a:endParaRPr lang="en-US" sz="825" dirty="0"/>
          </a:p>
        </p:txBody>
      </p:sp>
      <p:sp>
        <p:nvSpPr>
          <p:cNvPr id="17" name="Text 11"/>
          <p:cNvSpPr/>
          <p:nvPr/>
        </p:nvSpPr>
        <p:spPr>
          <a:xfrm>
            <a:off x="5095875" y="1196429"/>
            <a:ext cx="3857625" cy="1041946"/>
          </a:xfrm>
          <a:prstGeom prst="roundRect">
            <a:avLst>
              <a:gd name="adj" fmla="val 9142"/>
            </a:avLst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5212747" y="1348829"/>
            <a:ext cx="36238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$2-4M</a:t>
            </a:r>
            <a:endParaRPr lang="en-US" sz="3000" dirty="0"/>
          </a:p>
        </p:txBody>
      </p:sp>
      <p:sp>
        <p:nvSpPr>
          <p:cNvPr id="19" name="Text 13"/>
          <p:cNvSpPr/>
          <p:nvPr/>
        </p:nvSpPr>
        <p:spPr>
          <a:xfrm>
            <a:off x="5212747" y="1939379"/>
            <a:ext cx="3623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 leakage per venue from traffic issues</a:t>
            </a:r>
            <a:endParaRPr lang="en-US" sz="825" dirty="0"/>
          </a:p>
        </p:txBody>
      </p:sp>
      <p:sp>
        <p:nvSpPr>
          <p:cNvPr id="20" name="Text 14"/>
          <p:cNvSpPr/>
          <p:nvPr/>
        </p:nvSpPr>
        <p:spPr>
          <a:xfrm>
            <a:off x="5095875" y="2352675"/>
            <a:ext cx="3857625" cy="1041946"/>
          </a:xfrm>
          <a:prstGeom prst="roundRect">
            <a:avLst>
              <a:gd name="adj" fmla="val 9142"/>
            </a:avLst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5212747" y="2505075"/>
            <a:ext cx="36238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5212747" y="3095625"/>
            <a:ext cx="3623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fans buy only once—missed repeat opportunity</a:t>
            </a:r>
            <a:endParaRPr lang="en-US" sz="825" dirty="0"/>
          </a:p>
        </p:txBody>
      </p:sp>
      <p:sp>
        <p:nvSpPr>
          <p:cNvPr id="23" name="Text 17"/>
          <p:cNvSpPr/>
          <p:nvPr/>
        </p:nvSpPr>
        <p:spPr>
          <a:xfrm>
            <a:off x="5095875" y="3508921"/>
            <a:ext cx="3857625" cy="1041946"/>
          </a:xfrm>
          <a:prstGeom prst="roundRect">
            <a:avLst>
              <a:gd name="adj" fmla="val 9142"/>
            </a:avLst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5212747" y="3661321"/>
            <a:ext cx="36238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5212747" y="4251871"/>
            <a:ext cx="3623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venues report staffing shortages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3382a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rasterized-gradient-3aa3e6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240953"/>
            <a:ext cx="860971" cy="26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0050" y="298103"/>
            <a:ext cx="6061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NOW</a:t>
            </a:r>
            <a:endParaRPr lang="en-US" sz="825" dirty="0"/>
          </a:p>
        </p:txBody>
      </p:sp>
      <p:sp>
        <p:nvSpPr>
          <p:cNvPr id="5" name="Text 1"/>
          <p:cNvSpPr/>
          <p:nvPr/>
        </p:nvSpPr>
        <p:spPr>
          <a:xfrm>
            <a:off x="1261021" y="228600"/>
            <a:ext cx="59332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EVERGAME360: Proven in Production</a:t>
            </a:r>
            <a:endParaRPr lang="en-US" sz="2250" dirty="0"/>
          </a:p>
        </p:txBody>
      </p:sp>
      <p:pic>
        <p:nvPicPr>
          <p:cNvPr id="6" name="Image 2" descr="/tmp/rasterized-gradient-abc262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" y="800100"/>
            <a:ext cx="2781300" cy="94089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09575" y="94297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771525" y="992535"/>
            <a:ext cx="117921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Checklists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409575" y="1304925"/>
            <a:ext cx="254546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WhatsApp + Google Drive with real-time operational checklists across all 32 clubs.</a:t>
            </a:r>
            <a:endParaRPr lang="en-US" sz="825" dirty="0"/>
          </a:p>
        </p:txBody>
      </p:sp>
      <p:pic>
        <p:nvPicPr>
          <p:cNvPr id="10" name="Image 3" descr="/tmp/rasterized-gradient-47d0f8a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1350" y="800100"/>
            <a:ext cx="2781300" cy="9408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324225" y="94297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3686175" y="992535"/>
            <a:ext cx="13659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Readiness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3324225" y="1304925"/>
            <a:ext cx="254546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Time-based SLAs and readiness scoring give league visibility before, during, after every game.</a:t>
            </a:r>
            <a:endParaRPr lang="en-US" sz="825" dirty="0"/>
          </a:p>
        </p:txBody>
      </p:sp>
      <p:pic>
        <p:nvPicPr>
          <p:cNvPr id="14" name="Image 4" descr="/tmp/rasterized-gradient-c25e68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800100"/>
            <a:ext cx="2781300" cy="94089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238875" y="94297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6600825" y="992535"/>
            <a:ext cx="10885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Ledger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6238875" y="1304925"/>
            <a:ext cx="254546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Immutable, timestamped documentation. Complete audit trail for compliance and liability.</a:t>
            </a:r>
            <a:endParaRPr lang="en-US" sz="825" dirty="0"/>
          </a:p>
        </p:txBody>
      </p:sp>
      <p:sp>
        <p:nvSpPr>
          <p:cNvPr id="18" name="Text 11"/>
          <p:cNvSpPr/>
          <p:nvPr/>
        </p:nvSpPr>
        <p:spPr>
          <a:xfrm>
            <a:off x="266700" y="2419201"/>
            <a:ext cx="4654600" cy="1855440"/>
          </a:xfrm>
          <a:prstGeom prst="roundRect">
            <a:avLst>
              <a:gd name="adj" fmla="val 5134"/>
            </a:avLst>
          </a:prstGeom>
          <a:solidFill>
            <a:srgbClr val="0D1A2D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428625" y="2581126"/>
            <a:ext cx="44173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OS ARCHITECTURE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428625" y="2855416"/>
            <a:ext cx="952500" cy="247650"/>
          </a:xfrm>
          <a:prstGeom prst="roundRect">
            <a:avLst>
              <a:gd name="adj" fmla="val 19231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516255" y="2912566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LEAGUE HQ</a:t>
            </a:r>
            <a:endParaRPr lang="en-US" sz="750" dirty="0"/>
          </a:p>
        </p:txBody>
      </p:sp>
      <p:pic>
        <p:nvPicPr>
          <p:cNvPr id="22" name="Image 5" descr="/tmp/rasterized-gradient-a5f7d3d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6375" y="2969716"/>
            <a:ext cx="2322016" cy="190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893641" y="2919264"/>
            <a:ext cx="8830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Command View</a:t>
            </a:r>
            <a:endParaRPr lang="en-US" sz="675" dirty="0"/>
          </a:p>
        </p:txBody>
      </p:sp>
      <p:sp>
        <p:nvSpPr>
          <p:cNvPr id="24" name="Text 16"/>
          <p:cNvSpPr/>
          <p:nvPr/>
        </p:nvSpPr>
        <p:spPr>
          <a:xfrm>
            <a:off x="428625" y="3179266"/>
            <a:ext cx="952500" cy="247650"/>
          </a:xfrm>
          <a:prstGeom prst="roundRect">
            <a:avLst>
              <a:gd name="adj" fmla="val 19231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516255" y="3236416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CLUBS</a:t>
            </a:r>
            <a:endParaRPr lang="en-US" sz="750" dirty="0"/>
          </a:p>
        </p:txBody>
      </p:sp>
      <p:pic>
        <p:nvPicPr>
          <p:cNvPr id="26" name="Image 6" descr="/tmp/rasterized-gradient-6cbf731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6375" y="3293566"/>
            <a:ext cx="2239417" cy="1905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811042" y="3243114"/>
            <a:ext cx="9672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Operations</a:t>
            </a:r>
            <a:endParaRPr lang="en-US" sz="675" dirty="0"/>
          </a:p>
        </p:txBody>
      </p:sp>
      <p:sp>
        <p:nvSpPr>
          <p:cNvPr id="28" name="Text 19"/>
          <p:cNvSpPr/>
          <p:nvPr/>
        </p:nvSpPr>
        <p:spPr>
          <a:xfrm>
            <a:off x="428625" y="3503116"/>
            <a:ext cx="952500" cy="266700"/>
          </a:xfrm>
          <a:prstGeom prst="roundRect">
            <a:avLst>
              <a:gd name="adj" fmla="val 17857"/>
            </a:avLst>
          </a:prstGeom>
          <a:solidFill>
            <a:srgbClr val="1A2D4A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0"/>
          <p:cNvSpPr/>
          <p:nvPr/>
        </p:nvSpPr>
        <p:spPr>
          <a:xfrm>
            <a:off x="525971" y="3569791"/>
            <a:ext cx="7578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</a:t>
            </a:r>
            <a:endParaRPr lang="en-US" sz="750" dirty="0"/>
          </a:p>
        </p:txBody>
      </p:sp>
      <p:pic>
        <p:nvPicPr>
          <p:cNvPr id="30" name="Image 7" descr="/tmp/rasterized-gradient-51eb737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6375" y="3626941"/>
            <a:ext cx="2442865" cy="1905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014490" y="3576489"/>
            <a:ext cx="7597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AWS, Adobe, Cisco</a:t>
            </a:r>
            <a:endParaRPr lang="en-US" sz="675" dirty="0"/>
          </a:p>
        </p:txBody>
      </p:sp>
      <p:sp>
        <p:nvSpPr>
          <p:cNvPr id="32" name="Text 22"/>
          <p:cNvSpPr/>
          <p:nvPr/>
        </p:nvSpPr>
        <p:spPr>
          <a:xfrm>
            <a:off x="428625" y="3846016"/>
            <a:ext cx="952500" cy="266700"/>
          </a:xfrm>
          <a:prstGeom prst="roundRect">
            <a:avLst>
              <a:gd name="adj" fmla="val 17857"/>
            </a:avLst>
          </a:prstGeom>
          <a:solidFill>
            <a:srgbClr val="1A2D4A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3"/>
          <p:cNvSpPr/>
          <p:nvPr/>
        </p:nvSpPr>
        <p:spPr>
          <a:xfrm>
            <a:off x="525971" y="3912691"/>
            <a:ext cx="7578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50" dirty="0"/>
          </a:p>
        </p:txBody>
      </p:sp>
      <p:pic>
        <p:nvPicPr>
          <p:cNvPr id="34" name="Image 8" descr="/tmp/rasterized-gradient-df130ee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6375" y="3969841"/>
            <a:ext cx="2439591" cy="1905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4011216" y="3919389"/>
            <a:ext cx="7631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Audit</a:t>
            </a:r>
            <a:endParaRPr lang="en-US" sz="675" dirty="0"/>
          </a:p>
        </p:txBody>
      </p:sp>
      <p:pic>
        <p:nvPicPr>
          <p:cNvPr id="36" name="Image 9" descr="/tmp/rasterized-gradient-4fb478d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3700" y="2308771"/>
            <a:ext cx="3803600" cy="62865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188000" y="2423071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$1.9M</a:t>
            </a:r>
            <a:endParaRPr lang="en-US" sz="2250" dirty="0"/>
          </a:p>
        </p:txBody>
      </p:sp>
      <p:sp>
        <p:nvSpPr>
          <p:cNvPr id="38" name="Text 26"/>
          <p:cNvSpPr/>
          <p:nvPr/>
        </p:nvSpPr>
        <p:spPr>
          <a:xfrm>
            <a:off x="6064300" y="2462064"/>
            <a:ext cx="14964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6064300" y="2650629"/>
            <a:ext cx="14964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committed contract</a:t>
            </a:r>
            <a:endParaRPr lang="en-US" sz="750" dirty="0"/>
          </a:p>
        </p:txBody>
      </p:sp>
      <p:pic>
        <p:nvPicPr>
          <p:cNvPr id="40" name="Image 10" descr="/tmp/rasterized-gradient-50dd2bd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73700" y="3032671"/>
            <a:ext cx="3803600" cy="62865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5188000" y="3146971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</a:t>
            </a:r>
            <a:endParaRPr lang="en-US" sz="2250" dirty="0"/>
          </a:p>
        </p:txBody>
      </p:sp>
      <p:sp>
        <p:nvSpPr>
          <p:cNvPr id="42" name="Text 29"/>
          <p:cNvSpPr/>
          <p:nvPr/>
        </p:nvSpPr>
        <p:spPr>
          <a:xfrm>
            <a:off x="6064300" y="3185964"/>
            <a:ext cx="16183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 Per Season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6064300" y="3374529"/>
            <a:ext cx="16183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season, playoffs, Super Bowl</a:t>
            </a:r>
            <a:endParaRPr lang="en-US" sz="750" dirty="0"/>
          </a:p>
        </p:txBody>
      </p:sp>
      <p:pic>
        <p:nvPicPr>
          <p:cNvPr id="44" name="Image 11" descr="/tmp/rasterized-gradient-19bfd39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73700" y="3756571"/>
            <a:ext cx="3803600" cy="628650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5188000" y="3870871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250" dirty="0"/>
          </a:p>
        </p:txBody>
      </p:sp>
      <p:sp>
        <p:nvSpPr>
          <p:cNvPr id="46" name="Text 32"/>
          <p:cNvSpPr/>
          <p:nvPr/>
        </p:nvSpPr>
        <p:spPr>
          <a:xfrm>
            <a:off x="6064300" y="3909864"/>
            <a:ext cx="14149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League-Wide Visibility</a:t>
            </a:r>
            <a:endParaRPr lang="en-US" sz="900" dirty="0"/>
          </a:p>
        </p:txBody>
      </p:sp>
      <p:sp>
        <p:nvSpPr>
          <p:cNvPr id="47" name="Text 33"/>
          <p:cNvSpPr/>
          <p:nvPr/>
        </p:nvSpPr>
        <p:spPr>
          <a:xfrm>
            <a:off x="6064300" y="4098429"/>
            <a:ext cx="14149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intelligence dashboard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28600"/>
            <a:ext cx="87828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CREDIBILITY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66699" y="432346"/>
            <a:ext cx="667819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by Someone Who's Been in the Arena</a:t>
            </a:r>
            <a:endParaRPr lang="en-US" sz="2250" dirty="0"/>
          </a:p>
        </p:txBody>
      </p:sp>
      <p:pic>
        <p:nvPicPr>
          <p:cNvPr id="4" name="Image 0" descr="/tmp/rasterized-gradient-7a9c60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169938"/>
            <a:ext cx="3367980" cy="1226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22338"/>
            <a:ext cx="30855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Tye Hayes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1573709"/>
            <a:ext cx="3085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CEO, Sentrais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457200" y="1815554"/>
            <a:ext cx="30855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Service-Disabled U.S. Navy Officer. Former CIO, City of Atlanta. The only person to have led a city through a ransomware attack AND delivered a Super Bowl nine months later.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266700" y="2491829"/>
            <a:ext cx="3367980" cy="712291"/>
          </a:xfrm>
          <a:prstGeom prst="roundRect">
            <a:avLst>
              <a:gd name="adj" fmla="val 10698"/>
            </a:avLst>
          </a:prstGeom>
          <a:solidFill>
            <a:srgbClr val="0D1A2D"/>
          </a:solidFill>
          <a:ln w="9525">
            <a:solidFill>
              <a:srgbClr val="F2A9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09575" y="2615654"/>
            <a:ext cx="3143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 RANSOMWARE CRISIS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09575" y="2787104"/>
            <a:ext cx="314387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Commanded recovery of 30+ departments. Coordinated with DHS, FBI, NSA.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266700" y="3299371"/>
            <a:ext cx="3367980" cy="712291"/>
          </a:xfrm>
          <a:prstGeom prst="roundRect">
            <a:avLst>
              <a:gd name="adj" fmla="val 10698"/>
            </a:avLst>
          </a:prstGeom>
          <a:solidFill>
            <a:srgbClr val="0D1A2D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09575" y="3423196"/>
            <a:ext cx="3143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BOWL LIII DELIVERY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09575" y="3594646"/>
            <a:ext cx="314387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months post-crisis, delivered flawless operations. SEAR-1 level.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266700" y="4106912"/>
            <a:ext cx="3367980" cy="565696"/>
          </a:xfrm>
          <a:prstGeom prst="roundRect">
            <a:avLst>
              <a:gd name="adj" fmla="val 13470"/>
            </a:avLst>
          </a:prstGeom>
          <a:solidFill>
            <a:srgbClr val="0D1A2D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09575" y="4230737"/>
            <a:ext cx="31438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HARTSFIELD-JACKSON AIRPORT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09575" y="4402187"/>
            <a:ext cx="3143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World's busiest airport. 95M passengers. TSA, CBP coordination.</a:t>
            </a:r>
            <a:endParaRPr lang="en-US" sz="825" dirty="0"/>
          </a:p>
        </p:txBody>
      </p:sp>
      <p:sp>
        <p:nvSpPr>
          <p:cNvPr id="17" name="Shape 14"/>
          <p:cNvSpPr/>
          <p:nvPr/>
        </p:nvSpPr>
        <p:spPr>
          <a:xfrm>
            <a:off x="3839468" y="1327993"/>
            <a:ext cx="0" cy="1066800"/>
          </a:xfrm>
          <a:prstGeom prst="line">
            <a:avLst/>
          </a:prstGeom>
          <a:noFill/>
          <a:ln w="2857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987105" y="1327993"/>
            <a:ext cx="498799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"I'm not selling you software. I commanded the recovery from one of the largest municipal cyber attacks in U.S. history. I delivered Super Bowl LIII nine months later. </a:t>
            </a:r>
            <a:r>
              <a:rPr lang="en-US" sz="1500" b="1" dirty="0">
                <a:solidFill>
                  <a:srgbClr val="F2A900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know what it takes because I've lived it.</a:t>
            </a: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825180" y="2509093"/>
            <a:ext cx="5052120" cy="1277987"/>
          </a:xfrm>
          <a:prstGeom prst="roundRect">
            <a:avLst>
              <a:gd name="adj" fmla="val 7453"/>
            </a:avLst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977580" y="2661493"/>
            <a:ext cx="48422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THE NFL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977580" y="2931914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244280" y="2922389"/>
            <a:ext cx="10585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Crisis-Tested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244280" y="3097560"/>
            <a:ext cx="10585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under real pressure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398865" y="2931914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665565" y="2922389"/>
            <a:ext cx="10800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Caliber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6665565" y="3097560"/>
            <a:ext cx="10800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DHS, FEMA coordination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977580" y="333568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244280" y="3326160"/>
            <a:ext cx="11447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Expert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244280" y="3501330"/>
            <a:ext cx="11447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Stadium, airport, city-scale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398865" y="333568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665565" y="3326160"/>
            <a:ext cx="12369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Evidence-First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6665565" y="3501330"/>
            <a:ext cx="1236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that holds up</a:t>
            </a:r>
            <a:endParaRPr lang="en-US" sz="750" dirty="0"/>
          </a:p>
        </p:txBody>
      </p:sp>
      <p:pic>
        <p:nvPicPr>
          <p:cNvPr id="33" name="Image 1" descr="/tmp/rasterized-gradient-b33fe3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80" y="3901380"/>
            <a:ext cx="5052120" cy="61317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3949538" y="4034730"/>
            <a:ext cx="4803404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OS was forged in the most demanding operational environments in America.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e5dec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6700" y="240953"/>
            <a:ext cx="955774" cy="260896"/>
          </a:xfrm>
          <a:prstGeom prst="roundRect">
            <a:avLst>
              <a:gd name="adj" fmla="val 18254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00050" y="298103"/>
            <a:ext cx="702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1355824" y="228600"/>
            <a:ext cx="70098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eVenu: Every Stadium. Certified. Intelligent.</a:t>
            </a:r>
            <a:endParaRPr lang="en-US" sz="2250" dirty="0"/>
          </a:p>
        </p:txBody>
      </p:sp>
      <p:pic>
        <p:nvPicPr>
          <p:cNvPr id="6" name="Image 1" descr="/tmp/rasterized-gradient-262741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781050"/>
            <a:ext cx="8610600" cy="6018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895350"/>
            <a:ext cx="843305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every NFL venue into a </a:t>
            </a:r>
            <a:r>
              <a:rPr lang="en-US" sz="10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certified, intelligent ecosystem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unified readiness scoring, predictive operations, and real-time revenue optimization.</a:t>
            </a:r>
            <a:endParaRPr lang="en-US" sz="1050" dirty="0"/>
          </a:p>
        </p:txBody>
      </p:sp>
      <p:pic>
        <p:nvPicPr>
          <p:cNvPr id="8" name="Image 2" descr="/tmp/rasterized-gradient-29db8c6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" y="1917502"/>
            <a:ext cx="2781300" cy="18076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4904" y="2088952"/>
            <a:ext cx="25648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🏟️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374904" y="2466082"/>
            <a:ext cx="25648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</a:t>
            </a:r>
            <a:endParaRPr lang="en-US" sz="975" dirty="0"/>
          </a:p>
        </p:txBody>
      </p:sp>
      <p:sp>
        <p:nvSpPr>
          <p:cNvPr id="11" name="Text 6"/>
          <p:cNvSpPr/>
          <p:nvPr/>
        </p:nvSpPr>
        <p:spPr>
          <a:xfrm>
            <a:off x="400050" y="2929830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504825" y="2886968"/>
            <a:ext cx="12203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ADA, fire, safety compliance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400050" y="3120330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504825" y="3077468"/>
            <a:ext cx="12907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readiness scoring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400050" y="3310830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504825" y="3267968"/>
            <a:ext cx="10641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documentation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400050" y="3501330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04825" y="3458468"/>
            <a:ext cx="9991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blueprinting</a:t>
            </a:r>
            <a:endParaRPr lang="en-US" sz="750" dirty="0"/>
          </a:p>
        </p:txBody>
      </p:sp>
      <p:pic>
        <p:nvPicPr>
          <p:cNvPr id="19" name="Image 3" descr="/tmp/rasterized-gradient-cf13af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1350" y="1917502"/>
            <a:ext cx="2781300" cy="180766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289554" y="2088952"/>
            <a:ext cx="25648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3289554" y="2466082"/>
            <a:ext cx="25648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75" dirty="0"/>
          </a:p>
        </p:txBody>
      </p:sp>
      <p:sp>
        <p:nvSpPr>
          <p:cNvPr id="22" name="Text 16"/>
          <p:cNvSpPr/>
          <p:nvPr/>
        </p:nvSpPr>
        <p:spPr>
          <a:xfrm>
            <a:off x="3314700" y="2929830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3419475" y="2886968"/>
            <a:ext cx="1242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Traffic-to-revenue correlation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3314700" y="3120330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3419475" y="3077468"/>
            <a:ext cx="8856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Per-cap optimization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3314700" y="3310830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3419475" y="3267968"/>
            <a:ext cx="10621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experience analytics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3314700" y="3501330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3419475" y="3458468"/>
            <a:ext cx="11883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purchase prediction</a:t>
            </a:r>
            <a:endParaRPr lang="en-US" sz="750" dirty="0"/>
          </a:p>
        </p:txBody>
      </p:sp>
      <p:pic>
        <p:nvPicPr>
          <p:cNvPr id="30" name="Image 4" descr="/tmp/rasterized-gradient-40f2d59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917502"/>
            <a:ext cx="2781300" cy="180766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204204" y="2088952"/>
            <a:ext cx="25648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6204204" y="2466082"/>
            <a:ext cx="25648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75" dirty="0"/>
          </a:p>
        </p:txBody>
      </p:sp>
      <p:sp>
        <p:nvSpPr>
          <p:cNvPr id="33" name="Text 26"/>
          <p:cNvSpPr/>
          <p:nvPr/>
        </p:nvSpPr>
        <p:spPr>
          <a:xfrm>
            <a:off x="6229350" y="2929830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6334125" y="2886968"/>
            <a:ext cx="9288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Cyber-physical fusion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6229350" y="3120330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6334125" y="3077468"/>
            <a:ext cx="11720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pattern recognition</a:t>
            </a:r>
            <a:endParaRPr lang="en-US" sz="750" dirty="0"/>
          </a:p>
        </p:txBody>
      </p:sp>
      <p:sp>
        <p:nvSpPr>
          <p:cNvPr id="37" name="Text 30"/>
          <p:cNvSpPr/>
          <p:nvPr/>
        </p:nvSpPr>
        <p:spPr>
          <a:xfrm>
            <a:off x="6229350" y="3310830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6334125" y="3267968"/>
            <a:ext cx="9020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Evacuation modeling</a:t>
            </a:r>
            <a:endParaRPr lang="en-US" sz="750" dirty="0"/>
          </a:p>
        </p:txBody>
      </p:sp>
      <p:sp>
        <p:nvSpPr>
          <p:cNvPr id="39" name="Text 32"/>
          <p:cNvSpPr/>
          <p:nvPr/>
        </p:nvSpPr>
        <p:spPr>
          <a:xfrm>
            <a:off x="6229350" y="3501330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6334125" y="3458468"/>
            <a:ext cx="10154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Liability protection audit</a:t>
            </a:r>
            <a:endParaRPr lang="en-US" sz="750" dirty="0"/>
          </a:p>
        </p:txBody>
      </p:sp>
      <p:sp>
        <p:nvSpPr>
          <p:cNvPr id="41" name="Text 34"/>
          <p:cNvSpPr/>
          <p:nvPr/>
        </p:nvSpPr>
        <p:spPr>
          <a:xfrm>
            <a:off x="266700" y="4259759"/>
            <a:ext cx="2052637" cy="578941"/>
          </a:xfrm>
          <a:prstGeom prst="roundRect">
            <a:avLst>
              <a:gd name="adj" fmla="val 987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343329" y="4355009"/>
            <a:ext cx="189938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$19.5B</a:t>
            </a:r>
            <a:endParaRPr lang="en-US" sz="1350" dirty="0"/>
          </a:p>
        </p:txBody>
      </p:sp>
      <p:sp>
        <p:nvSpPr>
          <p:cNvPr id="43" name="Text 36"/>
          <p:cNvSpPr/>
          <p:nvPr/>
        </p:nvSpPr>
        <p:spPr>
          <a:xfrm>
            <a:off x="343329" y="4623495"/>
            <a:ext cx="18993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Stadium 2024</a:t>
            </a:r>
            <a:endParaRPr lang="en-US" sz="675" dirty="0"/>
          </a:p>
        </p:txBody>
      </p:sp>
      <p:sp>
        <p:nvSpPr>
          <p:cNvPr id="44" name="Text 37"/>
          <p:cNvSpPr/>
          <p:nvPr/>
        </p:nvSpPr>
        <p:spPr>
          <a:xfrm>
            <a:off x="2452688" y="4259759"/>
            <a:ext cx="2052637" cy="578941"/>
          </a:xfrm>
          <a:prstGeom prst="roundRect">
            <a:avLst>
              <a:gd name="adj" fmla="val 987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2529316" y="4355009"/>
            <a:ext cx="189938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$41.7B</a:t>
            </a:r>
            <a:endParaRPr lang="en-US" sz="1350" dirty="0"/>
          </a:p>
        </p:txBody>
      </p:sp>
      <p:sp>
        <p:nvSpPr>
          <p:cNvPr id="46" name="Text 39"/>
          <p:cNvSpPr/>
          <p:nvPr/>
        </p:nvSpPr>
        <p:spPr>
          <a:xfrm>
            <a:off x="2529316" y="4623495"/>
            <a:ext cx="18993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Stadium 2029</a:t>
            </a:r>
            <a:endParaRPr lang="en-US" sz="675" dirty="0"/>
          </a:p>
        </p:txBody>
      </p:sp>
      <p:sp>
        <p:nvSpPr>
          <p:cNvPr id="47" name="Text 40"/>
          <p:cNvSpPr/>
          <p:nvPr/>
        </p:nvSpPr>
        <p:spPr>
          <a:xfrm>
            <a:off x="4638675" y="4259759"/>
            <a:ext cx="2052637" cy="578941"/>
          </a:xfrm>
          <a:prstGeom prst="roundRect">
            <a:avLst>
              <a:gd name="adj" fmla="val 987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1"/>
          <p:cNvSpPr/>
          <p:nvPr/>
        </p:nvSpPr>
        <p:spPr>
          <a:xfrm>
            <a:off x="4715304" y="4355009"/>
            <a:ext cx="189938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70-80%</a:t>
            </a:r>
            <a:endParaRPr lang="en-US" sz="1350" dirty="0"/>
          </a:p>
        </p:txBody>
      </p:sp>
      <p:sp>
        <p:nvSpPr>
          <p:cNvPr id="49" name="Text 42"/>
          <p:cNvSpPr/>
          <p:nvPr/>
        </p:nvSpPr>
        <p:spPr>
          <a:xfrm>
            <a:off x="4715304" y="4623495"/>
            <a:ext cx="18993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Savings</a:t>
            </a:r>
            <a:endParaRPr lang="en-US" sz="675" dirty="0"/>
          </a:p>
        </p:txBody>
      </p:sp>
      <p:sp>
        <p:nvSpPr>
          <p:cNvPr id="50" name="Text 43"/>
          <p:cNvSpPr/>
          <p:nvPr/>
        </p:nvSpPr>
        <p:spPr>
          <a:xfrm>
            <a:off x="6824663" y="4259759"/>
            <a:ext cx="2052637" cy="578941"/>
          </a:xfrm>
          <a:prstGeom prst="roundRect">
            <a:avLst>
              <a:gd name="adj" fmla="val 987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6901291" y="4355009"/>
            <a:ext cx="189938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35-40%</a:t>
            </a:r>
            <a:endParaRPr lang="en-US" sz="1350" dirty="0"/>
          </a:p>
        </p:txBody>
      </p:sp>
      <p:sp>
        <p:nvSpPr>
          <p:cNvPr id="52" name="Text 45"/>
          <p:cNvSpPr/>
          <p:nvPr/>
        </p:nvSpPr>
        <p:spPr>
          <a:xfrm>
            <a:off x="6901291" y="4623495"/>
            <a:ext cx="18993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Outdated Systems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228600"/>
            <a:ext cx="87050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FINANCE &amp; EQUITY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42900" y="432346"/>
            <a:ext cx="43622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Investment Thesis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42900" y="1293019"/>
            <a:ext cx="4681049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has </a:t>
            </a:r>
            <a:r>
              <a:rPr lang="en-US" sz="975" b="1" dirty="0">
                <a:solidFill>
                  <a:srgbClr val="F2A900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product-market fit</a:t>
            </a:r>
            <a:r>
              <a:rPr lang="en-US" sz="97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the NFL. The $6.3M contract proves enterprise willingness to pay. The question: </a:t>
            </a:r>
            <a:r>
              <a:rPr lang="en-US" sz="975" b="1" dirty="0">
                <a:solidFill>
                  <a:srgbClr val="00D4A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upside from scaling?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42900" y="1964531"/>
            <a:ext cx="4589264" cy="1777157"/>
          </a:xfrm>
          <a:prstGeom prst="roundRect">
            <a:avLst>
              <a:gd name="adj" fmla="val 5360"/>
            </a:avLst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00" y="2116931"/>
            <a:ext cx="437015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REVENUE RECOVERY MODEL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95300" y="2358777"/>
            <a:ext cx="2075557" cy="659011"/>
          </a:xfrm>
          <a:prstGeom prst="roundRect">
            <a:avLst>
              <a:gd name="adj" fmla="val 8672"/>
            </a:avLst>
          </a:prstGeom>
          <a:solidFill>
            <a:srgbClr val="F2A90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699" y="2454027"/>
            <a:ext cx="19227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$2-4M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1699" y="2802582"/>
            <a:ext cx="1922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Per-venue annual leakage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2704207" y="2358777"/>
            <a:ext cx="2075557" cy="659011"/>
          </a:xfrm>
          <a:prstGeom prst="roundRect">
            <a:avLst>
              <a:gd name="adj" fmla="val 8672"/>
            </a:avLst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80606" y="2454027"/>
            <a:ext cx="19227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30-50%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80606" y="2802582"/>
            <a:ext cx="192275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potential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95300" y="3132088"/>
            <a:ext cx="4284464" cy="4572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0550" y="3227338"/>
            <a:ext cx="41758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venues × $1-2M recovery = $32-64M</a:t>
            </a: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annual value for NFL. Sentrais captures 10% success fee = </a:t>
            </a:r>
            <a:r>
              <a:rPr lang="en-US" sz="750" b="1" dirty="0">
                <a:solidFill>
                  <a:srgbClr val="F2A9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$3.2-6.4M incremental ARR</a:t>
            </a: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50" dirty="0"/>
          </a:p>
        </p:txBody>
      </p:sp>
      <p:pic>
        <p:nvPicPr>
          <p:cNvPr id="16" name="Image 0" descr="/tmp/rasterized-gradient-d74927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3855988"/>
            <a:ext cx="4589264" cy="69339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4350" y="3970288"/>
            <a:ext cx="43701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NFL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14350" y="4168378"/>
            <a:ext cx="43701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platform → NBA (30), MLB (30), MLS (29), NCAA (1,000+). Plus FIFA 2026, Live Nation (394 venues), convention centers, airports.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122664" y="1107281"/>
            <a:ext cx="3754636" cy="1706314"/>
          </a:xfrm>
          <a:prstGeom prst="roundRect">
            <a:avLst>
              <a:gd name="adj" fmla="val 5582"/>
            </a:avLst>
          </a:prstGeom>
          <a:solidFill>
            <a:srgbClr val="0D1A2D"/>
          </a:solidFill>
          <a:ln w="9525">
            <a:solidFill>
              <a:srgbClr val="F2A9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84589" y="1269206"/>
            <a:ext cx="34994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SIZING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5284589" y="1765250"/>
            <a:ext cx="343078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284589" y="1543348"/>
            <a:ext cx="12654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Event Management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8329761" y="1530102"/>
            <a:ext cx="3933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$1.16T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5284589" y="2081361"/>
            <a:ext cx="343078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284589" y="1859459"/>
            <a:ext cx="9603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Stadium Tech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8316069" y="1846213"/>
            <a:ext cx="4072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$19.5B</a:t>
            </a:r>
            <a:endParaRPr lang="en-US" sz="975" dirty="0"/>
          </a:p>
        </p:txBody>
      </p:sp>
      <p:sp>
        <p:nvSpPr>
          <p:cNvPr id="27" name="Shape 24"/>
          <p:cNvSpPr/>
          <p:nvPr/>
        </p:nvSpPr>
        <p:spPr>
          <a:xfrm>
            <a:off x="5284589" y="2397472"/>
            <a:ext cx="343078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284589" y="2175570"/>
            <a:ext cx="14081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Management Software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8309223" y="2162324"/>
            <a:ext cx="4142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$8-20B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5284589" y="2491680"/>
            <a:ext cx="1122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Events Intelligence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8240316" y="2478435"/>
            <a:ext cx="4845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$75-85B</a:t>
            </a:r>
            <a:endParaRPr lang="en-US" sz="975" dirty="0"/>
          </a:p>
        </p:txBody>
      </p:sp>
      <p:pic>
        <p:nvPicPr>
          <p:cNvPr id="32" name="Image 1" descr="/tmp/rasterized-gradient-639f3f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664" y="2927896"/>
            <a:ext cx="3754636" cy="1304479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75064" y="3080296"/>
            <a:ext cx="35188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POSITION</a:t>
            </a:r>
            <a:endParaRPr lang="en-US" sz="825" dirty="0"/>
          </a:p>
        </p:txBody>
      </p:sp>
      <p:sp>
        <p:nvSpPr>
          <p:cNvPr id="34" name="Text 30"/>
          <p:cNvSpPr/>
          <p:nvPr/>
        </p:nvSpPr>
        <p:spPr>
          <a:xfrm>
            <a:off x="5275064" y="3366790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5408414" y="3322141"/>
            <a:ext cx="13920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D4AA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$6.3M</a:t>
            </a: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validated NFL contract</a:t>
            </a:r>
            <a:endParaRPr lang="en-US" sz="825" dirty="0"/>
          </a:p>
        </p:txBody>
      </p:sp>
      <p:sp>
        <p:nvSpPr>
          <p:cNvPr id="36" name="Text 32"/>
          <p:cNvSpPr/>
          <p:nvPr/>
        </p:nvSpPr>
        <p:spPr>
          <a:xfrm>
            <a:off x="5275064" y="3570536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5408414" y="3525887"/>
            <a:ext cx="10691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2A900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$1.9M</a:t>
            </a: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committed ARR</a:t>
            </a:r>
            <a:endParaRPr lang="en-US" sz="825" dirty="0"/>
          </a:p>
        </p:txBody>
      </p:sp>
      <p:sp>
        <p:nvSpPr>
          <p:cNvPr id="38" name="Text 34"/>
          <p:cNvSpPr/>
          <p:nvPr/>
        </p:nvSpPr>
        <p:spPr>
          <a:xfrm>
            <a:off x="5275064" y="3774281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5408414" y="3729633"/>
            <a:ext cx="11854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51%+</a:t>
            </a: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founder ownership</a:t>
            </a:r>
            <a:endParaRPr lang="en-US" sz="825" dirty="0"/>
          </a:p>
        </p:txBody>
      </p:sp>
      <p:sp>
        <p:nvSpPr>
          <p:cNvPr id="40" name="Text 36"/>
          <p:cNvSpPr/>
          <p:nvPr/>
        </p:nvSpPr>
        <p:spPr>
          <a:xfrm>
            <a:off x="5275064" y="3978027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5408414" y="3933379"/>
            <a:ext cx="10873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41E3A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24mo</a:t>
            </a: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unicorn pathway</a:t>
            </a:r>
            <a:endParaRPr lang="en-US" sz="825" dirty="0"/>
          </a:p>
        </p:txBody>
      </p:sp>
      <p:pic>
        <p:nvPicPr>
          <p:cNvPr id="42" name="Image 2" descr="/tmp/rasterized-gradient-651310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2664" y="4346674"/>
            <a:ext cx="3754636" cy="38859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5201704" y="4460974"/>
            <a:ext cx="35965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Target: $12-15M at $50-80M Pre-Money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28600"/>
            <a:ext cx="87828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METHODOLOGY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66700" y="432346"/>
            <a:ext cx="48966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NIN: From Discovery to Dominance</a:t>
            </a:r>
            <a:endParaRPr lang="en-US" sz="2250" dirty="0"/>
          </a:p>
        </p:txBody>
      </p:sp>
      <p:pic>
        <p:nvPicPr>
          <p:cNvPr id="4" name="Image 0" descr="/tmp/rasterized-gradient-0c2481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003846"/>
            <a:ext cx="1493490" cy="6704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8920" y="1118146"/>
            <a:ext cx="1329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48920" y="1413421"/>
            <a:ext cx="13290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251765" y="1731466"/>
            <a:ext cx="152336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assessment</a:t>
            </a:r>
            <a:endParaRPr lang="en-US" sz="675" dirty="0"/>
          </a:p>
        </p:txBody>
      </p:sp>
      <p:sp>
        <p:nvSpPr>
          <p:cNvPr id="8" name="Text 5"/>
          <p:cNvSpPr/>
          <p:nvPr/>
        </p:nvSpPr>
        <p:spPr>
          <a:xfrm>
            <a:off x="1836390" y="1003846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pic>
        <p:nvPicPr>
          <p:cNvPr id="9" name="Image 1" descr="/tmp/rasterized-gradient-3274b37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5940" y="1003846"/>
            <a:ext cx="1493490" cy="6704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28160" y="1118146"/>
            <a:ext cx="1329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128160" y="1413421"/>
            <a:ext cx="13290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2031005" y="1731466"/>
            <a:ext cx="152336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and risk analysis</a:t>
            </a:r>
            <a:endParaRPr lang="en-US" sz="675" dirty="0"/>
          </a:p>
        </p:txBody>
      </p:sp>
      <p:sp>
        <p:nvSpPr>
          <p:cNvPr id="13" name="Text 9"/>
          <p:cNvSpPr/>
          <p:nvPr/>
        </p:nvSpPr>
        <p:spPr>
          <a:xfrm>
            <a:off x="3615630" y="1003846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pic>
        <p:nvPicPr>
          <p:cNvPr id="14" name="Image 2" descr="/tmp/rasterized-gradient-c3ac12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80" y="1003846"/>
            <a:ext cx="1493490" cy="67047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07401" y="1118146"/>
            <a:ext cx="1329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907401" y="1413421"/>
            <a:ext cx="13290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825" dirty="0"/>
          </a:p>
        </p:txBody>
      </p:sp>
      <p:sp>
        <p:nvSpPr>
          <p:cNvPr id="17" name="Text 12"/>
          <p:cNvSpPr/>
          <p:nvPr/>
        </p:nvSpPr>
        <p:spPr>
          <a:xfrm>
            <a:off x="3810246" y="1731466"/>
            <a:ext cx="152336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Future-state architecture</a:t>
            </a:r>
            <a:endParaRPr lang="en-US" sz="675" dirty="0"/>
          </a:p>
        </p:txBody>
      </p:sp>
      <p:sp>
        <p:nvSpPr>
          <p:cNvPr id="18" name="Text 13"/>
          <p:cNvSpPr/>
          <p:nvPr/>
        </p:nvSpPr>
        <p:spPr>
          <a:xfrm>
            <a:off x="5394871" y="1003846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604421" y="1003846"/>
            <a:ext cx="1493490" cy="708571"/>
          </a:xfrm>
          <a:prstGeom prst="roundRect">
            <a:avLst>
              <a:gd name="adj" fmla="val 13443"/>
            </a:avLst>
          </a:prstGeom>
          <a:solidFill>
            <a:srgbClr val="1A2D4A"/>
          </a:solidFill>
          <a:ln w="19050">
            <a:solidFill>
              <a:srgbClr val="F2A9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706072" y="1137196"/>
            <a:ext cx="12901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706072" y="1432471"/>
            <a:ext cx="12901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825" dirty="0"/>
          </a:p>
        </p:txBody>
      </p:sp>
      <p:sp>
        <p:nvSpPr>
          <p:cNvPr id="22" name="Text 17"/>
          <p:cNvSpPr/>
          <p:nvPr/>
        </p:nvSpPr>
        <p:spPr>
          <a:xfrm>
            <a:off x="5589486" y="1769566"/>
            <a:ext cx="152336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implementation</a:t>
            </a:r>
            <a:endParaRPr lang="en-US" sz="675" dirty="0"/>
          </a:p>
        </p:txBody>
      </p:sp>
      <p:sp>
        <p:nvSpPr>
          <p:cNvPr id="23" name="Text 18"/>
          <p:cNvSpPr/>
          <p:nvPr/>
        </p:nvSpPr>
        <p:spPr>
          <a:xfrm>
            <a:off x="7174111" y="1003846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383661" y="1003846"/>
            <a:ext cx="1493490" cy="708571"/>
          </a:xfrm>
          <a:prstGeom prst="roundRect">
            <a:avLst>
              <a:gd name="adj" fmla="val 13443"/>
            </a:avLst>
          </a:prstGeom>
          <a:solidFill>
            <a:srgbClr val="1A2D4A"/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7485312" y="1137196"/>
            <a:ext cx="12901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7485312" y="1432471"/>
            <a:ext cx="12901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</a:t>
            </a:r>
            <a:endParaRPr lang="en-US" sz="825" dirty="0"/>
          </a:p>
        </p:txBody>
      </p:sp>
      <p:sp>
        <p:nvSpPr>
          <p:cNvPr id="27" name="Text 22"/>
          <p:cNvSpPr/>
          <p:nvPr/>
        </p:nvSpPr>
        <p:spPr>
          <a:xfrm>
            <a:off x="7368726" y="1769566"/>
            <a:ext cx="152336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</a:t>
            </a:r>
            <a:endParaRPr lang="en-US" sz="675" dirty="0"/>
          </a:p>
        </p:txBody>
      </p:sp>
      <p:pic>
        <p:nvPicPr>
          <p:cNvPr id="28" name="Image 3" descr="/tmp/rasterized-gradient-7ede7a7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" y="2631281"/>
            <a:ext cx="2052637" cy="104938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00050" y="276463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742950" y="2811363"/>
            <a:ext cx="6667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Months</a:t>
            </a:r>
            <a:endParaRPr lang="en-US" sz="975" dirty="0"/>
          </a:p>
        </p:txBody>
      </p:sp>
      <p:sp>
        <p:nvSpPr>
          <p:cNvPr id="31" name="Text 25"/>
          <p:cNvSpPr/>
          <p:nvPr/>
        </p:nvSpPr>
        <p:spPr>
          <a:xfrm>
            <a:off x="400050" y="3107531"/>
            <a:ext cx="1821656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18-24 months. NIN is engineered for rapid value delivery with quick wins at each phase.</a:t>
            </a:r>
            <a:endParaRPr lang="en-US" sz="825" dirty="0"/>
          </a:p>
        </p:txBody>
      </p:sp>
      <p:pic>
        <p:nvPicPr>
          <p:cNvPr id="32" name="Image 4" descr="/tmp/rasterized-gradient-7676276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2688" y="2631281"/>
            <a:ext cx="2052637" cy="1049387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586038" y="276463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2928938" y="2811363"/>
            <a:ext cx="8704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Evidence-First</a:t>
            </a:r>
            <a:endParaRPr lang="en-US" sz="975" dirty="0"/>
          </a:p>
        </p:txBody>
      </p:sp>
      <p:sp>
        <p:nvSpPr>
          <p:cNvPr id="35" name="Text 28"/>
          <p:cNvSpPr/>
          <p:nvPr/>
        </p:nvSpPr>
        <p:spPr>
          <a:xfrm>
            <a:off x="2586038" y="3107531"/>
            <a:ext cx="1821656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generates documentation that holds up in court, to regulators, and to boards.</a:t>
            </a:r>
            <a:endParaRPr lang="en-US" sz="825" dirty="0"/>
          </a:p>
        </p:txBody>
      </p:sp>
      <p:pic>
        <p:nvPicPr>
          <p:cNvPr id="36" name="Image 5" descr="/tmp/rasterized-gradient-2e6eec0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8675" y="2631281"/>
            <a:ext cx="2052637" cy="104938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772025" y="276463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5114925" y="2811363"/>
            <a:ext cx="6740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</a:t>
            </a:r>
            <a:endParaRPr lang="en-US" sz="975" dirty="0"/>
          </a:p>
        </p:txBody>
      </p:sp>
      <p:sp>
        <p:nvSpPr>
          <p:cNvPr id="39" name="Text 31"/>
          <p:cNvSpPr/>
          <p:nvPr/>
        </p:nvSpPr>
        <p:spPr>
          <a:xfrm>
            <a:off x="4772025" y="3107531"/>
            <a:ext cx="1821656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methodology scales across 32 NFL venues, 394 Live Nation venues, and beyond.</a:t>
            </a:r>
            <a:endParaRPr lang="en-US" sz="825" dirty="0"/>
          </a:p>
        </p:txBody>
      </p:sp>
      <p:pic>
        <p:nvPicPr>
          <p:cNvPr id="40" name="Image 6" descr="/tmp/rasterized-gradient-9f49995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4663" y="2631281"/>
            <a:ext cx="2052637" cy="1049387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958013" y="276463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3"/>
          <p:cNvSpPr/>
          <p:nvPr/>
        </p:nvSpPr>
        <p:spPr>
          <a:xfrm>
            <a:off x="7300913" y="2811363"/>
            <a:ext cx="7909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Crisis-Tested</a:t>
            </a:r>
            <a:endParaRPr lang="en-US" sz="975" dirty="0"/>
          </a:p>
        </p:txBody>
      </p:sp>
      <p:sp>
        <p:nvSpPr>
          <p:cNvPr id="43" name="Text 34"/>
          <p:cNvSpPr/>
          <p:nvPr/>
        </p:nvSpPr>
        <p:spPr>
          <a:xfrm>
            <a:off x="6958013" y="3107531"/>
            <a:ext cx="1821656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Born from actual crisis command. Not theory—operational reality under maximum pressure.</a:t>
            </a:r>
            <a:endParaRPr lang="en-US" sz="825" dirty="0"/>
          </a:p>
        </p:txBody>
      </p:sp>
      <p:pic>
        <p:nvPicPr>
          <p:cNvPr id="44" name="Image 7" descr="/tmp/rasterized-gradient-d276867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700" y="4431060"/>
            <a:ext cx="8610600" cy="40764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365189" y="4554885"/>
            <a:ext cx="84136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methodology that transformed Atlanta's cyber recovery into Super Bowl success—now powering NFL operations.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28600"/>
            <a:ext cx="87828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ROADMAP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66700" y="432346"/>
            <a:ext cx="440112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Validated to Dominant</a:t>
            </a:r>
            <a:endParaRPr lang="en-US" sz="2250" dirty="0"/>
          </a:p>
        </p:txBody>
      </p:sp>
      <p:pic>
        <p:nvPicPr>
          <p:cNvPr id="4" name="Image 0" descr="/tmp/rasterized-gradient-76899c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075283"/>
            <a:ext cx="2066925" cy="11505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1227683"/>
            <a:ext cx="1875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81000" y="1659136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85775" y="1616273"/>
            <a:ext cx="8856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EVERGAME360 live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81000" y="1840111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85775" y="1797248"/>
            <a:ext cx="4968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$1.9M ARR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1000" y="2021086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5775" y="1978223"/>
            <a:ext cx="869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clubs operational</a:t>
            </a:r>
            <a:endParaRPr lang="en-US" sz="750" dirty="0"/>
          </a:p>
        </p:txBody>
      </p:sp>
      <p:pic>
        <p:nvPicPr>
          <p:cNvPr id="12" name="Image 1" descr="/tmp/rasterized-gradient-6c8908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925" y="984796"/>
            <a:ext cx="2066925" cy="13315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2225" y="1137196"/>
            <a:ext cx="1875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Q1-Q2 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562225" y="1568648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667000" y="1525786"/>
            <a:ext cx="5890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eVenu launch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2562225" y="1749623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667000" y="1706761"/>
            <a:ext cx="9020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intelligence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2562225" y="1930598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667000" y="1887736"/>
            <a:ext cx="934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FIFA 2026 positioning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2562225" y="2111573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667000" y="2068711"/>
            <a:ext cx="6102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close</a:t>
            </a:r>
            <a:endParaRPr lang="en-US" sz="750" dirty="0"/>
          </a:p>
        </p:txBody>
      </p:sp>
      <p:pic>
        <p:nvPicPr>
          <p:cNvPr id="22" name="Image 2" descr="/tmp/rasterized-gradient-345f439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150" y="1075283"/>
            <a:ext cx="2066925" cy="115059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43450" y="1227683"/>
            <a:ext cx="1875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Q3-Q4 2026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743450" y="1659136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4848225" y="1616273"/>
            <a:ext cx="6967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Nation deal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4743450" y="1840111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848225" y="1797248"/>
            <a:ext cx="9231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(DHS/FEMA)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4743450" y="2021086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4848225" y="1978223"/>
            <a:ext cx="9991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Multi-league expansion</a:t>
            </a:r>
            <a:endParaRPr lang="en-US" sz="750" dirty="0"/>
          </a:p>
        </p:txBody>
      </p:sp>
      <p:pic>
        <p:nvPicPr>
          <p:cNvPr id="30" name="Image 3" descr="/tmp/rasterized-gradient-ec48d45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0375" y="984796"/>
            <a:ext cx="2066925" cy="133156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24675" y="1137196"/>
            <a:ext cx="18750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924675" y="1568648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7029450" y="1525786"/>
            <a:ext cx="7506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standard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6924675" y="1749623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7029450" y="1706761"/>
            <a:ext cx="8910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revenue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6924675" y="1930598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7029450" y="1887736"/>
            <a:ext cx="9326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Bowl 2029 ATL</a:t>
            </a:r>
            <a:endParaRPr lang="en-US" sz="750" dirty="0"/>
          </a:p>
        </p:txBody>
      </p:sp>
      <p:sp>
        <p:nvSpPr>
          <p:cNvPr id="38" name="Text 32"/>
          <p:cNvSpPr/>
          <p:nvPr/>
        </p:nvSpPr>
        <p:spPr>
          <a:xfrm>
            <a:off x="6924675" y="2111573"/>
            <a:ext cx="47625" cy="47625"/>
          </a:xfrm>
          <a:prstGeom prst="roundRect">
            <a:avLst>
              <a:gd name="adj" fmla="val 192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7029450" y="2068711"/>
            <a:ext cx="8560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$100M+ ARR target</a:t>
            </a:r>
            <a:endParaRPr lang="en-US" sz="750" dirty="0"/>
          </a:p>
        </p:txBody>
      </p:sp>
      <p:sp>
        <p:nvSpPr>
          <p:cNvPr id="40" name="Text 34"/>
          <p:cNvSpPr/>
          <p:nvPr/>
        </p:nvSpPr>
        <p:spPr>
          <a:xfrm>
            <a:off x="266700" y="2973586"/>
            <a:ext cx="2066925" cy="883890"/>
          </a:xfrm>
          <a:prstGeom prst="roundRect">
            <a:avLst>
              <a:gd name="adj" fmla="val 10776"/>
            </a:avLst>
          </a:prstGeom>
          <a:solidFill>
            <a:srgbClr val="0D1A2D"/>
          </a:solidFill>
          <a:ln w="9525">
            <a:solidFill>
              <a:srgbClr val="F2A9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868114" y="3116461"/>
            <a:ext cx="88122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$3-5M</a:t>
            </a:r>
            <a:endParaRPr lang="en-US" sz="2400" dirty="0"/>
          </a:p>
        </p:txBody>
      </p:sp>
      <p:sp>
        <p:nvSpPr>
          <p:cNvPr id="42" name="Text 36"/>
          <p:cNvSpPr/>
          <p:nvPr/>
        </p:nvSpPr>
        <p:spPr>
          <a:xfrm>
            <a:off x="900461" y="3581251"/>
            <a:ext cx="7994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ARR Target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2447925" y="2973586"/>
            <a:ext cx="2066925" cy="883890"/>
          </a:xfrm>
          <a:prstGeom prst="roundRect">
            <a:avLst>
              <a:gd name="adj" fmla="val 10776"/>
            </a:avLst>
          </a:prstGeom>
          <a:solidFill>
            <a:srgbClr val="0D1A2D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2879824" y="3116461"/>
            <a:ext cx="122703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$10-15M</a:t>
            </a:r>
            <a:endParaRPr lang="en-US" sz="2400" dirty="0"/>
          </a:p>
        </p:txBody>
      </p:sp>
      <p:sp>
        <p:nvSpPr>
          <p:cNvPr id="45" name="Text 39"/>
          <p:cNvSpPr/>
          <p:nvPr/>
        </p:nvSpPr>
        <p:spPr>
          <a:xfrm>
            <a:off x="3081686" y="3581251"/>
            <a:ext cx="7994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ARR Target</a:t>
            </a:r>
            <a:endParaRPr lang="en-US" sz="750" dirty="0"/>
          </a:p>
        </p:txBody>
      </p:sp>
      <p:sp>
        <p:nvSpPr>
          <p:cNvPr id="46" name="Text 40"/>
          <p:cNvSpPr/>
          <p:nvPr/>
        </p:nvSpPr>
        <p:spPr>
          <a:xfrm>
            <a:off x="4629150" y="2973586"/>
            <a:ext cx="2066925" cy="883890"/>
          </a:xfrm>
          <a:prstGeom prst="roundRect">
            <a:avLst>
              <a:gd name="adj" fmla="val 10776"/>
            </a:avLst>
          </a:prstGeom>
          <a:solidFill>
            <a:srgbClr val="0D1A2D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5319266" y="3116461"/>
            <a:ext cx="70027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400" dirty="0"/>
          </a:p>
        </p:txBody>
      </p:sp>
      <p:sp>
        <p:nvSpPr>
          <p:cNvPr id="48" name="Text 42"/>
          <p:cNvSpPr/>
          <p:nvPr/>
        </p:nvSpPr>
        <p:spPr>
          <a:xfrm>
            <a:off x="5314070" y="3581251"/>
            <a:ext cx="6969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Venues by 2027</a:t>
            </a:r>
            <a:endParaRPr lang="en-US" sz="750" dirty="0"/>
          </a:p>
        </p:txBody>
      </p:sp>
      <p:pic>
        <p:nvPicPr>
          <p:cNvPr id="49" name="Image 4" descr="/tmp/rasterized-gradient-a01b0c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375" y="2973586"/>
            <a:ext cx="2066925" cy="88389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7674322" y="3116461"/>
            <a:ext cx="34581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400" dirty="0"/>
          </a:p>
        </p:txBody>
      </p:sp>
      <p:sp>
        <p:nvSpPr>
          <p:cNvPr id="51" name="Text 44"/>
          <p:cNvSpPr/>
          <p:nvPr/>
        </p:nvSpPr>
        <p:spPr>
          <a:xfrm>
            <a:off x="7449601" y="3581251"/>
            <a:ext cx="788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to Unicorn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266700" y="4514850"/>
            <a:ext cx="86106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6"/>
          <p:cNvSpPr/>
          <p:nvPr/>
        </p:nvSpPr>
        <p:spPr>
          <a:xfrm>
            <a:off x="316611" y="4610100"/>
            <a:ext cx="85107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2A900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Sectors:</a:t>
            </a: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NFL (32) → NBA (30) → MLB (30) → MLS (29) → NCAA (1,000+) → Live Nation (394) → Airports → Convention Centers → Federal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fb672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28750" cy="57150"/>
          </a:xfrm>
          <a:prstGeom prst="rect">
            <a:avLst/>
          </a:prstGeom>
        </p:spPr>
      </p:pic>
      <p:pic>
        <p:nvPicPr>
          <p:cNvPr id="3" name="Image 1" descr="/tmp/rasterized-gradient-41954a9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7150" cy="142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66700" y="228600"/>
            <a:ext cx="87828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EQUITY TEAM</a:t>
            </a:r>
            <a:endParaRPr lang="en-US" sz="825" dirty="0"/>
          </a:p>
        </p:txBody>
      </p:sp>
      <p:sp>
        <p:nvSpPr>
          <p:cNvPr id="5" name="Text 1"/>
          <p:cNvSpPr/>
          <p:nvPr/>
        </p:nvSpPr>
        <p:spPr>
          <a:xfrm>
            <a:off x="266700" y="432346"/>
            <a:ext cx="53435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the NFL Should Invest in Sentrais</a:t>
            </a:r>
            <a:endParaRPr lang="en-US" sz="2250" dirty="0"/>
          </a:p>
        </p:txBody>
      </p:sp>
      <p:pic>
        <p:nvPicPr>
          <p:cNvPr id="6" name="Image 2" descr="/tmp/rasterized-gradient-56b55b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" y="1302544"/>
            <a:ext cx="4641503" cy="73312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38150" y="1416844"/>
            <a:ext cx="44234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975" dirty="0"/>
          </a:p>
        </p:txBody>
      </p:sp>
      <p:sp>
        <p:nvSpPr>
          <p:cNvPr id="8" name="Text 3"/>
          <p:cNvSpPr/>
          <p:nvPr/>
        </p:nvSpPr>
        <p:spPr>
          <a:xfrm>
            <a:off x="438150" y="1628180"/>
            <a:ext cx="442343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already the customer. You've validated the product. An investment converts vendor relationship into strategic partnership with upside.</a:t>
            </a:r>
            <a:endParaRPr lang="en-US" sz="825" dirty="0"/>
          </a:p>
        </p:txBody>
      </p:sp>
      <p:pic>
        <p:nvPicPr>
          <p:cNvPr id="9" name="Image 3" descr="/tmp/rasterized-gradient-d96fa3b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" y="2130921"/>
            <a:ext cx="4641503" cy="73312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38150" y="2245221"/>
            <a:ext cx="44234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 Advantage</a:t>
            </a:r>
            <a:endParaRPr lang="en-US" sz="975" dirty="0"/>
          </a:p>
        </p:txBody>
      </p:sp>
      <p:sp>
        <p:nvSpPr>
          <p:cNvPr id="11" name="Text 5"/>
          <p:cNvSpPr/>
          <p:nvPr/>
        </p:nvSpPr>
        <p:spPr>
          <a:xfrm>
            <a:off x="438150" y="2456557"/>
            <a:ext cx="442343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else has built a unified venue intelligence platform with live production validation. The NFL can own a stake in the standard-setter.</a:t>
            </a:r>
            <a:endParaRPr lang="en-US" sz="825" dirty="0"/>
          </a:p>
        </p:txBody>
      </p:sp>
      <p:pic>
        <p:nvPicPr>
          <p:cNvPr id="12" name="Image 4" descr="/tmp/rasterized-gradient-67defc6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700" y="2959298"/>
            <a:ext cx="4641503" cy="73312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38150" y="3073598"/>
            <a:ext cx="44234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Diversified Revenue</a:t>
            </a:r>
            <a:endParaRPr lang="en-US" sz="975" dirty="0"/>
          </a:p>
        </p:txBody>
      </p:sp>
      <p:sp>
        <p:nvSpPr>
          <p:cNvPr id="14" name="Text 7"/>
          <p:cNvSpPr/>
          <p:nvPr/>
        </p:nvSpPr>
        <p:spPr>
          <a:xfrm>
            <a:off x="438150" y="3284934"/>
            <a:ext cx="442343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scales beyond sports: Live Nation (394 venues), FIFA, federal (DHS/FEMA), airports. NFL investment captures multi-sector upside.</a:t>
            </a:r>
            <a:endParaRPr lang="en-US" sz="825" dirty="0"/>
          </a:p>
        </p:txBody>
      </p:sp>
      <p:pic>
        <p:nvPicPr>
          <p:cNvPr id="15" name="Image 5" descr="/tmp/rasterized-gradient-04d8313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700" y="3787676"/>
            <a:ext cx="4641503" cy="73312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38150" y="3901976"/>
            <a:ext cx="44234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De-Risked Entry</a:t>
            </a:r>
            <a:endParaRPr lang="en-US" sz="975" dirty="0"/>
          </a:p>
        </p:txBody>
      </p:sp>
      <p:sp>
        <p:nvSpPr>
          <p:cNvPr id="17" name="Text 9"/>
          <p:cNvSpPr/>
          <p:nvPr/>
        </p:nvSpPr>
        <p:spPr>
          <a:xfrm>
            <a:off x="438150" y="4113312"/>
            <a:ext cx="442343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$6.3M contract proves product-market fit. This isn't a bet on a vision—it's an investment in a validated, revenue-generating platform.</a:t>
            </a:r>
            <a:endParaRPr lang="en-US" sz="825" dirty="0"/>
          </a:p>
        </p:txBody>
      </p:sp>
      <p:sp>
        <p:nvSpPr>
          <p:cNvPr id="18" name="Text 10"/>
          <p:cNvSpPr/>
          <p:nvPr/>
        </p:nvSpPr>
        <p:spPr>
          <a:xfrm>
            <a:off x="5079653" y="1105198"/>
            <a:ext cx="3797647" cy="1649164"/>
          </a:xfrm>
          <a:prstGeom prst="roundRect">
            <a:avLst>
              <a:gd name="adj" fmla="val 5776"/>
            </a:avLst>
          </a:prstGeom>
          <a:solidFill>
            <a:srgbClr val="1A2D4A"/>
          </a:solidFill>
          <a:ln w="9525">
            <a:solidFill>
              <a:srgbClr val="F2A9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1"/>
          <p:cNvSpPr/>
          <p:nvPr/>
        </p:nvSpPr>
        <p:spPr>
          <a:xfrm>
            <a:off x="5222528" y="1248073"/>
            <a:ext cx="35821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STRUCTURE</a:t>
            </a:r>
            <a:endParaRPr lang="en-US" sz="825" dirty="0"/>
          </a:p>
        </p:txBody>
      </p:sp>
      <p:sp>
        <p:nvSpPr>
          <p:cNvPr id="20" name="Shape 12"/>
          <p:cNvSpPr/>
          <p:nvPr/>
        </p:nvSpPr>
        <p:spPr>
          <a:xfrm>
            <a:off x="5222528" y="1725067"/>
            <a:ext cx="351189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/>
          <p:nvPr/>
        </p:nvSpPr>
        <p:spPr>
          <a:xfrm>
            <a:off x="5222528" y="1503164"/>
            <a:ext cx="7169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Target</a:t>
            </a:r>
            <a:endParaRPr lang="en-US" sz="825" dirty="0"/>
          </a:p>
        </p:txBody>
      </p:sp>
      <p:sp>
        <p:nvSpPr>
          <p:cNvPr id="22" name="Text 14"/>
          <p:cNvSpPr/>
          <p:nvPr/>
        </p:nvSpPr>
        <p:spPr>
          <a:xfrm>
            <a:off x="8245673" y="1489918"/>
            <a:ext cx="4985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$12-15M</a:t>
            </a:r>
            <a:endParaRPr lang="en-US" sz="975" dirty="0"/>
          </a:p>
        </p:txBody>
      </p:sp>
      <p:sp>
        <p:nvSpPr>
          <p:cNvPr id="23" name="Shape 15"/>
          <p:cNvSpPr/>
          <p:nvPr/>
        </p:nvSpPr>
        <p:spPr>
          <a:xfrm>
            <a:off x="5222528" y="2041178"/>
            <a:ext cx="351189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6"/>
          <p:cNvSpPr/>
          <p:nvPr/>
        </p:nvSpPr>
        <p:spPr>
          <a:xfrm>
            <a:off x="5222528" y="1819275"/>
            <a:ext cx="9900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Pre-Money Valuation</a:t>
            </a:r>
            <a:endParaRPr lang="en-US" sz="825" dirty="0"/>
          </a:p>
        </p:txBody>
      </p:sp>
      <p:sp>
        <p:nvSpPr>
          <p:cNvPr id="25" name="Text 17"/>
          <p:cNvSpPr/>
          <p:nvPr/>
        </p:nvSpPr>
        <p:spPr>
          <a:xfrm>
            <a:off x="8245673" y="1806029"/>
            <a:ext cx="4985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$50-80M</a:t>
            </a:r>
            <a:endParaRPr lang="en-US" sz="975" dirty="0"/>
          </a:p>
        </p:txBody>
      </p:sp>
      <p:sp>
        <p:nvSpPr>
          <p:cNvPr id="26" name="Shape 18"/>
          <p:cNvSpPr/>
          <p:nvPr/>
        </p:nvSpPr>
        <p:spPr>
          <a:xfrm>
            <a:off x="5222528" y="2357289"/>
            <a:ext cx="351189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5222528" y="2135386"/>
            <a:ext cx="9386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Ownership</a:t>
            </a:r>
            <a:endParaRPr lang="en-US" sz="825" dirty="0"/>
          </a:p>
        </p:txBody>
      </p:sp>
      <p:sp>
        <p:nvSpPr>
          <p:cNvPr id="28" name="Text 20"/>
          <p:cNvSpPr/>
          <p:nvPr/>
        </p:nvSpPr>
        <p:spPr>
          <a:xfrm>
            <a:off x="8414147" y="2122140"/>
            <a:ext cx="32668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51%+</a:t>
            </a:r>
            <a:endParaRPr lang="en-US" sz="975" dirty="0"/>
          </a:p>
        </p:txBody>
      </p:sp>
      <p:sp>
        <p:nvSpPr>
          <p:cNvPr id="29" name="Text 21"/>
          <p:cNvSpPr/>
          <p:nvPr/>
        </p:nvSpPr>
        <p:spPr>
          <a:xfrm>
            <a:off x="5222528" y="2451497"/>
            <a:ext cx="7959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Unicorn Timeline</a:t>
            </a:r>
            <a:endParaRPr lang="en-US" sz="825" dirty="0"/>
          </a:p>
        </p:txBody>
      </p:sp>
      <p:sp>
        <p:nvSpPr>
          <p:cNvPr id="30" name="Text 22"/>
          <p:cNvSpPr/>
          <p:nvPr/>
        </p:nvSpPr>
        <p:spPr>
          <a:xfrm>
            <a:off x="8121997" y="2438251"/>
            <a:ext cx="624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</a:t>
            </a:r>
            <a:endParaRPr lang="en-US" sz="975" dirty="0"/>
          </a:p>
        </p:txBody>
      </p:sp>
      <p:sp>
        <p:nvSpPr>
          <p:cNvPr id="31" name="Text 23"/>
          <p:cNvSpPr/>
          <p:nvPr/>
        </p:nvSpPr>
        <p:spPr>
          <a:xfrm>
            <a:off x="5079653" y="2849612"/>
            <a:ext cx="3797647" cy="1384846"/>
          </a:xfrm>
          <a:prstGeom prst="roundRect">
            <a:avLst>
              <a:gd name="adj" fmla="val 6878"/>
            </a:avLst>
          </a:prstGeom>
          <a:solidFill>
            <a:srgbClr val="0D1A2D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5222528" y="2992487"/>
            <a:ext cx="35821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 INVESTMENT BENEFITS</a:t>
            </a:r>
            <a:endParaRPr lang="en-US" sz="825" dirty="0"/>
          </a:p>
        </p:txBody>
      </p:sp>
      <p:sp>
        <p:nvSpPr>
          <p:cNvPr id="33" name="Text 25"/>
          <p:cNvSpPr/>
          <p:nvPr/>
        </p:nvSpPr>
        <p:spPr>
          <a:xfrm>
            <a:off x="5222528" y="3234333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5470178" y="3253383"/>
            <a:ext cx="12637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observer/advisory seat</a:t>
            </a:r>
            <a:endParaRPr lang="en-US" sz="750" dirty="0"/>
          </a:p>
        </p:txBody>
      </p:sp>
      <p:sp>
        <p:nvSpPr>
          <p:cNvPr id="35" name="Text 27"/>
          <p:cNvSpPr/>
          <p:nvPr/>
        </p:nvSpPr>
        <p:spPr>
          <a:xfrm>
            <a:off x="5222528" y="3462933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5470178" y="3481983"/>
            <a:ext cx="13232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pricing on expansion</a:t>
            </a:r>
            <a:endParaRPr lang="en-US" sz="750" dirty="0"/>
          </a:p>
        </p:txBody>
      </p:sp>
      <p:sp>
        <p:nvSpPr>
          <p:cNvPr id="37" name="Text 29"/>
          <p:cNvSpPr/>
          <p:nvPr/>
        </p:nvSpPr>
        <p:spPr>
          <a:xfrm>
            <a:off x="5222528" y="3691533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5470178" y="3710583"/>
            <a:ext cx="12259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Co-development on features</a:t>
            </a:r>
            <a:endParaRPr lang="en-US" sz="750" dirty="0"/>
          </a:p>
        </p:txBody>
      </p:sp>
      <p:sp>
        <p:nvSpPr>
          <p:cNvPr id="39" name="Text 31"/>
          <p:cNvSpPr/>
          <p:nvPr/>
        </p:nvSpPr>
        <p:spPr>
          <a:xfrm>
            <a:off x="5222528" y="3920133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5470178" y="3939183"/>
            <a:ext cx="13714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 from multi-sector growth</a:t>
            </a:r>
            <a:endParaRPr lang="en-US" sz="750" dirty="0"/>
          </a:p>
        </p:txBody>
      </p:sp>
      <p:pic>
        <p:nvPicPr>
          <p:cNvPr id="41" name="Image 6" descr="/tmp/rasterized-gradient-d490edf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9653" y="4329708"/>
            <a:ext cx="3797647" cy="38859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158262" y="4444008"/>
            <a:ext cx="36404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your vendor into your portfolio company.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a4a92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47245" y="305991"/>
            <a:ext cx="1649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LINE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34452" y="770781"/>
            <a:ext cx="8074947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6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You've Validated the Product. </a:t>
            </a:r>
            <a:r>
              <a:rPr lang="en-US" sz="2550" b="1" dirty="0">
                <a:solidFill>
                  <a:srgbClr val="F2A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 Own the Upside.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1657350" y="1502271"/>
            <a:ext cx="58293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8"/>
              </a:lnSpc>
              <a:spcBef>
                <a:spcPts val="1500"/>
              </a:spcBef>
              <a:buNone/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EVERGAME360 is live. 32 clubs operational. $6.3M contract in production. The NFL chose Sentrais because we delivered when others promised.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1594796" y="2369046"/>
            <a:ext cx="147721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594796" y="2887117"/>
            <a:ext cx="14772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PRODUCTION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400425" y="2485132"/>
            <a:ext cx="19050" cy="4191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743706" y="2369046"/>
            <a:ext cx="190423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743706" y="2887117"/>
            <a:ext cx="19042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MULTI-SECTOR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72175" y="2485132"/>
            <a:ext cx="19050" cy="4191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322121" y="2369046"/>
            <a:ext cx="122445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6322121" y="2887117"/>
            <a:ext cx="1224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DOMINATE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408783" y="3458617"/>
            <a:ext cx="4326434" cy="643682"/>
          </a:xfrm>
          <a:prstGeom prst="roundRect">
            <a:avLst>
              <a:gd name="adj" fmla="val 1479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2A9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686130" y="3601492"/>
            <a:ext cx="37717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Tye Hayes</a:t>
            </a: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Founder &amp; CEO • Service-Disabled U.S. Navy Veteran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2686130" y="3812828"/>
            <a:ext cx="37717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tye@sentrais.com • Atlanta, GA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013208" y="4407098"/>
            <a:ext cx="11174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1200"/>
              </a:spcBef>
              <a:buNone/>
            </a:pPr>
            <a:r>
              <a:rPr lang="en-US" sz="13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6670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THIRD-PARTY VALIDATION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04800" y="45720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Gartner Market Guide Recognition</a:t>
            </a:r>
            <a:endParaRPr lang="en-US" sz="1950" dirty="0"/>
          </a:p>
        </p:txBody>
      </p:sp>
      <p:pic>
        <p:nvPicPr>
          <p:cNvPr id="4" name="Image 0" descr="/tmp/rasterized-gradient-ebad66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12056"/>
            <a:ext cx="4589264" cy="1028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5300" y="1364456"/>
            <a:ext cx="43312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MARKET GUIDE FOR EMNS | DECEMBER 2025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95300" y="1574006"/>
            <a:ext cx="433129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select group of EMNS solution providers are evolving... to become </a:t>
            </a:r>
            <a:r>
              <a:rPr lang="en-US" sz="900" b="1" i="1" dirty="0">
                <a:solidFill>
                  <a:srgbClr val="00D4AA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 management companies</a:t>
            </a: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These vendors are positioning themselves as </a:t>
            </a:r>
            <a:r>
              <a:rPr lang="en-US" sz="900" b="1" i="1" dirty="0">
                <a:solidFill>
                  <a:srgbClr val="F2A900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hubs for emergency preparedness, response, and recovery</a:t>
            </a: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."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04800" y="2355056"/>
            <a:ext cx="4589264" cy="947737"/>
          </a:xfrm>
          <a:prstGeom prst="roundRect">
            <a:avLst>
              <a:gd name="adj" fmla="val 10050"/>
            </a:avLst>
          </a:prstGeom>
          <a:solidFill>
            <a:srgbClr val="00D4AA">
              <a:alpha val="10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47675" y="2497931"/>
            <a:ext cx="43895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ALIGNMENT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47675" y="2688431"/>
            <a:ext cx="438958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is listed as </a:t>
            </a:r>
            <a:r>
              <a:rPr lang="en-US" sz="825" b="1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N-ovate Solutions</a:t>
            </a:r>
            <a:r>
              <a:rPr lang="en-US" sz="8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Gartner's representative vendor table—one of only ~35 vendors selected from 100+ global players in the Emergency and Mass Notification Systems market.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04800" y="3417094"/>
            <a:ext cx="4589264" cy="1181100"/>
          </a:xfrm>
          <a:prstGeom prst="roundRect">
            <a:avLst>
              <a:gd name="adj" fmla="val 8065"/>
            </a:avLst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38150" y="3550444"/>
            <a:ext cx="44090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GARTNER MARKET DIRECTION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38150" y="3807619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71500" y="3759994"/>
            <a:ext cx="19821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preventive and predictive analytics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38150" y="3998119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71500" y="3950494"/>
            <a:ext cx="22246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Cross-ecosystem collaboration with first responders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38150" y="4188619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71500" y="4140994"/>
            <a:ext cx="2282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IoT devices for situational awareness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38150" y="4379119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71500" y="4331494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EMNS as "Operating System for emergency management"</a:t>
            </a:r>
            <a:endParaRPr lang="en-US" sz="750" dirty="0"/>
          </a:p>
        </p:txBody>
      </p:sp>
      <p:pic>
        <p:nvPicPr>
          <p:cNvPr id="20" name="Image 1" descr="/tmp/rasterized-gradient-5ad3e8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564" y="1268016"/>
            <a:ext cx="3754636" cy="147801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27439" y="1410891"/>
            <a:ext cx="35382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GARTNER VALIDATED</a:t>
            </a:r>
            <a:endParaRPr lang="en-US" sz="825" dirty="0"/>
          </a:p>
        </p:txBody>
      </p:sp>
      <p:sp>
        <p:nvSpPr>
          <p:cNvPr id="22" name="Text 18"/>
          <p:cNvSpPr/>
          <p:nvPr/>
        </p:nvSpPr>
        <p:spPr>
          <a:xfrm>
            <a:off x="5227439" y="1633686"/>
            <a:ext cx="35382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 OS Model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5227439" y="1786086"/>
            <a:ext cx="35382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hub for preparedness, response, recovery</a:t>
            </a:r>
            <a:endParaRPr lang="en-US" sz="675" dirty="0"/>
          </a:p>
        </p:txBody>
      </p:sp>
      <p:sp>
        <p:nvSpPr>
          <p:cNvPr id="24" name="Text 20"/>
          <p:cNvSpPr/>
          <p:nvPr/>
        </p:nvSpPr>
        <p:spPr>
          <a:xfrm>
            <a:off x="5227439" y="1982242"/>
            <a:ext cx="35382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Orchestration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5227439" y="2134642"/>
            <a:ext cx="35382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 communication channels from single interface</a:t>
            </a:r>
            <a:endParaRPr lang="en-US" sz="675" dirty="0"/>
          </a:p>
        </p:txBody>
      </p:sp>
      <p:sp>
        <p:nvSpPr>
          <p:cNvPr id="26" name="Text 22"/>
          <p:cNvSpPr/>
          <p:nvPr/>
        </p:nvSpPr>
        <p:spPr>
          <a:xfrm>
            <a:off x="5227439" y="2330797"/>
            <a:ext cx="35382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Operations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5227439" y="2483197"/>
            <a:ext cx="35382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trails, compliance documentation</a:t>
            </a:r>
            <a:endParaRPr lang="en-US" sz="675" dirty="0"/>
          </a:p>
        </p:txBody>
      </p:sp>
      <p:sp>
        <p:nvSpPr>
          <p:cNvPr id="28" name="Text 24"/>
          <p:cNvSpPr/>
          <p:nvPr/>
        </p:nvSpPr>
        <p:spPr>
          <a:xfrm>
            <a:off x="5084564" y="2860328"/>
            <a:ext cx="3754636" cy="1178868"/>
          </a:xfrm>
          <a:prstGeom prst="roundRect">
            <a:avLst>
              <a:gd name="adj" fmla="val 8080"/>
            </a:avLst>
          </a:prstGeom>
          <a:solidFill>
            <a:srgbClr val="0F1D2F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227439" y="3003203"/>
            <a:ext cx="35382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VENDORS</a:t>
            </a:r>
            <a:endParaRPr lang="en-US" sz="825" dirty="0"/>
          </a:p>
        </p:txBody>
      </p:sp>
      <p:sp>
        <p:nvSpPr>
          <p:cNvPr id="30" name="Text 26"/>
          <p:cNvSpPr/>
          <p:nvPr/>
        </p:nvSpPr>
        <p:spPr>
          <a:xfrm>
            <a:off x="5227439" y="3245048"/>
            <a:ext cx="943273" cy="215205"/>
          </a:xfrm>
          <a:prstGeom prst="roundRect">
            <a:avLst>
              <a:gd name="adj" fmla="val 17704"/>
            </a:avLst>
          </a:prstGeom>
          <a:solidFill>
            <a:srgbClr val="F2A900">
              <a:alpha val="20000"/>
            </a:srgbClr>
          </a:solidFill>
          <a:ln w="9525">
            <a:solidFill>
              <a:srgbClr val="F2A9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5332214" y="3292673"/>
            <a:ext cx="74839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N-ovate (Sentrais)</a:t>
            </a:r>
            <a:endParaRPr lang="en-US" sz="675" dirty="0"/>
          </a:p>
        </p:txBody>
      </p:sp>
      <p:sp>
        <p:nvSpPr>
          <p:cNvPr id="32" name="Text 28"/>
          <p:cNvSpPr/>
          <p:nvPr/>
        </p:nvSpPr>
        <p:spPr>
          <a:xfrm>
            <a:off x="6227862" y="3245048"/>
            <a:ext cx="605135" cy="215205"/>
          </a:xfrm>
          <a:prstGeom prst="roundRect">
            <a:avLst>
              <a:gd name="adj" fmla="val 17704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323112" y="3283148"/>
            <a:ext cx="4229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Everbridge</a:t>
            </a:r>
            <a:endParaRPr lang="en-US" sz="675" dirty="0"/>
          </a:p>
        </p:txBody>
      </p:sp>
      <p:sp>
        <p:nvSpPr>
          <p:cNvPr id="34" name="Text 30"/>
          <p:cNvSpPr/>
          <p:nvPr/>
        </p:nvSpPr>
        <p:spPr>
          <a:xfrm>
            <a:off x="6890147" y="3245048"/>
            <a:ext cx="600373" cy="215205"/>
          </a:xfrm>
          <a:prstGeom prst="roundRect">
            <a:avLst>
              <a:gd name="adj" fmla="val 17704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985397" y="3283148"/>
            <a:ext cx="4180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AlertMedia</a:t>
            </a:r>
            <a:endParaRPr lang="en-US" sz="675" dirty="0"/>
          </a:p>
        </p:txBody>
      </p:sp>
      <p:sp>
        <p:nvSpPr>
          <p:cNvPr id="36" name="Text 32"/>
          <p:cNvSpPr/>
          <p:nvPr/>
        </p:nvSpPr>
        <p:spPr>
          <a:xfrm>
            <a:off x="7547670" y="3245048"/>
            <a:ext cx="519410" cy="215205"/>
          </a:xfrm>
          <a:prstGeom prst="roundRect">
            <a:avLst>
              <a:gd name="adj" fmla="val 17704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7642920" y="3283148"/>
            <a:ext cx="3354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OnSolve</a:t>
            </a:r>
            <a:endParaRPr lang="en-US" sz="675" dirty="0"/>
          </a:p>
        </p:txBody>
      </p:sp>
      <p:sp>
        <p:nvSpPr>
          <p:cNvPr id="38" name="Text 34"/>
          <p:cNvSpPr/>
          <p:nvPr/>
        </p:nvSpPr>
        <p:spPr>
          <a:xfrm>
            <a:off x="5227439" y="3517404"/>
            <a:ext cx="595610" cy="196155"/>
          </a:xfrm>
          <a:prstGeom prst="roundRect">
            <a:avLst>
              <a:gd name="adj" fmla="val 1942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5322689" y="3555504"/>
            <a:ext cx="4132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PagerDuty</a:t>
            </a:r>
            <a:endParaRPr lang="en-US" sz="675" dirty="0"/>
          </a:p>
        </p:txBody>
      </p:sp>
      <p:sp>
        <p:nvSpPr>
          <p:cNvPr id="40" name="Text 36"/>
          <p:cNvSpPr/>
          <p:nvPr/>
        </p:nvSpPr>
        <p:spPr>
          <a:xfrm>
            <a:off x="5880199" y="3517404"/>
            <a:ext cx="390674" cy="196155"/>
          </a:xfrm>
          <a:prstGeom prst="roundRect">
            <a:avLst>
              <a:gd name="adj" fmla="val 1942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5975449" y="3555504"/>
            <a:ext cx="20417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Rave</a:t>
            </a:r>
            <a:endParaRPr lang="en-US" sz="675" dirty="0"/>
          </a:p>
        </p:txBody>
      </p:sp>
      <p:sp>
        <p:nvSpPr>
          <p:cNvPr id="42" name="Text 38"/>
          <p:cNvSpPr/>
          <p:nvPr/>
        </p:nvSpPr>
        <p:spPr>
          <a:xfrm>
            <a:off x="5227439" y="3789759"/>
            <a:ext cx="353826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600"/>
              </a:spcBef>
              <a:buNone/>
            </a:pPr>
            <a:r>
              <a:rPr lang="en-US" sz="6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 vendors selected from 100+ global players</a:t>
            </a:r>
            <a:endParaRPr lang="en-US" sz="600" dirty="0"/>
          </a:p>
        </p:txBody>
      </p:sp>
      <p:pic>
        <p:nvPicPr>
          <p:cNvPr id="43" name="Image 2" descr="/tmp/rasterized-gradient-30952c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564" y="4153495"/>
            <a:ext cx="3754636" cy="38859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5163604" y="4267795"/>
            <a:ext cx="35965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validation of Sentrais' market position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6670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MARKET EXPANSION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04800" y="457200"/>
            <a:ext cx="4760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Beyond the NFL: Multi-Vertical Platform</a:t>
            </a:r>
            <a:endParaRPr lang="en-US" sz="1950" dirty="0"/>
          </a:p>
        </p:txBody>
      </p:sp>
      <p:pic>
        <p:nvPicPr>
          <p:cNvPr id="4" name="Image 0" descr="/tmp/rasterized-gradient-6e8ecf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535013"/>
            <a:ext cx="2755850" cy="27211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8150" y="1770162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52177" y="1696938"/>
            <a:ext cx="8324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Events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752177" y="1870174"/>
            <a:ext cx="83249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$75B TAM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38150" y="2357735"/>
            <a:ext cx="2489150" cy="359866"/>
          </a:xfrm>
          <a:prstGeom prst="roundRect">
            <a:avLst>
              <a:gd name="adj" fmla="val 10587"/>
            </a:avLst>
          </a:prstGeom>
          <a:solidFill>
            <a:srgbClr val="F2A90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14350" y="2414885"/>
            <a:ext cx="23834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BUYERS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514350" y="2553891"/>
            <a:ext cx="23834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Nation • AEG • Touring Artists • Venue Operators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38150" y="2774752"/>
            <a:ext cx="2489150" cy="466427"/>
          </a:xfrm>
          <a:prstGeom prst="roundRect">
            <a:avLst>
              <a:gd name="adj" fmla="val 816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14350" y="2831902"/>
            <a:ext cx="23834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PAIN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514350" y="2970907"/>
            <a:ext cx="2383485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Curfew penalties ($75K/15min) • VIP revenue leakage • Operational fragmentation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438150" y="3298329"/>
            <a:ext cx="2489150" cy="466427"/>
          </a:xfrm>
          <a:prstGeom prst="roundRect">
            <a:avLst>
              <a:gd name="adj" fmla="val 8168"/>
            </a:avLst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14350" y="3355479"/>
            <a:ext cx="23834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ADVANTAGE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514350" y="3494484"/>
            <a:ext cx="2383485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 model proven • Production manager network • Tour intelligence blueprints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438150" y="3921919"/>
            <a:ext cx="24891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38150" y="4002881"/>
            <a:ext cx="253893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$250K+ per major tour</a:t>
            </a:r>
            <a:endParaRPr lang="en-US" sz="675" dirty="0"/>
          </a:p>
        </p:txBody>
      </p:sp>
      <p:pic>
        <p:nvPicPr>
          <p:cNvPr id="19" name="Image 1" descr="/tmp/rasterized-gradient-ea5705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4000" y="1588294"/>
            <a:ext cx="2755850" cy="261461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27350" y="1823442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641378" y="1750219"/>
            <a:ext cx="10318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Security</a:t>
            </a:r>
            <a:endParaRPr lang="en-US" sz="975" dirty="0"/>
          </a:p>
        </p:txBody>
      </p:sp>
      <p:sp>
        <p:nvSpPr>
          <p:cNvPr id="22" name="Text 18"/>
          <p:cNvSpPr/>
          <p:nvPr/>
        </p:nvSpPr>
        <p:spPr>
          <a:xfrm>
            <a:off x="3641378" y="1923455"/>
            <a:ext cx="10318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$85B TAM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3327350" y="2411016"/>
            <a:ext cx="2489150" cy="359866"/>
          </a:xfrm>
          <a:prstGeom prst="roundRect">
            <a:avLst>
              <a:gd name="adj" fmla="val 10587"/>
            </a:avLst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403550" y="2468166"/>
            <a:ext cx="23834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BUYERS</a:t>
            </a:r>
            <a:endParaRPr lang="en-US" sz="675" dirty="0"/>
          </a:p>
        </p:txBody>
      </p:sp>
      <p:sp>
        <p:nvSpPr>
          <p:cNvPr id="25" name="Text 21"/>
          <p:cNvSpPr/>
          <p:nvPr/>
        </p:nvSpPr>
        <p:spPr>
          <a:xfrm>
            <a:off x="3403550" y="2607171"/>
            <a:ext cx="23834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DHS/FEMA • TSA/Aviation • CISA • State EMAs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3327350" y="2828032"/>
            <a:ext cx="2489150" cy="466427"/>
          </a:xfrm>
          <a:prstGeom prst="roundRect">
            <a:avLst>
              <a:gd name="adj" fmla="val 816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3403550" y="2885182"/>
            <a:ext cx="23834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DRIVERS</a:t>
            </a:r>
            <a:endParaRPr lang="en-US" sz="675" dirty="0"/>
          </a:p>
        </p:txBody>
      </p:sp>
      <p:sp>
        <p:nvSpPr>
          <p:cNvPr id="28" name="Text 24"/>
          <p:cNvSpPr/>
          <p:nvPr/>
        </p:nvSpPr>
        <p:spPr>
          <a:xfrm>
            <a:off x="3403550" y="3024188"/>
            <a:ext cx="2383485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ICS/NIMS modernization • Multi-agency coordination • Cyber-physical fusion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3327350" y="3351609"/>
            <a:ext cx="2489150" cy="359866"/>
          </a:xfrm>
          <a:prstGeom prst="roundRect">
            <a:avLst>
              <a:gd name="adj" fmla="val 10587"/>
            </a:avLst>
          </a:prstGeom>
          <a:solidFill>
            <a:srgbClr val="F2A90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3403550" y="3408759"/>
            <a:ext cx="23834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ADVANTAGE</a:t>
            </a:r>
            <a:endParaRPr lang="en-US" sz="675" dirty="0"/>
          </a:p>
        </p:txBody>
      </p:sp>
      <p:sp>
        <p:nvSpPr>
          <p:cNvPr id="31" name="Text 27"/>
          <p:cNvSpPr/>
          <p:nvPr/>
        </p:nvSpPr>
        <p:spPr>
          <a:xfrm>
            <a:off x="3403550" y="3547765"/>
            <a:ext cx="23834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SDVOSB status • Atlanta crisis command • NCICC model proven</a:t>
            </a:r>
            <a:endParaRPr lang="en-US" sz="600" dirty="0"/>
          </a:p>
        </p:txBody>
      </p:sp>
      <p:sp>
        <p:nvSpPr>
          <p:cNvPr id="32" name="Shape 28"/>
          <p:cNvSpPr/>
          <p:nvPr/>
        </p:nvSpPr>
        <p:spPr>
          <a:xfrm>
            <a:off x="3327350" y="3868638"/>
            <a:ext cx="24891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3327350" y="3949601"/>
            <a:ext cx="253893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$5.1M per DHS enterprise contract</a:t>
            </a:r>
            <a:endParaRPr lang="en-US" sz="675" dirty="0"/>
          </a:p>
        </p:txBody>
      </p:sp>
      <p:pic>
        <p:nvPicPr>
          <p:cNvPr id="34" name="Image 2" descr="/tmp/rasterized-gradient-4bc7af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3201" y="1588294"/>
            <a:ext cx="2755850" cy="2614613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216551" y="1823442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1500" dirty="0"/>
          </a:p>
        </p:txBody>
      </p:sp>
      <p:sp>
        <p:nvSpPr>
          <p:cNvPr id="36" name="Text 31"/>
          <p:cNvSpPr/>
          <p:nvPr/>
        </p:nvSpPr>
        <p:spPr>
          <a:xfrm>
            <a:off x="6530578" y="1750219"/>
            <a:ext cx="12844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Infrastructure</a:t>
            </a:r>
            <a:endParaRPr lang="en-US" sz="975" dirty="0"/>
          </a:p>
        </p:txBody>
      </p:sp>
      <p:sp>
        <p:nvSpPr>
          <p:cNvPr id="37" name="Text 32"/>
          <p:cNvSpPr/>
          <p:nvPr/>
        </p:nvSpPr>
        <p:spPr>
          <a:xfrm>
            <a:off x="6530578" y="1923455"/>
            <a:ext cx="128441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$20B TAM</a:t>
            </a:r>
            <a:endParaRPr lang="en-US" sz="1350" dirty="0"/>
          </a:p>
        </p:txBody>
      </p:sp>
      <p:sp>
        <p:nvSpPr>
          <p:cNvPr id="38" name="Text 33"/>
          <p:cNvSpPr/>
          <p:nvPr/>
        </p:nvSpPr>
        <p:spPr>
          <a:xfrm>
            <a:off x="6216551" y="2411016"/>
            <a:ext cx="2489150" cy="359866"/>
          </a:xfrm>
          <a:prstGeom prst="roundRect">
            <a:avLst>
              <a:gd name="adj" fmla="val 10587"/>
            </a:avLst>
          </a:prstGeom>
          <a:solidFill>
            <a:srgbClr val="3498DB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6292751" y="2468166"/>
            <a:ext cx="23834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BUYERS</a:t>
            </a:r>
            <a:endParaRPr lang="en-US" sz="675" dirty="0"/>
          </a:p>
        </p:txBody>
      </p:sp>
      <p:sp>
        <p:nvSpPr>
          <p:cNvPr id="40" name="Text 35"/>
          <p:cNvSpPr/>
          <p:nvPr/>
        </p:nvSpPr>
        <p:spPr>
          <a:xfrm>
            <a:off x="6292751" y="2607171"/>
            <a:ext cx="23834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Airports • Host Cities • Transit • Convention Centers</a:t>
            </a:r>
            <a:endParaRPr lang="en-US" sz="600" dirty="0"/>
          </a:p>
        </p:txBody>
      </p:sp>
      <p:sp>
        <p:nvSpPr>
          <p:cNvPr id="41" name="Text 36"/>
          <p:cNvSpPr/>
          <p:nvPr/>
        </p:nvSpPr>
        <p:spPr>
          <a:xfrm>
            <a:off x="6216551" y="2828032"/>
            <a:ext cx="2489150" cy="466427"/>
          </a:xfrm>
          <a:prstGeom prst="roundRect">
            <a:avLst>
              <a:gd name="adj" fmla="val 8168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6292751" y="2885182"/>
            <a:ext cx="23834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DYNAMICS</a:t>
            </a:r>
            <a:endParaRPr lang="en-US" sz="675" dirty="0"/>
          </a:p>
        </p:txBody>
      </p:sp>
      <p:sp>
        <p:nvSpPr>
          <p:cNvPr id="43" name="Text 38"/>
          <p:cNvSpPr/>
          <p:nvPr/>
        </p:nvSpPr>
        <p:spPr>
          <a:xfrm>
            <a:off x="6292751" y="3024188"/>
            <a:ext cx="2383485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Cyber-physical convergence • Resilience mandates • Climate adaptation</a:t>
            </a:r>
            <a:endParaRPr lang="en-US" sz="600" dirty="0"/>
          </a:p>
        </p:txBody>
      </p:sp>
      <p:sp>
        <p:nvSpPr>
          <p:cNvPr id="44" name="Text 39"/>
          <p:cNvSpPr/>
          <p:nvPr/>
        </p:nvSpPr>
        <p:spPr>
          <a:xfrm>
            <a:off x="6216551" y="3351609"/>
            <a:ext cx="2489150" cy="359866"/>
          </a:xfrm>
          <a:prstGeom prst="roundRect">
            <a:avLst>
              <a:gd name="adj" fmla="val 10587"/>
            </a:avLst>
          </a:prstGeom>
          <a:solidFill>
            <a:srgbClr val="00D4AA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6292751" y="3408759"/>
            <a:ext cx="23834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ADVANTAGE</a:t>
            </a:r>
            <a:endParaRPr lang="en-US" sz="675" dirty="0"/>
          </a:p>
        </p:txBody>
      </p:sp>
      <p:sp>
        <p:nvSpPr>
          <p:cNvPr id="46" name="Text 41"/>
          <p:cNvSpPr/>
          <p:nvPr/>
        </p:nvSpPr>
        <p:spPr>
          <a:xfrm>
            <a:off x="6292751" y="3547765"/>
            <a:ext cx="23834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World's largest airport (ATL) • 16 World Cup cities • NCICC blueprint</a:t>
            </a:r>
            <a:endParaRPr lang="en-US" sz="600" dirty="0"/>
          </a:p>
        </p:txBody>
      </p:sp>
      <p:sp>
        <p:nvSpPr>
          <p:cNvPr id="47" name="Shape 42"/>
          <p:cNvSpPr/>
          <p:nvPr/>
        </p:nvSpPr>
        <p:spPr>
          <a:xfrm>
            <a:off x="6216551" y="3868638"/>
            <a:ext cx="24891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6216551" y="3949601"/>
            <a:ext cx="253893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$4.2M per airport deployment</a:t>
            </a:r>
            <a:endParaRPr lang="en-US" sz="675" dirty="0"/>
          </a:p>
        </p:txBody>
      </p:sp>
      <p:sp>
        <p:nvSpPr>
          <p:cNvPr id="49" name="Text 44"/>
          <p:cNvSpPr/>
          <p:nvPr/>
        </p:nvSpPr>
        <p:spPr>
          <a:xfrm>
            <a:off x="298073" y="4389239"/>
            <a:ext cx="6861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$180B+</a:t>
            </a:r>
            <a:endParaRPr lang="en-US" sz="1500" dirty="0"/>
          </a:p>
        </p:txBody>
      </p:sp>
      <p:sp>
        <p:nvSpPr>
          <p:cNvPr id="50" name="Text 45"/>
          <p:cNvSpPr/>
          <p:nvPr/>
        </p:nvSpPr>
        <p:spPr>
          <a:xfrm>
            <a:off x="298073" y="4655939"/>
            <a:ext cx="68615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TAM</a:t>
            </a:r>
            <a:endParaRPr lang="en-US" sz="600" dirty="0"/>
          </a:p>
        </p:txBody>
      </p:sp>
      <p:sp>
        <p:nvSpPr>
          <p:cNvPr id="51" name="Text 46"/>
          <p:cNvSpPr/>
          <p:nvPr/>
        </p:nvSpPr>
        <p:spPr>
          <a:xfrm>
            <a:off x="1129903" y="4442520"/>
            <a:ext cx="9525" cy="2667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7"/>
          <p:cNvSpPr/>
          <p:nvPr/>
        </p:nvSpPr>
        <p:spPr>
          <a:xfrm>
            <a:off x="1287735" y="4389239"/>
            <a:ext cx="417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3" name="Text 48"/>
          <p:cNvSpPr/>
          <p:nvPr/>
        </p:nvSpPr>
        <p:spPr>
          <a:xfrm>
            <a:off x="1287735" y="4655939"/>
            <a:ext cx="41746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600" dirty="0"/>
          </a:p>
        </p:txBody>
      </p:sp>
      <p:sp>
        <p:nvSpPr>
          <p:cNvPr id="54" name="Text 49"/>
          <p:cNvSpPr/>
          <p:nvPr/>
        </p:nvSpPr>
        <p:spPr>
          <a:xfrm>
            <a:off x="7000429" y="4509195"/>
            <a:ext cx="18755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 anchor validates. Other verticals scale.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6670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STRATEGIC TIMING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04800" y="45720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Mega-Event Catalysts: 2026–2029</a:t>
            </a:r>
            <a:endParaRPr lang="en-US" sz="1950" dirty="0"/>
          </a:p>
        </p:txBody>
      </p:sp>
      <p:pic>
        <p:nvPicPr>
          <p:cNvPr id="4" name="Image 0" descr="/tmp/rasterized-gradient-cabedf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356717"/>
            <a:ext cx="2768650" cy="11636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7675" y="1499592"/>
            <a:ext cx="12523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FIFA WORLD CUP 2026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447675" y="1651992"/>
            <a:ext cx="12523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 Host City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692747" y="1499592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⚽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47675" y="1941463"/>
            <a:ext cx="8406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 Grant Program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2668339" y="1941463"/>
            <a:ext cx="2674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$625M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447675" y="2099518"/>
            <a:ext cx="4227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Cities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2592139" y="2099518"/>
            <a:ext cx="3452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cities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447675" y="2257574"/>
            <a:ext cx="7728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Positioning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2117527" y="2257574"/>
            <a:ext cx="82930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subgrant</a:t>
            </a:r>
            <a:endParaRPr lang="en-US" sz="675" dirty="0"/>
          </a:p>
        </p:txBody>
      </p:sp>
      <p:pic>
        <p:nvPicPr>
          <p:cNvPr id="14" name="Image 1" descr="/tmp/rasterized-gradient-8bfe0d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750" y="1356717"/>
            <a:ext cx="2768650" cy="116368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0625" y="1499592"/>
            <a:ext cx="9501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OLYMPICS 2028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3330625" y="1651992"/>
            <a:ext cx="95014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Stage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575697" y="1499592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🏅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330625" y="1941463"/>
            <a:ext cx="89443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Security Level</a:t>
            </a:r>
            <a:endParaRPr lang="en-US" sz="675" dirty="0"/>
          </a:p>
        </p:txBody>
      </p:sp>
      <p:sp>
        <p:nvSpPr>
          <p:cNvPr id="19" name="Text 15"/>
          <p:cNvSpPr/>
          <p:nvPr/>
        </p:nvSpPr>
        <p:spPr>
          <a:xfrm>
            <a:off x="5499050" y="1941463"/>
            <a:ext cx="32076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SEAR-1</a:t>
            </a:r>
            <a:endParaRPr lang="en-US" sz="675" dirty="0"/>
          </a:p>
        </p:txBody>
      </p:sp>
      <p:sp>
        <p:nvSpPr>
          <p:cNvPr id="20" name="Text 16"/>
          <p:cNvSpPr/>
          <p:nvPr/>
        </p:nvSpPr>
        <p:spPr>
          <a:xfrm>
            <a:off x="3330625" y="2099518"/>
            <a:ext cx="9185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Multi-Venue Complexity</a:t>
            </a:r>
            <a:endParaRPr lang="en-US" sz="675" dirty="0"/>
          </a:p>
        </p:txBody>
      </p:sp>
      <p:sp>
        <p:nvSpPr>
          <p:cNvPr id="21" name="Text 17"/>
          <p:cNvSpPr/>
          <p:nvPr/>
        </p:nvSpPr>
        <p:spPr>
          <a:xfrm>
            <a:off x="5348734" y="2099518"/>
            <a:ext cx="4740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venues</a:t>
            </a:r>
            <a:endParaRPr lang="en-US" sz="675" dirty="0"/>
          </a:p>
        </p:txBody>
      </p:sp>
      <p:sp>
        <p:nvSpPr>
          <p:cNvPr id="22" name="Text 18"/>
          <p:cNvSpPr/>
          <p:nvPr/>
        </p:nvSpPr>
        <p:spPr>
          <a:xfrm>
            <a:off x="3330625" y="2257574"/>
            <a:ext cx="5393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NCICC Model</a:t>
            </a:r>
            <a:endParaRPr lang="en-US" sz="675" dirty="0"/>
          </a:p>
        </p:txBody>
      </p:sp>
      <p:sp>
        <p:nvSpPr>
          <p:cNvPr id="23" name="Text 19"/>
          <p:cNvSpPr/>
          <p:nvPr/>
        </p:nvSpPr>
        <p:spPr>
          <a:xfrm>
            <a:off x="5236815" y="2257574"/>
            <a:ext cx="5882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Olympic scale</a:t>
            </a:r>
            <a:endParaRPr lang="en-US" sz="675" dirty="0"/>
          </a:p>
        </p:txBody>
      </p:sp>
      <p:pic>
        <p:nvPicPr>
          <p:cNvPr id="24" name="Image 2" descr="/tmp/rasterized-gradient-9a4434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0699" y="1356717"/>
            <a:ext cx="2768650" cy="116368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13574" y="1499592"/>
            <a:ext cx="1157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BOWL 2029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6213574" y="1651992"/>
            <a:ext cx="115735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15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 Returns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458646" y="1499592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🏈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213574" y="1941463"/>
            <a:ext cx="7112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 Legacy Grant</a:t>
            </a:r>
            <a:endParaRPr lang="en-US" sz="675" dirty="0"/>
          </a:p>
        </p:txBody>
      </p:sp>
      <p:sp>
        <p:nvSpPr>
          <p:cNvPr id="29" name="Text 24"/>
          <p:cNvSpPr/>
          <p:nvPr/>
        </p:nvSpPr>
        <p:spPr>
          <a:xfrm>
            <a:off x="8258175" y="1941463"/>
            <a:ext cx="4470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Positioned</a:t>
            </a:r>
            <a:endParaRPr lang="en-US" sz="675" dirty="0"/>
          </a:p>
        </p:txBody>
      </p:sp>
      <p:sp>
        <p:nvSpPr>
          <p:cNvPr id="30" name="Text 25"/>
          <p:cNvSpPr/>
          <p:nvPr/>
        </p:nvSpPr>
        <p:spPr>
          <a:xfrm>
            <a:off x="6213574" y="2099518"/>
            <a:ext cx="7456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Tye's Track Record</a:t>
            </a:r>
            <a:endParaRPr lang="en-US" sz="675" dirty="0"/>
          </a:p>
        </p:txBody>
      </p:sp>
      <p:sp>
        <p:nvSpPr>
          <p:cNvPr id="31" name="Text 26"/>
          <p:cNvSpPr/>
          <p:nvPr/>
        </p:nvSpPr>
        <p:spPr>
          <a:xfrm>
            <a:off x="8029426" y="2099518"/>
            <a:ext cx="6803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 LIII delivered</a:t>
            </a:r>
            <a:endParaRPr lang="en-US" sz="675" dirty="0"/>
          </a:p>
        </p:txBody>
      </p:sp>
      <p:sp>
        <p:nvSpPr>
          <p:cNvPr id="32" name="Text 27"/>
          <p:cNvSpPr/>
          <p:nvPr/>
        </p:nvSpPr>
        <p:spPr>
          <a:xfrm>
            <a:off x="6213574" y="2257574"/>
            <a:ext cx="9282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EVERGAME Expansion</a:t>
            </a:r>
            <a:endParaRPr lang="en-US" sz="675" dirty="0"/>
          </a:p>
        </p:txBody>
      </p:sp>
      <p:sp>
        <p:nvSpPr>
          <p:cNvPr id="33" name="Text 28"/>
          <p:cNvSpPr/>
          <p:nvPr/>
        </p:nvSpPr>
        <p:spPr>
          <a:xfrm>
            <a:off x="7967662" y="2257574"/>
            <a:ext cx="7433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eVenu deploy</a:t>
            </a:r>
            <a:endParaRPr lang="en-US" sz="675" dirty="0"/>
          </a:p>
        </p:txBody>
      </p:sp>
      <p:sp>
        <p:nvSpPr>
          <p:cNvPr id="34" name="Text 29"/>
          <p:cNvSpPr/>
          <p:nvPr/>
        </p:nvSpPr>
        <p:spPr>
          <a:xfrm>
            <a:off x="304800" y="2634704"/>
            <a:ext cx="8534400" cy="1110407"/>
          </a:xfrm>
          <a:prstGeom prst="roundRect">
            <a:avLst>
              <a:gd name="adj" fmla="val 10294"/>
            </a:avLst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438150" y="2768054"/>
            <a:ext cx="8433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CONVERGING MARKET FORCES</a:t>
            </a:r>
            <a:endParaRPr lang="en-US" sz="825" dirty="0"/>
          </a:p>
        </p:txBody>
      </p:sp>
      <p:sp>
        <p:nvSpPr>
          <p:cNvPr id="36" name="Text 31"/>
          <p:cNvSpPr/>
          <p:nvPr/>
        </p:nvSpPr>
        <p:spPr>
          <a:xfrm>
            <a:off x="438150" y="3009900"/>
            <a:ext cx="1981200" cy="601861"/>
          </a:xfrm>
          <a:prstGeom prst="roundRect">
            <a:avLst>
              <a:gd name="adj" fmla="val 1266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533400" y="3105150"/>
            <a:ext cx="1826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Threat Escalation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533400" y="3276600"/>
            <a:ext cx="18265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Nation-state attacks on critical infrastructure. AI-powered threats. Cities unprepared.</a:t>
            </a:r>
            <a:endParaRPr lang="en-US" sz="675" dirty="0"/>
          </a:p>
        </p:txBody>
      </p:sp>
      <p:sp>
        <p:nvSpPr>
          <p:cNvPr id="39" name="Text 34"/>
          <p:cNvSpPr/>
          <p:nvPr/>
        </p:nvSpPr>
        <p:spPr>
          <a:xfrm>
            <a:off x="2533650" y="3009900"/>
            <a:ext cx="1981200" cy="601861"/>
          </a:xfrm>
          <a:prstGeom prst="roundRect">
            <a:avLst>
              <a:gd name="adj" fmla="val 1266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2628900" y="3105150"/>
            <a:ext cx="1826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Mandate Pressure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2628900" y="3276600"/>
            <a:ext cx="18265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CISA requirements. Zero Trust mandates. Infrastructure resilience standards.</a:t>
            </a:r>
            <a:endParaRPr lang="en-US" sz="675" dirty="0"/>
          </a:p>
        </p:txBody>
      </p:sp>
      <p:sp>
        <p:nvSpPr>
          <p:cNvPr id="42" name="Text 37"/>
          <p:cNvSpPr/>
          <p:nvPr/>
        </p:nvSpPr>
        <p:spPr>
          <a:xfrm>
            <a:off x="4629150" y="3009900"/>
            <a:ext cx="1981200" cy="601861"/>
          </a:xfrm>
          <a:prstGeom prst="roundRect">
            <a:avLst>
              <a:gd name="adj" fmla="val 1266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4724400" y="3105150"/>
            <a:ext cx="1826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Fragmentation</a:t>
            </a:r>
            <a:endParaRPr lang="en-US" sz="750" dirty="0"/>
          </a:p>
        </p:txBody>
      </p:sp>
      <p:sp>
        <p:nvSpPr>
          <p:cNvPr id="44" name="Text 39"/>
          <p:cNvSpPr/>
          <p:nvPr/>
        </p:nvSpPr>
        <p:spPr>
          <a:xfrm>
            <a:off x="4724400" y="3276600"/>
            <a:ext cx="18265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systems. Siloed data. No unified intelligence layer for complex operations.</a:t>
            </a:r>
            <a:endParaRPr lang="en-US" sz="675" dirty="0"/>
          </a:p>
        </p:txBody>
      </p:sp>
      <p:sp>
        <p:nvSpPr>
          <p:cNvPr id="45" name="Text 40"/>
          <p:cNvSpPr/>
          <p:nvPr/>
        </p:nvSpPr>
        <p:spPr>
          <a:xfrm>
            <a:off x="6724650" y="3009900"/>
            <a:ext cx="1981200" cy="601861"/>
          </a:xfrm>
          <a:prstGeom prst="roundRect">
            <a:avLst>
              <a:gd name="adj" fmla="val 12661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6819900" y="3105150"/>
            <a:ext cx="1826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 Gap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6819900" y="3276600"/>
            <a:ext cx="18265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need AI. Few know how to deploy responsibly in mission-critical settings.</a:t>
            </a:r>
            <a:endParaRPr lang="en-US" sz="675" dirty="0"/>
          </a:p>
        </p:txBody>
      </p:sp>
      <p:sp>
        <p:nvSpPr>
          <p:cNvPr id="48" name="Text 43"/>
          <p:cNvSpPr/>
          <p:nvPr/>
        </p:nvSpPr>
        <p:spPr>
          <a:xfrm>
            <a:off x="304800" y="3859411"/>
            <a:ext cx="2768650" cy="575072"/>
          </a:xfrm>
          <a:prstGeom prst="roundRect">
            <a:avLst>
              <a:gd name="adj" fmla="val 13251"/>
            </a:avLst>
          </a:prstGeom>
          <a:solidFill>
            <a:srgbClr val="F2A900">
              <a:alpha val="10000"/>
            </a:srgbClr>
          </a:solidFill>
          <a:ln w="9525">
            <a:solidFill>
              <a:srgbClr val="F2A9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383984" y="3964186"/>
            <a:ext cx="261028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350" dirty="0"/>
          </a:p>
        </p:txBody>
      </p:sp>
      <p:sp>
        <p:nvSpPr>
          <p:cNvPr id="50" name="Text 45"/>
          <p:cNvSpPr/>
          <p:nvPr/>
        </p:nvSpPr>
        <p:spPr>
          <a:xfrm>
            <a:off x="383984" y="4223147"/>
            <a:ext cx="26102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Grant Funding</a:t>
            </a:r>
            <a:endParaRPr lang="en-US" sz="600" dirty="0"/>
          </a:p>
        </p:txBody>
      </p:sp>
      <p:sp>
        <p:nvSpPr>
          <p:cNvPr id="51" name="Text 46"/>
          <p:cNvSpPr/>
          <p:nvPr/>
        </p:nvSpPr>
        <p:spPr>
          <a:xfrm>
            <a:off x="3187750" y="3859411"/>
            <a:ext cx="2768650" cy="575072"/>
          </a:xfrm>
          <a:prstGeom prst="roundRect">
            <a:avLst>
              <a:gd name="adj" fmla="val 13251"/>
            </a:avLst>
          </a:prstGeom>
          <a:solidFill>
            <a:srgbClr val="00D4AA">
              <a:alpha val="10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7"/>
          <p:cNvSpPr/>
          <p:nvPr/>
        </p:nvSpPr>
        <p:spPr>
          <a:xfrm>
            <a:off x="3266934" y="3964186"/>
            <a:ext cx="261028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SDVOSB</a:t>
            </a:r>
            <a:endParaRPr lang="en-US" sz="1350" dirty="0"/>
          </a:p>
        </p:txBody>
      </p:sp>
      <p:sp>
        <p:nvSpPr>
          <p:cNvPr id="53" name="Text 48"/>
          <p:cNvSpPr/>
          <p:nvPr/>
        </p:nvSpPr>
        <p:spPr>
          <a:xfrm>
            <a:off x="3266934" y="4223147"/>
            <a:ext cx="26102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Set-Aside Advantage</a:t>
            </a:r>
            <a:endParaRPr lang="en-US" sz="600" dirty="0"/>
          </a:p>
        </p:txBody>
      </p:sp>
      <p:sp>
        <p:nvSpPr>
          <p:cNvPr id="54" name="Text 49"/>
          <p:cNvSpPr/>
          <p:nvPr/>
        </p:nvSpPr>
        <p:spPr>
          <a:xfrm>
            <a:off x="6070699" y="3859411"/>
            <a:ext cx="2768650" cy="575072"/>
          </a:xfrm>
          <a:prstGeom prst="roundRect">
            <a:avLst>
              <a:gd name="adj" fmla="val 1325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0"/>
          <p:cNvSpPr/>
          <p:nvPr/>
        </p:nvSpPr>
        <p:spPr>
          <a:xfrm>
            <a:off x="6149883" y="3964186"/>
            <a:ext cx="261028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Mover</a:t>
            </a:r>
            <a:endParaRPr lang="en-US" sz="1350" dirty="0"/>
          </a:p>
        </p:txBody>
      </p:sp>
      <p:sp>
        <p:nvSpPr>
          <p:cNvPr id="56" name="Text 51"/>
          <p:cNvSpPr/>
          <p:nvPr/>
        </p:nvSpPr>
        <p:spPr>
          <a:xfrm>
            <a:off x="6149883" y="4223147"/>
            <a:ext cx="261028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to Define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6670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PLATFORM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04800" y="457200"/>
            <a:ext cx="49160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Sentrais OS: Dual Orchestration Engines</a:t>
            </a:r>
            <a:endParaRPr lang="en-US" sz="1950" dirty="0"/>
          </a:p>
        </p:txBody>
      </p:sp>
      <p:pic>
        <p:nvPicPr>
          <p:cNvPr id="4" name="Image 0" descr="/tmp/rasterized-gradient-f2d40e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80517"/>
            <a:ext cx="3448050" cy="803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8625" y="1404342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8840" y="1430982"/>
            <a:ext cx="20303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 ORCHESTRATION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28625" y="1720453"/>
            <a:ext cx="326440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Synchronizing preparedness, live operations, and learning into unified, certifiable practice.</a:t>
            </a:r>
            <a:endParaRPr lang="en-US" sz="675" dirty="0"/>
          </a:p>
        </p:txBody>
      </p:sp>
      <p:sp>
        <p:nvSpPr>
          <p:cNvPr id="8" name="Text 5"/>
          <p:cNvSpPr/>
          <p:nvPr/>
        </p:nvSpPr>
        <p:spPr>
          <a:xfrm>
            <a:off x="304800" y="2160389"/>
            <a:ext cx="3448050" cy="525661"/>
          </a:xfrm>
          <a:prstGeom prst="roundRect">
            <a:avLst>
              <a:gd name="adj" fmla="val 14496"/>
            </a:avLst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319088" y="2160389"/>
            <a:ext cx="0" cy="525661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8625" y="2255639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97384" y="2284214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95325" y="2277517"/>
            <a:ext cx="14785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&amp; COMPLIANCE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28625" y="2484239"/>
            <a:ext cx="3293555" cy="106561"/>
          </a:xfrm>
          <a:prstGeom prst="rect">
            <a:avLst/>
          </a:prstGeom>
          <a:noFill/>
          <a:ln/>
        </p:spPr>
        <p:txBody>
          <a:bodyPr wrap="square" lIns="26670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blueprints • Certification pre-checks • Digital simulations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304800" y="2762250"/>
            <a:ext cx="3448050" cy="525661"/>
          </a:xfrm>
          <a:prstGeom prst="roundRect">
            <a:avLst>
              <a:gd name="adj" fmla="val 14496"/>
            </a:avLst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19088" y="2762250"/>
            <a:ext cx="0" cy="525661"/>
          </a:xfrm>
          <a:prstGeom prst="line">
            <a:avLst/>
          </a:prstGeom>
          <a:noFill/>
          <a:ln w="28575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8625" y="285750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97384" y="2886075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95325" y="2879378"/>
            <a:ext cx="965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OPERATIONS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28625" y="3086100"/>
            <a:ext cx="3293555" cy="106561"/>
          </a:xfrm>
          <a:prstGeom prst="rect">
            <a:avLst/>
          </a:prstGeom>
          <a:noFill/>
          <a:ln/>
        </p:spPr>
        <p:txBody>
          <a:bodyPr wrap="square" lIns="26670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playbook • Real-time response • Multi-agency COP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304800" y="3364111"/>
            <a:ext cx="3448050" cy="525661"/>
          </a:xfrm>
          <a:prstGeom prst="roundRect">
            <a:avLst>
              <a:gd name="adj" fmla="val 14496"/>
            </a:avLst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319088" y="3364111"/>
            <a:ext cx="0" cy="525661"/>
          </a:xfrm>
          <a:prstGeom prst="line">
            <a:avLst/>
          </a:prstGeom>
          <a:noFill/>
          <a:ln w="28575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28625" y="3459361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97384" y="3487936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95325" y="3481239"/>
            <a:ext cx="13893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AFTER-ACTION LEARNING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28625" y="3687961"/>
            <a:ext cx="3293555" cy="106561"/>
          </a:xfrm>
          <a:prstGeom prst="rect">
            <a:avLst/>
          </a:prstGeom>
          <a:noFill/>
          <a:ln/>
        </p:spPr>
        <p:txBody>
          <a:bodyPr wrap="square" lIns="26670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ledger • Auto-generated analytics • Benchmarking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304800" y="3965972"/>
            <a:ext cx="3448050" cy="525661"/>
          </a:xfrm>
          <a:prstGeom prst="roundRect">
            <a:avLst>
              <a:gd name="adj" fmla="val 14496"/>
            </a:avLst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319088" y="3965972"/>
            <a:ext cx="0" cy="525661"/>
          </a:xfrm>
          <a:prstGeom prst="line">
            <a:avLst/>
          </a:prstGeom>
          <a:noFill/>
          <a:ln w="2857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28625" y="4061222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97384" y="4089797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95325" y="4083100"/>
            <a:ext cx="14882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&amp; RENEWAL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28625" y="4289822"/>
            <a:ext cx="3293555" cy="106561"/>
          </a:xfrm>
          <a:prstGeom prst="rect">
            <a:avLst/>
          </a:prstGeom>
          <a:noFill/>
          <a:ln/>
        </p:spPr>
        <p:txBody>
          <a:bodyPr wrap="square" lIns="26670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scores • Insurance alignment • Continuous updates</a:t>
            </a:r>
            <a:endParaRPr lang="en-US" sz="600" dirty="0"/>
          </a:p>
        </p:txBody>
      </p:sp>
      <p:pic>
        <p:nvPicPr>
          <p:cNvPr id="32" name="Image 1" descr="/tmp/rasterized-gradient-784a36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0" y="2052786"/>
            <a:ext cx="762000" cy="762000"/>
          </a:xfrm>
          <a:prstGeom prst="rect">
            <a:avLst/>
          </a:prstGeom>
          <a:effectLst>
            <a:outerShdw blurRad="190500" dist="38100" dir="5400000" algn="bl" rotWithShape="0">
              <a:srgbClr val="F2A900">
                <a:alpha val="40000"/>
              </a:srgbClr>
            </a:outerShdw>
          </a:effectLst>
        </p:spPr>
      </p:pic>
      <p:sp>
        <p:nvSpPr>
          <p:cNvPr id="33" name="Text 29"/>
          <p:cNvSpPr/>
          <p:nvPr/>
        </p:nvSpPr>
        <p:spPr>
          <a:xfrm>
            <a:off x="4311960" y="2327077"/>
            <a:ext cx="51993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</a:t>
            </a:r>
            <a:endParaRPr lang="en-US" sz="675" dirty="0"/>
          </a:p>
        </p:txBody>
      </p:sp>
      <p:sp>
        <p:nvSpPr>
          <p:cNvPr id="34" name="Text 30"/>
          <p:cNvSpPr/>
          <p:nvPr/>
        </p:nvSpPr>
        <p:spPr>
          <a:xfrm>
            <a:off x="4311960" y="2447032"/>
            <a:ext cx="51993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buNone/>
            </a:pPr>
            <a:r>
              <a:rPr lang="en-US" sz="525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525" dirty="0"/>
          </a:p>
        </p:txBody>
      </p:sp>
      <p:sp>
        <p:nvSpPr>
          <p:cNvPr id="35" name="Text 31"/>
          <p:cNvSpPr/>
          <p:nvPr/>
        </p:nvSpPr>
        <p:spPr>
          <a:xfrm>
            <a:off x="4375263" y="2890986"/>
            <a:ext cx="393326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600" dirty="0"/>
          </a:p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</a:t>
            </a:r>
            <a:endParaRPr lang="en-US" sz="600" dirty="0"/>
          </a:p>
          <a:p>
            <a:pPr marL="0" indent="0" algn="ctr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600" dirty="0"/>
          </a:p>
        </p:txBody>
      </p:sp>
      <p:sp>
        <p:nvSpPr>
          <p:cNvPr id="36" name="Text 32"/>
          <p:cNvSpPr/>
          <p:nvPr/>
        </p:nvSpPr>
        <p:spPr>
          <a:xfrm>
            <a:off x="4266754" y="3381077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356998" y="3363069"/>
            <a:ext cx="51051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buNone/>
            </a:pPr>
            <a:r>
              <a:rPr lang="en-US" sz="5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Ledger</a:t>
            </a:r>
            <a:endParaRPr lang="en-US" sz="525" dirty="0"/>
          </a:p>
        </p:txBody>
      </p:sp>
      <p:sp>
        <p:nvSpPr>
          <p:cNvPr id="38" name="Text 34"/>
          <p:cNvSpPr/>
          <p:nvPr/>
        </p:nvSpPr>
        <p:spPr>
          <a:xfrm>
            <a:off x="4266754" y="3512493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4358222" y="3494484"/>
            <a:ext cx="38573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buNone/>
            </a:pPr>
            <a:r>
              <a:rPr lang="en-US" sz="5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SIPE Engine</a:t>
            </a:r>
            <a:endParaRPr lang="en-US" sz="525" dirty="0"/>
          </a:p>
        </p:txBody>
      </p:sp>
      <p:sp>
        <p:nvSpPr>
          <p:cNvPr id="40" name="Text 36"/>
          <p:cNvSpPr/>
          <p:nvPr/>
        </p:nvSpPr>
        <p:spPr>
          <a:xfrm>
            <a:off x="4266754" y="3643908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4356851" y="3625900"/>
            <a:ext cx="525548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buNone/>
            </a:pPr>
            <a:r>
              <a:rPr lang="en-US" sz="5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 Methodology</a:t>
            </a:r>
            <a:endParaRPr lang="en-US" sz="525" dirty="0"/>
          </a:p>
        </p:txBody>
      </p:sp>
      <p:pic>
        <p:nvPicPr>
          <p:cNvPr id="42" name="Image 2" descr="/tmp/rasterized-gradient-77812e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150" y="1340495"/>
            <a:ext cx="3448050" cy="683716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5514975" y="1464320"/>
            <a:ext cx="2182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1350" dirty="0"/>
          </a:p>
        </p:txBody>
      </p:sp>
      <p:sp>
        <p:nvSpPr>
          <p:cNvPr id="44" name="Text 39"/>
          <p:cNvSpPr/>
          <p:nvPr/>
        </p:nvSpPr>
        <p:spPr>
          <a:xfrm>
            <a:off x="5805190" y="1490960"/>
            <a:ext cx="20478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ORCHESTRATION</a:t>
            </a:r>
            <a:endParaRPr lang="en-US" sz="1050" dirty="0"/>
          </a:p>
        </p:txBody>
      </p:sp>
      <p:sp>
        <p:nvSpPr>
          <p:cNvPr id="45" name="Text 40"/>
          <p:cNvSpPr/>
          <p:nvPr/>
        </p:nvSpPr>
        <p:spPr>
          <a:xfrm>
            <a:off x="5514975" y="1780431"/>
            <a:ext cx="32644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Synchronizing discovery, validation, deployment, and learning across ecosystems.</a:t>
            </a:r>
            <a:endParaRPr lang="en-US" sz="675" dirty="0"/>
          </a:p>
        </p:txBody>
      </p:sp>
      <p:sp>
        <p:nvSpPr>
          <p:cNvPr id="46" name="Text 41"/>
          <p:cNvSpPr/>
          <p:nvPr/>
        </p:nvSpPr>
        <p:spPr>
          <a:xfrm>
            <a:off x="5391150" y="2100411"/>
            <a:ext cx="3448050" cy="525661"/>
          </a:xfrm>
          <a:prstGeom prst="roundRect">
            <a:avLst>
              <a:gd name="adj" fmla="val 14496"/>
            </a:avLst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2"/>
          <p:cNvSpPr/>
          <p:nvPr/>
        </p:nvSpPr>
        <p:spPr>
          <a:xfrm>
            <a:off x="5405438" y="2100411"/>
            <a:ext cx="0" cy="525661"/>
          </a:xfrm>
          <a:prstGeom prst="line">
            <a:avLst/>
          </a:prstGeom>
          <a:noFill/>
          <a:ln w="28575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5514975" y="2195661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F2A9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5583734" y="2224236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50" name="Text 45"/>
          <p:cNvSpPr/>
          <p:nvPr/>
        </p:nvSpPr>
        <p:spPr>
          <a:xfrm>
            <a:off x="5781675" y="2217539"/>
            <a:ext cx="13973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&amp; VALIDATION</a:t>
            </a:r>
            <a:endParaRPr lang="en-US" sz="825" dirty="0"/>
          </a:p>
        </p:txBody>
      </p:sp>
      <p:sp>
        <p:nvSpPr>
          <p:cNvPr id="51" name="Text 46"/>
          <p:cNvSpPr/>
          <p:nvPr/>
        </p:nvSpPr>
        <p:spPr>
          <a:xfrm>
            <a:off x="5514975" y="2424261"/>
            <a:ext cx="3293555" cy="106561"/>
          </a:xfrm>
          <a:prstGeom prst="rect">
            <a:avLst/>
          </a:prstGeom>
          <a:noFill/>
          <a:ln/>
        </p:spPr>
        <p:txBody>
          <a:bodyPr wrap="square" lIns="26670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testing • POC simulations • Multi-stakeholder validation</a:t>
            </a:r>
            <a:endParaRPr lang="en-US" sz="600" dirty="0"/>
          </a:p>
        </p:txBody>
      </p:sp>
      <p:sp>
        <p:nvSpPr>
          <p:cNvPr id="52" name="Text 47"/>
          <p:cNvSpPr/>
          <p:nvPr/>
        </p:nvSpPr>
        <p:spPr>
          <a:xfrm>
            <a:off x="5391150" y="2702272"/>
            <a:ext cx="3448050" cy="525661"/>
          </a:xfrm>
          <a:prstGeom prst="roundRect">
            <a:avLst>
              <a:gd name="adj" fmla="val 14496"/>
            </a:avLst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48"/>
          <p:cNvSpPr/>
          <p:nvPr/>
        </p:nvSpPr>
        <p:spPr>
          <a:xfrm>
            <a:off x="5405438" y="2702272"/>
            <a:ext cx="0" cy="525661"/>
          </a:xfrm>
          <a:prstGeom prst="line">
            <a:avLst/>
          </a:prstGeom>
          <a:noFill/>
          <a:ln w="28575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9"/>
          <p:cNvSpPr/>
          <p:nvPr/>
        </p:nvSpPr>
        <p:spPr>
          <a:xfrm>
            <a:off x="5514975" y="2797522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0"/>
          <p:cNvSpPr/>
          <p:nvPr/>
        </p:nvSpPr>
        <p:spPr>
          <a:xfrm>
            <a:off x="5583734" y="2826097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56" name="Text 51"/>
          <p:cNvSpPr/>
          <p:nvPr/>
        </p:nvSpPr>
        <p:spPr>
          <a:xfrm>
            <a:off x="5781675" y="2819400"/>
            <a:ext cx="10430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OPERATIONS</a:t>
            </a:r>
            <a:endParaRPr lang="en-US" sz="825" dirty="0"/>
          </a:p>
        </p:txBody>
      </p:sp>
      <p:sp>
        <p:nvSpPr>
          <p:cNvPr id="57" name="Text 52"/>
          <p:cNvSpPr/>
          <p:nvPr/>
        </p:nvSpPr>
        <p:spPr>
          <a:xfrm>
            <a:off x="5514975" y="3026122"/>
            <a:ext cx="3293555" cy="106561"/>
          </a:xfrm>
          <a:prstGeom prst="rect">
            <a:avLst/>
          </a:prstGeom>
          <a:noFill/>
          <a:ln/>
        </p:spPr>
        <p:txBody>
          <a:bodyPr wrap="square" lIns="26670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deployment • Real-time measurement • Coordinated trials</a:t>
            </a:r>
            <a:endParaRPr lang="en-US" sz="600" dirty="0"/>
          </a:p>
        </p:txBody>
      </p:sp>
      <p:sp>
        <p:nvSpPr>
          <p:cNvPr id="58" name="Text 53"/>
          <p:cNvSpPr/>
          <p:nvPr/>
        </p:nvSpPr>
        <p:spPr>
          <a:xfrm>
            <a:off x="5391150" y="3304133"/>
            <a:ext cx="3448050" cy="525661"/>
          </a:xfrm>
          <a:prstGeom prst="roundRect">
            <a:avLst>
              <a:gd name="adj" fmla="val 14496"/>
            </a:avLst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Shape 54"/>
          <p:cNvSpPr/>
          <p:nvPr/>
        </p:nvSpPr>
        <p:spPr>
          <a:xfrm>
            <a:off x="5405438" y="3304133"/>
            <a:ext cx="0" cy="525661"/>
          </a:xfrm>
          <a:prstGeom prst="line">
            <a:avLst/>
          </a:prstGeom>
          <a:noFill/>
          <a:ln w="28575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5"/>
          <p:cNvSpPr/>
          <p:nvPr/>
        </p:nvSpPr>
        <p:spPr>
          <a:xfrm>
            <a:off x="5514975" y="339938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6"/>
          <p:cNvSpPr/>
          <p:nvPr/>
        </p:nvSpPr>
        <p:spPr>
          <a:xfrm>
            <a:off x="5583734" y="3427958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62" name="Text 57"/>
          <p:cNvSpPr/>
          <p:nvPr/>
        </p:nvSpPr>
        <p:spPr>
          <a:xfrm>
            <a:off x="5781675" y="3421261"/>
            <a:ext cx="14230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&amp; INTEGRATION</a:t>
            </a:r>
            <a:endParaRPr lang="en-US" sz="825" dirty="0"/>
          </a:p>
        </p:txBody>
      </p:sp>
      <p:sp>
        <p:nvSpPr>
          <p:cNvPr id="63" name="Text 58"/>
          <p:cNvSpPr/>
          <p:nvPr/>
        </p:nvSpPr>
        <p:spPr>
          <a:xfrm>
            <a:off x="5514975" y="3627983"/>
            <a:ext cx="3293555" cy="106561"/>
          </a:xfrm>
          <a:prstGeom prst="rect">
            <a:avLst/>
          </a:prstGeom>
          <a:noFill/>
          <a:ln/>
        </p:spPr>
        <p:txBody>
          <a:bodyPr wrap="square" lIns="26670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assessment • Cross-venue learning • Benchmarks</a:t>
            </a:r>
            <a:endParaRPr lang="en-US" sz="600" dirty="0"/>
          </a:p>
        </p:txBody>
      </p:sp>
      <p:sp>
        <p:nvSpPr>
          <p:cNvPr id="64" name="Text 59"/>
          <p:cNvSpPr/>
          <p:nvPr/>
        </p:nvSpPr>
        <p:spPr>
          <a:xfrm>
            <a:off x="5391150" y="3905994"/>
            <a:ext cx="3448050" cy="525661"/>
          </a:xfrm>
          <a:prstGeom prst="roundRect">
            <a:avLst>
              <a:gd name="adj" fmla="val 14496"/>
            </a:avLst>
          </a:prstGeom>
          <a:solidFill>
            <a:srgbClr val="1A2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Shape 60"/>
          <p:cNvSpPr/>
          <p:nvPr/>
        </p:nvSpPr>
        <p:spPr>
          <a:xfrm>
            <a:off x="5405438" y="3905994"/>
            <a:ext cx="0" cy="525661"/>
          </a:xfrm>
          <a:prstGeom prst="line">
            <a:avLst/>
          </a:prstGeom>
          <a:noFill/>
          <a:ln w="28575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1"/>
          <p:cNvSpPr/>
          <p:nvPr/>
        </p:nvSpPr>
        <p:spPr>
          <a:xfrm>
            <a:off x="5514975" y="4001244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2"/>
          <p:cNvSpPr/>
          <p:nvPr/>
        </p:nvSpPr>
        <p:spPr>
          <a:xfrm>
            <a:off x="5583734" y="4029819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68" name="Text 63"/>
          <p:cNvSpPr/>
          <p:nvPr/>
        </p:nvSpPr>
        <p:spPr>
          <a:xfrm>
            <a:off x="5781675" y="4023122"/>
            <a:ext cx="13161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CERTIFICATION</a:t>
            </a:r>
            <a:endParaRPr lang="en-US" sz="825" dirty="0"/>
          </a:p>
        </p:txBody>
      </p:sp>
      <p:sp>
        <p:nvSpPr>
          <p:cNvPr id="69" name="Text 64"/>
          <p:cNvSpPr/>
          <p:nvPr/>
        </p:nvSpPr>
        <p:spPr>
          <a:xfrm>
            <a:off x="5514975" y="4229844"/>
            <a:ext cx="3293555" cy="106561"/>
          </a:xfrm>
          <a:prstGeom prst="rect">
            <a:avLst/>
          </a:prstGeom>
          <a:noFill/>
          <a:ln/>
        </p:spPr>
        <p:txBody>
          <a:bodyPr wrap="square" lIns="26670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credentials • Vendor certification • Continuous cycles</a:t>
            </a:r>
            <a:endParaRPr lang="en-US" sz="600" dirty="0"/>
          </a:p>
        </p:txBody>
      </p:sp>
      <p:sp>
        <p:nvSpPr>
          <p:cNvPr id="70" name="Text 65"/>
          <p:cNvSpPr/>
          <p:nvPr/>
        </p:nvSpPr>
        <p:spPr>
          <a:xfrm>
            <a:off x="304800" y="4457700"/>
            <a:ext cx="853440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6"/>
          <p:cNvSpPr/>
          <p:nvPr/>
        </p:nvSpPr>
        <p:spPr>
          <a:xfrm>
            <a:off x="384620" y="4562475"/>
            <a:ext cx="83747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2A900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engines. One platform.</a:t>
            </a: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Resilience protects operations under pressure. Innovation accelerates capability building. Both powered by unified evidence and continuous learning.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b0ac8ce-1ef9-473b-b491-3ba03b6013fb}" enabled="1" method="Standard" siteId="{80090139-ad55-45f4-9bf7-34995ae28d9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1840</Words>
  <Application>Microsoft Macintosh PowerPoint</Application>
  <PresentationFormat>On-screen Show (16:9)</PresentationFormat>
  <Paragraphs>392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Sentrais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Sentrais NFL Leadership Briefing - EVERGAME360 &amp; eVenu</dc:title>
  <dc:subject>Intelligence Operating System for High-Stakes Environments</dc:subject>
  <dc:creator>Sentrais Corporation</dc:creator>
  <cp:lastModifiedBy>Tye Hayes</cp:lastModifiedBy>
  <cp:revision>2</cp:revision>
  <dcterms:created xsi:type="dcterms:W3CDTF">2026-01-05T14:38:34Z</dcterms:created>
  <dcterms:modified xsi:type="dcterms:W3CDTF">2026-01-24T00:33:10Z</dcterms:modified>
</cp:coreProperties>
</file>