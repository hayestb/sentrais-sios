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NFL Innovation HUB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Establishing Formal Governance &amp;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Steering Committee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Summary: Critical Need for Governance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280160"/>
          </a:xfrm>
          <a:prstGeom prst="rect">
            <a:avLst/>
          </a:prstGeom>
          <a:solidFill>
            <a:srgbClr val="D50A0A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50A0A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Projects entering &amp; exiting HUB without formal approval gates, creating resource churn and burning through allocated hours with limited visibility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28016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THE IMPACT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12+ projects tracked in past 12 months with unclear scope, roles, and boundaries • Significant NFL time invested with inconsistent outcomes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1E2761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THE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Formalize the 3-Model Program Structure 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Innovation Challenges • Co-Create Programs • Operationalization &amp; Change Management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Implement Mandatory Intake &amp; Approval Process 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Stage gates with NFL stakeholder sign-off before resource allocation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Establish Clear Roles &amp; Responsibilities 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NFL approves intake/prioritization • NOVATE manages execution • Defined boundaries with vendors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Uncontrolled Project Churn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</a:rPr>
              <a:t>12 Months of Project Activity (Jan 2025 - Jan 2026)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0" cy="32004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Coach to Player (C2P)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Testing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1508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4 touchpoints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Shape 7"/>
          <p:cNvSpPr/>
          <p:nvPr/>
        </p:nvSpPr>
        <p:spPr>
          <a:xfrm>
            <a:off x="4919472" y="15544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5084064" y="15544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5248656" y="15544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47088"/>
            <a:ext cx="3200400" cy="320040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92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Agentic AI for IT Ops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89280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Discovery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8928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2 touchpoints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3852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9472" y="193852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231136"/>
            <a:ext cx="3200400" cy="320040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2768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AI at Scale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27685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Planning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27685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2 touchpoints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32257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232257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15184"/>
            <a:ext cx="3200400" cy="320040"/>
          </a:xfrm>
          <a:prstGeom prst="rect">
            <a:avLst/>
          </a:prstGeom>
          <a:solidFill>
            <a:srgbClr val="FFC72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6609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Amazon Player Tracking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266090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Use Cases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2660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1 touchpoints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999232"/>
            <a:ext cx="3200400" cy="32004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044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Generative AI (Adobe)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304495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RFI/Demos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0449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6 touchpoints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Shape 32"/>
          <p:cNvSpPr/>
          <p:nvPr/>
        </p:nvSpPr>
        <p:spPr>
          <a:xfrm>
            <a:off x="4919472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5084064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Shape 34"/>
          <p:cNvSpPr/>
          <p:nvPr/>
        </p:nvSpPr>
        <p:spPr>
          <a:xfrm>
            <a:off x="5248656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Shape 35"/>
          <p:cNvSpPr/>
          <p:nvPr/>
        </p:nvSpPr>
        <p:spPr>
          <a:xfrm>
            <a:off x="5413248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Shape 36"/>
          <p:cNvSpPr/>
          <p:nvPr/>
        </p:nvSpPr>
        <p:spPr>
          <a:xfrm>
            <a:off x="5577840" y="309067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3383280"/>
            <a:ext cx="3200400" cy="320040"/>
          </a:xfrm>
          <a:prstGeom prst="rect">
            <a:avLst/>
          </a:prstGeom>
          <a:solidFill>
            <a:srgbClr val="2C5F2D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OnePass Innovation Challenge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0" y="342900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Execution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6 touchpoints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4" name="Shape 42"/>
          <p:cNvSpPr/>
          <p:nvPr/>
        </p:nvSpPr>
        <p:spPr>
          <a:xfrm>
            <a:off x="4919472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5" name="Shape 43"/>
          <p:cNvSpPr/>
          <p:nvPr/>
        </p:nvSpPr>
        <p:spPr>
          <a:xfrm>
            <a:off x="5084064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6" name="Shape 44"/>
          <p:cNvSpPr/>
          <p:nvPr/>
        </p:nvSpPr>
        <p:spPr>
          <a:xfrm>
            <a:off x="5248656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7" name="Shape 45"/>
          <p:cNvSpPr/>
          <p:nvPr/>
        </p:nvSpPr>
        <p:spPr>
          <a:xfrm>
            <a:off x="5413248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8" name="Shape 46"/>
          <p:cNvSpPr/>
          <p:nvPr/>
        </p:nvSpPr>
        <p:spPr>
          <a:xfrm>
            <a:off x="5577840" y="347472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3767328"/>
            <a:ext cx="3200400" cy="320040"/>
          </a:xfrm>
          <a:prstGeom prst="rect">
            <a:avLst/>
          </a:prstGeom>
          <a:solidFill>
            <a:srgbClr val="FFC72C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3813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Rypplzz (Int'l Fan)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834640" y="381304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Proposal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381304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1 touchpoints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858768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4151376"/>
            <a:ext cx="3200400" cy="320040"/>
          </a:xfrm>
          <a:prstGeom prst="rect">
            <a:avLst/>
          </a:prstGeom>
          <a:solidFill>
            <a:srgbClr val="FFC72C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1970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Multimodal AI Compliance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834640" y="419709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Concept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0" y="419709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1 touchpoints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242816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9" name="Shape 57"/>
          <p:cNvSpPr/>
          <p:nvPr/>
        </p:nvSpPr>
        <p:spPr>
          <a:xfrm>
            <a:off x="457200" y="4535424"/>
            <a:ext cx="3200400" cy="320040"/>
          </a:xfrm>
          <a:prstGeom prst="rect">
            <a:avLst/>
          </a:prstGeom>
          <a:solidFill>
            <a:srgbClr val="D50A0A">
              <a:alpha val="8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45811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</a:rPr>
              <a:t>Digital Signage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834640" y="4581144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Analysis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840480" y="458114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6 touchpoints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54880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4" name="Shape 62"/>
          <p:cNvSpPr/>
          <p:nvPr/>
        </p:nvSpPr>
        <p:spPr>
          <a:xfrm>
            <a:off x="4919472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5" name="Shape 63"/>
          <p:cNvSpPr/>
          <p:nvPr/>
        </p:nvSpPr>
        <p:spPr>
          <a:xfrm>
            <a:off x="5084064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6" name="Shape 64"/>
          <p:cNvSpPr/>
          <p:nvPr/>
        </p:nvSpPr>
        <p:spPr>
          <a:xfrm>
            <a:off x="5248656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7" name="Shape 65"/>
          <p:cNvSpPr/>
          <p:nvPr/>
        </p:nvSpPr>
        <p:spPr>
          <a:xfrm>
            <a:off x="5413248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8" name="Shape 66"/>
          <p:cNvSpPr/>
          <p:nvPr/>
        </p:nvSpPr>
        <p:spPr>
          <a:xfrm>
            <a:off x="5577840" y="4626864"/>
            <a:ext cx="109728" cy="109728"/>
          </a:xfrm>
          <a:prstGeom prst="ellipse">
            <a:avLst/>
          </a:prstGeom>
          <a:solidFill>
            <a:srgbClr val="D50A0A"/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D50A0A">
              <a:alpha val="1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0A0A"/>
                </a:solidFill>
              </a:rPr>
              <a:t>🚨  No formal intake process • No approval gates • No resource allocation controls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Impact: Resource Allocation Without Visibility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Projects Tracked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</a:rPr>
              <a:t>in past 12 months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Avg Touchpoints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535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</a:rPr>
              <a:t>per 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Unknown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Resource Utilization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962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</a:rPr>
              <a:t>no tracking mechanism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599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45171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</a:rPr>
              <a:t>NFL Stakeholder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4573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</a:rPr>
              <a:t>inconsistent engagement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50A0A"/>
                </a:solidFill>
              </a:rPr>
              <a:t>CONSEQUENCES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Partial Visibility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Projects enter HUB through informal channels without documented scope or success criteria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Limited NFL Participation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Unclear stakeholder engagement leads to misaligned expectations and delayed decisions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Unclear Vendor Boundaries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No defined protocols for when/how to engage NFL vendors creates confusion and potential conflicts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</a:rPr>
              <a:t>Resource Burn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NOVATE hours consumed on undefined scope without strategic prioritization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Cause: Missing Governance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0A0A"/>
                </a:solidFill>
              </a:rPr>
              <a:t>The 2025 Program Design exists but is not being enforced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DESIGNED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3-Model Program: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Innovation Challenges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Co-Create Programs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Operationalization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Stage Gate Process: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Intake → Concept → Business Case → MVP → ROI → Grow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Clear Governance: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Exec Steering Committee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Program Execution Committee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• NFL approvals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743200" cy="365760"/>
          </a:xfrm>
          <a:prstGeom prst="rect">
            <a:avLst/>
          </a:prstGeom>
          <a:solidFill>
            <a:srgbClr val="D50A0A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REALITY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743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Projects bypass intake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No formal approval process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Unclear which model applies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Stage gates not enforced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Resource allocation ad hoc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Limited executive visibility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REQUIRED ACTIONS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202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Mandate intake process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Activate stage gates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Define approval authority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Establish project classification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Implement tracking system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Monthly governance reviews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Designed Structure: 3-Model Program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2025 Program Design defines three engagement models - we need to enforce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MODEL 1: NFL Innovation Challenges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Curated end-to-end pipeline for sourcing, testing, and scaling high-impact innovations. Multi-phase process with league stakeholder champions. Co-funded by league departments.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MODEL 2: NFL Co-Create 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Partner-driven innovation with sponsors and approved partners. Includes Sponsored POC Track and Partner-Funded Co-Create. All sponsor communications coordinated with NFL Sponsorship.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MODEL 3: Operationalization &amp; Change Management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</a:rPr>
              <a:t>Apply HUB infrastructure to internal priorities through R&amp;D, prototyping, and rapid launch capabilities. Internal tech integrations and POCs impacting multiple departments.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8229600" cy="1371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Gate Process: Required Approvals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Every project must progress through defined stages with NFL approval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280160" cy="548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INTAKE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Idea submission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NFL Business Value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737360"/>
            <a:ext cx="228600" cy="182880"/>
          </a:xfrm>
          <a:prstGeom prst="rightArrow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554480"/>
            <a:ext cx="1280160" cy="5486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Zone placement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Technical feasibility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28600" cy="182880"/>
          </a:xfrm>
          <a:prstGeom prst="rightArrow">
            <a:avLst/>
          </a:prstGeom>
          <a:solidFill>
            <a:srgbClr val="2B2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554480"/>
            <a:ext cx="1280160" cy="54864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Service definition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Justification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1737360"/>
            <a:ext cx="228600" cy="182880"/>
          </a:xfrm>
          <a:prstGeom prst="rightArrow">
            <a:avLst/>
          </a:prstGeom>
          <a:solidFill>
            <a:srgbClr val="2B2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554480"/>
            <a:ext cx="1280160" cy="54864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Develop prototype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Test market fit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737360"/>
            <a:ext cx="228600" cy="182880"/>
          </a:xfrm>
          <a:prstGeom prst="rightArrow">
            <a:avLst/>
          </a:prstGeom>
          <a:solidFill>
            <a:srgbClr val="2B2B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1554480"/>
            <a:ext cx="1280160" cy="5486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Financial viability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TCO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1737360"/>
            <a:ext cx="228600" cy="182880"/>
          </a:xfrm>
          <a:prstGeom prst="rightArrow">
            <a:avLst/>
          </a:prstGeom>
          <a:solidFill>
            <a:srgbClr val="2B2B2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1554480"/>
            <a:ext cx="1280160" cy="54864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1600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Transition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operations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D50A0A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0A0A"/>
                </a:solidFill>
              </a:rPr>
              <a:t>APPROVAL AUTHORITY AT EACH GATE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Stage 1-2 (Intake/Concept):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Program Execution Committee review • NFL sponsor identified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Stage 3 (Business Case):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SVP approval required • Resource allocation approved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Stage 4-5 (MVP/ROI):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Quarterly reviews with Program Execution Committee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Stage 6 (Grow):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Executive Steering Committee approval for operationalization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Structure: Decision Rights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54864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Executive Steering Committee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</a:rPr>
              <a:t>EVPs • Strategic direction • Annual priorities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Program Execution Committee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B2B2B"/>
                </a:solidFill>
              </a:rPr>
              <a:t>SVPs from IT, Player Health &amp; Safety, Football Ops, Media, Data &amp; Analytics, Finance, Sponsorship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 Tech Advisory Committee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B2B2B"/>
                </a:solidFill>
              </a:rPr>
              <a:t>NFL Technical Working Group • Subject matter experts • Technical evaluation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822960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823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Innovation HUB PMO (NOVATE) - Intake, Prioritization &amp; Program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Roles &amp; Responsibilities: Clear Boundaries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NFL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Approve project intake and prioritization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Provide internal stakeholder and tech access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Align funding and timelines via governance cadence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Stage gate approvals at Business Case, MVP, and Grow phases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Define success criteria and measurement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NOVATE RESPONSIBILITIES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Program Director + Ops Analyst (Core team)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Intake &amp; blueprinting management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R&amp;D delivery via Innovation Pods and NIN Partner Network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Internal knowledge hub (EVERGAME + Sentrais)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</a:rPr>
              <a:t>All projects tagged and tracked by zone, model, phase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8229600" cy="109728"/>
          </a:xfrm>
          <a:prstGeom prst="rect">
            <a:avLst/>
          </a:prstGeom>
          <a:solidFill>
            <a:srgbClr val="D50A0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Engagement: Defined Protocols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Clear boundaries for when and how to engage with NFL vendors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SCENARIO 1: Innovation Challenge - External Vendors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NOVATE sources, evaluates, and manages external vendors. NFL approves finalists. No engagement with existing NFL vendors unless explicitly approved by NFL leadership.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SCENARIO 2: Co-Create - Sponsor/Partner Vendors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All sponsor communications coordinated with NFL Sponsorship. Partner-funded POCs require Steering Committee approval. RACI matrix defines engagement boundaries upfront.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SCENARIO 3: Operationalization - Existing NFL Vendors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NOVATE acts as R&amp;D resource to IT/BRM functions. NFL retains all vendor relationships. NOVATE provides technical blueprints and recommendations only - no direct vendor engagement without NFL approval.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D50A0A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</a:rPr>
              <a:t>KEY PRINCIPLE: </a:t>
            </a:r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NFL retains all decision-making authority on vendor relationships. NOVATE provides evaluation framework and recommendations. All vendor engagements require documented NFL approval before initiation.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Mandatory Intake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50A0A"/>
                </a:solidFill>
              </a:rPr>
              <a:t>All projects must enter through formal intake - no exceptions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Submit Intake 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Lean canvas questionnaire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Business value justification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91440" cy="182880"/>
          </a:xfrm>
          <a:prstGeom prst="downArrow">
            <a:avLst/>
          </a:prstGeom>
          <a:solidFill>
            <a:srgbClr val="2B2B2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148840"/>
            <a:ext cx="7772400" cy="45720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Initial Triage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NOVATE PMO reviews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Assigns to model 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651760"/>
            <a:ext cx="91440" cy="182880"/>
          </a:xfrm>
          <a:prstGeom prst="downArrow">
            <a:avLst/>
          </a:prstGeom>
          <a:solidFill>
            <a:srgbClr val="2B2B2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2834640"/>
            <a:ext cx="7772400" cy="45720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Committee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Program Exec Committee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Approves or rejects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91440" cy="182880"/>
          </a:xfrm>
          <a:prstGeom prst="downArrow">
            <a:avLst/>
          </a:prstGeom>
          <a:solidFill>
            <a:srgbClr val="2B2B2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Resource Allocation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If approved, resources assigned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Project kickoff scheduled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023360"/>
            <a:ext cx="91440" cy="182880"/>
          </a:xfrm>
          <a:prstGeom prst="downArrow">
            <a:avLst/>
          </a:prstGeom>
          <a:solidFill>
            <a:srgbClr val="2B2B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Tracking Initiated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Sentrais tagging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Monthly governance reviews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solidFill>
            <a:srgbClr val="D50A0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Tracking &amp; Visibility: Sentrais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Every project tagged and tracked in real-time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TAGGING TAXONOMY: [ZONE]-[MODEL]-[NIN PHASE]-[STATUS]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2B2B"/>
                </a:solidFill>
              </a:rPr>
              <a:t>Example: TRANSFORMATION-CHALLENGE-P3-ACTIVE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74320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Incubation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Transformation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Performance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Productivity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377440"/>
            <a:ext cx="2743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743200"/>
            <a:ext cx="274320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Challenge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Co-Create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Operationalization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7432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NIN PHASES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743200" cy="1554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834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P1: Discovery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P2: Blueprinting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P3: Innovation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P4: Pilot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P5: Operationalization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P6: Iteration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0A0A"/>
                </a:solidFill>
              </a:rPr>
              <a:t>Monthly Dashboard Reviews with Program Execution Committee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 Management: Defined Allocation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Projects are outcome-bound with defined runway and resourcing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Each Project Defines: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Estimated Hours: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Range-based allocation (e.g., 40-60 hrs for Discovery phase)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Timeline: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Defined runway with milestones and decision points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Scope: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Clear deliverables and success criteria documented upfront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Stop Conditions: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Criteria for project pause, pivot, or termination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ROI Metrics: </a:t>
            </a:r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Defined success measures for NFL and partners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D50A0A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50A0A"/>
                </a:solidFill>
              </a:rPr>
              <a:t>Avoiding Churn: No project moves forward without approved scope, timeline, and resource allocation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</a:rPr>
              <a:t>60-Day Plan to Formalize Governance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solidFill>
            <a:srgbClr val="D50A0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IMMEDIATE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(Week 1-2)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630936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55448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1. Steering Committee approval of governance framework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2. Communicate new intake requirements to all stakeholders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3. Audit all current projects and classify by model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4. Retroactively document scope for active 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8288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SHORT-TERM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(Week 3-4)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630936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743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1. Implement intake form and approval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2. Establish monthly governance review cadence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3. Deploy Sentrais tagging for all projects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4. Create vendor engagement protocol documentation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82880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SUSTAINED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(Week 5-8)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840480"/>
            <a:ext cx="630936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393192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1. First monthly dashboard review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2. Enforce stage gate approvals on all new projects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3. Measure resource utilization and adjust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</a:rPr>
              <a:t>4. Continuous improvement based on feedback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Metrics: Measuring Governance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</a:rPr>
              <a:t>How we'll know the governance framework is working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109728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100%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Intake Compliance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All new projects enter through formal intake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97480" cy="109728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54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</a:rPr>
              <a:t>Monthly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Dashboard Reviews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Program Exec Committee receives project status updates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97480" cy="109728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Full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Project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Real-time tracking of all HUB projects in Sentrais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697480" cy="1097280"/>
          </a:xfrm>
          <a:prstGeom prst="rect">
            <a:avLst/>
          </a:prstGeom>
          <a:solidFill>
            <a:srgbClr val="1E2761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≥75%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Resource Efficiency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NOVATE hours allocated to approved, scoped projects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697480"/>
            <a:ext cx="2697480" cy="1097280"/>
          </a:xfrm>
          <a:prstGeom prst="rect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</a:rPr>
              <a:t>Clear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83280" y="31546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Vendor Boundaries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Documented protocols followed on all engagements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97480" cy="1097280"/>
          </a:xfrm>
          <a:prstGeom prst="rect">
            <a:avLst/>
          </a:prstGeom>
          <a:solidFill>
            <a:srgbClr val="2C5F2D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</a:rPr>
              <a:t>Defined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315468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Success Criteria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Every project has measurable outcomes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5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Required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Approve formalized governance framework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and mandatory intake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34290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</a:rPr>
              <a:t>Without formal governance: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• Project churn will continue unabated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• Resource allocation remains uncontrolled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• NFL stakeholder time continues to be under-utilized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• HUB value proposition becomes unclear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1. Steering Committee Approval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Formal approval of governance framework and intake process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2. Stakeholder Communication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Announce new requirements to all NFL departments and partners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3. Current Project Audit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Classify all active projects and retroactively document scope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4. Intake System Launch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Deploy intake form, approval workflow, and Sentrais tracking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5. First Governance Review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Schedule monthly dashboard review with Program Execution Committee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13716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Let's formalize the structure that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delivers measurable innovation outcomes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NFL Innovation HUB: Establishing Formal Governance</dc:title>
  <dc:subject>PptxGenJS Presentation</dc:subject>
  <dc:creator>Tye Williams, CEO - NOVATE Inc.</dc:creator>
  <cp:lastModifiedBy>Tye Williams, CEO - NOVATE Inc.</cp:lastModifiedBy>
  <cp:revision>1</cp:revision>
  <dcterms:created xsi:type="dcterms:W3CDTF">2026-01-29T08:37:07Z</dcterms:created>
  <dcterms:modified xsi:type="dcterms:W3CDTF">2026-01-29T08:37:07Z</dcterms:modified>
</cp:coreProperties>
</file>