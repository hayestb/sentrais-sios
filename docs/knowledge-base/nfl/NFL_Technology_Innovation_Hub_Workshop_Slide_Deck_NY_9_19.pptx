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Lst>
  <p:sldSz cx="9753600" cy="7315200"/>
  <p:notesSz cx="6858000" cy="9144000"/>
  <p:embeddedFontLst>
    <p:embeddedFont>
      <p:font typeface="Arial" panose="020B0604020202020204" pitchFamily="34" charset="0"/>
      <p:regular r:id="rId31"/>
    </p:embeddedFont>
    <p:embeddedFont>
      <p:font typeface="Arial Bold" panose="020B0802020202020204" pitchFamily="34" charset="77"/>
      <p:regular r:id="rId32"/>
      <p:bold r:id="rId33"/>
    </p:embeddedFont>
    <p:embeddedFont>
      <p:font typeface="Arial Bold Italics" panose="020B0802020202090204" pitchFamily="34" charset="77"/>
      <p:regular r:id="rId34"/>
      <p:bold r:id="rId35"/>
      <p:italic r:id="rId36"/>
      <p:boldItalic r:id="rId37"/>
    </p:embeddedFont>
    <p:embeddedFont>
      <p:font typeface="Arial Italics" panose="020B0502020202090204" pitchFamily="34" charset="77"/>
      <p:regular r:id="rId38"/>
      <p:italic r:id="rId39"/>
    </p:embeddedFont>
    <p:embeddedFont>
      <p:font typeface="Arimo" panose="020B0604020202020204" pitchFamily="34" charset="0"/>
      <p:regular r:id="rId40"/>
    </p:embeddedFont>
    <p:embeddedFont>
      <p:font typeface="IBM Plex Sans" panose="020B0503050203000203" pitchFamily="34" charset="0"/>
      <p:regular r:id="rId41"/>
      <p:bold r:id="rId42"/>
      <p:italic r:id="rId43"/>
      <p:boldItalic r:id="rId44"/>
    </p:embeddedFont>
    <p:embeddedFont>
      <p:font typeface="IBM Plex Sans Bold" panose="020B0803050203000203" pitchFamily="34" charset="0"/>
      <p:regular r:id="rId45"/>
      <p:bold r:id="rId46"/>
    </p:embeddedFont>
    <p:embeddedFont>
      <p:font typeface="Lato Bold" panose="020F0502020204030203" pitchFamily="34" charset="0"/>
      <p:regular r:id="rId47"/>
      <p:bold r:id="rId48"/>
    </p:embeddedFont>
    <p:embeddedFont>
      <p:font typeface="Lato Light" panose="020F0302020204030204" pitchFamily="34" charset="0"/>
      <p:regular r:id="rId49"/>
      <p:italic r:id="rId50"/>
    </p:embeddedFont>
    <p:embeddedFont>
      <p:font typeface="Open Sans 1" pitchFamily="2" charset="0"/>
      <p:regular r:id="rId51"/>
      <p:bold r:id="rId52"/>
      <p:italic r:id="rId53"/>
      <p:boldItalic r:id="rId54"/>
    </p:embeddedFont>
    <p:embeddedFont>
      <p:font typeface="Open Sans 2" pitchFamily="2" charset="0"/>
      <p:regular r:id="rId55"/>
      <p:bold r:id="rId56"/>
      <p:italic r:id="rId57"/>
      <p:boldItalic r:id="rId58"/>
    </p:embeddedFont>
    <p:embeddedFont>
      <p:font typeface="Open Sans 2 Bold" pitchFamily="2" charset="0"/>
      <p:regular r:id="rId59"/>
      <p:bold r:id="rId60"/>
      <p:italic r:id="rId61"/>
      <p:boldItalic r:id="rId62"/>
    </p:embeddedFont>
    <p:embeddedFont>
      <p:font typeface="Open Sans 2 Italics" pitchFamily="2" charset="0"/>
      <p:regular r:id="rId63"/>
      <p:bold r:id="rId64"/>
      <p:italic r:id="rId65"/>
      <p:boldItalic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94" autoAdjust="0"/>
  </p:normalViewPr>
  <p:slideViewPr>
    <p:cSldViewPr>
      <p:cViewPr varScale="1">
        <p:scale>
          <a:sx n="113" d="100"/>
          <a:sy n="113" d="100"/>
        </p:scale>
        <p:origin x="1928"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font" Target="fonts/font12.fntdata"/><Relationship Id="rId47" Type="http://schemas.openxmlformats.org/officeDocument/2006/relationships/font" Target="fonts/font17.fntdata"/><Relationship Id="rId63" Type="http://schemas.openxmlformats.org/officeDocument/2006/relationships/font" Target="fonts/font33.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font" Target="fonts/font23.fntdata"/><Relationship Id="rId58" Type="http://schemas.openxmlformats.org/officeDocument/2006/relationships/font" Target="fonts/font28.fntdata"/><Relationship Id="rId66" Type="http://schemas.openxmlformats.org/officeDocument/2006/relationships/font" Target="fonts/font36.fntdata"/><Relationship Id="rId5" Type="http://schemas.openxmlformats.org/officeDocument/2006/relationships/slide" Target="slides/slide4.xml"/><Relationship Id="rId61" Type="http://schemas.openxmlformats.org/officeDocument/2006/relationships/font" Target="fonts/font3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font" Target="fonts/font26.fntdata"/><Relationship Id="rId64" Type="http://schemas.openxmlformats.org/officeDocument/2006/relationships/font" Target="fonts/font34.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2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font" Target="fonts/font29.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1.fntdata"/><Relationship Id="rId54" Type="http://schemas.openxmlformats.org/officeDocument/2006/relationships/font" Target="fonts/font24.fntdata"/><Relationship Id="rId62" Type="http://schemas.openxmlformats.org/officeDocument/2006/relationships/font" Target="fonts/font32.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font" Target="fonts/font19.fntdata"/><Relationship Id="rId57" Type="http://schemas.openxmlformats.org/officeDocument/2006/relationships/font" Target="fonts/font27.fntdata"/><Relationship Id="rId10" Type="http://schemas.openxmlformats.org/officeDocument/2006/relationships/slide" Target="slides/slide9.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font" Target="fonts/font22.fntdata"/><Relationship Id="rId60" Type="http://schemas.openxmlformats.org/officeDocument/2006/relationships/font" Target="fonts/font30.fntdata"/><Relationship Id="rId65" Type="http://schemas.openxmlformats.org/officeDocument/2006/relationships/font" Target="fonts/font35.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9.fntdata"/><Relationship Id="rId34" Type="http://schemas.openxmlformats.org/officeDocument/2006/relationships/font" Target="fonts/font4.fntdata"/><Relationship Id="rId50" Type="http://schemas.openxmlformats.org/officeDocument/2006/relationships/font" Target="fonts/font20.fntdata"/><Relationship Id="rId55" Type="http://schemas.openxmlformats.org/officeDocument/2006/relationships/font" Target="fonts/font2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19.12.2023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60675" y="512763"/>
            <a:ext cx="34226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12/19/23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12/19/23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12/19/23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12/19/23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12/19/23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12/19/23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12/19/23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12/19/23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12/19/23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3" Type="http://schemas.openxmlformats.org/officeDocument/2006/relationships/image" Target="../media/image25.png"/><Relationship Id="rId18" Type="http://schemas.openxmlformats.org/officeDocument/2006/relationships/image" Target="../media/image30.png"/><Relationship Id="rId26" Type="http://schemas.openxmlformats.org/officeDocument/2006/relationships/image" Target="../media/image38.svg"/><Relationship Id="rId39" Type="http://schemas.openxmlformats.org/officeDocument/2006/relationships/image" Target="../media/image51.png"/><Relationship Id="rId21" Type="http://schemas.openxmlformats.org/officeDocument/2006/relationships/image" Target="../media/image33.png"/><Relationship Id="rId34" Type="http://schemas.openxmlformats.org/officeDocument/2006/relationships/image" Target="../media/image46.svg"/><Relationship Id="rId42" Type="http://schemas.openxmlformats.org/officeDocument/2006/relationships/image" Target="../media/image54.svg"/><Relationship Id="rId47" Type="http://schemas.openxmlformats.org/officeDocument/2006/relationships/image" Target="../media/image59.png"/><Relationship Id="rId7" Type="http://schemas.openxmlformats.org/officeDocument/2006/relationships/image" Target="../media/image19.jpeg"/><Relationship Id="rId2" Type="http://schemas.openxmlformats.org/officeDocument/2006/relationships/image" Target="../media/image14.png"/><Relationship Id="rId16" Type="http://schemas.openxmlformats.org/officeDocument/2006/relationships/image" Target="../media/image28.svg"/><Relationship Id="rId29" Type="http://schemas.openxmlformats.org/officeDocument/2006/relationships/image" Target="../media/image41.jpeg"/><Relationship Id="rId1" Type="http://schemas.openxmlformats.org/officeDocument/2006/relationships/slideLayout" Target="../slideLayouts/slideLayout7.xml"/><Relationship Id="rId6" Type="http://schemas.openxmlformats.org/officeDocument/2006/relationships/image" Target="../media/image18.png"/><Relationship Id="rId11" Type="http://schemas.openxmlformats.org/officeDocument/2006/relationships/image" Target="../media/image23.jpeg"/><Relationship Id="rId24" Type="http://schemas.openxmlformats.org/officeDocument/2006/relationships/image" Target="../media/image36.svg"/><Relationship Id="rId32" Type="http://schemas.openxmlformats.org/officeDocument/2006/relationships/image" Target="../media/image44.png"/><Relationship Id="rId37" Type="http://schemas.openxmlformats.org/officeDocument/2006/relationships/image" Target="../media/image49.png"/><Relationship Id="rId40" Type="http://schemas.openxmlformats.org/officeDocument/2006/relationships/image" Target="../media/image52.svg"/><Relationship Id="rId45" Type="http://schemas.openxmlformats.org/officeDocument/2006/relationships/image" Target="../media/image57.png"/><Relationship Id="rId5" Type="http://schemas.openxmlformats.org/officeDocument/2006/relationships/image" Target="../media/image17.svg"/><Relationship Id="rId15" Type="http://schemas.openxmlformats.org/officeDocument/2006/relationships/image" Target="../media/image27.png"/><Relationship Id="rId23" Type="http://schemas.openxmlformats.org/officeDocument/2006/relationships/image" Target="../media/image35.png"/><Relationship Id="rId28" Type="http://schemas.openxmlformats.org/officeDocument/2006/relationships/image" Target="../media/image40.jpeg"/><Relationship Id="rId36" Type="http://schemas.openxmlformats.org/officeDocument/2006/relationships/image" Target="../media/image48.svg"/><Relationship Id="rId10" Type="http://schemas.openxmlformats.org/officeDocument/2006/relationships/image" Target="../media/image22.jpeg"/><Relationship Id="rId19" Type="http://schemas.openxmlformats.org/officeDocument/2006/relationships/image" Target="../media/image31.svg"/><Relationship Id="rId31" Type="http://schemas.openxmlformats.org/officeDocument/2006/relationships/image" Target="../media/image43.png"/><Relationship Id="rId44" Type="http://schemas.openxmlformats.org/officeDocument/2006/relationships/image" Target="../media/image56.sv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 Id="rId22" Type="http://schemas.openxmlformats.org/officeDocument/2006/relationships/image" Target="../media/image34.png"/><Relationship Id="rId27" Type="http://schemas.openxmlformats.org/officeDocument/2006/relationships/image" Target="../media/image39.jpeg"/><Relationship Id="rId30" Type="http://schemas.openxmlformats.org/officeDocument/2006/relationships/image" Target="../media/image42.png"/><Relationship Id="rId35" Type="http://schemas.openxmlformats.org/officeDocument/2006/relationships/image" Target="../media/image47.png"/><Relationship Id="rId43" Type="http://schemas.openxmlformats.org/officeDocument/2006/relationships/image" Target="../media/image55.png"/><Relationship Id="rId48" Type="http://schemas.openxmlformats.org/officeDocument/2006/relationships/image" Target="../media/image60.svg"/><Relationship Id="rId8" Type="http://schemas.openxmlformats.org/officeDocument/2006/relationships/image" Target="../media/image20.jpeg"/><Relationship Id="rId3" Type="http://schemas.openxmlformats.org/officeDocument/2006/relationships/image" Target="../media/image15.jpeg"/><Relationship Id="rId12" Type="http://schemas.openxmlformats.org/officeDocument/2006/relationships/image" Target="../media/image24.jpeg"/><Relationship Id="rId17" Type="http://schemas.openxmlformats.org/officeDocument/2006/relationships/image" Target="../media/image29.svg"/><Relationship Id="rId25" Type="http://schemas.openxmlformats.org/officeDocument/2006/relationships/image" Target="../media/image37.svg"/><Relationship Id="rId33" Type="http://schemas.openxmlformats.org/officeDocument/2006/relationships/image" Target="../media/image45.png"/><Relationship Id="rId38" Type="http://schemas.openxmlformats.org/officeDocument/2006/relationships/image" Target="../media/image50.svg"/><Relationship Id="rId46" Type="http://schemas.openxmlformats.org/officeDocument/2006/relationships/image" Target="../media/image58.png"/><Relationship Id="rId20" Type="http://schemas.openxmlformats.org/officeDocument/2006/relationships/image" Target="../media/image32.jpeg"/><Relationship Id="rId41"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9753600" cy="5486400"/>
          </a:xfrm>
          <a:prstGeom prst="rect">
            <a:avLst/>
          </a:prstGeom>
          <a:solidFill>
            <a:srgbClr val="FFFFFF"/>
          </a:solidFill>
        </p:spPr>
      </p:sp>
      <p:sp>
        <p:nvSpPr>
          <p:cNvPr id="3" name="Freeform 3"/>
          <p:cNvSpPr/>
          <p:nvPr/>
        </p:nvSpPr>
        <p:spPr>
          <a:xfrm>
            <a:off x="75" y="1022110"/>
            <a:ext cx="7066185" cy="3645078"/>
          </a:xfrm>
          <a:custGeom>
            <a:avLst/>
            <a:gdLst/>
            <a:ahLst/>
            <a:cxnLst/>
            <a:rect l="l" t="t" r="r" b="b"/>
            <a:pathLst>
              <a:path w="7066185" h="3645078">
                <a:moveTo>
                  <a:pt x="0" y="0"/>
                </a:moveTo>
                <a:lnTo>
                  <a:pt x="7066184" y="0"/>
                </a:lnTo>
                <a:lnTo>
                  <a:pt x="7066184" y="3645078"/>
                </a:lnTo>
                <a:lnTo>
                  <a:pt x="0" y="3645078"/>
                </a:lnTo>
                <a:lnTo>
                  <a:pt x="0" y="0"/>
                </a:lnTo>
                <a:close/>
              </a:path>
            </a:pathLst>
          </a:custGeom>
          <a:blipFill>
            <a:blip r:embed="rId3"/>
            <a:stretch>
              <a:fillRect t="-4521" b="-4521"/>
            </a:stretch>
          </a:blipFill>
        </p:spPr>
      </p:sp>
      <p:sp>
        <p:nvSpPr>
          <p:cNvPr id="4" name="Freeform 4"/>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4"/>
            <a:stretch>
              <a:fillRect/>
            </a:stretch>
          </a:blipFill>
        </p:spPr>
      </p:sp>
      <p:sp>
        <p:nvSpPr>
          <p:cNvPr id="5" name="AutoShape 5"/>
          <p:cNvSpPr/>
          <p:nvPr/>
        </p:nvSpPr>
        <p:spPr>
          <a:xfrm flipH="1">
            <a:off x="80" y="5279302"/>
            <a:ext cx="9753520" cy="5319"/>
          </a:xfrm>
          <a:prstGeom prst="line">
            <a:avLst/>
          </a:prstGeom>
          <a:ln w="19050" cap="rnd">
            <a:solidFill>
              <a:srgbClr val="003A74"/>
            </a:solidFill>
            <a:prstDash val="solid"/>
            <a:headEnd type="none" w="sm" len="sm"/>
            <a:tailEnd type="none" w="sm" len="sm"/>
          </a:ln>
        </p:spPr>
      </p:sp>
      <p:sp>
        <p:nvSpPr>
          <p:cNvPr id="6" name="TextBox 6"/>
          <p:cNvSpPr txBox="1"/>
          <p:nvPr/>
        </p:nvSpPr>
        <p:spPr>
          <a:xfrm>
            <a:off x="3985672" y="6298034"/>
            <a:ext cx="5767933" cy="601988"/>
          </a:xfrm>
          <a:prstGeom prst="rect">
            <a:avLst/>
          </a:prstGeom>
        </p:spPr>
        <p:txBody>
          <a:bodyPr lIns="0" tIns="0" rIns="0" bIns="0" rtlCol="0" anchor="t">
            <a:spAutoFit/>
          </a:bodyPr>
          <a:lstStyle/>
          <a:p>
            <a:pPr algn="l">
              <a:lnSpc>
                <a:spcPts val="2341"/>
              </a:lnSpc>
            </a:pPr>
            <a:r>
              <a:rPr lang="en-US" sz="1951">
                <a:solidFill>
                  <a:srgbClr val="000000"/>
                </a:solidFill>
                <a:latin typeface="Open Sans 1"/>
              </a:rPr>
              <a:t>Tye Hayes - N-Ovate Solutions, CEO</a:t>
            </a:r>
          </a:p>
          <a:p>
            <a:pPr algn="l">
              <a:lnSpc>
                <a:spcPts val="2341"/>
              </a:lnSpc>
            </a:pPr>
            <a:r>
              <a:rPr lang="en-US" sz="1951">
                <a:solidFill>
                  <a:srgbClr val="000000"/>
                </a:solidFill>
                <a:latin typeface="Open Sans 1"/>
              </a:rPr>
              <a:t>Jeff Cratty - N-Ovate Solutions, Solutions Architect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17859" y="312034"/>
            <a:ext cx="8473480" cy="246126"/>
          </a:xfrm>
          <a:prstGeom prst="rect">
            <a:avLst/>
          </a:prstGeom>
        </p:spPr>
        <p:txBody>
          <a:bodyPr lIns="0" tIns="0" rIns="0" bIns="0" rtlCol="0" anchor="t">
            <a:spAutoFit/>
          </a:bodyPr>
          <a:lstStyle/>
          <a:p>
            <a:pPr algn="l">
              <a:lnSpc>
                <a:spcPts val="1631"/>
              </a:lnSpc>
            </a:pPr>
            <a:r>
              <a:rPr lang="en-US" sz="1599">
                <a:solidFill>
                  <a:srgbClr val="009DCF"/>
                </a:solidFill>
                <a:latin typeface="Arial Bold"/>
              </a:rPr>
              <a:t>Workshop Agenda</a:t>
            </a:r>
          </a:p>
        </p:txBody>
      </p:sp>
      <p:sp>
        <p:nvSpPr>
          <p:cNvPr id="3" name="TextBox 3"/>
          <p:cNvSpPr txBox="1"/>
          <p:nvPr/>
        </p:nvSpPr>
        <p:spPr>
          <a:xfrm>
            <a:off x="655304" y="1404568"/>
            <a:ext cx="8798590" cy="5044266"/>
          </a:xfrm>
          <a:prstGeom prst="rect">
            <a:avLst/>
          </a:prstGeom>
        </p:spPr>
        <p:txBody>
          <a:bodyPr lIns="0" tIns="0" rIns="0" bIns="0" rtlCol="0" anchor="t">
            <a:spAutoFit/>
          </a:bodyPr>
          <a:lstStyle/>
          <a:p>
            <a:pPr algn="l">
              <a:lnSpc>
                <a:spcPts val="2560"/>
              </a:lnSpc>
            </a:pPr>
            <a:endParaRPr dirty="0"/>
          </a:p>
          <a:p>
            <a:pPr marL="460587" lvl="1" indent="-230293" algn="l">
              <a:lnSpc>
                <a:spcPts val="2560"/>
              </a:lnSpc>
              <a:buFont typeface="Arial"/>
              <a:buChar char="•"/>
            </a:pPr>
            <a:r>
              <a:rPr lang="en-US" b="1" dirty="0">
                <a:solidFill>
                  <a:srgbClr val="000000"/>
                </a:solidFill>
                <a:latin typeface="Arial"/>
              </a:rPr>
              <a:t>Competing in the Age of Digital Technology Disruption</a:t>
            </a:r>
          </a:p>
          <a:p>
            <a:pPr algn="l">
              <a:lnSpc>
                <a:spcPts val="2560"/>
              </a:lnSpc>
            </a:pPr>
            <a:endParaRPr lang="en-US" dirty="0">
              <a:solidFill>
                <a:srgbClr val="000000"/>
              </a:solidFill>
              <a:latin typeface="Arial"/>
            </a:endParaRPr>
          </a:p>
          <a:p>
            <a:pPr marL="460587" lvl="1" indent="-230293" algn="l">
              <a:lnSpc>
                <a:spcPts val="2560"/>
              </a:lnSpc>
              <a:buFont typeface="Arial"/>
              <a:buChar char="•"/>
            </a:pPr>
            <a:r>
              <a:rPr lang="en-US" b="1" dirty="0">
                <a:solidFill>
                  <a:srgbClr val="000000"/>
                </a:solidFill>
                <a:latin typeface="Arial"/>
              </a:rPr>
              <a:t>Zone To Management Framework &amp; Toolset – Maximizing Business Value</a:t>
            </a:r>
          </a:p>
          <a:p>
            <a:pPr marL="1243584" lvl="3" indent="-310896" algn="l">
              <a:lnSpc>
                <a:spcPts val="2304"/>
              </a:lnSpc>
              <a:buFont typeface="Arial"/>
              <a:buChar char="￭"/>
            </a:pPr>
            <a:r>
              <a:rPr lang="en-US" dirty="0">
                <a:solidFill>
                  <a:srgbClr val="E36C09"/>
                </a:solidFill>
                <a:latin typeface="Arial"/>
              </a:rPr>
              <a:t>Performance Zone</a:t>
            </a:r>
          </a:p>
          <a:p>
            <a:pPr marL="1243584" lvl="3" indent="-310896" algn="l">
              <a:lnSpc>
                <a:spcPts val="2304"/>
              </a:lnSpc>
              <a:buFont typeface="Arial"/>
              <a:buChar char="￭"/>
            </a:pPr>
            <a:r>
              <a:rPr lang="en-US" dirty="0">
                <a:solidFill>
                  <a:srgbClr val="E36C09"/>
                </a:solidFill>
                <a:latin typeface="Arial"/>
              </a:rPr>
              <a:t>Productivity Zone</a:t>
            </a:r>
          </a:p>
          <a:p>
            <a:pPr marL="829056" lvl="2" indent="-276352" algn="l">
              <a:lnSpc>
                <a:spcPts val="2304"/>
              </a:lnSpc>
              <a:buFont typeface="Arial"/>
              <a:buChar char="⚬"/>
            </a:pPr>
            <a:r>
              <a:rPr lang="en-US" dirty="0">
                <a:solidFill>
                  <a:srgbClr val="000000"/>
                </a:solidFill>
                <a:latin typeface="Arial Bold"/>
              </a:rPr>
              <a:t>Group Exercise</a:t>
            </a:r>
          </a:p>
          <a:p>
            <a:pPr marL="1243584" lvl="3" indent="-310896" algn="l">
              <a:lnSpc>
                <a:spcPts val="2304"/>
              </a:lnSpc>
              <a:buFont typeface="Arial"/>
              <a:buChar char="￭"/>
            </a:pPr>
            <a:r>
              <a:rPr lang="en-US" dirty="0">
                <a:solidFill>
                  <a:srgbClr val="E36C09"/>
                </a:solidFill>
                <a:latin typeface="Arial"/>
              </a:rPr>
              <a:t>Incubation Zone</a:t>
            </a:r>
          </a:p>
          <a:p>
            <a:pPr marL="1243584" lvl="3" indent="-310896" algn="l">
              <a:lnSpc>
                <a:spcPts val="2304"/>
              </a:lnSpc>
              <a:buFont typeface="Arial"/>
              <a:buChar char="￭"/>
            </a:pPr>
            <a:r>
              <a:rPr lang="en-US" dirty="0">
                <a:solidFill>
                  <a:srgbClr val="E36C09"/>
                </a:solidFill>
                <a:latin typeface="Arial"/>
              </a:rPr>
              <a:t>Transformation Zone</a:t>
            </a:r>
          </a:p>
          <a:p>
            <a:pPr algn="l">
              <a:lnSpc>
                <a:spcPts val="2304"/>
              </a:lnSpc>
            </a:pPr>
            <a:endParaRPr lang="en-US" dirty="0">
              <a:solidFill>
                <a:srgbClr val="E36C09"/>
              </a:solidFill>
              <a:latin typeface="Arial"/>
            </a:endParaRPr>
          </a:p>
          <a:p>
            <a:pPr marL="459867" lvl="1" indent="-229933" algn="l">
              <a:lnSpc>
                <a:spcPts val="2555"/>
              </a:lnSpc>
              <a:buFont typeface="Arial"/>
              <a:buChar char="•"/>
            </a:pPr>
            <a:r>
              <a:rPr lang="en-US" b="1" dirty="0">
                <a:solidFill>
                  <a:srgbClr val="000000"/>
                </a:solidFill>
                <a:latin typeface="Arial"/>
              </a:rPr>
              <a:t>Zone to Win - Attacking, Defending, Maintaining</a:t>
            </a:r>
          </a:p>
          <a:p>
            <a:pPr algn="l">
              <a:lnSpc>
                <a:spcPts val="2555"/>
              </a:lnSpc>
            </a:pPr>
            <a:endParaRPr lang="en-US" dirty="0">
              <a:solidFill>
                <a:srgbClr val="000000"/>
              </a:solidFill>
              <a:latin typeface="Arial"/>
            </a:endParaRPr>
          </a:p>
          <a:p>
            <a:pPr marL="919734" lvl="2" indent="-306578" algn="l">
              <a:lnSpc>
                <a:spcPts val="2555"/>
              </a:lnSpc>
              <a:buFont typeface="Arial"/>
              <a:buChar char="⚬"/>
            </a:pPr>
            <a:r>
              <a:rPr lang="en-US" dirty="0">
                <a:solidFill>
                  <a:srgbClr val="000000"/>
                </a:solidFill>
                <a:latin typeface="Arial"/>
              </a:rPr>
              <a:t>Use Case Discussion (</a:t>
            </a:r>
            <a:r>
              <a:rPr lang="en-US" dirty="0" err="1">
                <a:solidFill>
                  <a:srgbClr val="4F81BD"/>
                </a:solidFill>
                <a:latin typeface="Arial Bold"/>
              </a:rPr>
              <a:t>SalesForce</a:t>
            </a:r>
            <a:r>
              <a:rPr lang="en-US" dirty="0">
                <a:solidFill>
                  <a:srgbClr val="000000"/>
                </a:solidFill>
                <a:latin typeface="Arial"/>
              </a:rPr>
              <a:t> and </a:t>
            </a:r>
            <a:r>
              <a:rPr lang="en-US" dirty="0">
                <a:solidFill>
                  <a:srgbClr val="4F81BD"/>
                </a:solidFill>
                <a:latin typeface="Arial Bold"/>
              </a:rPr>
              <a:t>Microsoft)</a:t>
            </a:r>
          </a:p>
          <a:p>
            <a:pPr algn="l">
              <a:lnSpc>
                <a:spcPts val="2555"/>
              </a:lnSpc>
            </a:pPr>
            <a:endParaRPr lang="en-US" dirty="0">
              <a:solidFill>
                <a:srgbClr val="4F81BD"/>
              </a:solidFill>
              <a:latin typeface="Arial Bold"/>
            </a:endParaRPr>
          </a:p>
          <a:p>
            <a:pPr marL="459867" lvl="1" indent="-229933" algn="l">
              <a:lnSpc>
                <a:spcPts val="2555"/>
              </a:lnSpc>
              <a:buFont typeface="Arial"/>
              <a:buChar char="•"/>
            </a:pPr>
            <a:r>
              <a:rPr lang="en-US" b="1" dirty="0">
                <a:solidFill>
                  <a:srgbClr val="000000"/>
                </a:solidFill>
                <a:latin typeface="Arial"/>
              </a:rPr>
              <a:t>NFL Innovation HUB Group Exercise </a:t>
            </a:r>
            <a:r>
              <a:rPr lang="en-US" dirty="0">
                <a:solidFill>
                  <a:srgbClr val="000000"/>
                </a:solidFill>
                <a:latin typeface="Arial"/>
              </a:rPr>
              <a:t>(</a:t>
            </a:r>
            <a:r>
              <a:rPr lang="en-US" dirty="0">
                <a:solidFill>
                  <a:srgbClr val="4F81BD"/>
                </a:solidFill>
                <a:latin typeface="Arial Bold"/>
              </a:rPr>
              <a:t>NFL View</a:t>
            </a:r>
            <a:r>
              <a:rPr lang="en-US" dirty="0">
                <a:solidFill>
                  <a:srgbClr val="000000"/>
                </a:solidFill>
                <a:latin typeface="Arial"/>
              </a:rPr>
              <a:t>, </a:t>
            </a:r>
            <a:r>
              <a:rPr lang="en-US" dirty="0">
                <a:solidFill>
                  <a:srgbClr val="4F81BD"/>
                </a:solidFill>
                <a:latin typeface="Arial Bold"/>
              </a:rPr>
              <a:t>Optical Tracking</a:t>
            </a:r>
            <a:r>
              <a:rPr lang="en-US" dirty="0">
                <a:solidFill>
                  <a:srgbClr val="000000"/>
                </a:solidFill>
                <a:latin typeface="Arial"/>
              </a:rPr>
              <a:t>)</a:t>
            </a:r>
          </a:p>
          <a:p>
            <a:pPr algn="l">
              <a:lnSpc>
                <a:spcPts val="2304"/>
              </a:lnSpc>
            </a:pPr>
            <a:endParaRPr lang="en-US" dirty="0">
              <a:solidFill>
                <a:srgbClr val="000000"/>
              </a:solidFill>
              <a:latin typeface="Arial"/>
            </a:endParaRPr>
          </a:p>
        </p:txBody>
      </p:sp>
      <p:sp>
        <p:nvSpPr>
          <p:cNvPr id="4" name="TextBox 4"/>
          <p:cNvSpPr txBox="1"/>
          <p:nvPr/>
        </p:nvSpPr>
        <p:spPr>
          <a:xfrm>
            <a:off x="817859" y="254884"/>
            <a:ext cx="8749329" cy="1524000"/>
          </a:xfrm>
          <a:prstGeom prst="rect">
            <a:avLst/>
          </a:prstGeom>
        </p:spPr>
        <p:txBody>
          <a:bodyPr lIns="0" tIns="0" rIns="0" bIns="0" rtlCol="0" anchor="t">
            <a:spAutoFit/>
          </a:bodyPr>
          <a:lstStyle/>
          <a:p>
            <a:pPr algn="l">
              <a:lnSpc>
                <a:spcPts val="3840"/>
              </a:lnSpc>
            </a:pPr>
            <a:endParaRPr dirty="0"/>
          </a:p>
          <a:p>
            <a:pPr algn="l">
              <a:lnSpc>
                <a:spcPts val="3840"/>
              </a:lnSpc>
            </a:pPr>
            <a:r>
              <a:rPr lang="en-US" sz="3200" dirty="0">
                <a:solidFill>
                  <a:srgbClr val="000000"/>
                </a:solidFill>
                <a:latin typeface="Arial Bold"/>
              </a:rPr>
              <a:t>Implementing Zone Management</a:t>
            </a:r>
          </a:p>
          <a:p>
            <a:pPr algn="l">
              <a:lnSpc>
                <a:spcPts val="3840"/>
              </a:lnSpc>
            </a:pPr>
            <a:endParaRPr lang="en-US" sz="3200" dirty="0">
              <a:solidFill>
                <a:srgbClr val="000000"/>
              </a:solidFill>
              <a:latin typeface="Arial Bold"/>
            </a:endParaRPr>
          </a:p>
        </p:txBody>
      </p:sp>
      <p:sp>
        <p:nvSpPr>
          <p:cNvPr id="5" name="Freeform 5"/>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4409" y="244831"/>
            <a:ext cx="9037257" cy="1074039"/>
          </a:xfrm>
          <a:prstGeom prst="rect">
            <a:avLst/>
          </a:prstGeom>
        </p:spPr>
        <p:txBody>
          <a:bodyPr lIns="0" tIns="0" rIns="0" bIns="0" rtlCol="0" anchor="t">
            <a:spAutoFit/>
          </a:bodyPr>
          <a:lstStyle/>
          <a:p>
            <a:pPr algn="l">
              <a:lnSpc>
                <a:spcPts val="1631"/>
              </a:lnSpc>
            </a:pPr>
            <a:r>
              <a:rPr lang="en-US" sz="1599">
                <a:solidFill>
                  <a:srgbClr val="F14902"/>
                </a:solidFill>
                <a:latin typeface="Arial Bold"/>
              </a:rPr>
              <a:t>An Age of Disruption</a:t>
            </a:r>
          </a:p>
          <a:p>
            <a:pPr algn="l">
              <a:lnSpc>
                <a:spcPts val="1631"/>
              </a:lnSpc>
            </a:pPr>
            <a:endParaRPr lang="en-US" sz="1599">
              <a:solidFill>
                <a:srgbClr val="F14902"/>
              </a:solidFill>
              <a:latin typeface="Arial Bold"/>
            </a:endParaRPr>
          </a:p>
          <a:p>
            <a:pPr algn="l">
              <a:lnSpc>
                <a:spcPts val="1631"/>
              </a:lnSpc>
            </a:pPr>
            <a:endParaRPr lang="en-US" sz="1599">
              <a:solidFill>
                <a:srgbClr val="F14902"/>
              </a:solidFill>
              <a:latin typeface="Arial Bold"/>
            </a:endParaRPr>
          </a:p>
          <a:p>
            <a:pPr algn="l">
              <a:lnSpc>
                <a:spcPts val="3264"/>
              </a:lnSpc>
            </a:pPr>
            <a:r>
              <a:rPr lang="en-US" sz="3200">
                <a:solidFill>
                  <a:srgbClr val="000000"/>
                </a:solidFill>
                <a:latin typeface="Arial"/>
              </a:rPr>
              <a:t>From industrial products to digital services</a:t>
            </a:r>
          </a:p>
        </p:txBody>
      </p:sp>
      <p:sp>
        <p:nvSpPr>
          <p:cNvPr id="3" name="TextBox 3"/>
          <p:cNvSpPr txBox="1"/>
          <p:nvPr/>
        </p:nvSpPr>
        <p:spPr>
          <a:xfrm>
            <a:off x="7758235" y="5311751"/>
            <a:ext cx="1774613" cy="147733"/>
          </a:xfrm>
          <a:prstGeom prst="rect">
            <a:avLst/>
          </a:prstGeom>
        </p:spPr>
        <p:txBody>
          <a:bodyPr lIns="0" tIns="0" rIns="0" bIns="0" rtlCol="0" anchor="t">
            <a:spAutoFit/>
          </a:bodyPr>
          <a:lstStyle/>
          <a:p>
            <a:pPr algn="r">
              <a:lnSpc>
                <a:spcPts val="1152"/>
              </a:lnSpc>
            </a:pPr>
            <a:r>
              <a:rPr lang="en-US" sz="960">
                <a:solidFill>
                  <a:srgbClr val="000000"/>
                </a:solidFill>
                <a:latin typeface="Lato Light"/>
              </a:rPr>
              <a:t>‹#›</a:t>
            </a:r>
          </a:p>
        </p:txBody>
      </p:sp>
      <p:grpSp>
        <p:nvGrpSpPr>
          <p:cNvPr id="4" name="Group 4"/>
          <p:cNvGrpSpPr/>
          <p:nvPr/>
        </p:nvGrpSpPr>
        <p:grpSpPr>
          <a:xfrm>
            <a:off x="338285" y="5466851"/>
            <a:ext cx="9077030" cy="443181"/>
            <a:chOff x="0" y="0"/>
            <a:chExt cx="12102707" cy="590908"/>
          </a:xfrm>
        </p:grpSpPr>
        <p:sp>
          <p:nvSpPr>
            <p:cNvPr id="5" name="Freeform 5"/>
            <p:cNvSpPr/>
            <p:nvPr/>
          </p:nvSpPr>
          <p:spPr>
            <a:xfrm>
              <a:off x="0" y="0"/>
              <a:ext cx="12102719" cy="590931"/>
            </a:xfrm>
            <a:custGeom>
              <a:avLst/>
              <a:gdLst/>
              <a:ahLst/>
              <a:cxnLst/>
              <a:rect l="l" t="t" r="r" b="b"/>
              <a:pathLst>
                <a:path w="12102719" h="590931">
                  <a:moveTo>
                    <a:pt x="0" y="0"/>
                  </a:moveTo>
                  <a:lnTo>
                    <a:pt x="12102719" y="0"/>
                  </a:lnTo>
                  <a:lnTo>
                    <a:pt x="12102719" y="590931"/>
                  </a:lnTo>
                  <a:lnTo>
                    <a:pt x="0" y="590931"/>
                  </a:lnTo>
                  <a:close/>
                </a:path>
              </a:pathLst>
            </a:custGeom>
            <a:solidFill>
              <a:srgbClr val="0070C0"/>
            </a:solidFill>
          </p:spPr>
        </p:sp>
        <p:sp>
          <p:nvSpPr>
            <p:cNvPr id="6" name="TextBox 6"/>
            <p:cNvSpPr txBox="1"/>
            <p:nvPr/>
          </p:nvSpPr>
          <p:spPr>
            <a:xfrm>
              <a:off x="0" y="0"/>
              <a:ext cx="12102707" cy="590908"/>
            </a:xfrm>
            <a:prstGeom prst="rect">
              <a:avLst/>
            </a:prstGeom>
          </p:spPr>
          <p:txBody>
            <a:bodyPr lIns="50800" tIns="50800" rIns="50800" bIns="50800" rtlCol="0" anchor="t"/>
            <a:lstStyle/>
            <a:p>
              <a:pPr algn="ctr">
                <a:lnSpc>
                  <a:spcPts val="2688"/>
                </a:lnSpc>
              </a:pPr>
              <a:r>
                <a:rPr lang="en-US" sz="2240" spc="13">
                  <a:solidFill>
                    <a:srgbClr val="FFFFFF"/>
                  </a:solidFill>
                  <a:latin typeface="Open Sans 2 Bold"/>
                </a:rPr>
                <a:t>This is the next wave.  The challenge is to catch it.</a:t>
              </a:r>
            </a:p>
          </p:txBody>
        </p:sp>
      </p:grpSp>
      <p:sp>
        <p:nvSpPr>
          <p:cNvPr id="7" name="TextBox 7"/>
          <p:cNvSpPr txBox="1"/>
          <p:nvPr/>
        </p:nvSpPr>
        <p:spPr>
          <a:xfrm>
            <a:off x="5464046" y="2279542"/>
            <a:ext cx="4102101" cy="246221"/>
          </a:xfrm>
          <a:prstGeom prst="rect">
            <a:avLst/>
          </a:prstGeom>
        </p:spPr>
        <p:txBody>
          <a:bodyPr lIns="0" tIns="0" rIns="0" bIns="0" rtlCol="0" anchor="t">
            <a:spAutoFit/>
          </a:bodyPr>
          <a:lstStyle/>
          <a:p>
            <a:pPr algn="l">
              <a:lnSpc>
                <a:spcPts val="1920"/>
              </a:lnSpc>
            </a:pPr>
            <a:r>
              <a:rPr lang="en-US" sz="1600" spc="9">
                <a:solidFill>
                  <a:srgbClr val="F14902"/>
                </a:solidFill>
                <a:latin typeface="Open Sans 2 Bold"/>
              </a:rPr>
              <a:t>The Digital Services Era</a:t>
            </a:r>
          </a:p>
        </p:txBody>
      </p:sp>
      <p:sp>
        <p:nvSpPr>
          <p:cNvPr id="8" name="TextBox 8"/>
          <p:cNvSpPr txBox="1"/>
          <p:nvPr/>
        </p:nvSpPr>
        <p:spPr>
          <a:xfrm>
            <a:off x="5242562" y="2558796"/>
            <a:ext cx="4450079" cy="2345841"/>
          </a:xfrm>
          <a:prstGeom prst="rect">
            <a:avLst/>
          </a:prstGeom>
        </p:spPr>
        <p:txBody>
          <a:bodyPr lIns="0" tIns="0" rIns="0" bIns="0" rtlCol="0" anchor="t">
            <a:spAutoFit/>
          </a:bodyPr>
          <a:lstStyle/>
          <a:p>
            <a:pPr marL="216205" lvl="1" indent="-108102" algn="l">
              <a:lnSpc>
                <a:spcPts val="2015"/>
              </a:lnSpc>
              <a:buFont typeface="Arial"/>
              <a:buChar char="•"/>
            </a:pPr>
            <a:r>
              <a:rPr lang="en-US" sz="1679">
                <a:solidFill>
                  <a:srgbClr val="2F2F2F"/>
                </a:solidFill>
                <a:latin typeface="Arimo"/>
              </a:rPr>
              <a:t>Supply exceeds demand</a:t>
            </a:r>
          </a:p>
          <a:p>
            <a:pPr marL="216205" lvl="1" indent="-108102" algn="l">
              <a:lnSpc>
                <a:spcPts val="2015"/>
              </a:lnSpc>
              <a:buFont typeface="Arial"/>
              <a:buChar char="•"/>
            </a:pPr>
            <a:r>
              <a:rPr lang="en-US" sz="1679">
                <a:solidFill>
                  <a:srgbClr val="2F2F2F"/>
                </a:solidFill>
                <a:latin typeface="Arimo"/>
              </a:rPr>
              <a:t>Focus on the customer</a:t>
            </a:r>
          </a:p>
          <a:p>
            <a:pPr marL="216205" lvl="1" indent="-108102" algn="l">
              <a:lnSpc>
                <a:spcPts val="2015"/>
              </a:lnSpc>
              <a:buFont typeface="Arial"/>
              <a:buChar char="•"/>
            </a:pPr>
            <a:r>
              <a:rPr lang="en-US" sz="1679">
                <a:solidFill>
                  <a:srgbClr val="2F2F2F"/>
                </a:solidFill>
                <a:latin typeface="Arimo"/>
              </a:rPr>
              <a:t>User experience design</a:t>
            </a:r>
          </a:p>
          <a:p>
            <a:pPr marL="216205" lvl="1" indent="-108102" algn="l">
              <a:lnSpc>
                <a:spcPts val="2015"/>
              </a:lnSpc>
              <a:buFont typeface="Arial"/>
              <a:buChar char="•"/>
            </a:pPr>
            <a:r>
              <a:rPr lang="en-US" sz="1679">
                <a:solidFill>
                  <a:srgbClr val="2F2F2F"/>
                </a:solidFill>
                <a:latin typeface="Arimo"/>
              </a:rPr>
              <a:t>Cloud + Mobile changes everything</a:t>
            </a:r>
          </a:p>
          <a:p>
            <a:pPr marL="216205" lvl="1" indent="-108102" algn="l">
              <a:lnSpc>
                <a:spcPts val="2015"/>
              </a:lnSpc>
              <a:buFont typeface="Arial"/>
              <a:buChar char="•"/>
            </a:pPr>
            <a:r>
              <a:rPr lang="en-US" sz="1679">
                <a:solidFill>
                  <a:srgbClr val="2F2F2F"/>
                </a:solidFill>
                <a:latin typeface="Arimo"/>
              </a:rPr>
              <a:t>B2C enables B2B</a:t>
            </a:r>
          </a:p>
          <a:p>
            <a:pPr marL="216205" lvl="1" indent="-108102" algn="l">
              <a:lnSpc>
                <a:spcPts val="2015"/>
              </a:lnSpc>
              <a:buFont typeface="Arial"/>
              <a:buChar char="•"/>
            </a:pPr>
            <a:r>
              <a:rPr lang="en-US" sz="1679">
                <a:solidFill>
                  <a:srgbClr val="2F2F2F"/>
                </a:solidFill>
                <a:latin typeface="Arimo"/>
              </a:rPr>
              <a:t>Systems of Engagement &amp; Systems of Intelligence</a:t>
            </a:r>
          </a:p>
          <a:p>
            <a:pPr marL="216205" lvl="1" indent="-108102" algn="l">
              <a:lnSpc>
                <a:spcPts val="2015"/>
              </a:lnSpc>
              <a:buFont typeface="Arial"/>
              <a:buChar char="•"/>
            </a:pPr>
            <a:r>
              <a:rPr lang="en-US" sz="1679">
                <a:solidFill>
                  <a:srgbClr val="2F2F2F"/>
                </a:solidFill>
                <a:latin typeface="Arimo"/>
              </a:rPr>
              <a:t>Subscription &amp; ARR business model</a:t>
            </a:r>
          </a:p>
          <a:p>
            <a:pPr marL="216205" lvl="1" indent="-108102" algn="l">
              <a:lnSpc>
                <a:spcPts val="2015"/>
              </a:lnSpc>
              <a:buFont typeface="Arial"/>
              <a:buChar char="•"/>
            </a:pPr>
            <a:r>
              <a:rPr lang="en-US" sz="1679">
                <a:solidFill>
                  <a:srgbClr val="2F2F2F"/>
                </a:solidFill>
                <a:latin typeface="Arimo"/>
              </a:rPr>
              <a:t>Customer success</a:t>
            </a:r>
          </a:p>
          <a:p>
            <a:pPr marL="216205" lvl="1" indent="-108102" algn="l">
              <a:lnSpc>
                <a:spcPts val="2015"/>
              </a:lnSpc>
              <a:buFont typeface="Arial"/>
              <a:buChar char="•"/>
            </a:pPr>
            <a:r>
              <a:rPr lang="en-US" sz="1679">
                <a:solidFill>
                  <a:srgbClr val="2F2F2F"/>
                </a:solidFill>
                <a:latin typeface="Arimo"/>
              </a:rPr>
              <a:t>Salesforce, Amazon, Apple, Microsoft</a:t>
            </a:r>
          </a:p>
        </p:txBody>
      </p:sp>
      <p:sp>
        <p:nvSpPr>
          <p:cNvPr id="9" name="Freeform 9"/>
          <p:cNvSpPr/>
          <p:nvPr/>
        </p:nvSpPr>
        <p:spPr>
          <a:xfrm>
            <a:off x="3959516" y="2393730"/>
            <a:ext cx="1213989" cy="2501984"/>
          </a:xfrm>
          <a:custGeom>
            <a:avLst/>
            <a:gdLst/>
            <a:ahLst/>
            <a:cxnLst/>
            <a:rect l="l" t="t" r="r" b="b"/>
            <a:pathLst>
              <a:path w="1213989" h="2501984">
                <a:moveTo>
                  <a:pt x="0" y="0"/>
                </a:moveTo>
                <a:lnTo>
                  <a:pt x="1213989" y="0"/>
                </a:lnTo>
                <a:lnTo>
                  <a:pt x="1213989" y="2501984"/>
                </a:lnTo>
                <a:lnTo>
                  <a:pt x="0" y="250198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464409" y="2558796"/>
            <a:ext cx="4102101" cy="2345841"/>
          </a:xfrm>
          <a:prstGeom prst="rect">
            <a:avLst/>
          </a:prstGeom>
        </p:spPr>
        <p:txBody>
          <a:bodyPr lIns="0" tIns="0" rIns="0" bIns="0" rtlCol="0" anchor="t">
            <a:spAutoFit/>
          </a:bodyPr>
          <a:lstStyle/>
          <a:p>
            <a:pPr marL="216205" lvl="1" indent="-108102" algn="l">
              <a:lnSpc>
                <a:spcPts val="2015"/>
              </a:lnSpc>
              <a:buFont typeface="Arial"/>
              <a:buChar char="•"/>
            </a:pPr>
            <a:r>
              <a:rPr lang="en-US" sz="1679">
                <a:solidFill>
                  <a:srgbClr val="2F2F2F"/>
                </a:solidFill>
                <a:latin typeface="Arimo"/>
              </a:rPr>
              <a:t>Demand exceeds supply</a:t>
            </a:r>
          </a:p>
          <a:p>
            <a:pPr marL="216205" lvl="1" indent="-108102" algn="l">
              <a:lnSpc>
                <a:spcPts val="2015"/>
              </a:lnSpc>
              <a:buFont typeface="Arial"/>
              <a:buChar char="•"/>
            </a:pPr>
            <a:r>
              <a:rPr lang="en-US" sz="1679">
                <a:solidFill>
                  <a:srgbClr val="2F2F2F"/>
                </a:solidFill>
                <a:latin typeface="Arimo"/>
              </a:rPr>
              <a:t>Focus on the supply chain</a:t>
            </a:r>
          </a:p>
          <a:p>
            <a:pPr marL="216205" lvl="1" indent="-108102" algn="l">
              <a:lnSpc>
                <a:spcPts val="2015"/>
              </a:lnSpc>
              <a:buFont typeface="Arial"/>
              <a:buChar char="•"/>
            </a:pPr>
            <a:r>
              <a:rPr lang="en-US" sz="1679">
                <a:solidFill>
                  <a:srgbClr val="2F2F2F"/>
                </a:solidFill>
                <a:latin typeface="Arimo"/>
              </a:rPr>
              <a:t>Six sigma quality programs</a:t>
            </a:r>
          </a:p>
          <a:p>
            <a:pPr marL="216205" lvl="1" indent="-108102" algn="l">
              <a:lnSpc>
                <a:spcPts val="2015"/>
              </a:lnSpc>
              <a:buFont typeface="Arial"/>
              <a:buChar char="•"/>
            </a:pPr>
            <a:r>
              <a:rPr lang="en-US" sz="1679">
                <a:solidFill>
                  <a:srgbClr val="2F2F2F"/>
                </a:solidFill>
                <a:latin typeface="Arimo"/>
              </a:rPr>
              <a:t>Internet changes everything</a:t>
            </a:r>
          </a:p>
          <a:p>
            <a:pPr marL="216205" lvl="1" indent="-108102" algn="l">
              <a:lnSpc>
                <a:spcPts val="2015"/>
              </a:lnSpc>
              <a:buFont typeface="Arial"/>
              <a:buChar char="•"/>
            </a:pPr>
            <a:r>
              <a:rPr lang="en-US" sz="1679">
                <a:solidFill>
                  <a:srgbClr val="2F2F2F"/>
                </a:solidFill>
                <a:latin typeface="Arimo"/>
              </a:rPr>
              <a:t>B2B enables B2C</a:t>
            </a:r>
          </a:p>
          <a:p>
            <a:pPr marL="216205" lvl="1" indent="-108102" algn="l">
              <a:lnSpc>
                <a:spcPts val="2015"/>
              </a:lnSpc>
              <a:buFont typeface="Arial"/>
              <a:buChar char="•"/>
            </a:pPr>
            <a:r>
              <a:rPr lang="en-US" sz="1679">
                <a:solidFill>
                  <a:srgbClr val="2F2F2F"/>
                </a:solidFill>
                <a:latin typeface="Arimo"/>
              </a:rPr>
              <a:t>Systems of Record</a:t>
            </a:r>
          </a:p>
          <a:p>
            <a:pPr marL="216205" lvl="1" indent="-108102" algn="l">
              <a:lnSpc>
                <a:spcPts val="2015"/>
              </a:lnSpc>
              <a:buFont typeface="Arial"/>
              <a:buChar char="•"/>
            </a:pPr>
            <a:r>
              <a:rPr lang="en-US" sz="1679">
                <a:solidFill>
                  <a:srgbClr val="2F2F2F"/>
                </a:solidFill>
                <a:latin typeface="Arimo"/>
              </a:rPr>
              <a:t>License &amp; maintenance business model</a:t>
            </a:r>
          </a:p>
          <a:p>
            <a:pPr marL="216205" lvl="1" indent="-108102" algn="l">
              <a:lnSpc>
                <a:spcPts val="2015"/>
              </a:lnSpc>
              <a:buFont typeface="Arial"/>
              <a:buChar char="•"/>
            </a:pPr>
            <a:r>
              <a:rPr lang="en-US" sz="1679">
                <a:solidFill>
                  <a:srgbClr val="2F2F2F"/>
                </a:solidFill>
                <a:latin typeface="Arimo"/>
              </a:rPr>
              <a:t>Customer support</a:t>
            </a:r>
          </a:p>
          <a:p>
            <a:pPr marL="216205" lvl="1" indent="-108102" algn="l">
              <a:lnSpc>
                <a:spcPts val="2015"/>
              </a:lnSpc>
              <a:buFont typeface="Arial"/>
              <a:buChar char="•"/>
            </a:pPr>
            <a:r>
              <a:rPr lang="en-US" sz="1679">
                <a:solidFill>
                  <a:srgbClr val="2F2F2F"/>
                </a:solidFill>
                <a:latin typeface="Arimo"/>
              </a:rPr>
              <a:t>SAP, Oracle, Cisco, Intel</a:t>
            </a:r>
          </a:p>
        </p:txBody>
      </p:sp>
      <p:sp>
        <p:nvSpPr>
          <p:cNvPr id="11" name="TextBox 11"/>
          <p:cNvSpPr txBox="1"/>
          <p:nvPr/>
        </p:nvSpPr>
        <p:spPr>
          <a:xfrm>
            <a:off x="464409" y="2279542"/>
            <a:ext cx="4102101" cy="246221"/>
          </a:xfrm>
          <a:prstGeom prst="rect">
            <a:avLst/>
          </a:prstGeom>
        </p:spPr>
        <p:txBody>
          <a:bodyPr lIns="0" tIns="0" rIns="0" bIns="0" rtlCol="0" anchor="t">
            <a:spAutoFit/>
          </a:bodyPr>
          <a:lstStyle/>
          <a:p>
            <a:pPr algn="l">
              <a:lnSpc>
                <a:spcPts val="1920"/>
              </a:lnSpc>
            </a:pPr>
            <a:r>
              <a:rPr lang="en-US" sz="1600" spc="9">
                <a:solidFill>
                  <a:srgbClr val="F14902"/>
                </a:solidFill>
                <a:latin typeface="Open Sans 2 Bold"/>
              </a:rPr>
              <a:t>The Industrial Product Era</a:t>
            </a:r>
          </a:p>
        </p:txBody>
      </p:sp>
      <p:sp>
        <p:nvSpPr>
          <p:cNvPr id="12" name="Freeform 12"/>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5"/>
            <a:stretch>
              <a:fillRect/>
            </a:stretch>
          </a:blipFill>
        </p:spPr>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
        <p:nvSpPr>
          <p:cNvPr id="3" name="Freeform 3"/>
          <p:cNvSpPr/>
          <p:nvPr/>
        </p:nvSpPr>
        <p:spPr>
          <a:xfrm>
            <a:off x="817860" y="1447801"/>
            <a:ext cx="8326140" cy="4724400"/>
          </a:xfrm>
          <a:custGeom>
            <a:avLst/>
            <a:gdLst/>
            <a:ahLst/>
            <a:cxnLst/>
            <a:rect l="l" t="t" r="r" b="b"/>
            <a:pathLst>
              <a:path w="7339217" h="3995885">
                <a:moveTo>
                  <a:pt x="0" y="0"/>
                </a:moveTo>
                <a:lnTo>
                  <a:pt x="7339216" y="0"/>
                </a:lnTo>
                <a:lnTo>
                  <a:pt x="7339216" y="3995885"/>
                </a:lnTo>
                <a:lnTo>
                  <a:pt x="0" y="3995885"/>
                </a:lnTo>
                <a:lnTo>
                  <a:pt x="0" y="0"/>
                </a:lnTo>
                <a:close/>
              </a:path>
            </a:pathLst>
          </a:custGeom>
          <a:blipFill>
            <a:blip r:embed="rId4"/>
            <a:stretch>
              <a:fillRect/>
            </a:stretch>
          </a:blipFill>
        </p:spPr>
      </p:sp>
      <p:sp>
        <p:nvSpPr>
          <p:cNvPr id="4" name="TextBox 4"/>
          <p:cNvSpPr txBox="1"/>
          <p:nvPr/>
        </p:nvSpPr>
        <p:spPr>
          <a:xfrm>
            <a:off x="817860" y="285096"/>
            <a:ext cx="8473480" cy="1055751"/>
          </a:xfrm>
          <a:prstGeom prst="rect">
            <a:avLst/>
          </a:prstGeom>
        </p:spPr>
        <p:txBody>
          <a:bodyPr lIns="0" tIns="0" rIns="0" bIns="0" rtlCol="0" anchor="t">
            <a:spAutoFit/>
          </a:bodyPr>
          <a:lstStyle/>
          <a:p>
            <a:pPr>
              <a:lnSpc>
                <a:spcPts val="1631"/>
              </a:lnSpc>
            </a:pPr>
            <a:r>
              <a:rPr lang="en-US" sz="1599">
                <a:solidFill>
                  <a:srgbClr val="F14902"/>
                </a:solidFill>
                <a:latin typeface="Arial Bold"/>
              </a:rPr>
              <a:t>Manage innovation - Now, New, and Next</a:t>
            </a:r>
          </a:p>
          <a:p>
            <a:pPr algn="l">
              <a:lnSpc>
                <a:spcPts val="1631"/>
              </a:lnSpc>
            </a:pPr>
            <a:endParaRPr lang="en-US" sz="1599">
              <a:solidFill>
                <a:srgbClr val="F14902"/>
              </a:solidFill>
              <a:latin typeface="Arial Bold"/>
            </a:endParaRPr>
          </a:p>
          <a:p>
            <a:pPr algn="l">
              <a:lnSpc>
                <a:spcPts val="3264"/>
              </a:lnSpc>
            </a:pPr>
            <a:r>
              <a:rPr lang="en-US" sz="3200">
                <a:solidFill>
                  <a:srgbClr val="000000"/>
                </a:solidFill>
                <a:latin typeface="Arial Bold"/>
              </a:rPr>
              <a:t>McKinsey’s Three Horizons Model</a:t>
            </a:r>
          </a:p>
          <a:p>
            <a:pPr algn="l">
              <a:lnSpc>
                <a:spcPts val="1631"/>
              </a:lnSpc>
            </a:pPr>
            <a:endParaRPr lang="en-US" sz="3200">
              <a:solidFill>
                <a:srgbClr val="000000"/>
              </a:solidFill>
              <a:latin typeface="Arial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
        <p:nvSpPr>
          <p:cNvPr id="3" name="Freeform 3"/>
          <p:cNvSpPr/>
          <p:nvPr/>
        </p:nvSpPr>
        <p:spPr>
          <a:xfrm>
            <a:off x="1215305" y="2159996"/>
            <a:ext cx="7070141" cy="3457421"/>
          </a:xfrm>
          <a:custGeom>
            <a:avLst/>
            <a:gdLst/>
            <a:ahLst/>
            <a:cxnLst/>
            <a:rect l="l" t="t" r="r" b="b"/>
            <a:pathLst>
              <a:path w="7070141" h="3457421">
                <a:moveTo>
                  <a:pt x="0" y="0"/>
                </a:moveTo>
                <a:lnTo>
                  <a:pt x="7070140" y="0"/>
                </a:lnTo>
                <a:lnTo>
                  <a:pt x="7070140" y="3457422"/>
                </a:lnTo>
                <a:lnTo>
                  <a:pt x="0" y="3457422"/>
                </a:lnTo>
                <a:lnTo>
                  <a:pt x="0" y="0"/>
                </a:lnTo>
                <a:close/>
              </a:path>
            </a:pathLst>
          </a:custGeom>
          <a:blipFill>
            <a:blip r:embed="rId4"/>
            <a:stretch>
              <a:fillRect/>
            </a:stretch>
          </a:blipFill>
        </p:spPr>
      </p:sp>
      <p:sp>
        <p:nvSpPr>
          <p:cNvPr id="4" name="TextBox 4"/>
          <p:cNvSpPr txBox="1"/>
          <p:nvPr/>
        </p:nvSpPr>
        <p:spPr>
          <a:xfrm>
            <a:off x="2144991" y="6473844"/>
            <a:ext cx="6140455" cy="502702"/>
          </a:xfrm>
          <a:prstGeom prst="rect">
            <a:avLst/>
          </a:prstGeom>
        </p:spPr>
        <p:txBody>
          <a:bodyPr lIns="0" tIns="0" rIns="0" bIns="0" rtlCol="0" anchor="t">
            <a:spAutoFit/>
          </a:bodyPr>
          <a:lstStyle/>
          <a:p>
            <a:pPr algn="ctr">
              <a:lnSpc>
                <a:spcPts val="2047"/>
              </a:lnSpc>
            </a:pPr>
            <a:r>
              <a:rPr lang="en-US" sz="1400" dirty="0">
                <a:solidFill>
                  <a:srgbClr val="0070C0"/>
                </a:solidFill>
                <a:latin typeface="Arial Bold"/>
              </a:rPr>
              <a:t>Performance &amp; Productivity Zones</a:t>
            </a:r>
            <a:r>
              <a:rPr lang="en-US" sz="1400" dirty="0">
                <a:solidFill>
                  <a:srgbClr val="000000"/>
                </a:solidFill>
                <a:latin typeface="Arial Bold"/>
              </a:rPr>
              <a:t> = Run the Business</a:t>
            </a:r>
          </a:p>
          <a:p>
            <a:pPr algn="ctr">
              <a:lnSpc>
                <a:spcPts val="2047"/>
              </a:lnSpc>
            </a:pPr>
            <a:r>
              <a:rPr lang="en-US" sz="1400" dirty="0">
                <a:solidFill>
                  <a:srgbClr val="0070C0"/>
                </a:solidFill>
                <a:latin typeface="Arial Bold"/>
              </a:rPr>
              <a:t>Incubation &amp; Transformation Zones</a:t>
            </a:r>
            <a:r>
              <a:rPr lang="en-US" sz="1400" dirty="0">
                <a:solidFill>
                  <a:srgbClr val="000000"/>
                </a:solidFill>
                <a:latin typeface="Arial Bold"/>
              </a:rPr>
              <a:t> = Growth the Business</a:t>
            </a:r>
          </a:p>
        </p:txBody>
      </p:sp>
      <p:sp>
        <p:nvSpPr>
          <p:cNvPr id="5" name="TextBox 5"/>
          <p:cNvSpPr txBox="1"/>
          <p:nvPr/>
        </p:nvSpPr>
        <p:spPr>
          <a:xfrm>
            <a:off x="817860" y="285096"/>
            <a:ext cx="8473480" cy="1533753"/>
          </a:xfrm>
          <a:prstGeom prst="rect">
            <a:avLst/>
          </a:prstGeom>
        </p:spPr>
        <p:txBody>
          <a:bodyPr lIns="0" tIns="0" rIns="0" bIns="0" rtlCol="0" anchor="t">
            <a:spAutoFit/>
          </a:bodyPr>
          <a:lstStyle/>
          <a:p>
            <a:pPr algn="l">
              <a:lnSpc>
                <a:spcPts val="1631"/>
              </a:lnSpc>
            </a:pPr>
            <a:r>
              <a:rPr lang="en-US" sz="1599" dirty="0">
                <a:solidFill>
                  <a:srgbClr val="F14902"/>
                </a:solidFill>
                <a:latin typeface="Arial Bold"/>
              </a:rPr>
              <a:t>The Zone To Win Framework</a:t>
            </a:r>
          </a:p>
          <a:p>
            <a:pPr algn="l">
              <a:lnSpc>
                <a:spcPts val="1631"/>
              </a:lnSpc>
            </a:pPr>
            <a:endParaRPr lang="en-US" sz="1599" dirty="0">
              <a:solidFill>
                <a:srgbClr val="F14902"/>
              </a:solidFill>
              <a:latin typeface="Arial Bold"/>
            </a:endParaRPr>
          </a:p>
          <a:p>
            <a:pPr algn="l">
              <a:lnSpc>
                <a:spcPts val="3264"/>
              </a:lnSpc>
            </a:pPr>
            <a:r>
              <a:rPr lang="en-US" sz="2400" dirty="0">
                <a:solidFill>
                  <a:srgbClr val="000000"/>
                </a:solidFill>
                <a:latin typeface="Arial Bold"/>
              </a:rPr>
              <a:t>A process to allocate resources between running the business and growing the business</a:t>
            </a:r>
          </a:p>
          <a:p>
            <a:pPr algn="l">
              <a:lnSpc>
                <a:spcPts val="1631"/>
              </a:lnSpc>
            </a:pPr>
            <a:endParaRPr lang="en-US" sz="3200" dirty="0">
              <a:solidFill>
                <a:srgbClr val="000000"/>
              </a:solidFill>
              <a:latin typeface="Arial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95400" y="1571474"/>
            <a:ext cx="7543800" cy="5134126"/>
          </a:xfrm>
          <a:custGeom>
            <a:avLst/>
            <a:gdLst/>
            <a:ahLst/>
            <a:cxnLst/>
            <a:rect l="l" t="t" r="r" b="b"/>
            <a:pathLst>
              <a:path w="6222324" h="4666743">
                <a:moveTo>
                  <a:pt x="0" y="0"/>
                </a:moveTo>
                <a:lnTo>
                  <a:pt x="6222324" y="0"/>
                </a:lnTo>
                <a:lnTo>
                  <a:pt x="6222324" y="4666743"/>
                </a:lnTo>
                <a:lnTo>
                  <a:pt x="0" y="4666743"/>
                </a:lnTo>
                <a:lnTo>
                  <a:pt x="0" y="0"/>
                </a:lnTo>
                <a:close/>
              </a:path>
            </a:pathLst>
          </a:custGeom>
          <a:blipFill>
            <a:blip r:embed="rId2"/>
            <a:stretch>
              <a:fillRect/>
            </a:stretch>
          </a:blipFill>
        </p:spPr>
      </p:sp>
      <p:sp>
        <p:nvSpPr>
          <p:cNvPr id="3" name="TextBox 3"/>
          <p:cNvSpPr txBox="1"/>
          <p:nvPr/>
        </p:nvSpPr>
        <p:spPr>
          <a:xfrm>
            <a:off x="817860" y="285096"/>
            <a:ext cx="8473480" cy="1055751"/>
          </a:xfrm>
          <a:prstGeom prst="rect">
            <a:avLst/>
          </a:prstGeom>
        </p:spPr>
        <p:txBody>
          <a:bodyPr lIns="0" tIns="0" rIns="0" bIns="0" rtlCol="0" anchor="t">
            <a:spAutoFit/>
          </a:bodyPr>
          <a:lstStyle/>
          <a:p>
            <a:pPr>
              <a:lnSpc>
                <a:spcPts val="1631"/>
              </a:lnSpc>
            </a:pPr>
            <a:r>
              <a:rPr lang="en-US" sz="1599">
                <a:solidFill>
                  <a:srgbClr val="F14902"/>
                </a:solidFill>
                <a:latin typeface="Arial Bold"/>
              </a:rPr>
              <a:t>Manage innovation - Now, New, and Next</a:t>
            </a:r>
          </a:p>
          <a:p>
            <a:pPr algn="l">
              <a:lnSpc>
                <a:spcPts val="1631"/>
              </a:lnSpc>
            </a:pPr>
            <a:endParaRPr lang="en-US" sz="1599">
              <a:solidFill>
                <a:srgbClr val="F14902"/>
              </a:solidFill>
              <a:latin typeface="Arial Bold"/>
            </a:endParaRPr>
          </a:p>
          <a:p>
            <a:pPr algn="l">
              <a:lnSpc>
                <a:spcPts val="3264"/>
              </a:lnSpc>
            </a:pPr>
            <a:r>
              <a:rPr lang="en-US" sz="3200">
                <a:solidFill>
                  <a:srgbClr val="000000"/>
                </a:solidFill>
                <a:latin typeface="Arial Bold"/>
              </a:rPr>
              <a:t>Three Investment Horizons</a:t>
            </a:r>
          </a:p>
          <a:p>
            <a:pPr algn="l">
              <a:lnSpc>
                <a:spcPts val="1631"/>
              </a:lnSpc>
            </a:pPr>
            <a:endParaRPr lang="en-US" sz="3200">
              <a:solidFill>
                <a:srgbClr val="000000"/>
              </a:solidFill>
              <a:latin typeface="Arial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1520" y="1762260"/>
            <a:ext cx="8361710" cy="3896836"/>
          </a:xfrm>
          <a:prstGeom prst="rect">
            <a:avLst/>
          </a:prstGeom>
        </p:spPr>
        <p:txBody>
          <a:bodyPr lIns="0" tIns="0" rIns="0" bIns="0" rtlCol="0" anchor="t">
            <a:spAutoFit/>
          </a:bodyPr>
          <a:lstStyle/>
          <a:p>
            <a:pPr algn="l">
              <a:lnSpc>
                <a:spcPts val="3359"/>
              </a:lnSpc>
            </a:pPr>
            <a:r>
              <a:rPr lang="en-US" sz="2400" dirty="0">
                <a:solidFill>
                  <a:srgbClr val="000000"/>
                </a:solidFill>
                <a:latin typeface="Arial Italics"/>
              </a:rPr>
              <a:t>The</a:t>
            </a:r>
            <a:r>
              <a:rPr lang="en-US" sz="2400" dirty="0">
                <a:solidFill>
                  <a:srgbClr val="001746"/>
                </a:solidFill>
                <a:latin typeface="Arial Italics"/>
              </a:rPr>
              <a:t> Performance Zone</a:t>
            </a:r>
            <a:r>
              <a:rPr lang="en-US" sz="2400" dirty="0">
                <a:solidFill>
                  <a:srgbClr val="000000"/>
                </a:solidFill>
                <a:latin typeface="Arial"/>
              </a:rPr>
              <a:t> is charged with serving the organization’s customers and creating </a:t>
            </a:r>
            <a:r>
              <a:rPr lang="en-US" sz="2400" dirty="0">
                <a:solidFill>
                  <a:srgbClr val="0070C0"/>
                </a:solidFill>
                <a:latin typeface="Arial"/>
              </a:rPr>
              <a:t>near-term</a:t>
            </a:r>
            <a:r>
              <a:rPr lang="en-US" sz="2400" dirty="0">
                <a:solidFill>
                  <a:srgbClr val="000000"/>
                </a:solidFill>
                <a:latin typeface="Arial"/>
              </a:rPr>
              <a:t> financial </a:t>
            </a:r>
            <a:r>
              <a:rPr lang="en-US" sz="2400" dirty="0">
                <a:solidFill>
                  <a:srgbClr val="0070C0"/>
                </a:solidFill>
                <a:latin typeface="Arial"/>
              </a:rPr>
              <a:t>returns</a:t>
            </a:r>
            <a:r>
              <a:rPr lang="en-US" sz="2400" dirty="0">
                <a:solidFill>
                  <a:srgbClr val="000000"/>
                </a:solidFill>
                <a:latin typeface="Arial"/>
              </a:rPr>
              <a:t>. It represents the revenue generation arm of your business today. It provides the operating income to fund both your current and future operations.</a:t>
            </a:r>
          </a:p>
          <a:p>
            <a:pPr algn="l">
              <a:lnSpc>
                <a:spcPts val="3359"/>
              </a:lnSpc>
            </a:pPr>
            <a:endParaRPr lang="en-US" sz="2799" dirty="0">
              <a:solidFill>
                <a:srgbClr val="000000"/>
              </a:solidFill>
              <a:latin typeface="Arial"/>
            </a:endParaRPr>
          </a:p>
          <a:p>
            <a:pPr algn="l">
              <a:lnSpc>
                <a:spcPts val="3359"/>
              </a:lnSpc>
            </a:pPr>
            <a:r>
              <a:rPr lang="en-US" sz="2799" dirty="0">
                <a:solidFill>
                  <a:srgbClr val="000000"/>
                </a:solidFill>
                <a:latin typeface="Arial"/>
              </a:rPr>
              <a:t>	</a:t>
            </a:r>
          </a:p>
          <a:p>
            <a:pPr algn="l">
              <a:lnSpc>
                <a:spcPts val="3359"/>
              </a:lnSpc>
            </a:pPr>
            <a:endParaRPr lang="en-US" sz="2799" dirty="0">
              <a:solidFill>
                <a:srgbClr val="000000"/>
              </a:solidFill>
              <a:latin typeface="Arial"/>
            </a:endParaRPr>
          </a:p>
          <a:p>
            <a:pPr algn="l">
              <a:lnSpc>
                <a:spcPts val="3359"/>
              </a:lnSpc>
            </a:pPr>
            <a:endParaRPr lang="en-US" sz="2799" dirty="0">
              <a:solidFill>
                <a:srgbClr val="000000"/>
              </a:solidFill>
              <a:latin typeface="Arial"/>
            </a:endParaRPr>
          </a:p>
        </p:txBody>
      </p:sp>
      <p:sp>
        <p:nvSpPr>
          <p:cNvPr id="3" name="TextBox 3"/>
          <p:cNvSpPr txBox="1"/>
          <p:nvPr/>
        </p:nvSpPr>
        <p:spPr>
          <a:xfrm>
            <a:off x="731520" y="271097"/>
            <a:ext cx="9037257" cy="1074039"/>
          </a:xfrm>
          <a:prstGeom prst="rect">
            <a:avLst/>
          </a:prstGeom>
        </p:spPr>
        <p:txBody>
          <a:bodyPr lIns="0" tIns="0" rIns="0" bIns="0" rtlCol="0" anchor="t">
            <a:spAutoFit/>
          </a:bodyPr>
          <a:lstStyle/>
          <a:p>
            <a:pPr>
              <a:lnSpc>
                <a:spcPts val="1631"/>
              </a:lnSpc>
            </a:pPr>
            <a:r>
              <a:rPr lang="en-US" sz="1599">
                <a:solidFill>
                  <a:srgbClr val="F14902"/>
                </a:solidFill>
                <a:latin typeface="Arial Bold"/>
              </a:rPr>
              <a:t>Breaking Down The Zones</a:t>
            </a:r>
          </a:p>
          <a:p>
            <a:pPr algn="l">
              <a:lnSpc>
                <a:spcPts val="1631"/>
              </a:lnSpc>
            </a:pPr>
            <a:endParaRPr lang="en-US" sz="1599">
              <a:solidFill>
                <a:srgbClr val="F14902"/>
              </a:solidFill>
              <a:latin typeface="Arial Bold"/>
            </a:endParaRPr>
          </a:p>
          <a:p>
            <a:pPr algn="l">
              <a:lnSpc>
                <a:spcPts val="1631"/>
              </a:lnSpc>
            </a:pPr>
            <a:endParaRPr lang="en-US" sz="1599">
              <a:solidFill>
                <a:srgbClr val="F14902"/>
              </a:solidFill>
              <a:latin typeface="Arial Bold"/>
            </a:endParaRPr>
          </a:p>
          <a:p>
            <a:pPr algn="l">
              <a:lnSpc>
                <a:spcPts val="3264"/>
              </a:lnSpc>
            </a:pPr>
            <a:r>
              <a:rPr lang="en-US" sz="3200">
                <a:solidFill>
                  <a:srgbClr val="000000"/>
                </a:solidFill>
                <a:latin typeface="Arial"/>
              </a:rPr>
              <a:t>Performance Zone</a:t>
            </a:r>
          </a:p>
        </p:txBody>
      </p:sp>
      <p:sp>
        <p:nvSpPr>
          <p:cNvPr id="4" name="Freeform 4"/>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1520" y="1752600"/>
            <a:ext cx="8361710" cy="5808770"/>
          </a:xfrm>
          <a:prstGeom prst="rect">
            <a:avLst/>
          </a:prstGeom>
        </p:spPr>
        <p:txBody>
          <a:bodyPr lIns="0" tIns="0" rIns="0" bIns="0" rtlCol="0" anchor="t">
            <a:spAutoFit/>
          </a:bodyPr>
          <a:lstStyle/>
          <a:p>
            <a:pPr algn="l">
              <a:lnSpc>
                <a:spcPts val="3240"/>
              </a:lnSpc>
            </a:pPr>
            <a:r>
              <a:rPr lang="en-US" sz="2400" dirty="0">
                <a:solidFill>
                  <a:srgbClr val="000000"/>
                </a:solidFill>
                <a:latin typeface="Arial Italics"/>
              </a:rPr>
              <a:t>The </a:t>
            </a:r>
            <a:r>
              <a:rPr lang="en-US" sz="2400" dirty="0">
                <a:solidFill>
                  <a:srgbClr val="001746"/>
                </a:solidFill>
                <a:latin typeface="Arial Italics"/>
              </a:rPr>
              <a:t>Productivity Zone</a:t>
            </a:r>
            <a:r>
              <a:rPr lang="en-US" sz="2400" dirty="0">
                <a:solidFill>
                  <a:srgbClr val="000000"/>
                </a:solidFill>
                <a:latin typeface="Arial"/>
              </a:rPr>
              <a:t> is charged with making the performance zone more efficient and more effective as well as insuring it complies with all regulations. It consists of all the cost-center functions that provide these services, an expense that is subtracted from your performance zone revenue, along with the latter’s cost of goods, to produce your operating income.</a:t>
            </a:r>
          </a:p>
          <a:p>
            <a:pPr marL="582930" lvl="1" indent="-291465" algn="l">
              <a:lnSpc>
                <a:spcPts val="3240"/>
              </a:lnSpc>
              <a:buFont typeface="Arial"/>
              <a:buChar char="•"/>
            </a:pPr>
            <a:r>
              <a:rPr lang="en-US" sz="2400" dirty="0">
                <a:solidFill>
                  <a:srgbClr val="0070C0"/>
                </a:solidFill>
                <a:latin typeface="Arial"/>
              </a:rPr>
              <a:t>Effectiveness</a:t>
            </a:r>
          </a:p>
          <a:p>
            <a:pPr marL="582930" lvl="1" indent="-291465" algn="l">
              <a:lnSpc>
                <a:spcPts val="3240"/>
              </a:lnSpc>
              <a:buFont typeface="Arial"/>
              <a:buChar char="•"/>
            </a:pPr>
            <a:r>
              <a:rPr lang="en-US" sz="2400" dirty="0">
                <a:solidFill>
                  <a:srgbClr val="0070C0"/>
                </a:solidFill>
                <a:latin typeface="Arial"/>
              </a:rPr>
              <a:t>Efficient</a:t>
            </a:r>
          </a:p>
          <a:p>
            <a:pPr marL="582930" lvl="1" indent="-291465" algn="l">
              <a:lnSpc>
                <a:spcPts val="3240"/>
              </a:lnSpc>
              <a:buFont typeface="Arial"/>
              <a:buChar char="•"/>
            </a:pPr>
            <a:r>
              <a:rPr lang="en-US" sz="2400" dirty="0">
                <a:solidFill>
                  <a:srgbClr val="0070C0"/>
                </a:solidFill>
                <a:latin typeface="Arial"/>
              </a:rPr>
              <a:t>Compliance</a:t>
            </a:r>
          </a:p>
          <a:p>
            <a:pPr algn="l">
              <a:lnSpc>
                <a:spcPts val="3359"/>
              </a:lnSpc>
            </a:pPr>
            <a:endParaRPr lang="en-US" sz="2400" dirty="0">
              <a:solidFill>
                <a:srgbClr val="0070C0"/>
              </a:solidFill>
              <a:latin typeface="Arial"/>
            </a:endParaRPr>
          </a:p>
          <a:p>
            <a:pPr algn="l">
              <a:lnSpc>
                <a:spcPts val="3359"/>
              </a:lnSpc>
            </a:pPr>
            <a:endParaRPr lang="en-US" sz="2400" dirty="0">
              <a:solidFill>
                <a:srgbClr val="0070C0"/>
              </a:solidFill>
              <a:latin typeface="Arial"/>
            </a:endParaRPr>
          </a:p>
          <a:p>
            <a:pPr algn="l">
              <a:lnSpc>
                <a:spcPts val="3359"/>
              </a:lnSpc>
            </a:pPr>
            <a:endParaRPr lang="en-US" sz="2400" dirty="0">
              <a:solidFill>
                <a:srgbClr val="0070C0"/>
              </a:solidFill>
              <a:latin typeface="Arial"/>
            </a:endParaRPr>
          </a:p>
          <a:p>
            <a:pPr algn="l">
              <a:lnSpc>
                <a:spcPts val="3359"/>
              </a:lnSpc>
            </a:pPr>
            <a:endParaRPr lang="en-US" sz="2400" dirty="0">
              <a:solidFill>
                <a:srgbClr val="0070C0"/>
              </a:solidFill>
              <a:latin typeface="Arial"/>
            </a:endParaRPr>
          </a:p>
        </p:txBody>
      </p:sp>
      <p:sp>
        <p:nvSpPr>
          <p:cNvPr id="3" name="Freeform 3"/>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
        <p:nvSpPr>
          <p:cNvPr id="4" name="TextBox 4"/>
          <p:cNvSpPr txBox="1"/>
          <p:nvPr/>
        </p:nvSpPr>
        <p:spPr>
          <a:xfrm>
            <a:off x="731520" y="271097"/>
            <a:ext cx="9037257" cy="1074039"/>
          </a:xfrm>
          <a:prstGeom prst="rect">
            <a:avLst/>
          </a:prstGeom>
        </p:spPr>
        <p:txBody>
          <a:bodyPr lIns="0" tIns="0" rIns="0" bIns="0" rtlCol="0" anchor="t">
            <a:spAutoFit/>
          </a:bodyPr>
          <a:lstStyle/>
          <a:p>
            <a:pPr algn="l">
              <a:lnSpc>
                <a:spcPts val="1631"/>
              </a:lnSpc>
            </a:pPr>
            <a:r>
              <a:rPr lang="en-US" sz="1599">
                <a:solidFill>
                  <a:srgbClr val="F14902"/>
                </a:solidFill>
                <a:latin typeface="Arial Bold"/>
              </a:rPr>
              <a:t>Breaking Down The Zones</a:t>
            </a:r>
          </a:p>
          <a:p>
            <a:pPr algn="l">
              <a:lnSpc>
                <a:spcPts val="1631"/>
              </a:lnSpc>
            </a:pPr>
            <a:endParaRPr lang="en-US" sz="1599">
              <a:solidFill>
                <a:srgbClr val="F14902"/>
              </a:solidFill>
              <a:latin typeface="Arial Bold"/>
            </a:endParaRPr>
          </a:p>
          <a:p>
            <a:pPr algn="l">
              <a:lnSpc>
                <a:spcPts val="1631"/>
              </a:lnSpc>
            </a:pPr>
            <a:endParaRPr lang="en-US" sz="1599">
              <a:solidFill>
                <a:srgbClr val="F14902"/>
              </a:solidFill>
              <a:latin typeface="Arial Bold"/>
            </a:endParaRPr>
          </a:p>
          <a:p>
            <a:pPr algn="l">
              <a:lnSpc>
                <a:spcPts val="3264"/>
              </a:lnSpc>
            </a:pPr>
            <a:r>
              <a:rPr lang="en-US" sz="3200">
                <a:solidFill>
                  <a:srgbClr val="000000"/>
                </a:solidFill>
                <a:latin typeface="Arial"/>
              </a:rPr>
              <a:t>Productivity Zone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4902"/>
        </a:solidFill>
        <a:effectLst/>
      </p:bgPr>
    </p:bg>
    <p:spTree>
      <p:nvGrpSpPr>
        <p:cNvPr id="1" name=""/>
        <p:cNvGrpSpPr/>
        <p:nvPr/>
      </p:nvGrpSpPr>
      <p:grpSpPr>
        <a:xfrm>
          <a:off x="0" y="0"/>
          <a:ext cx="0" cy="0"/>
          <a:chOff x="0" y="0"/>
          <a:chExt cx="0" cy="0"/>
        </a:xfrm>
      </p:grpSpPr>
      <p:sp>
        <p:nvSpPr>
          <p:cNvPr id="2" name="TextBox 2"/>
          <p:cNvSpPr txBox="1"/>
          <p:nvPr/>
        </p:nvSpPr>
        <p:spPr>
          <a:xfrm>
            <a:off x="731520" y="394587"/>
            <a:ext cx="7265269" cy="2845570"/>
          </a:xfrm>
          <a:prstGeom prst="rect">
            <a:avLst/>
          </a:prstGeom>
        </p:spPr>
        <p:txBody>
          <a:bodyPr lIns="0" tIns="0" rIns="0" bIns="0" rtlCol="0" anchor="t">
            <a:spAutoFit/>
          </a:bodyPr>
          <a:lstStyle/>
          <a:p>
            <a:pPr>
              <a:lnSpc>
                <a:spcPts val="7312"/>
              </a:lnSpc>
            </a:pPr>
            <a:r>
              <a:rPr lang="en-US" sz="5078">
                <a:solidFill>
                  <a:srgbClr val="FFFFFF"/>
                </a:solidFill>
                <a:latin typeface="Arial"/>
              </a:rPr>
              <a:t>Group Exercise</a:t>
            </a:r>
          </a:p>
          <a:p>
            <a:pPr>
              <a:lnSpc>
                <a:spcPts val="7312"/>
              </a:lnSpc>
            </a:pPr>
            <a:endParaRPr lang="en-US" sz="5078">
              <a:solidFill>
                <a:srgbClr val="FFFFFF"/>
              </a:solidFill>
              <a:latin typeface="Arial"/>
            </a:endParaRPr>
          </a:p>
          <a:p>
            <a:pPr>
              <a:lnSpc>
                <a:spcPts val="7312"/>
              </a:lnSpc>
            </a:pPr>
            <a:endParaRPr lang="en-US" sz="5078">
              <a:solidFill>
                <a:srgbClr val="FFFFFF"/>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1520" y="1459230"/>
            <a:ext cx="8361710" cy="5051383"/>
          </a:xfrm>
          <a:prstGeom prst="rect">
            <a:avLst/>
          </a:prstGeom>
        </p:spPr>
        <p:txBody>
          <a:bodyPr lIns="0" tIns="0" rIns="0" bIns="0" rtlCol="0" anchor="t">
            <a:spAutoFit/>
          </a:bodyPr>
          <a:lstStyle/>
          <a:p>
            <a:pPr marL="270257" lvl="1" indent="-135128" algn="l">
              <a:lnSpc>
                <a:spcPts val="2520"/>
              </a:lnSpc>
              <a:buFont typeface="Arial"/>
              <a:buChar char="•"/>
            </a:pPr>
            <a:r>
              <a:rPr lang="en-US" sz="2100" dirty="0">
                <a:solidFill>
                  <a:srgbClr val="000000"/>
                </a:solidFill>
                <a:latin typeface="Arial Italics"/>
              </a:rPr>
              <a:t>The Incubation Zone</a:t>
            </a:r>
            <a:r>
              <a:rPr lang="en-US" sz="2100" dirty="0">
                <a:solidFill>
                  <a:srgbClr val="000000"/>
                </a:solidFill>
                <a:latin typeface="Arial"/>
              </a:rPr>
              <a:t> is charged with exploring new products, services and businesses that can leverage new digital technologies and potentially have a significant impact on future business growth opportunities. It also serves as the staging area for all major projects and includes project prioritization, demand management and resource allocation governance processes. </a:t>
            </a:r>
            <a:r>
              <a:rPr lang="en-US" sz="2100" dirty="0">
                <a:solidFill>
                  <a:srgbClr val="0070C0"/>
                </a:solidFill>
                <a:latin typeface="Arial"/>
              </a:rPr>
              <a:t>(Invent the future)</a:t>
            </a:r>
          </a:p>
          <a:p>
            <a:pPr marL="270257" lvl="1" indent="-135128" algn="l">
              <a:lnSpc>
                <a:spcPts val="2520"/>
              </a:lnSpc>
            </a:pPr>
            <a:endParaRPr lang="en-US" sz="2100" dirty="0">
              <a:solidFill>
                <a:srgbClr val="0070C0"/>
              </a:solidFill>
              <a:latin typeface="Arial"/>
            </a:endParaRPr>
          </a:p>
          <a:p>
            <a:pPr marL="270257" lvl="1" indent="-135128" algn="l">
              <a:lnSpc>
                <a:spcPts val="2520"/>
              </a:lnSpc>
              <a:buFont typeface="Arial"/>
              <a:buChar char="•"/>
            </a:pPr>
            <a:r>
              <a:rPr lang="en-US" sz="2100" dirty="0">
                <a:solidFill>
                  <a:srgbClr val="000000"/>
                </a:solidFill>
                <a:latin typeface="Arial"/>
              </a:rPr>
              <a:t>Accelerate your organization’s ability to identify, test and validate next generation product and service ideas and leverage digital technology enabled innovation to develop and deliver them</a:t>
            </a:r>
          </a:p>
          <a:p>
            <a:pPr marL="270257" lvl="1" indent="-135128" algn="l">
              <a:lnSpc>
                <a:spcPts val="2520"/>
              </a:lnSpc>
            </a:pPr>
            <a:endParaRPr lang="en-US" sz="2100" dirty="0">
              <a:solidFill>
                <a:srgbClr val="000000"/>
              </a:solidFill>
              <a:latin typeface="Arial"/>
            </a:endParaRPr>
          </a:p>
          <a:p>
            <a:pPr marL="270257" lvl="1" indent="-135128" algn="l">
              <a:lnSpc>
                <a:spcPts val="2520"/>
              </a:lnSpc>
              <a:buFont typeface="Arial"/>
              <a:buChar char="•"/>
            </a:pPr>
            <a:r>
              <a:rPr lang="en-US" sz="2100" dirty="0">
                <a:solidFill>
                  <a:srgbClr val="000000"/>
                </a:solidFill>
                <a:latin typeface="Arial"/>
              </a:rPr>
              <a:t>Learning faster that the competition is the only sustainable competitive advantage</a:t>
            </a:r>
          </a:p>
          <a:p>
            <a:pPr algn="l">
              <a:lnSpc>
                <a:spcPts val="2520"/>
              </a:lnSpc>
            </a:pPr>
            <a:endParaRPr lang="en-US" sz="2100" dirty="0">
              <a:solidFill>
                <a:srgbClr val="000000"/>
              </a:solidFill>
              <a:latin typeface="Arial"/>
            </a:endParaRPr>
          </a:p>
          <a:p>
            <a:pPr marL="231650" lvl="1" indent="-115825" algn="l">
              <a:lnSpc>
                <a:spcPts val="2160"/>
              </a:lnSpc>
            </a:pPr>
            <a:r>
              <a:rPr lang="en-US" sz="1800" dirty="0">
                <a:solidFill>
                  <a:srgbClr val="000000"/>
                </a:solidFill>
                <a:latin typeface="Arial Bold"/>
              </a:rPr>
              <a:t>**Labs don’t work. (Create great </a:t>
            </a:r>
            <a:r>
              <a:rPr lang="en-US" sz="1800" dirty="0" err="1">
                <a:solidFill>
                  <a:srgbClr val="000000"/>
                </a:solidFill>
                <a:latin typeface="Arial Bold"/>
              </a:rPr>
              <a:t>technology..but</a:t>
            </a:r>
            <a:r>
              <a:rPr lang="en-US" sz="1800" dirty="0">
                <a:solidFill>
                  <a:srgbClr val="000000"/>
                </a:solidFill>
                <a:latin typeface="Arial Bold"/>
              </a:rPr>
              <a:t> is it mature enough, Does it provide business value?, Are there proven customers for it?)</a:t>
            </a:r>
            <a:r>
              <a:rPr lang="en-US" sz="1800" dirty="0">
                <a:solidFill>
                  <a:srgbClr val="000000"/>
                </a:solidFill>
                <a:latin typeface="Arial"/>
              </a:rPr>
              <a:t>**</a:t>
            </a:r>
          </a:p>
        </p:txBody>
      </p:sp>
      <p:sp>
        <p:nvSpPr>
          <p:cNvPr id="3" name="Freeform 3"/>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
        <p:nvSpPr>
          <p:cNvPr id="4" name="TextBox 4"/>
          <p:cNvSpPr txBox="1"/>
          <p:nvPr/>
        </p:nvSpPr>
        <p:spPr>
          <a:xfrm>
            <a:off x="731520" y="271097"/>
            <a:ext cx="9037257" cy="1074039"/>
          </a:xfrm>
          <a:prstGeom prst="rect">
            <a:avLst/>
          </a:prstGeom>
        </p:spPr>
        <p:txBody>
          <a:bodyPr lIns="0" tIns="0" rIns="0" bIns="0" rtlCol="0" anchor="t">
            <a:spAutoFit/>
          </a:bodyPr>
          <a:lstStyle/>
          <a:p>
            <a:pPr>
              <a:lnSpc>
                <a:spcPts val="1631"/>
              </a:lnSpc>
            </a:pPr>
            <a:r>
              <a:rPr lang="en-US" sz="1599">
                <a:solidFill>
                  <a:srgbClr val="F14902"/>
                </a:solidFill>
                <a:latin typeface="Arial Bold"/>
              </a:rPr>
              <a:t>Breaking Down The Zones</a:t>
            </a:r>
          </a:p>
          <a:p>
            <a:pPr algn="l">
              <a:lnSpc>
                <a:spcPts val="1631"/>
              </a:lnSpc>
            </a:pPr>
            <a:endParaRPr lang="en-US" sz="1599">
              <a:solidFill>
                <a:srgbClr val="F14902"/>
              </a:solidFill>
              <a:latin typeface="Arial Bold"/>
            </a:endParaRPr>
          </a:p>
          <a:p>
            <a:pPr algn="l">
              <a:lnSpc>
                <a:spcPts val="1631"/>
              </a:lnSpc>
            </a:pPr>
            <a:endParaRPr lang="en-US" sz="1599">
              <a:solidFill>
                <a:srgbClr val="F14902"/>
              </a:solidFill>
              <a:latin typeface="Arial Bold"/>
            </a:endParaRPr>
          </a:p>
          <a:p>
            <a:pPr algn="l">
              <a:lnSpc>
                <a:spcPts val="3264"/>
              </a:lnSpc>
            </a:pPr>
            <a:r>
              <a:rPr lang="en-US" sz="3200">
                <a:solidFill>
                  <a:srgbClr val="000000"/>
                </a:solidFill>
                <a:latin typeface="Arial"/>
              </a:rPr>
              <a:t>Incubation Zone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1815" y="1415815"/>
            <a:ext cx="5052876" cy="5270103"/>
          </a:xfrm>
          <a:custGeom>
            <a:avLst/>
            <a:gdLst/>
            <a:ahLst/>
            <a:cxnLst/>
            <a:rect l="l" t="t" r="r" b="b"/>
            <a:pathLst>
              <a:path w="5052876" h="5270103">
                <a:moveTo>
                  <a:pt x="0" y="0"/>
                </a:moveTo>
                <a:lnTo>
                  <a:pt x="5052876" y="0"/>
                </a:lnTo>
                <a:lnTo>
                  <a:pt x="5052876" y="5270103"/>
                </a:lnTo>
                <a:lnTo>
                  <a:pt x="0" y="5270103"/>
                </a:lnTo>
                <a:lnTo>
                  <a:pt x="0" y="0"/>
                </a:lnTo>
                <a:close/>
              </a:path>
            </a:pathLst>
          </a:custGeom>
          <a:blipFill>
            <a:blip r:embed="rId2"/>
            <a:stretch>
              <a:fillRect l="-3896" t="-23528" r="-69137"/>
            </a:stretch>
          </a:blipFill>
        </p:spPr>
      </p:sp>
      <p:sp>
        <p:nvSpPr>
          <p:cNvPr id="3" name="TextBox 3"/>
          <p:cNvSpPr txBox="1"/>
          <p:nvPr/>
        </p:nvSpPr>
        <p:spPr>
          <a:xfrm>
            <a:off x="731520" y="271097"/>
            <a:ext cx="9037257" cy="1074039"/>
          </a:xfrm>
          <a:prstGeom prst="rect">
            <a:avLst/>
          </a:prstGeom>
        </p:spPr>
        <p:txBody>
          <a:bodyPr lIns="0" tIns="0" rIns="0" bIns="0" rtlCol="0" anchor="t">
            <a:spAutoFit/>
          </a:bodyPr>
          <a:lstStyle/>
          <a:p>
            <a:pPr>
              <a:lnSpc>
                <a:spcPts val="1631"/>
              </a:lnSpc>
            </a:pPr>
            <a:r>
              <a:rPr lang="en-US" sz="1599">
                <a:solidFill>
                  <a:srgbClr val="F14902"/>
                </a:solidFill>
                <a:latin typeface="Arial Bold"/>
              </a:rPr>
              <a:t>Incubation Zone</a:t>
            </a:r>
          </a:p>
          <a:p>
            <a:pPr algn="l">
              <a:lnSpc>
                <a:spcPts val="1631"/>
              </a:lnSpc>
            </a:pPr>
            <a:endParaRPr lang="en-US" sz="1599">
              <a:solidFill>
                <a:srgbClr val="F14902"/>
              </a:solidFill>
              <a:latin typeface="Arial Bold"/>
            </a:endParaRPr>
          </a:p>
          <a:p>
            <a:pPr algn="l">
              <a:lnSpc>
                <a:spcPts val="1631"/>
              </a:lnSpc>
            </a:pPr>
            <a:endParaRPr lang="en-US" sz="1599">
              <a:solidFill>
                <a:srgbClr val="F14902"/>
              </a:solidFill>
              <a:latin typeface="Arial Bold"/>
            </a:endParaRPr>
          </a:p>
          <a:p>
            <a:pPr algn="l">
              <a:lnSpc>
                <a:spcPts val="3264"/>
              </a:lnSpc>
            </a:pPr>
            <a:r>
              <a:rPr lang="en-US" sz="3200">
                <a:solidFill>
                  <a:srgbClr val="000000"/>
                </a:solidFill>
                <a:latin typeface="Arial"/>
              </a:rPr>
              <a:t>Installing Venture Discipline - Shark Tank</a:t>
            </a:r>
          </a:p>
        </p:txBody>
      </p:sp>
      <p:sp>
        <p:nvSpPr>
          <p:cNvPr id="4" name="TextBox 4"/>
          <p:cNvSpPr txBox="1"/>
          <p:nvPr/>
        </p:nvSpPr>
        <p:spPr>
          <a:xfrm>
            <a:off x="6686075" y="1772764"/>
            <a:ext cx="2055019" cy="3971925"/>
          </a:xfrm>
          <a:prstGeom prst="rect">
            <a:avLst/>
          </a:prstGeom>
        </p:spPr>
        <p:txBody>
          <a:bodyPr lIns="0" tIns="0" rIns="0" bIns="0" rtlCol="0" anchor="t">
            <a:spAutoFit/>
          </a:bodyPr>
          <a:lstStyle/>
          <a:p>
            <a:pPr algn="ctr">
              <a:lnSpc>
                <a:spcPts val="1791"/>
              </a:lnSpc>
            </a:pPr>
            <a:r>
              <a:rPr lang="en-US" sz="1493">
                <a:solidFill>
                  <a:srgbClr val="EAAC6E"/>
                </a:solidFill>
                <a:latin typeface="Arial Bold"/>
              </a:rPr>
              <a:t>IOU Governance:</a:t>
            </a:r>
          </a:p>
          <a:p>
            <a:pPr>
              <a:lnSpc>
                <a:spcPts val="1791"/>
              </a:lnSpc>
            </a:pPr>
            <a:r>
              <a:rPr lang="en-US" sz="1493">
                <a:solidFill>
                  <a:srgbClr val="EAAC6E"/>
                </a:solidFill>
                <a:latin typeface="Arial Bold"/>
              </a:rPr>
              <a:t>GM, sales, marketing,</a:t>
            </a:r>
          </a:p>
          <a:p>
            <a:pPr>
              <a:lnSpc>
                <a:spcPts val="1791"/>
              </a:lnSpc>
            </a:pPr>
            <a:r>
              <a:rPr lang="en-US" sz="1493">
                <a:solidFill>
                  <a:srgbClr val="EAAC6E"/>
                </a:solidFill>
                <a:latin typeface="Arial Bold"/>
              </a:rPr>
              <a:t>engineering, services</a:t>
            </a:r>
          </a:p>
          <a:p>
            <a:pPr>
              <a:lnSpc>
                <a:spcPts val="1791"/>
              </a:lnSpc>
            </a:pPr>
            <a:r>
              <a:rPr lang="en-US" sz="1493">
                <a:solidFill>
                  <a:srgbClr val="EAAC6E"/>
                </a:solidFill>
                <a:latin typeface="Arial Bold"/>
              </a:rPr>
              <a:t>and support resources</a:t>
            </a:r>
          </a:p>
          <a:p>
            <a:pPr>
              <a:lnSpc>
                <a:spcPts val="1791"/>
              </a:lnSpc>
            </a:pPr>
            <a:endParaRPr lang="en-US" sz="1493">
              <a:solidFill>
                <a:srgbClr val="EAAC6E"/>
              </a:solidFill>
              <a:latin typeface="Arial Bold"/>
            </a:endParaRPr>
          </a:p>
          <a:p>
            <a:pPr>
              <a:lnSpc>
                <a:spcPts val="1791"/>
              </a:lnSpc>
            </a:pPr>
            <a:endParaRPr lang="en-US" sz="1493">
              <a:solidFill>
                <a:srgbClr val="EAAC6E"/>
              </a:solidFill>
              <a:latin typeface="Arial Bold"/>
            </a:endParaRPr>
          </a:p>
          <a:p>
            <a:pPr algn="ctr">
              <a:lnSpc>
                <a:spcPts val="1791"/>
              </a:lnSpc>
            </a:pPr>
            <a:r>
              <a:rPr lang="en-US" sz="1493">
                <a:solidFill>
                  <a:srgbClr val="3B9038"/>
                </a:solidFill>
                <a:latin typeface="Arial Bold"/>
              </a:rPr>
              <a:t>Venture Board</a:t>
            </a:r>
          </a:p>
          <a:p>
            <a:pPr algn="ctr">
              <a:lnSpc>
                <a:spcPts val="1791"/>
              </a:lnSpc>
            </a:pPr>
            <a:r>
              <a:rPr lang="en-US" sz="1493">
                <a:solidFill>
                  <a:srgbClr val="3B9038"/>
                </a:solidFill>
                <a:latin typeface="Arial Bold"/>
              </a:rPr>
              <a:t>Funded during</a:t>
            </a:r>
          </a:p>
          <a:p>
            <a:pPr algn="ctr">
              <a:lnSpc>
                <a:spcPts val="1791"/>
              </a:lnSpc>
            </a:pPr>
            <a:r>
              <a:rPr lang="en-US" sz="1493">
                <a:solidFill>
                  <a:srgbClr val="3B9038"/>
                </a:solidFill>
                <a:latin typeface="Arial Bold"/>
              </a:rPr>
              <a:t>Annual Plan</a:t>
            </a:r>
          </a:p>
          <a:p>
            <a:pPr algn="ctr">
              <a:lnSpc>
                <a:spcPts val="1791"/>
              </a:lnSpc>
            </a:pPr>
            <a:r>
              <a:rPr lang="en-US" sz="1493">
                <a:solidFill>
                  <a:srgbClr val="3B9038"/>
                </a:solidFill>
                <a:latin typeface="Arial Bold"/>
              </a:rPr>
              <a:t>Funds deployed by</a:t>
            </a:r>
          </a:p>
          <a:p>
            <a:pPr algn="ctr">
              <a:lnSpc>
                <a:spcPts val="1791"/>
              </a:lnSpc>
            </a:pPr>
            <a:r>
              <a:rPr lang="en-US" sz="1493">
                <a:solidFill>
                  <a:srgbClr val="3B9038"/>
                </a:solidFill>
                <a:latin typeface="Arial Bold"/>
              </a:rPr>
              <a:t>milestones</a:t>
            </a:r>
          </a:p>
          <a:p>
            <a:pPr algn="ctr">
              <a:lnSpc>
                <a:spcPts val="1791"/>
              </a:lnSpc>
            </a:pPr>
            <a:endParaRPr lang="en-US" sz="1493">
              <a:solidFill>
                <a:srgbClr val="3B9038"/>
              </a:solidFill>
              <a:latin typeface="Arial Bold"/>
            </a:endParaRPr>
          </a:p>
          <a:p>
            <a:pPr algn="ctr">
              <a:lnSpc>
                <a:spcPts val="1791"/>
              </a:lnSpc>
            </a:pPr>
            <a:endParaRPr lang="en-US" sz="1493">
              <a:solidFill>
                <a:srgbClr val="3B9038"/>
              </a:solidFill>
              <a:latin typeface="Arial Bold"/>
            </a:endParaRPr>
          </a:p>
          <a:p>
            <a:pPr algn="ctr">
              <a:lnSpc>
                <a:spcPts val="1791"/>
              </a:lnSpc>
            </a:pPr>
            <a:r>
              <a:rPr lang="en-US" sz="1493">
                <a:solidFill>
                  <a:srgbClr val="0070C0"/>
                </a:solidFill>
                <a:latin typeface="Arial Bold"/>
              </a:rPr>
              <a:t>Zone-wide:</a:t>
            </a:r>
          </a:p>
          <a:p>
            <a:pPr algn="ctr">
              <a:lnSpc>
                <a:spcPts val="1791"/>
              </a:lnSpc>
            </a:pPr>
            <a:r>
              <a:rPr lang="en-US" sz="1493">
                <a:solidFill>
                  <a:srgbClr val="0070C0"/>
                </a:solidFill>
                <a:latin typeface="Arial Bold"/>
              </a:rPr>
              <a:t>Shared Services</a:t>
            </a:r>
          </a:p>
          <a:p>
            <a:pPr algn="ctr">
              <a:lnSpc>
                <a:spcPts val="1791"/>
              </a:lnSpc>
            </a:pPr>
            <a:r>
              <a:rPr lang="en-US" sz="1493">
                <a:solidFill>
                  <a:srgbClr val="0070C0"/>
                </a:solidFill>
                <a:latin typeface="Arial Bold"/>
              </a:rPr>
              <a:t>dedicated to the </a:t>
            </a:r>
          </a:p>
          <a:p>
            <a:pPr algn="ctr">
              <a:lnSpc>
                <a:spcPts val="1791"/>
              </a:lnSpc>
            </a:pPr>
            <a:r>
              <a:rPr lang="en-US" sz="1493">
                <a:solidFill>
                  <a:srgbClr val="0070C0"/>
                </a:solidFill>
                <a:latin typeface="Arial Bold"/>
              </a:rPr>
              <a:t>Incubation Zone</a:t>
            </a:r>
          </a:p>
          <a:p>
            <a:pPr>
              <a:lnSpc>
                <a:spcPts val="1791"/>
              </a:lnSpc>
              <a:spcBef>
                <a:spcPct val="0"/>
              </a:spcBef>
            </a:pPr>
            <a:r>
              <a:rPr lang="en-US" sz="1493">
                <a:solidFill>
                  <a:srgbClr val="0070C0"/>
                </a:solidFill>
                <a:latin typeface="Arial Bold"/>
              </a:rPr>
              <a:t> </a:t>
            </a:r>
          </a:p>
        </p:txBody>
      </p:sp>
      <p:sp>
        <p:nvSpPr>
          <p:cNvPr id="5" name="Freeform 5"/>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
        <p:nvSpPr>
          <p:cNvPr id="6" name="TextBox 6"/>
          <p:cNvSpPr txBox="1"/>
          <p:nvPr/>
        </p:nvSpPr>
        <p:spPr>
          <a:xfrm>
            <a:off x="2532105" y="4022292"/>
            <a:ext cx="1867867" cy="238125"/>
          </a:xfrm>
          <a:prstGeom prst="rect">
            <a:avLst/>
          </a:prstGeom>
        </p:spPr>
        <p:txBody>
          <a:bodyPr lIns="0" tIns="0" rIns="0" bIns="0" rtlCol="0" anchor="t">
            <a:spAutoFit/>
          </a:bodyPr>
          <a:lstStyle/>
          <a:p>
            <a:pPr algn="ctr">
              <a:lnSpc>
                <a:spcPts val="1672"/>
              </a:lnSpc>
              <a:spcBef>
                <a:spcPct val="0"/>
              </a:spcBef>
            </a:pPr>
            <a:r>
              <a:rPr lang="en-US" sz="1393">
                <a:solidFill>
                  <a:srgbClr val="3B9038"/>
                </a:solidFill>
                <a:latin typeface="Arial Bold"/>
              </a:rPr>
              <a:t>Venture-style Funding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1520" y="1539898"/>
            <a:ext cx="8361710" cy="4934684"/>
          </a:xfrm>
          <a:prstGeom prst="rect">
            <a:avLst/>
          </a:prstGeom>
        </p:spPr>
        <p:txBody>
          <a:bodyPr lIns="0" tIns="0" rIns="0" bIns="0" rtlCol="0" anchor="t">
            <a:spAutoFit/>
          </a:bodyPr>
          <a:lstStyle/>
          <a:p>
            <a:pPr algn="l">
              <a:lnSpc>
                <a:spcPts val="3000"/>
              </a:lnSpc>
            </a:pPr>
            <a:r>
              <a:rPr lang="en-US" sz="2100" dirty="0">
                <a:solidFill>
                  <a:srgbClr val="000000"/>
                </a:solidFill>
                <a:latin typeface="Arial Italics"/>
              </a:rPr>
              <a:t>The </a:t>
            </a:r>
            <a:r>
              <a:rPr lang="en-US" sz="2100" dirty="0">
                <a:solidFill>
                  <a:srgbClr val="001746"/>
                </a:solidFill>
                <a:latin typeface="Arial Bold Italics"/>
              </a:rPr>
              <a:t>Transformation Zone</a:t>
            </a:r>
            <a:r>
              <a:rPr lang="en-US" sz="2100" dirty="0">
                <a:solidFill>
                  <a:srgbClr val="000000"/>
                </a:solidFill>
                <a:latin typeface="Arial"/>
              </a:rPr>
              <a:t> is charged with driving an </a:t>
            </a:r>
            <a:r>
              <a:rPr lang="en-US" sz="2100" dirty="0">
                <a:solidFill>
                  <a:srgbClr val="0070C0"/>
                </a:solidFill>
                <a:latin typeface="Arial"/>
              </a:rPr>
              <a:t>enterprise-wide change at scale</a:t>
            </a:r>
            <a:r>
              <a:rPr lang="en-US" sz="2100" dirty="0">
                <a:solidFill>
                  <a:srgbClr val="000000"/>
                </a:solidFill>
                <a:latin typeface="Arial"/>
              </a:rPr>
              <a:t>, creating a n</a:t>
            </a:r>
            <a:r>
              <a:rPr lang="en-US" sz="2100" dirty="0">
                <a:solidFill>
                  <a:srgbClr val="0070C0"/>
                </a:solidFill>
                <a:latin typeface="Arial"/>
              </a:rPr>
              <a:t>et new source of earnings</a:t>
            </a:r>
            <a:r>
              <a:rPr lang="en-US" sz="2100" dirty="0">
                <a:solidFill>
                  <a:srgbClr val="000000"/>
                </a:solidFill>
                <a:latin typeface="Arial"/>
              </a:rPr>
              <a:t>.</a:t>
            </a:r>
          </a:p>
          <a:p>
            <a:pPr algn="l">
              <a:lnSpc>
                <a:spcPts val="3000"/>
              </a:lnSpc>
            </a:pPr>
            <a:r>
              <a:rPr lang="en-US" sz="2100" dirty="0">
                <a:solidFill>
                  <a:srgbClr val="000000"/>
                </a:solidFill>
                <a:latin typeface="Arial"/>
              </a:rPr>
              <a:t>Expenses to fund, staff, and accelerate this effort are met by extracting sacrifices from the other three zones. This necessarily puts a big dent in your short-term operating income and is only worth pursuing if it can generate a 10% or greater increase in revenues over the company’s total current revenues.</a:t>
            </a:r>
          </a:p>
          <a:p>
            <a:pPr algn="l">
              <a:lnSpc>
                <a:spcPts val="3000"/>
              </a:lnSpc>
            </a:pPr>
            <a:endParaRPr lang="en-US" sz="2100" dirty="0">
              <a:solidFill>
                <a:srgbClr val="000000"/>
              </a:solidFill>
              <a:latin typeface="Arial"/>
            </a:endParaRPr>
          </a:p>
          <a:p>
            <a:pPr algn="l">
              <a:lnSpc>
                <a:spcPts val="2760"/>
              </a:lnSpc>
            </a:pPr>
            <a:r>
              <a:rPr lang="en-US" sz="2100" dirty="0">
                <a:solidFill>
                  <a:srgbClr val="EE5727"/>
                </a:solidFill>
                <a:latin typeface="Arial"/>
              </a:rPr>
              <a:t>Amazon Services retail -&gt; Amazon Web Services</a:t>
            </a:r>
          </a:p>
          <a:p>
            <a:pPr algn="l">
              <a:lnSpc>
                <a:spcPts val="2760"/>
              </a:lnSpc>
            </a:pPr>
            <a:r>
              <a:rPr lang="en-US" sz="2100" dirty="0">
                <a:solidFill>
                  <a:srgbClr val="EE5727"/>
                </a:solidFill>
                <a:latin typeface="Arial"/>
              </a:rPr>
              <a:t>Apple PC company -&gt; Music -&gt; smart phone -&gt; tablet</a:t>
            </a:r>
          </a:p>
          <a:p>
            <a:pPr algn="l">
              <a:lnSpc>
                <a:spcPts val="3000"/>
              </a:lnSpc>
            </a:pPr>
            <a:endParaRPr lang="en-US" sz="2100" dirty="0">
              <a:solidFill>
                <a:srgbClr val="EE5727"/>
              </a:solidFill>
              <a:latin typeface="Arial"/>
            </a:endParaRPr>
          </a:p>
          <a:p>
            <a:pPr algn="l">
              <a:lnSpc>
                <a:spcPts val="3120"/>
              </a:lnSpc>
            </a:pPr>
            <a:endParaRPr lang="en-US" sz="2100" dirty="0">
              <a:solidFill>
                <a:srgbClr val="EE5727"/>
              </a:solidFill>
              <a:latin typeface="Arial"/>
            </a:endParaRPr>
          </a:p>
          <a:p>
            <a:pPr marL="334603" lvl="1" indent="-167301" algn="l">
              <a:lnSpc>
                <a:spcPts val="3120"/>
              </a:lnSpc>
            </a:pPr>
            <a:endParaRPr lang="en-US" sz="2100" dirty="0">
              <a:solidFill>
                <a:srgbClr val="EE5727"/>
              </a:solidFill>
              <a:latin typeface="Arial"/>
            </a:endParaRPr>
          </a:p>
        </p:txBody>
      </p:sp>
      <p:sp>
        <p:nvSpPr>
          <p:cNvPr id="3" name="TextBox 3"/>
          <p:cNvSpPr txBox="1"/>
          <p:nvPr/>
        </p:nvSpPr>
        <p:spPr>
          <a:xfrm>
            <a:off x="731520" y="271097"/>
            <a:ext cx="9037257" cy="1074039"/>
          </a:xfrm>
          <a:prstGeom prst="rect">
            <a:avLst/>
          </a:prstGeom>
        </p:spPr>
        <p:txBody>
          <a:bodyPr lIns="0" tIns="0" rIns="0" bIns="0" rtlCol="0" anchor="t">
            <a:spAutoFit/>
          </a:bodyPr>
          <a:lstStyle/>
          <a:p>
            <a:pPr>
              <a:lnSpc>
                <a:spcPts val="1631"/>
              </a:lnSpc>
            </a:pPr>
            <a:r>
              <a:rPr lang="en-US" sz="1599">
                <a:solidFill>
                  <a:srgbClr val="F14902"/>
                </a:solidFill>
                <a:latin typeface="Arial Bold"/>
              </a:rPr>
              <a:t>Breaking Down The Zones</a:t>
            </a:r>
          </a:p>
          <a:p>
            <a:pPr algn="l">
              <a:lnSpc>
                <a:spcPts val="1631"/>
              </a:lnSpc>
            </a:pPr>
            <a:endParaRPr lang="en-US" sz="1599">
              <a:solidFill>
                <a:srgbClr val="F14902"/>
              </a:solidFill>
              <a:latin typeface="Arial Bold"/>
            </a:endParaRPr>
          </a:p>
          <a:p>
            <a:pPr algn="l">
              <a:lnSpc>
                <a:spcPts val="1631"/>
              </a:lnSpc>
            </a:pPr>
            <a:endParaRPr lang="en-US" sz="1599">
              <a:solidFill>
                <a:srgbClr val="F14902"/>
              </a:solidFill>
              <a:latin typeface="Arial Bold"/>
            </a:endParaRPr>
          </a:p>
          <a:p>
            <a:pPr algn="l">
              <a:lnSpc>
                <a:spcPts val="3264"/>
              </a:lnSpc>
            </a:pPr>
            <a:r>
              <a:rPr lang="en-US" sz="3200">
                <a:solidFill>
                  <a:srgbClr val="000000"/>
                </a:solidFill>
                <a:latin typeface="Arial"/>
              </a:rPr>
              <a:t>Transformation Zone</a:t>
            </a:r>
          </a:p>
        </p:txBody>
      </p:sp>
      <p:sp>
        <p:nvSpPr>
          <p:cNvPr id="4" name="Freeform 4"/>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1520" y="271097"/>
            <a:ext cx="9037257" cy="4322064"/>
          </a:xfrm>
          <a:prstGeom prst="rect">
            <a:avLst/>
          </a:prstGeom>
        </p:spPr>
        <p:txBody>
          <a:bodyPr lIns="0" tIns="0" rIns="0" bIns="0" rtlCol="0" anchor="t">
            <a:spAutoFit/>
          </a:bodyPr>
          <a:lstStyle/>
          <a:p>
            <a:pPr>
              <a:lnSpc>
                <a:spcPts val="1631"/>
              </a:lnSpc>
            </a:pPr>
            <a:endParaRPr/>
          </a:p>
          <a:p>
            <a:pPr algn="l">
              <a:lnSpc>
                <a:spcPts val="1631"/>
              </a:lnSpc>
            </a:pPr>
            <a:endParaRPr/>
          </a:p>
          <a:p>
            <a:pPr algn="l">
              <a:lnSpc>
                <a:spcPts val="1631"/>
              </a:lnSpc>
            </a:pPr>
            <a:endParaRPr/>
          </a:p>
          <a:p>
            <a:pPr algn="l">
              <a:lnSpc>
                <a:spcPts val="3264"/>
              </a:lnSpc>
            </a:pPr>
            <a:endParaRPr/>
          </a:p>
          <a:p>
            <a:pPr algn="l">
              <a:lnSpc>
                <a:spcPts val="3264"/>
              </a:lnSpc>
            </a:pPr>
            <a:endParaRPr/>
          </a:p>
          <a:p>
            <a:pPr algn="l">
              <a:lnSpc>
                <a:spcPts val="3264"/>
              </a:lnSpc>
            </a:pPr>
            <a:endParaRPr/>
          </a:p>
          <a:p>
            <a:pPr algn="l">
              <a:lnSpc>
                <a:spcPts val="3264"/>
              </a:lnSpc>
            </a:pPr>
            <a:endParaRPr/>
          </a:p>
          <a:p>
            <a:pPr algn="l">
              <a:lnSpc>
                <a:spcPts val="3264"/>
              </a:lnSpc>
            </a:pPr>
            <a:r>
              <a:rPr lang="en-US" sz="3200">
                <a:solidFill>
                  <a:srgbClr val="000000"/>
                </a:solidFill>
                <a:latin typeface="Arial"/>
              </a:rPr>
              <a:t>Zone to Win</a:t>
            </a:r>
          </a:p>
          <a:p>
            <a:pPr algn="l">
              <a:lnSpc>
                <a:spcPts val="3264"/>
              </a:lnSpc>
            </a:pPr>
            <a:endParaRPr lang="en-US" sz="3200">
              <a:solidFill>
                <a:srgbClr val="000000"/>
              </a:solidFill>
              <a:latin typeface="Arial"/>
            </a:endParaRPr>
          </a:p>
          <a:p>
            <a:pPr algn="l">
              <a:lnSpc>
                <a:spcPts val="3060"/>
              </a:lnSpc>
            </a:pPr>
            <a:r>
              <a:rPr lang="en-US" sz="3000">
                <a:solidFill>
                  <a:srgbClr val="0070C0"/>
                </a:solidFill>
                <a:latin typeface="Arial Bold"/>
              </a:rPr>
              <a:t>Attacking, Defending, &amp; Maintaining</a:t>
            </a:r>
          </a:p>
          <a:p>
            <a:pPr algn="l">
              <a:lnSpc>
                <a:spcPts val="3264"/>
              </a:lnSpc>
            </a:pPr>
            <a:endParaRPr lang="en-US" sz="3000">
              <a:solidFill>
                <a:srgbClr val="0070C0"/>
              </a:solidFill>
              <a:latin typeface="Arial Bold"/>
            </a:endParaRPr>
          </a:p>
          <a:p>
            <a:pPr algn="l">
              <a:lnSpc>
                <a:spcPts val="3264"/>
              </a:lnSpc>
            </a:pPr>
            <a:endParaRPr lang="en-US" sz="3000">
              <a:solidFill>
                <a:srgbClr val="0070C0"/>
              </a:solidFill>
              <a:latin typeface="Arial Bold"/>
            </a:endParaRPr>
          </a:p>
        </p:txBody>
      </p:sp>
      <p:sp>
        <p:nvSpPr>
          <p:cNvPr id="3" name="Freeform 3"/>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
        <p:nvSpPr>
          <p:cNvPr id="4" name="AutoShape 4"/>
          <p:cNvSpPr/>
          <p:nvPr/>
        </p:nvSpPr>
        <p:spPr>
          <a:xfrm>
            <a:off x="469110" y="3135862"/>
            <a:ext cx="9284490" cy="0"/>
          </a:xfrm>
          <a:prstGeom prst="line">
            <a:avLst/>
          </a:prstGeom>
          <a:ln w="38100" cap="flat">
            <a:solidFill>
              <a:srgbClr val="000000"/>
            </a:solidFill>
            <a:prstDash val="solid"/>
            <a:headEnd type="none" w="sm" len="sm"/>
            <a:tailEnd type="none" w="sm" len="sm"/>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
        <p:nvSpPr>
          <p:cNvPr id="3" name="Freeform 3"/>
          <p:cNvSpPr/>
          <p:nvPr/>
        </p:nvSpPr>
        <p:spPr>
          <a:xfrm>
            <a:off x="1342456" y="2251579"/>
            <a:ext cx="7290565" cy="4332101"/>
          </a:xfrm>
          <a:custGeom>
            <a:avLst/>
            <a:gdLst/>
            <a:ahLst/>
            <a:cxnLst/>
            <a:rect l="l" t="t" r="r" b="b"/>
            <a:pathLst>
              <a:path w="7290565" h="4332101">
                <a:moveTo>
                  <a:pt x="0" y="0"/>
                </a:moveTo>
                <a:lnTo>
                  <a:pt x="7290565" y="0"/>
                </a:lnTo>
                <a:lnTo>
                  <a:pt x="7290565" y="4332101"/>
                </a:lnTo>
                <a:lnTo>
                  <a:pt x="0" y="4332101"/>
                </a:lnTo>
                <a:lnTo>
                  <a:pt x="0" y="0"/>
                </a:lnTo>
                <a:close/>
              </a:path>
            </a:pathLst>
          </a:custGeom>
          <a:blipFill>
            <a:blip r:embed="rId4"/>
            <a:stretch>
              <a:fillRect t="-22298"/>
            </a:stretch>
          </a:blipFill>
        </p:spPr>
      </p:sp>
      <p:sp>
        <p:nvSpPr>
          <p:cNvPr id="4" name="TextBox 4"/>
          <p:cNvSpPr txBox="1"/>
          <p:nvPr/>
        </p:nvSpPr>
        <p:spPr>
          <a:xfrm>
            <a:off x="469110" y="-786871"/>
            <a:ext cx="9037257" cy="4426839"/>
          </a:xfrm>
          <a:prstGeom prst="rect">
            <a:avLst/>
          </a:prstGeom>
        </p:spPr>
        <p:txBody>
          <a:bodyPr lIns="0" tIns="0" rIns="0" bIns="0" rtlCol="0" anchor="t">
            <a:spAutoFit/>
          </a:bodyPr>
          <a:lstStyle/>
          <a:p>
            <a:pPr>
              <a:lnSpc>
                <a:spcPts val="1631"/>
              </a:lnSpc>
            </a:pPr>
            <a:endParaRPr/>
          </a:p>
          <a:p>
            <a:pPr algn="l">
              <a:lnSpc>
                <a:spcPts val="1631"/>
              </a:lnSpc>
            </a:pPr>
            <a:endParaRPr/>
          </a:p>
          <a:p>
            <a:pPr algn="l">
              <a:lnSpc>
                <a:spcPts val="1631"/>
              </a:lnSpc>
            </a:pPr>
            <a:endParaRPr/>
          </a:p>
          <a:p>
            <a:pPr algn="l">
              <a:lnSpc>
                <a:spcPts val="3264"/>
              </a:lnSpc>
            </a:pPr>
            <a:endParaRPr/>
          </a:p>
          <a:p>
            <a:pPr algn="l">
              <a:lnSpc>
                <a:spcPts val="3264"/>
              </a:lnSpc>
            </a:pPr>
            <a:r>
              <a:rPr lang="en-US" sz="3200">
                <a:solidFill>
                  <a:srgbClr val="000000"/>
                </a:solidFill>
                <a:latin typeface="Arial Bold"/>
              </a:rPr>
              <a:t>SalesForce - </a:t>
            </a:r>
            <a:r>
              <a:rPr lang="en-US" sz="3200">
                <a:solidFill>
                  <a:srgbClr val="0070C0"/>
                </a:solidFill>
                <a:latin typeface="Arial Bold"/>
              </a:rPr>
              <a:t>Zone Offense (proactive)</a:t>
            </a:r>
          </a:p>
          <a:p>
            <a:pPr algn="l">
              <a:lnSpc>
                <a:spcPts val="2142"/>
              </a:lnSpc>
            </a:pPr>
            <a:endParaRPr lang="en-US" sz="3200">
              <a:solidFill>
                <a:srgbClr val="0070C0"/>
              </a:solidFill>
              <a:latin typeface="Arial Bold"/>
            </a:endParaRPr>
          </a:p>
          <a:p>
            <a:pPr marL="453396" lvl="1" indent="-226698" algn="l">
              <a:lnSpc>
                <a:spcPts val="2142"/>
              </a:lnSpc>
              <a:buFont typeface="Arial"/>
              <a:buChar char="•"/>
            </a:pPr>
            <a:r>
              <a:rPr lang="en-US" sz="2100">
                <a:solidFill>
                  <a:srgbClr val="0070C0"/>
                </a:solidFill>
                <a:latin typeface="Arial"/>
              </a:rPr>
              <a:t>Force.com </a:t>
            </a:r>
          </a:p>
          <a:p>
            <a:pPr marL="453396" lvl="1" indent="-226698" algn="l">
              <a:lnSpc>
                <a:spcPts val="2142"/>
              </a:lnSpc>
              <a:buFont typeface="Arial"/>
              <a:buChar char="•"/>
            </a:pPr>
            <a:r>
              <a:rPr lang="en-US" sz="2100">
                <a:solidFill>
                  <a:srgbClr val="0070C0"/>
                </a:solidFill>
                <a:latin typeface="Arial"/>
              </a:rPr>
              <a:t>Marketing Cloud</a:t>
            </a:r>
          </a:p>
          <a:p>
            <a:pPr marL="453396" lvl="1" indent="-226698" algn="l">
              <a:lnSpc>
                <a:spcPts val="2142"/>
              </a:lnSpc>
              <a:buFont typeface="Arial"/>
              <a:buChar char="•"/>
            </a:pPr>
            <a:r>
              <a:rPr lang="en-US" sz="2100">
                <a:solidFill>
                  <a:srgbClr val="0070C0"/>
                </a:solidFill>
                <a:latin typeface="Arial"/>
              </a:rPr>
              <a:t>Communities, iOT</a:t>
            </a:r>
          </a:p>
          <a:p>
            <a:pPr marL="453396" lvl="1" indent="-226698" algn="l">
              <a:lnSpc>
                <a:spcPts val="2142"/>
              </a:lnSpc>
              <a:buFont typeface="Arial"/>
              <a:buChar char="•"/>
            </a:pPr>
            <a:r>
              <a:rPr lang="en-US" sz="2100">
                <a:solidFill>
                  <a:srgbClr val="0070C0"/>
                </a:solidFill>
                <a:latin typeface="Arial"/>
              </a:rPr>
              <a:t>Analytics</a:t>
            </a:r>
          </a:p>
          <a:p>
            <a:pPr algn="l">
              <a:lnSpc>
                <a:spcPts val="3264"/>
              </a:lnSpc>
            </a:pPr>
            <a:endParaRPr lang="en-US" sz="2100">
              <a:solidFill>
                <a:srgbClr val="0070C0"/>
              </a:solidFill>
              <a:latin typeface="Arial"/>
            </a:endParaRPr>
          </a:p>
          <a:p>
            <a:pPr algn="l">
              <a:lnSpc>
                <a:spcPts val="3060"/>
              </a:lnSpc>
            </a:pPr>
            <a:endParaRPr lang="en-US" sz="2100">
              <a:solidFill>
                <a:srgbClr val="0070C0"/>
              </a:solidFill>
              <a:latin typeface="Arial"/>
            </a:endParaRPr>
          </a:p>
          <a:p>
            <a:pPr algn="l">
              <a:lnSpc>
                <a:spcPts val="3264"/>
              </a:lnSpc>
            </a:pPr>
            <a:endParaRPr lang="en-US" sz="2100">
              <a:solidFill>
                <a:srgbClr val="0070C0"/>
              </a:solidFill>
              <a:latin typeface="Arial"/>
            </a:endParaRPr>
          </a:p>
          <a:p>
            <a:pPr algn="l">
              <a:lnSpc>
                <a:spcPts val="3264"/>
              </a:lnSpc>
            </a:pPr>
            <a:endParaRPr lang="en-US" sz="2100">
              <a:solidFill>
                <a:srgbClr val="0070C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
        <p:nvSpPr>
          <p:cNvPr id="3" name="TextBox 3"/>
          <p:cNvSpPr txBox="1"/>
          <p:nvPr/>
        </p:nvSpPr>
        <p:spPr>
          <a:xfrm>
            <a:off x="358171" y="-265046"/>
            <a:ext cx="9037257" cy="6703314"/>
          </a:xfrm>
          <a:prstGeom prst="rect">
            <a:avLst/>
          </a:prstGeom>
        </p:spPr>
        <p:txBody>
          <a:bodyPr lIns="0" tIns="0" rIns="0" bIns="0" rtlCol="0" anchor="t">
            <a:spAutoFit/>
          </a:bodyPr>
          <a:lstStyle/>
          <a:p>
            <a:pPr>
              <a:lnSpc>
                <a:spcPts val="1631"/>
              </a:lnSpc>
            </a:pPr>
            <a:endParaRPr dirty="0"/>
          </a:p>
          <a:p>
            <a:pPr algn="l">
              <a:lnSpc>
                <a:spcPts val="1631"/>
              </a:lnSpc>
            </a:pPr>
            <a:endParaRPr dirty="0"/>
          </a:p>
          <a:p>
            <a:pPr algn="l">
              <a:lnSpc>
                <a:spcPts val="1631"/>
              </a:lnSpc>
            </a:pPr>
            <a:endParaRPr dirty="0"/>
          </a:p>
          <a:p>
            <a:pPr algn="l">
              <a:lnSpc>
                <a:spcPts val="3264"/>
              </a:lnSpc>
            </a:pPr>
            <a:endParaRPr dirty="0"/>
          </a:p>
          <a:p>
            <a:pPr algn="l">
              <a:lnSpc>
                <a:spcPts val="2958"/>
              </a:lnSpc>
            </a:pPr>
            <a:r>
              <a:rPr lang="en-US" sz="2900" dirty="0">
                <a:solidFill>
                  <a:srgbClr val="000000"/>
                </a:solidFill>
                <a:latin typeface="Arial Bold"/>
              </a:rPr>
              <a:t>Microsoft - </a:t>
            </a:r>
            <a:r>
              <a:rPr lang="en-US" sz="2900" dirty="0">
                <a:solidFill>
                  <a:srgbClr val="0070C0"/>
                </a:solidFill>
                <a:latin typeface="Arial Bold"/>
              </a:rPr>
              <a:t>Zone Defense - Next Wave Catches You</a:t>
            </a:r>
          </a:p>
          <a:p>
            <a:pPr algn="l">
              <a:lnSpc>
                <a:spcPts val="2142"/>
              </a:lnSpc>
            </a:pPr>
            <a:endParaRPr lang="en-US" sz="2900" dirty="0">
              <a:solidFill>
                <a:srgbClr val="0070C0"/>
              </a:solidFill>
              <a:latin typeface="Arial Bold"/>
            </a:endParaRPr>
          </a:p>
          <a:p>
            <a:pPr algn="l">
              <a:lnSpc>
                <a:spcPts val="2142"/>
              </a:lnSpc>
            </a:pPr>
            <a:endParaRPr lang="en-US" sz="2900" dirty="0">
              <a:solidFill>
                <a:srgbClr val="0070C0"/>
              </a:solidFill>
              <a:latin typeface="Arial Bold"/>
            </a:endParaRPr>
          </a:p>
          <a:p>
            <a:pPr algn="l">
              <a:lnSpc>
                <a:spcPts val="2142"/>
              </a:lnSpc>
            </a:pPr>
            <a:endParaRPr lang="en-US" sz="2900" dirty="0">
              <a:solidFill>
                <a:srgbClr val="0070C0"/>
              </a:solidFill>
              <a:latin typeface="Arial Bold"/>
            </a:endParaRPr>
          </a:p>
          <a:p>
            <a:pPr algn="l">
              <a:lnSpc>
                <a:spcPts val="2142"/>
              </a:lnSpc>
            </a:pPr>
            <a:r>
              <a:rPr lang="en-US" sz="2100" dirty="0">
                <a:solidFill>
                  <a:srgbClr val="000000"/>
                </a:solidFill>
                <a:latin typeface="Arial Bold"/>
              </a:rPr>
              <a:t>Performance Zone</a:t>
            </a:r>
          </a:p>
          <a:p>
            <a:pPr marL="453396" lvl="1" indent="-226698" algn="l">
              <a:lnSpc>
                <a:spcPts val="2142"/>
              </a:lnSpc>
              <a:buFont typeface="Arial"/>
              <a:buChar char="•"/>
            </a:pPr>
            <a:r>
              <a:rPr lang="en-US" sz="2100" dirty="0">
                <a:solidFill>
                  <a:srgbClr val="000000"/>
                </a:solidFill>
                <a:latin typeface="Arial"/>
              </a:rPr>
              <a:t>Windows</a:t>
            </a:r>
          </a:p>
          <a:p>
            <a:pPr marL="453396" lvl="1" indent="-226698" algn="l">
              <a:lnSpc>
                <a:spcPts val="2142"/>
              </a:lnSpc>
              <a:buFont typeface="Arial"/>
              <a:buChar char="•"/>
            </a:pPr>
            <a:r>
              <a:rPr lang="en-US" sz="2100" dirty="0">
                <a:solidFill>
                  <a:srgbClr val="000000"/>
                </a:solidFill>
                <a:latin typeface="Arial"/>
              </a:rPr>
              <a:t>Office (Productivity)</a:t>
            </a:r>
          </a:p>
          <a:p>
            <a:pPr marL="453396" lvl="1" indent="-226698" algn="l">
              <a:lnSpc>
                <a:spcPts val="2142"/>
              </a:lnSpc>
              <a:buFont typeface="Arial"/>
              <a:buChar char="•"/>
            </a:pPr>
            <a:r>
              <a:rPr lang="en-US" sz="2100" dirty="0">
                <a:solidFill>
                  <a:srgbClr val="000000"/>
                </a:solidFill>
                <a:latin typeface="Arial"/>
              </a:rPr>
              <a:t>Backoffice, SQL</a:t>
            </a:r>
          </a:p>
          <a:p>
            <a:pPr marL="453396" lvl="1" indent="-226698" algn="l">
              <a:lnSpc>
                <a:spcPts val="2142"/>
              </a:lnSpc>
              <a:buFont typeface="Arial"/>
              <a:buChar char="•"/>
            </a:pPr>
            <a:r>
              <a:rPr lang="en-US" sz="2100" dirty="0">
                <a:solidFill>
                  <a:srgbClr val="000000"/>
                </a:solidFill>
                <a:latin typeface="Arial"/>
              </a:rPr>
              <a:t>On-Premise</a:t>
            </a:r>
          </a:p>
          <a:p>
            <a:pPr algn="l">
              <a:lnSpc>
                <a:spcPts val="2142"/>
              </a:lnSpc>
            </a:pPr>
            <a:endParaRPr lang="en-US" sz="2100" dirty="0">
              <a:solidFill>
                <a:srgbClr val="000000"/>
              </a:solidFill>
              <a:latin typeface="Arial"/>
            </a:endParaRPr>
          </a:p>
          <a:p>
            <a:pPr algn="l">
              <a:lnSpc>
                <a:spcPts val="2142"/>
              </a:lnSpc>
            </a:pPr>
            <a:r>
              <a:rPr lang="en-US" sz="2100" dirty="0">
                <a:solidFill>
                  <a:srgbClr val="000000"/>
                </a:solidFill>
                <a:latin typeface="Arial Bold"/>
              </a:rPr>
              <a:t>Performance Zone under attack</a:t>
            </a:r>
          </a:p>
          <a:p>
            <a:pPr marL="410218" lvl="1" indent="-205109" algn="l">
              <a:lnSpc>
                <a:spcPts val="1938"/>
              </a:lnSpc>
              <a:buFont typeface="Arial"/>
              <a:buChar char="•"/>
            </a:pPr>
            <a:r>
              <a:rPr lang="en-US" sz="1900" dirty="0">
                <a:solidFill>
                  <a:srgbClr val="000000"/>
                </a:solidFill>
                <a:latin typeface="Arial"/>
              </a:rPr>
              <a:t>Mobile Device displaced Windows</a:t>
            </a:r>
          </a:p>
          <a:p>
            <a:pPr marL="410218" lvl="1" indent="-205109" algn="l">
              <a:lnSpc>
                <a:spcPts val="1938"/>
              </a:lnSpc>
              <a:buFont typeface="Arial"/>
              <a:buChar char="•"/>
            </a:pPr>
            <a:r>
              <a:rPr lang="en-US" sz="1900" dirty="0">
                <a:solidFill>
                  <a:srgbClr val="000000"/>
                </a:solidFill>
                <a:latin typeface="Arial"/>
              </a:rPr>
              <a:t>Google Apps (free, collaborative)</a:t>
            </a:r>
          </a:p>
          <a:p>
            <a:pPr marL="410218" lvl="1" indent="-205109" algn="l">
              <a:lnSpc>
                <a:spcPts val="1938"/>
              </a:lnSpc>
              <a:buFont typeface="Arial"/>
              <a:buChar char="•"/>
            </a:pPr>
            <a:r>
              <a:rPr lang="en-US" sz="1900" dirty="0">
                <a:solidFill>
                  <a:srgbClr val="000000"/>
                </a:solidFill>
                <a:latin typeface="Arial"/>
              </a:rPr>
              <a:t>Cloud v/s on-Premise</a:t>
            </a:r>
          </a:p>
          <a:p>
            <a:pPr algn="l">
              <a:lnSpc>
                <a:spcPts val="2142"/>
              </a:lnSpc>
            </a:pPr>
            <a:endParaRPr lang="en-US" sz="1900" dirty="0">
              <a:solidFill>
                <a:srgbClr val="000000"/>
              </a:solidFill>
              <a:latin typeface="Arial"/>
            </a:endParaRPr>
          </a:p>
          <a:p>
            <a:pPr algn="l">
              <a:lnSpc>
                <a:spcPts val="3264"/>
              </a:lnSpc>
            </a:pPr>
            <a:endParaRPr lang="en-US" sz="1900" dirty="0">
              <a:solidFill>
                <a:srgbClr val="000000"/>
              </a:solidFill>
              <a:latin typeface="Arial"/>
            </a:endParaRPr>
          </a:p>
          <a:p>
            <a:pPr algn="l">
              <a:lnSpc>
                <a:spcPts val="3060"/>
              </a:lnSpc>
            </a:pPr>
            <a:endParaRPr lang="en-US" sz="1900" dirty="0">
              <a:solidFill>
                <a:srgbClr val="000000"/>
              </a:solidFill>
              <a:latin typeface="Arial"/>
            </a:endParaRPr>
          </a:p>
          <a:p>
            <a:pPr algn="l">
              <a:lnSpc>
                <a:spcPts val="3264"/>
              </a:lnSpc>
            </a:pPr>
            <a:endParaRPr lang="en-US" sz="1900" dirty="0">
              <a:solidFill>
                <a:srgbClr val="000000"/>
              </a:solidFill>
              <a:latin typeface="Arial"/>
            </a:endParaRPr>
          </a:p>
          <a:p>
            <a:pPr algn="l">
              <a:lnSpc>
                <a:spcPts val="3264"/>
              </a:lnSpc>
            </a:pPr>
            <a:endParaRPr lang="en-US" sz="1900" dirty="0">
              <a:solidFill>
                <a:srgbClr val="000000"/>
              </a:solidFill>
              <a:latin typeface="Arial"/>
            </a:endParaRPr>
          </a:p>
        </p:txBody>
      </p:sp>
      <p:sp>
        <p:nvSpPr>
          <p:cNvPr id="4" name="Freeform 4"/>
          <p:cNvSpPr/>
          <p:nvPr/>
        </p:nvSpPr>
        <p:spPr>
          <a:xfrm>
            <a:off x="4671818" y="3657600"/>
            <a:ext cx="5081782" cy="2948726"/>
          </a:xfrm>
          <a:custGeom>
            <a:avLst/>
            <a:gdLst/>
            <a:ahLst/>
            <a:cxnLst/>
            <a:rect l="l" t="t" r="r" b="b"/>
            <a:pathLst>
              <a:path w="5081782" h="2948726">
                <a:moveTo>
                  <a:pt x="0" y="0"/>
                </a:moveTo>
                <a:lnTo>
                  <a:pt x="5081782" y="0"/>
                </a:lnTo>
                <a:lnTo>
                  <a:pt x="5081782" y="2948726"/>
                </a:lnTo>
                <a:lnTo>
                  <a:pt x="0" y="2948726"/>
                </a:lnTo>
                <a:lnTo>
                  <a:pt x="0" y="0"/>
                </a:lnTo>
                <a:close/>
              </a:path>
            </a:pathLst>
          </a:custGeom>
          <a:blipFill>
            <a:blip r:embed="rId4"/>
            <a:stretch>
              <a:fillRect t="-23567" b="-3931"/>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
        <p:nvSpPr>
          <p:cNvPr id="3" name="Freeform 3"/>
          <p:cNvSpPr/>
          <p:nvPr/>
        </p:nvSpPr>
        <p:spPr>
          <a:xfrm>
            <a:off x="891082" y="2733960"/>
            <a:ext cx="3985718" cy="2267568"/>
          </a:xfrm>
          <a:custGeom>
            <a:avLst/>
            <a:gdLst/>
            <a:ahLst/>
            <a:cxnLst/>
            <a:rect l="l" t="t" r="r" b="b"/>
            <a:pathLst>
              <a:path w="3985718" h="2267568">
                <a:moveTo>
                  <a:pt x="0" y="0"/>
                </a:moveTo>
                <a:lnTo>
                  <a:pt x="3985718" y="0"/>
                </a:lnTo>
                <a:lnTo>
                  <a:pt x="3985718" y="2267568"/>
                </a:lnTo>
                <a:lnTo>
                  <a:pt x="0" y="2267568"/>
                </a:lnTo>
                <a:lnTo>
                  <a:pt x="0" y="0"/>
                </a:lnTo>
                <a:close/>
              </a:path>
            </a:pathLst>
          </a:custGeom>
          <a:blipFill>
            <a:blip r:embed="rId4"/>
            <a:stretch>
              <a:fillRect t="-24286" b="-5752"/>
            </a:stretch>
          </a:blipFill>
        </p:spPr>
      </p:sp>
      <p:sp>
        <p:nvSpPr>
          <p:cNvPr id="4" name="Freeform 4"/>
          <p:cNvSpPr/>
          <p:nvPr/>
        </p:nvSpPr>
        <p:spPr>
          <a:xfrm>
            <a:off x="5384801" y="2632511"/>
            <a:ext cx="4010627" cy="2369017"/>
          </a:xfrm>
          <a:custGeom>
            <a:avLst/>
            <a:gdLst/>
            <a:ahLst/>
            <a:cxnLst/>
            <a:rect l="l" t="t" r="r" b="b"/>
            <a:pathLst>
              <a:path w="4010627" h="2369017">
                <a:moveTo>
                  <a:pt x="0" y="0"/>
                </a:moveTo>
                <a:lnTo>
                  <a:pt x="4010628" y="0"/>
                </a:lnTo>
                <a:lnTo>
                  <a:pt x="4010628" y="2369017"/>
                </a:lnTo>
                <a:lnTo>
                  <a:pt x="0" y="2369017"/>
                </a:lnTo>
                <a:lnTo>
                  <a:pt x="0" y="0"/>
                </a:lnTo>
                <a:close/>
              </a:path>
            </a:pathLst>
          </a:custGeom>
          <a:blipFill>
            <a:blip r:embed="rId5"/>
            <a:stretch>
              <a:fillRect t="-22936" b="-1223"/>
            </a:stretch>
          </a:blipFill>
        </p:spPr>
      </p:sp>
      <p:sp>
        <p:nvSpPr>
          <p:cNvPr id="5" name="TextBox 5"/>
          <p:cNvSpPr txBox="1"/>
          <p:nvPr/>
        </p:nvSpPr>
        <p:spPr>
          <a:xfrm>
            <a:off x="358171" y="-265046"/>
            <a:ext cx="9037257" cy="4122039"/>
          </a:xfrm>
          <a:prstGeom prst="rect">
            <a:avLst/>
          </a:prstGeom>
        </p:spPr>
        <p:txBody>
          <a:bodyPr lIns="0" tIns="0" rIns="0" bIns="0" rtlCol="0" anchor="t">
            <a:spAutoFit/>
          </a:bodyPr>
          <a:lstStyle/>
          <a:p>
            <a:pPr>
              <a:lnSpc>
                <a:spcPts val="1631"/>
              </a:lnSpc>
            </a:pPr>
            <a:endParaRPr/>
          </a:p>
          <a:p>
            <a:pPr algn="l">
              <a:lnSpc>
                <a:spcPts val="1631"/>
              </a:lnSpc>
            </a:pPr>
            <a:endParaRPr/>
          </a:p>
          <a:p>
            <a:pPr algn="l">
              <a:lnSpc>
                <a:spcPts val="1631"/>
              </a:lnSpc>
            </a:pPr>
            <a:endParaRPr/>
          </a:p>
          <a:p>
            <a:pPr algn="l">
              <a:lnSpc>
                <a:spcPts val="3264"/>
              </a:lnSpc>
            </a:pPr>
            <a:endParaRPr/>
          </a:p>
          <a:p>
            <a:pPr algn="l">
              <a:lnSpc>
                <a:spcPts val="2958"/>
              </a:lnSpc>
            </a:pPr>
            <a:r>
              <a:rPr lang="en-US" sz="2900">
                <a:solidFill>
                  <a:srgbClr val="000000"/>
                </a:solidFill>
                <a:latin typeface="Arial Bold"/>
              </a:rPr>
              <a:t>Microsoft - </a:t>
            </a:r>
            <a:r>
              <a:rPr lang="en-US" sz="2900">
                <a:solidFill>
                  <a:srgbClr val="0070C0"/>
                </a:solidFill>
                <a:latin typeface="Arial Bold"/>
              </a:rPr>
              <a:t>Zone Defense - Next Wave Catches You</a:t>
            </a:r>
          </a:p>
          <a:p>
            <a:pPr algn="l">
              <a:lnSpc>
                <a:spcPts val="2142"/>
              </a:lnSpc>
            </a:pPr>
            <a:endParaRPr lang="en-US" sz="2900">
              <a:solidFill>
                <a:srgbClr val="0070C0"/>
              </a:solidFill>
              <a:latin typeface="Arial Bold"/>
            </a:endParaRPr>
          </a:p>
          <a:p>
            <a:pPr algn="l">
              <a:lnSpc>
                <a:spcPts val="2142"/>
              </a:lnSpc>
            </a:pPr>
            <a:endParaRPr lang="en-US" sz="2900">
              <a:solidFill>
                <a:srgbClr val="0070C0"/>
              </a:solidFill>
              <a:latin typeface="Arial Bold"/>
            </a:endParaRPr>
          </a:p>
          <a:p>
            <a:pPr algn="l">
              <a:lnSpc>
                <a:spcPts val="2142"/>
              </a:lnSpc>
            </a:pPr>
            <a:endParaRPr lang="en-US" sz="2900">
              <a:solidFill>
                <a:srgbClr val="0070C0"/>
              </a:solidFill>
              <a:latin typeface="Arial Bold"/>
            </a:endParaRPr>
          </a:p>
          <a:p>
            <a:pPr algn="l">
              <a:lnSpc>
                <a:spcPts val="2142"/>
              </a:lnSpc>
            </a:pPr>
            <a:endParaRPr lang="en-US" sz="2900">
              <a:solidFill>
                <a:srgbClr val="0070C0"/>
              </a:solidFill>
              <a:latin typeface="Arial Bold"/>
            </a:endParaRPr>
          </a:p>
          <a:p>
            <a:pPr algn="l">
              <a:lnSpc>
                <a:spcPts val="3264"/>
              </a:lnSpc>
            </a:pPr>
            <a:endParaRPr lang="en-US" sz="2900">
              <a:solidFill>
                <a:srgbClr val="0070C0"/>
              </a:solidFill>
              <a:latin typeface="Arial Bold"/>
            </a:endParaRPr>
          </a:p>
          <a:p>
            <a:pPr algn="l">
              <a:lnSpc>
                <a:spcPts val="3060"/>
              </a:lnSpc>
            </a:pPr>
            <a:endParaRPr lang="en-US" sz="2900">
              <a:solidFill>
                <a:srgbClr val="0070C0"/>
              </a:solidFill>
              <a:latin typeface="Arial Bold"/>
            </a:endParaRPr>
          </a:p>
          <a:p>
            <a:pPr algn="l">
              <a:lnSpc>
                <a:spcPts val="3264"/>
              </a:lnSpc>
            </a:pPr>
            <a:endParaRPr lang="en-US" sz="2900">
              <a:solidFill>
                <a:srgbClr val="0070C0"/>
              </a:solidFill>
              <a:latin typeface="Arial Bold"/>
            </a:endParaRPr>
          </a:p>
          <a:p>
            <a:pPr algn="l">
              <a:lnSpc>
                <a:spcPts val="3264"/>
              </a:lnSpc>
            </a:pPr>
            <a:endParaRPr lang="en-US" sz="2900">
              <a:solidFill>
                <a:srgbClr val="0070C0"/>
              </a:solidFill>
              <a:latin typeface="Arial Bold"/>
            </a:endParaRPr>
          </a:p>
        </p:txBody>
      </p:sp>
      <p:sp>
        <p:nvSpPr>
          <p:cNvPr id="6" name="TextBox 6"/>
          <p:cNvSpPr txBox="1"/>
          <p:nvPr/>
        </p:nvSpPr>
        <p:spPr>
          <a:xfrm>
            <a:off x="4760858" y="5897880"/>
            <a:ext cx="3118917" cy="685800"/>
          </a:xfrm>
          <a:prstGeom prst="rect">
            <a:avLst/>
          </a:prstGeom>
        </p:spPr>
        <p:txBody>
          <a:bodyPr lIns="0" tIns="0" rIns="0" bIns="0" rtlCol="0" anchor="t">
            <a:spAutoFit/>
          </a:bodyPr>
          <a:lstStyle/>
          <a:p>
            <a:pPr>
              <a:lnSpc>
                <a:spcPts val="1791"/>
              </a:lnSpc>
              <a:spcBef>
                <a:spcPct val="0"/>
              </a:spcBef>
            </a:pPr>
            <a:r>
              <a:rPr lang="en-US" sz="1493">
                <a:solidFill>
                  <a:srgbClr val="000000"/>
                </a:solidFill>
                <a:latin typeface="Arial Bold"/>
              </a:rPr>
              <a:t>Azure pushed forward - Cloud first</a:t>
            </a:r>
          </a:p>
          <a:p>
            <a:pPr>
              <a:lnSpc>
                <a:spcPts val="1791"/>
              </a:lnSpc>
              <a:spcBef>
                <a:spcPct val="0"/>
              </a:spcBef>
            </a:pPr>
            <a:r>
              <a:rPr lang="en-US" sz="1493">
                <a:solidFill>
                  <a:srgbClr val="000000"/>
                </a:solidFill>
                <a:latin typeface="Arial Bold"/>
              </a:rPr>
              <a:t>O365 - Office - Mobile first/Cloud</a:t>
            </a:r>
          </a:p>
          <a:p>
            <a:pPr>
              <a:lnSpc>
                <a:spcPts val="1791"/>
              </a:lnSpc>
              <a:spcBef>
                <a:spcPct val="0"/>
              </a:spcBef>
            </a:pPr>
            <a:r>
              <a:rPr lang="en-US" sz="1493">
                <a:solidFill>
                  <a:srgbClr val="000000"/>
                </a:solidFill>
                <a:latin typeface="Arial Bold"/>
              </a:rPr>
              <a:t>Windows next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
        <p:nvSpPr>
          <p:cNvPr id="3" name="Freeform 3"/>
          <p:cNvSpPr/>
          <p:nvPr/>
        </p:nvSpPr>
        <p:spPr>
          <a:xfrm>
            <a:off x="1230728" y="1894864"/>
            <a:ext cx="7118231" cy="4395035"/>
          </a:xfrm>
          <a:custGeom>
            <a:avLst/>
            <a:gdLst/>
            <a:ahLst/>
            <a:cxnLst/>
            <a:rect l="l" t="t" r="r" b="b"/>
            <a:pathLst>
              <a:path w="7118231" h="4395035">
                <a:moveTo>
                  <a:pt x="0" y="0"/>
                </a:moveTo>
                <a:lnTo>
                  <a:pt x="7118231" y="0"/>
                </a:lnTo>
                <a:lnTo>
                  <a:pt x="7118231" y="4395035"/>
                </a:lnTo>
                <a:lnTo>
                  <a:pt x="0" y="4395035"/>
                </a:lnTo>
                <a:lnTo>
                  <a:pt x="0" y="0"/>
                </a:lnTo>
                <a:close/>
              </a:path>
            </a:pathLst>
          </a:custGeom>
          <a:blipFill>
            <a:blip r:embed="rId4"/>
            <a:stretch>
              <a:fillRect t="-22093" r="-2443" b="-2308"/>
            </a:stretch>
          </a:blipFill>
        </p:spPr>
      </p:sp>
      <p:sp>
        <p:nvSpPr>
          <p:cNvPr id="4" name="TextBox 4"/>
          <p:cNvSpPr txBox="1"/>
          <p:nvPr/>
        </p:nvSpPr>
        <p:spPr>
          <a:xfrm>
            <a:off x="358171" y="-96391"/>
            <a:ext cx="9037257" cy="3055239"/>
          </a:xfrm>
          <a:prstGeom prst="rect">
            <a:avLst/>
          </a:prstGeom>
        </p:spPr>
        <p:txBody>
          <a:bodyPr lIns="0" tIns="0" rIns="0" bIns="0" rtlCol="0" anchor="t">
            <a:spAutoFit/>
          </a:bodyPr>
          <a:lstStyle/>
          <a:p>
            <a:pPr>
              <a:lnSpc>
                <a:spcPts val="1631"/>
              </a:lnSpc>
            </a:pPr>
            <a:endParaRPr/>
          </a:p>
          <a:p>
            <a:pPr algn="l">
              <a:lnSpc>
                <a:spcPts val="1631"/>
              </a:lnSpc>
            </a:pPr>
            <a:endParaRPr/>
          </a:p>
          <a:p>
            <a:pPr algn="l">
              <a:lnSpc>
                <a:spcPts val="1631"/>
              </a:lnSpc>
            </a:pPr>
            <a:endParaRPr/>
          </a:p>
          <a:p>
            <a:pPr algn="l">
              <a:lnSpc>
                <a:spcPts val="3264"/>
              </a:lnSpc>
            </a:pPr>
            <a:endParaRPr/>
          </a:p>
          <a:p>
            <a:pPr algn="l">
              <a:lnSpc>
                <a:spcPts val="2958"/>
              </a:lnSpc>
            </a:pPr>
            <a:r>
              <a:rPr lang="en-US" sz="2900">
                <a:solidFill>
                  <a:srgbClr val="000000"/>
                </a:solidFill>
                <a:latin typeface="Arial Bold"/>
              </a:rPr>
              <a:t>Maintaining - </a:t>
            </a:r>
            <a:r>
              <a:rPr lang="en-US" sz="2900">
                <a:solidFill>
                  <a:srgbClr val="0070C0"/>
                </a:solidFill>
                <a:latin typeface="Arial"/>
              </a:rPr>
              <a:t>Managing Between Waves</a:t>
            </a:r>
          </a:p>
          <a:p>
            <a:pPr algn="l">
              <a:lnSpc>
                <a:spcPts val="3264"/>
              </a:lnSpc>
            </a:pPr>
            <a:endParaRPr lang="en-US" sz="2900">
              <a:solidFill>
                <a:srgbClr val="0070C0"/>
              </a:solidFill>
              <a:latin typeface="Arial"/>
            </a:endParaRPr>
          </a:p>
          <a:p>
            <a:pPr algn="l">
              <a:lnSpc>
                <a:spcPts val="3060"/>
              </a:lnSpc>
            </a:pPr>
            <a:endParaRPr lang="en-US" sz="2900">
              <a:solidFill>
                <a:srgbClr val="0070C0"/>
              </a:solidFill>
              <a:latin typeface="Arial"/>
            </a:endParaRPr>
          </a:p>
          <a:p>
            <a:pPr algn="l">
              <a:lnSpc>
                <a:spcPts val="3264"/>
              </a:lnSpc>
            </a:pPr>
            <a:endParaRPr lang="en-US" sz="2900">
              <a:solidFill>
                <a:srgbClr val="0070C0"/>
              </a:solidFill>
              <a:latin typeface="Arial"/>
            </a:endParaRPr>
          </a:p>
          <a:p>
            <a:pPr algn="l">
              <a:lnSpc>
                <a:spcPts val="3264"/>
              </a:lnSpc>
            </a:pPr>
            <a:endParaRPr lang="en-US" sz="2900">
              <a:solidFill>
                <a:srgbClr val="0070C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1520" y="1500512"/>
            <a:ext cx="8361710" cy="3524250"/>
          </a:xfrm>
          <a:prstGeom prst="rect">
            <a:avLst/>
          </a:prstGeom>
        </p:spPr>
        <p:txBody>
          <a:bodyPr lIns="0" tIns="0" rIns="0" bIns="0" rtlCol="0" anchor="t">
            <a:spAutoFit/>
          </a:bodyPr>
          <a:lstStyle/>
          <a:p>
            <a:pPr>
              <a:lnSpc>
                <a:spcPts val="3071"/>
              </a:lnSpc>
            </a:pPr>
            <a:r>
              <a:rPr lang="en-US" sz="2559">
                <a:solidFill>
                  <a:srgbClr val="000000"/>
                </a:solidFill>
                <a:latin typeface="Arial Bold"/>
              </a:rPr>
              <a:t>Core Questions</a:t>
            </a:r>
          </a:p>
          <a:p>
            <a:pPr>
              <a:lnSpc>
                <a:spcPts val="3071"/>
              </a:lnSpc>
            </a:pPr>
            <a:endParaRPr lang="en-US" sz="2559">
              <a:solidFill>
                <a:srgbClr val="000000"/>
              </a:solidFill>
              <a:latin typeface="Arial Bold"/>
            </a:endParaRPr>
          </a:p>
          <a:p>
            <a:pPr marL="247091" lvl="1" indent="-123546" algn="l">
              <a:lnSpc>
                <a:spcPts val="2465"/>
              </a:lnSpc>
              <a:buFont typeface="Arial"/>
              <a:buChar char="•"/>
            </a:pPr>
            <a:r>
              <a:rPr lang="en-US" sz="1920" spc="-76">
                <a:solidFill>
                  <a:srgbClr val="000000"/>
                </a:solidFill>
                <a:latin typeface="Open Sans 2"/>
              </a:rPr>
              <a:t>Are they sustaining innovations or disruptive innovations?</a:t>
            </a:r>
          </a:p>
          <a:p>
            <a:pPr marL="247091" lvl="1" indent="-123546" algn="l">
              <a:lnSpc>
                <a:spcPts val="2465"/>
              </a:lnSpc>
              <a:buFont typeface="Arial"/>
              <a:buChar char="•"/>
            </a:pPr>
            <a:r>
              <a:rPr lang="en-US" sz="1920" spc="-76">
                <a:solidFill>
                  <a:srgbClr val="000000"/>
                </a:solidFill>
                <a:latin typeface="Open Sans 2"/>
              </a:rPr>
              <a:t>Are they enabling systems productivity and cost optimization?</a:t>
            </a:r>
          </a:p>
          <a:p>
            <a:pPr marL="247091" lvl="1" indent="-123546" algn="l">
              <a:lnSpc>
                <a:spcPts val="2465"/>
              </a:lnSpc>
              <a:buFont typeface="Arial"/>
              <a:buChar char="•"/>
            </a:pPr>
            <a:r>
              <a:rPr lang="en-US" sz="1920" spc="-76">
                <a:solidFill>
                  <a:srgbClr val="000000"/>
                </a:solidFill>
                <a:latin typeface="Open Sans 2"/>
              </a:rPr>
              <a:t>Are they increasing business unit performance and revenue growth?</a:t>
            </a:r>
          </a:p>
          <a:p>
            <a:pPr marL="247091" lvl="1" indent="-123546" algn="l">
              <a:lnSpc>
                <a:spcPts val="2465"/>
              </a:lnSpc>
              <a:buFont typeface="Arial"/>
              <a:buChar char="•"/>
            </a:pPr>
            <a:r>
              <a:rPr lang="en-US" sz="1920" spc="-76">
                <a:solidFill>
                  <a:srgbClr val="000000"/>
                </a:solidFill>
                <a:latin typeface="Open Sans 2"/>
              </a:rPr>
              <a:t>Are they enabling business model transformation?</a:t>
            </a:r>
          </a:p>
          <a:p>
            <a:pPr marL="329455" lvl="1" indent="-164727" algn="l">
              <a:lnSpc>
                <a:spcPts val="3071"/>
              </a:lnSpc>
            </a:pPr>
            <a:endParaRPr lang="en-US" sz="1920" spc="-76">
              <a:solidFill>
                <a:srgbClr val="000000"/>
              </a:solidFill>
              <a:latin typeface="Open Sans 2"/>
            </a:endParaRPr>
          </a:p>
          <a:p>
            <a:pPr marL="329455" lvl="1" indent="-164727" algn="l">
              <a:lnSpc>
                <a:spcPts val="3071"/>
              </a:lnSpc>
            </a:pPr>
            <a:endParaRPr lang="en-US" sz="1920" spc="-76">
              <a:solidFill>
                <a:srgbClr val="000000"/>
              </a:solidFill>
              <a:latin typeface="Open Sans 2"/>
            </a:endParaRPr>
          </a:p>
          <a:p>
            <a:pPr marL="329455" lvl="1" indent="-164727" algn="l">
              <a:lnSpc>
                <a:spcPts val="3071"/>
              </a:lnSpc>
            </a:pPr>
            <a:endParaRPr lang="en-US" sz="1920" spc="-76">
              <a:solidFill>
                <a:srgbClr val="000000"/>
              </a:solidFill>
              <a:latin typeface="Open Sans 2"/>
            </a:endParaRPr>
          </a:p>
          <a:p>
            <a:pPr marL="302000" lvl="1" indent="-151000" algn="l">
              <a:lnSpc>
                <a:spcPts val="2815"/>
              </a:lnSpc>
            </a:pPr>
            <a:r>
              <a:rPr lang="en-US" sz="2346" spc="-93">
                <a:solidFill>
                  <a:srgbClr val="000000"/>
                </a:solidFill>
                <a:latin typeface="Arial"/>
              </a:rPr>
              <a:t>				</a:t>
            </a:r>
          </a:p>
        </p:txBody>
      </p:sp>
      <p:sp>
        <p:nvSpPr>
          <p:cNvPr id="3" name="TextBox 3"/>
          <p:cNvSpPr txBox="1"/>
          <p:nvPr/>
        </p:nvSpPr>
        <p:spPr>
          <a:xfrm>
            <a:off x="731520" y="271097"/>
            <a:ext cx="9037257" cy="1074039"/>
          </a:xfrm>
          <a:prstGeom prst="rect">
            <a:avLst/>
          </a:prstGeom>
        </p:spPr>
        <p:txBody>
          <a:bodyPr lIns="0" tIns="0" rIns="0" bIns="0" rtlCol="0" anchor="t">
            <a:spAutoFit/>
          </a:bodyPr>
          <a:lstStyle/>
          <a:p>
            <a:pPr>
              <a:lnSpc>
                <a:spcPts val="1631"/>
              </a:lnSpc>
            </a:pPr>
            <a:r>
              <a:rPr lang="en-US" sz="1599">
                <a:solidFill>
                  <a:srgbClr val="F14902"/>
                </a:solidFill>
                <a:latin typeface="Arial Bold"/>
              </a:rPr>
              <a:t>Project Prioritization Process</a:t>
            </a:r>
          </a:p>
          <a:p>
            <a:pPr algn="l">
              <a:lnSpc>
                <a:spcPts val="1631"/>
              </a:lnSpc>
            </a:pPr>
            <a:endParaRPr lang="en-US" sz="1599">
              <a:solidFill>
                <a:srgbClr val="F14902"/>
              </a:solidFill>
              <a:latin typeface="Arial Bold"/>
            </a:endParaRPr>
          </a:p>
          <a:p>
            <a:pPr algn="l">
              <a:lnSpc>
                <a:spcPts val="1631"/>
              </a:lnSpc>
            </a:pPr>
            <a:endParaRPr lang="en-US" sz="1599">
              <a:solidFill>
                <a:srgbClr val="F14902"/>
              </a:solidFill>
              <a:latin typeface="Arial Bold"/>
            </a:endParaRPr>
          </a:p>
          <a:p>
            <a:pPr algn="l">
              <a:lnSpc>
                <a:spcPts val="3264"/>
              </a:lnSpc>
            </a:pPr>
            <a:r>
              <a:rPr lang="en-US" sz="3200">
                <a:solidFill>
                  <a:srgbClr val="000000"/>
                </a:solidFill>
                <a:latin typeface="Arial"/>
              </a:rPr>
              <a:t>NFL Technology Innovation HUB</a:t>
            </a:r>
          </a:p>
        </p:txBody>
      </p:sp>
      <p:sp>
        <p:nvSpPr>
          <p:cNvPr id="4" name="Freeform 4"/>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1520" y="1595578"/>
            <a:ext cx="8782316" cy="3448050"/>
          </a:xfrm>
          <a:prstGeom prst="rect">
            <a:avLst/>
          </a:prstGeom>
        </p:spPr>
        <p:txBody>
          <a:bodyPr lIns="0" tIns="0" rIns="0" bIns="0" rtlCol="0" anchor="t">
            <a:spAutoFit/>
          </a:bodyPr>
          <a:lstStyle/>
          <a:p>
            <a:pPr>
              <a:lnSpc>
                <a:spcPts val="3071"/>
              </a:lnSpc>
            </a:pPr>
            <a:r>
              <a:rPr lang="en-US" sz="2559" dirty="0">
                <a:solidFill>
                  <a:srgbClr val="000000"/>
                </a:solidFill>
                <a:latin typeface="Arial"/>
              </a:rPr>
              <a:t>Core Questions</a:t>
            </a:r>
          </a:p>
          <a:p>
            <a:pPr algn="l">
              <a:lnSpc>
                <a:spcPts val="3071"/>
              </a:lnSpc>
            </a:pPr>
            <a:endParaRPr lang="en-US" sz="2559" dirty="0">
              <a:solidFill>
                <a:srgbClr val="000000"/>
              </a:solidFill>
              <a:latin typeface="Arial"/>
            </a:endParaRPr>
          </a:p>
          <a:p>
            <a:pPr marL="247091" lvl="1" indent="-123546" algn="l">
              <a:lnSpc>
                <a:spcPts val="2465"/>
              </a:lnSpc>
              <a:buFont typeface="Arial"/>
              <a:buChar char="•"/>
            </a:pPr>
            <a:r>
              <a:rPr lang="en-US" sz="1920" spc="-76" dirty="0">
                <a:solidFill>
                  <a:srgbClr val="000000"/>
                </a:solidFill>
                <a:latin typeface="Open Sans 2 Bold"/>
              </a:rPr>
              <a:t>Should we do it? </a:t>
            </a:r>
            <a:r>
              <a:rPr lang="en-US" sz="1920" spc="-76" dirty="0">
                <a:solidFill>
                  <a:srgbClr val="000000"/>
                </a:solidFill>
                <a:latin typeface="Open Sans 2"/>
              </a:rPr>
              <a:t>Does it align with and support critical business outcomes?</a:t>
            </a:r>
          </a:p>
          <a:p>
            <a:pPr marL="247091" lvl="1" indent="-123546" algn="l">
              <a:lnSpc>
                <a:spcPts val="2465"/>
              </a:lnSpc>
              <a:buFont typeface="Arial"/>
              <a:buChar char="•"/>
            </a:pPr>
            <a:r>
              <a:rPr lang="en-US" sz="1920" spc="-76" dirty="0">
                <a:solidFill>
                  <a:srgbClr val="000000"/>
                </a:solidFill>
                <a:latin typeface="Open Sans 2 Bold"/>
              </a:rPr>
              <a:t>Can we do it?</a:t>
            </a:r>
            <a:r>
              <a:rPr lang="en-US" sz="1920" spc="-76" dirty="0">
                <a:solidFill>
                  <a:srgbClr val="000000"/>
                </a:solidFill>
                <a:latin typeface="Open Sans 2"/>
              </a:rPr>
              <a:t> Do we have the relevant skills, capabilities and capacity to achieve the outcome?</a:t>
            </a:r>
          </a:p>
          <a:p>
            <a:pPr marL="247091" lvl="1" indent="-123546" algn="l">
              <a:lnSpc>
                <a:spcPts val="2465"/>
              </a:lnSpc>
              <a:buFont typeface="Arial"/>
              <a:buChar char="•"/>
            </a:pPr>
            <a:r>
              <a:rPr lang="en-US" sz="1920" spc="-76" dirty="0">
                <a:solidFill>
                  <a:srgbClr val="000000"/>
                </a:solidFill>
                <a:latin typeface="Open Sans 2 Bold"/>
              </a:rPr>
              <a:t>Did we do it? </a:t>
            </a:r>
            <a:r>
              <a:rPr lang="en-US" sz="1920" spc="-76" dirty="0">
                <a:solidFill>
                  <a:srgbClr val="000000"/>
                </a:solidFill>
                <a:latin typeface="Open Sans 2"/>
              </a:rPr>
              <a:t>Do we have the right metrics to measure the achieved outcome vs. the desired outcome?</a:t>
            </a:r>
          </a:p>
          <a:p>
            <a:pPr marL="329455" lvl="1" indent="-164727" algn="l">
              <a:lnSpc>
                <a:spcPts val="3071"/>
              </a:lnSpc>
            </a:pPr>
            <a:endParaRPr lang="en-US" sz="1920" spc="-76" dirty="0">
              <a:solidFill>
                <a:srgbClr val="000000"/>
              </a:solidFill>
              <a:latin typeface="Open Sans 2"/>
            </a:endParaRPr>
          </a:p>
          <a:p>
            <a:pPr marL="329455" lvl="1" indent="-164727" algn="l">
              <a:lnSpc>
                <a:spcPts val="3071"/>
              </a:lnSpc>
            </a:pPr>
            <a:endParaRPr lang="en-US" sz="1920" spc="-76" dirty="0">
              <a:solidFill>
                <a:srgbClr val="000000"/>
              </a:solidFill>
              <a:latin typeface="Open Sans 2"/>
            </a:endParaRPr>
          </a:p>
          <a:p>
            <a:pPr marL="302000" lvl="1" indent="-151000" algn="l">
              <a:lnSpc>
                <a:spcPts val="2815"/>
              </a:lnSpc>
            </a:pPr>
            <a:r>
              <a:rPr lang="en-US" sz="2346" spc="-93" dirty="0">
                <a:solidFill>
                  <a:srgbClr val="000000"/>
                </a:solidFill>
                <a:latin typeface="Arial"/>
              </a:rPr>
              <a:t>				</a:t>
            </a:r>
          </a:p>
        </p:txBody>
      </p:sp>
      <p:sp>
        <p:nvSpPr>
          <p:cNvPr id="3" name="TextBox 3"/>
          <p:cNvSpPr txBox="1"/>
          <p:nvPr/>
        </p:nvSpPr>
        <p:spPr>
          <a:xfrm>
            <a:off x="731520" y="271097"/>
            <a:ext cx="9037257" cy="1074039"/>
          </a:xfrm>
          <a:prstGeom prst="rect">
            <a:avLst/>
          </a:prstGeom>
        </p:spPr>
        <p:txBody>
          <a:bodyPr lIns="0" tIns="0" rIns="0" bIns="0" rtlCol="0" anchor="t">
            <a:spAutoFit/>
          </a:bodyPr>
          <a:lstStyle/>
          <a:p>
            <a:pPr>
              <a:lnSpc>
                <a:spcPts val="1631"/>
              </a:lnSpc>
            </a:pPr>
            <a:r>
              <a:rPr lang="en-US" sz="1599">
                <a:solidFill>
                  <a:srgbClr val="F14902"/>
                </a:solidFill>
                <a:latin typeface="Arial Bold"/>
              </a:rPr>
              <a:t>Demand Management Process</a:t>
            </a:r>
          </a:p>
          <a:p>
            <a:pPr algn="l">
              <a:lnSpc>
                <a:spcPts val="1631"/>
              </a:lnSpc>
            </a:pPr>
            <a:endParaRPr lang="en-US" sz="1599">
              <a:solidFill>
                <a:srgbClr val="F14902"/>
              </a:solidFill>
              <a:latin typeface="Arial Bold"/>
            </a:endParaRPr>
          </a:p>
          <a:p>
            <a:pPr algn="l">
              <a:lnSpc>
                <a:spcPts val="1631"/>
              </a:lnSpc>
            </a:pPr>
            <a:endParaRPr lang="en-US" sz="1599">
              <a:solidFill>
                <a:srgbClr val="F14902"/>
              </a:solidFill>
              <a:latin typeface="Arial Bold"/>
            </a:endParaRPr>
          </a:p>
          <a:p>
            <a:pPr algn="l">
              <a:lnSpc>
                <a:spcPts val="3264"/>
              </a:lnSpc>
            </a:pPr>
            <a:r>
              <a:rPr lang="en-US" sz="3200">
                <a:solidFill>
                  <a:srgbClr val="000000"/>
                </a:solidFill>
                <a:latin typeface="Arial"/>
              </a:rPr>
              <a:t>NFL Technology Innovation HUB</a:t>
            </a:r>
          </a:p>
        </p:txBody>
      </p:sp>
      <p:sp>
        <p:nvSpPr>
          <p:cNvPr id="4" name="Freeform 4"/>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
        <p:nvSpPr>
          <p:cNvPr id="3" name="Freeform 3"/>
          <p:cNvSpPr/>
          <p:nvPr/>
        </p:nvSpPr>
        <p:spPr>
          <a:xfrm>
            <a:off x="1287018" y="1616511"/>
            <a:ext cx="7609859" cy="3662689"/>
          </a:xfrm>
          <a:custGeom>
            <a:avLst/>
            <a:gdLst/>
            <a:ahLst/>
            <a:cxnLst/>
            <a:rect l="l" t="t" r="r" b="b"/>
            <a:pathLst>
              <a:path w="7609859" h="3662689">
                <a:moveTo>
                  <a:pt x="0" y="0"/>
                </a:moveTo>
                <a:lnTo>
                  <a:pt x="7609859" y="0"/>
                </a:lnTo>
                <a:lnTo>
                  <a:pt x="7609859" y="3662689"/>
                </a:lnTo>
                <a:lnTo>
                  <a:pt x="0" y="3662689"/>
                </a:lnTo>
                <a:lnTo>
                  <a:pt x="0" y="0"/>
                </a:lnTo>
                <a:close/>
              </a:path>
            </a:pathLst>
          </a:custGeom>
          <a:blipFill>
            <a:blip r:embed="rId4"/>
            <a:stretch>
              <a:fillRect/>
            </a:stretch>
          </a:blipFill>
        </p:spPr>
      </p:sp>
      <p:sp>
        <p:nvSpPr>
          <p:cNvPr id="4" name="TextBox 4"/>
          <p:cNvSpPr txBox="1"/>
          <p:nvPr/>
        </p:nvSpPr>
        <p:spPr>
          <a:xfrm>
            <a:off x="1287018" y="5340870"/>
            <a:ext cx="7674344" cy="823572"/>
          </a:xfrm>
          <a:prstGeom prst="rect">
            <a:avLst/>
          </a:prstGeom>
        </p:spPr>
        <p:txBody>
          <a:bodyPr lIns="0" tIns="0" rIns="0" bIns="0" rtlCol="0" anchor="t">
            <a:spAutoFit/>
          </a:bodyPr>
          <a:lstStyle/>
          <a:p>
            <a:pPr algn="ctr">
              <a:lnSpc>
                <a:spcPts val="1791"/>
              </a:lnSpc>
            </a:pPr>
            <a:endParaRPr/>
          </a:p>
          <a:p>
            <a:pPr algn="ctr">
              <a:lnSpc>
                <a:spcPts val="2047"/>
              </a:lnSpc>
            </a:pPr>
            <a:r>
              <a:rPr lang="en-US" sz="1706">
                <a:solidFill>
                  <a:srgbClr val="000000"/>
                </a:solidFill>
                <a:latin typeface="Arial Bold"/>
              </a:rPr>
              <a:t>Key Takeaway</a:t>
            </a:r>
          </a:p>
          <a:p>
            <a:pPr algn="ctr">
              <a:lnSpc>
                <a:spcPts val="2047"/>
              </a:lnSpc>
            </a:pPr>
            <a:r>
              <a:rPr lang="en-US" sz="1706">
                <a:solidFill>
                  <a:srgbClr val="000000"/>
                </a:solidFill>
                <a:latin typeface="Arial Italics"/>
              </a:rPr>
              <a:t>Don’t use the metrics of one zone to measure the performance of another zone</a:t>
            </a:r>
          </a:p>
        </p:txBody>
      </p:sp>
      <p:sp>
        <p:nvSpPr>
          <p:cNvPr id="5" name="TextBox 5"/>
          <p:cNvSpPr txBox="1"/>
          <p:nvPr/>
        </p:nvSpPr>
        <p:spPr>
          <a:xfrm>
            <a:off x="731520" y="271097"/>
            <a:ext cx="9037257" cy="874014"/>
          </a:xfrm>
          <a:prstGeom prst="rect">
            <a:avLst/>
          </a:prstGeom>
        </p:spPr>
        <p:txBody>
          <a:bodyPr lIns="0" tIns="0" rIns="0" bIns="0" rtlCol="0" anchor="t">
            <a:spAutoFit/>
          </a:bodyPr>
          <a:lstStyle/>
          <a:p>
            <a:pPr>
              <a:lnSpc>
                <a:spcPts val="1631"/>
              </a:lnSpc>
            </a:pPr>
            <a:r>
              <a:rPr lang="en-US" sz="1599" dirty="0">
                <a:solidFill>
                  <a:srgbClr val="F14902"/>
                </a:solidFill>
                <a:latin typeface="Arial Bold"/>
              </a:rPr>
              <a:t>Specific Metrics for Each Zone</a:t>
            </a:r>
          </a:p>
          <a:p>
            <a:pPr algn="l">
              <a:lnSpc>
                <a:spcPts val="1631"/>
              </a:lnSpc>
            </a:pPr>
            <a:endParaRPr lang="en-US" sz="1599" dirty="0">
              <a:solidFill>
                <a:srgbClr val="F14902"/>
              </a:solidFill>
              <a:latin typeface="Arial Bold"/>
            </a:endParaRPr>
          </a:p>
          <a:p>
            <a:pPr algn="l">
              <a:lnSpc>
                <a:spcPts val="3264"/>
              </a:lnSpc>
            </a:pPr>
            <a:r>
              <a:rPr lang="en-US" sz="3200" dirty="0">
                <a:solidFill>
                  <a:srgbClr val="000000"/>
                </a:solidFill>
                <a:latin typeface="Arial"/>
              </a:rPr>
              <a:t>4 Zones Model: Business Value Creation Metrics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0841" y="331018"/>
            <a:ext cx="9465158" cy="1197102"/>
          </a:xfrm>
          <a:prstGeom prst="rect">
            <a:avLst/>
          </a:prstGeom>
        </p:spPr>
        <p:txBody>
          <a:bodyPr lIns="0" tIns="0" rIns="0" bIns="0" rtlCol="0" anchor="t">
            <a:spAutoFit/>
          </a:bodyPr>
          <a:lstStyle/>
          <a:p>
            <a:pPr algn="l">
              <a:lnSpc>
                <a:spcPts val="3481"/>
              </a:lnSpc>
            </a:pPr>
            <a:r>
              <a:rPr lang="en-US" sz="3413">
                <a:solidFill>
                  <a:srgbClr val="000000"/>
                </a:solidFill>
                <a:latin typeface="Arial Bold"/>
              </a:rPr>
              <a:t>4 Zones Model: Metrics Exercise</a:t>
            </a:r>
          </a:p>
          <a:p>
            <a:pPr algn="l">
              <a:lnSpc>
                <a:spcPts val="2332"/>
              </a:lnSpc>
            </a:pPr>
            <a:r>
              <a:rPr lang="en-US" sz="2286">
                <a:solidFill>
                  <a:srgbClr val="0070C0"/>
                </a:solidFill>
                <a:latin typeface="Arial Bold"/>
              </a:rPr>
              <a:t>Identify &amp; agree upon metrics for NFL Technology Innovation Hub</a:t>
            </a:r>
          </a:p>
          <a:p>
            <a:pPr algn="l">
              <a:lnSpc>
                <a:spcPts val="3046"/>
              </a:lnSpc>
            </a:pPr>
            <a:endParaRPr lang="en-US" sz="2286">
              <a:solidFill>
                <a:srgbClr val="0070C0"/>
              </a:solidFill>
              <a:latin typeface="Arial Bold"/>
            </a:endParaRPr>
          </a:p>
        </p:txBody>
      </p:sp>
      <p:sp>
        <p:nvSpPr>
          <p:cNvPr id="3" name="TextBox 3"/>
          <p:cNvSpPr txBox="1"/>
          <p:nvPr/>
        </p:nvSpPr>
        <p:spPr>
          <a:xfrm>
            <a:off x="2868251" y="3791145"/>
            <a:ext cx="1484615" cy="265470"/>
          </a:xfrm>
          <a:prstGeom prst="rect">
            <a:avLst/>
          </a:prstGeom>
        </p:spPr>
        <p:txBody>
          <a:bodyPr lIns="0" tIns="0" rIns="0" bIns="0" rtlCol="0" anchor="t">
            <a:spAutoFit/>
          </a:bodyPr>
          <a:lstStyle/>
          <a:p>
            <a:pPr algn="ctr">
              <a:lnSpc>
                <a:spcPts val="1791"/>
              </a:lnSpc>
            </a:pPr>
            <a:r>
              <a:rPr lang="en-US" sz="1493">
                <a:solidFill>
                  <a:srgbClr val="4A4A4A"/>
                </a:solidFill>
                <a:latin typeface="Arial Bold"/>
              </a:rPr>
              <a:t>Incubation Zone</a:t>
            </a:r>
          </a:p>
        </p:txBody>
      </p:sp>
      <p:grpSp>
        <p:nvGrpSpPr>
          <p:cNvPr id="4" name="Group 4"/>
          <p:cNvGrpSpPr/>
          <p:nvPr/>
        </p:nvGrpSpPr>
        <p:grpSpPr>
          <a:xfrm>
            <a:off x="2563230" y="2120602"/>
            <a:ext cx="2094659" cy="328295"/>
            <a:chOff x="0" y="0"/>
            <a:chExt cx="2792879" cy="437727"/>
          </a:xfrm>
        </p:grpSpPr>
        <p:sp>
          <p:nvSpPr>
            <p:cNvPr id="5" name="Freeform 5"/>
            <p:cNvSpPr/>
            <p:nvPr/>
          </p:nvSpPr>
          <p:spPr>
            <a:xfrm>
              <a:off x="0" y="0"/>
              <a:ext cx="2792857" cy="437769"/>
            </a:xfrm>
            <a:custGeom>
              <a:avLst/>
              <a:gdLst/>
              <a:ahLst/>
              <a:cxnLst/>
              <a:rect l="l" t="t" r="r" b="b"/>
              <a:pathLst>
                <a:path w="2792857" h="437769">
                  <a:moveTo>
                    <a:pt x="0" y="0"/>
                  </a:moveTo>
                  <a:lnTo>
                    <a:pt x="2792857" y="0"/>
                  </a:lnTo>
                  <a:lnTo>
                    <a:pt x="2792857" y="437769"/>
                  </a:lnTo>
                  <a:lnTo>
                    <a:pt x="0" y="437769"/>
                  </a:lnTo>
                  <a:close/>
                </a:path>
              </a:pathLst>
            </a:custGeom>
            <a:solidFill>
              <a:srgbClr val="FFFFFF"/>
            </a:solidFill>
          </p:spPr>
        </p:sp>
        <p:sp>
          <p:nvSpPr>
            <p:cNvPr id="6" name="TextBox 6"/>
            <p:cNvSpPr txBox="1"/>
            <p:nvPr/>
          </p:nvSpPr>
          <p:spPr>
            <a:xfrm>
              <a:off x="0" y="-28575"/>
              <a:ext cx="2792879" cy="466302"/>
            </a:xfrm>
            <a:prstGeom prst="rect">
              <a:avLst/>
            </a:prstGeom>
          </p:spPr>
          <p:txBody>
            <a:bodyPr lIns="50800" tIns="50800" rIns="50800" bIns="50800" rtlCol="0" anchor="t"/>
            <a:lstStyle/>
            <a:p>
              <a:pPr algn="ctr">
                <a:lnSpc>
                  <a:spcPts val="1791"/>
                </a:lnSpc>
              </a:pPr>
              <a:r>
                <a:rPr lang="en-US" sz="1493">
                  <a:solidFill>
                    <a:srgbClr val="4A4A4A"/>
                  </a:solidFill>
                  <a:latin typeface="Arial Bold"/>
                </a:rPr>
                <a:t>Transformation Zone</a:t>
              </a:r>
            </a:p>
          </p:txBody>
        </p:sp>
      </p:grpSp>
      <p:grpSp>
        <p:nvGrpSpPr>
          <p:cNvPr id="7" name="Group 7"/>
          <p:cNvGrpSpPr/>
          <p:nvPr/>
        </p:nvGrpSpPr>
        <p:grpSpPr>
          <a:xfrm>
            <a:off x="5391794" y="2120602"/>
            <a:ext cx="1874359" cy="328295"/>
            <a:chOff x="0" y="0"/>
            <a:chExt cx="2499146" cy="437727"/>
          </a:xfrm>
        </p:grpSpPr>
        <p:sp>
          <p:nvSpPr>
            <p:cNvPr id="8" name="Freeform 8"/>
            <p:cNvSpPr/>
            <p:nvPr/>
          </p:nvSpPr>
          <p:spPr>
            <a:xfrm>
              <a:off x="0" y="0"/>
              <a:ext cx="2499106" cy="437769"/>
            </a:xfrm>
            <a:custGeom>
              <a:avLst/>
              <a:gdLst/>
              <a:ahLst/>
              <a:cxnLst/>
              <a:rect l="l" t="t" r="r" b="b"/>
              <a:pathLst>
                <a:path w="2499106" h="437769">
                  <a:moveTo>
                    <a:pt x="0" y="0"/>
                  </a:moveTo>
                  <a:lnTo>
                    <a:pt x="2499106" y="0"/>
                  </a:lnTo>
                  <a:lnTo>
                    <a:pt x="2499106" y="437769"/>
                  </a:lnTo>
                  <a:lnTo>
                    <a:pt x="0" y="437769"/>
                  </a:lnTo>
                  <a:close/>
                </a:path>
              </a:pathLst>
            </a:custGeom>
            <a:solidFill>
              <a:srgbClr val="FFFFFF"/>
            </a:solidFill>
          </p:spPr>
        </p:sp>
        <p:sp>
          <p:nvSpPr>
            <p:cNvPr id="9" name="TextBox 9"/>
            <p:cNvSpPr txBox="1"/>
            <p:nvPr/>
          </p:nvSpPr>
          <p:spPr>
            <a:xfrm>
              <a:off x="0" y="-28575"/>
              <a:ext cx="2499146" cy="466302"/>
            </a:xfrm>
            <a:prstGeom prst="rect">
              <a:avLst/>
            </a:prstGeom>
          </p:spPr>
          <p:txBody>
            <a:bodyPr lIns="50800" tIns="50800" rIns="50800" bIns="50800" rtlCol="0" anchor="t"/>
            <a:lstStyle/>
            <a:p>
              <a:pPr algn="ctr">
                <a:lnSpc>
                  <a:spcPts val="1791"/>
                </a:lnSpc>
              </a:pPr>
              <a:r>
                <a:rPr lang="en-US" sz="1493">
                  <a:solidFill>
                    <a:srgbClr val="4A4A4A"/>
                  </a:solidFill>
                  <a:latin typeface="Arial Bold"/>
                </a:rPr>
                <a:t>Performance Zone</a:t>
              </a:r>
            </a:p>
          </p:txBody>
        </p:sp>
      </p:grpSp>
      <p:sp>
        <p:nvSpPr>
          <p:cNvPr id="10" name="TextBox 10"/>
          <p:cNvSpPr txBox="1"/>
          <p:nvPr/>
        </p:nvSpPr>
        <p:spPr>
          <a:xfrm>
            <a:off x="5506419" y="3808107"/>
            <a:ext cx="1645113" cy="265470"/>
          </a:xfrm>
          <a:prstGeom prst="rect">
            <a:avLst/>
          </a:prstGeom>
        </p:spPr>
        <p:txBody>
          <a:bodyPr lIns="0" tIns="0" rIns="0" bIns="0" rtlCol="0" anchor="t">
            <a:spAutoFit/>
          </a:bodyPr>
          <a:lstStyle/>
          <a:p>
            <a:pPr algn="ctr">
              <a:lnSpc>
                <a:spcPts val="1791"/>
              </a:lnSpc>
            </a:pPr>
            <a:r>
              <a:rPr lang="en-US" sz="1493">
                <a:solidFill>
                  <a:srgbClr val="4A4A4A"/>
                </a:solidFill>
                <a:latin typeface="Arial Bold"/>
              </a:rPr>
              <a:t>Productivity Zone</a:t>
            </a:r>
          </a:p>
        </p:txBody>
      </p:sp>
      <p:sp>
        <p:nvSpPr>
          <p:cNvPr id="11" name="TextBox 11"/>
          <p:cNvSpPr txBox="1"/>
          <p:nvPr/>
        </p:nvSpPr>
        <p:spPr>
          <a:xfrm>
            <a:off x="1287018" y="5340870"/>
            <a:ext cx="7674344" cy="823572"/>
          </a:xfrm>
          <a:prstGeom prst="rect">
            <a:avLst/>
          </a:prstGeom>
        </p:spPr>
        <p:txBody>
          <a:bodyPr lIns="0" tIns="0" rIns="0" bIns="0" rtlCol="0" anchor="t">
            <a:spAutoFit/>
          </a:bodyPr>
          <a:lstStyle/>
          <a:p>
            <a:pPr algn="ctr">
              <a:lnSpc>
                <a:spcPts val="1791"/>
              </a:lnSpc>
            </a:pPr>
            <a:endParaRPr/>
          </a:p>
          <a:p>
            <a:pPr algn="ctr">
              <a:lnSpc>
                <a:spcPts val="2047"/>
              </a:lnSpc>
            </a:pPr>
            <a:r>
              <a:rPr lang="en-US" sz="1706">
                <a:solidFill>
                  <a:srgbClr val="000000"/>
                </a:solidFill>
                <a:latin typeface="Arial Bold"/>
              </a:rPr>
              <a:t>Key Takeaway</a:t>
            </a:r>
          </a:p>
          <a:p>
            <a:pPr algn="ctr">
              <a:lnSpc>
                <a:spcPts val="2047"/>
              </a:lnSpc>
            </a:pPr>
            <a:r>
              <a:rPr lang="en-US" sz="1706">
                <a:solidFill>
                  <a:srgbClr val="000000"/>
                </a:solidFill>
                <a:latin typeface="Arial Italics"/>
              </a:rPr>
              <a:t>Don’t use the metrics of one zone to measure the performance of another zone</a:t>
            </a:r>
          </a:p>
        </p:txBody>
      </p:sp>
      <p:sp>
        <p:nvSpPr>
          <p:cNvPr id="12" name="TextBox 12"/>
          <p:cNvSpPr txBox="1"/>
          <p:nvPr/>
        </p:nvSpPr>
        <p:spPr>
          <a:xfrm>
            <a:off x="8136151" y="2710599"/>
            <a:ext cx="748482" cy="466701"/>
          </a:xfrm>
          <a:prstGeom prst="rect">
            <a:avLst/>
          </a:prstGeom>
        </p:spPr>
        <p:txBody>
          <a:bodyPr lIns="0" tIns="0" rIns="0" bIns="0" rtlCol="0" anchor="t">
            <a:spAutoFit/>
          </a:bodyPr>
          <a:lstStyle/>
          <a:p>
            <a:pPr algn="ctr">
              <a:lnSpc>
                <a:spcPts val="1791"/>
              </a:lnSpc>
            </a:pPr>
            <a:r>
              <a:rPr lang="en-US" sz="1493">
                <a:solidFill>
                  <a:srgbClr val="E36C09"/>
                </a:solidFill>
                <a:latin typeface="Lato Bold"/>
              </a:rPr>
              <a:t>Investor</a:t>
            </a:r>
          </a:p>
          <a:p>
            <a:pPr algn="ctr">
              <a:lnSpc>
                <a:spcPts val="1791"/>
              </a:lnSpc>
            </a:pPr>
            <a:r>
              <a:rPr lang="en-US" sz="1493">
                <a:solidFill>
                  <a:srgbClr val="E36C09"/>
                </a:solidFill>
                <a:latin typeface="Lato Bold"/>
              </a:rPr>
              <a:t>Metrics</a:t>
            </a:r>
          </a:p>
        </p:txBody>
      </p:sp>
      <p:sp>
        <p:nvSpPr>
          <p:cNvPr id="13" name="TextBox 13"/>
          <p:cNvSpPr txBox="1"/>
          <p:nvPr/>
        </p:nvSpPr>
        <p:spPr>
          <a:xfrm>
            <a:off x="8166003" y="4343350"/>
            <a:ext cx="688775" cy="466701"/>
          </a:xfrm>
          <a:prstGeom prst="rect">
            <a:avLst/>
          </a:prstGeom>
        </p:spPr>
        <p:txBody>
          <a:bodyPr lIns="0" tIns="0" rIns="0" bIns="0" rtlCol="0" anchor="t">
            <a:spAutoFit/>
          </a:bodyPr>
          <a:lstStyle/>
          <a:p>
            <a:pPr algn="ctr">
              <a:lnSpc>
                <a:spcPts val="1791"/>
              </a:lnSpc>
            </a:pPr>
            <a:r>
              <a:rPr lang="en-US" sz="1493">
                <a:solidFill>
                  <a:srgbClr val="E36C09"/>
                </a:solidFill>
                <a:latin typeface="Lato Bold"/>
              </a:rPr>
              <a:t>Process</a:t>
            </a:r>
          </a:p>
          <a:p>
            <a:pPr algn="ctr">
              <a:lnSpc>
                <a:spcPts val="1791"/>
              </a:lnSpc>
            </a:pPr>
            <a:r>
              <a:rPr lang="en-US" sz="1493">
                <a:solidFill>
                  <a:srgbClr val="E36C09"/>
                </a:solidFill>
                <a:latin typeface="Lato Bold"/>
              </a:rPr>
              <a:t>Metrics</a:t>
            </a:r>
          </a:p>
        </p:txBody>
      </p:sp>
      <p:sp>
        <p:nvSpPr>
          <p:cNvPr id="14" name="TextBox 14"/>
          <p:cNvSpPr txBox="1"/>
          <p:nvPr/>
        </p:nvSpPr>
        <p:spPr>
          <a:xfrm>
            <a:off x="646580" y="2710599"/>
            <a:ext cx="1214661" cy="466701"/>
          </a:xfrm>
          <a:prstGeom prst="rect">
            <a:avLst/>
          </a:prstGeom>
        </p:spPr>
        <p:txBody>
          <a:bodyPr lIns="0" tIns="0" rIns="0" bIns="0" rtlCol="0" anchor="t">
            <a:spAutoFit/>
          </a:bodyPr>
          <a:lstStyle/>
          <a:p>
            <a:pPr algn="ctr">
              <a:lnSpc>
                <a:spcPts val="1791"/>
              </a:lnSpc>
            </a:pPr>
            <a:r>
              <a:rPr lang="en-US" sz="1493">
                <a:solidFill>
                  <a:srgbClr val="E36C09"/>
                </a:solidFill>
                <a:latin typeface="Lato Bold"/>
              </a:rPr>
              <a:t>Hypergrowth</a:t>
            </a:r>
          </a:p>
          <a:p>
            <a:pPr algn="ctr">
              <a:lnSpc>
                <a:spcPts val="1791"/>
              </a:lnSpc>
            </a:pPr>
            <a:r>
              <a:rPr lang="en-US" sz="1493">
                <a:solidFill>
                  <a:srgbClr val="E36C09"/>
                </a:solidFill>
                <a:latin typeface="Lato Bold"/>
              </a:rPr>
              <a:t>Metrics</a:t>
            </a:r>
          </a:p>
        </p:txBody>
      </p:sp>
      <p:sp>
        <p:nvSpPr>
          <p:cNvPr id="15" name="TextBox 15"/>
          <p:cNvSpPr txBox="1"/>
          <p:nvPr/>
        </p:nvSpPr>
        <p:spPr>
          <a:xfrm>
            <a:off x="892663" y="4343350"/>
            <a:ext cx="722492" cy="466701"/>
          </a:xfrm>
          <a:prstGeom prst="rect">
            <a:avLst/>
          </a:prstGeom>
        </p:spPr>
        <p:txBody>
          <a:bodyPr lIns="0" tIns="0" rIns="0" bIns="0" rtlCol="0" anchor="t">
            <a:spAutoFit/>
          </a:bodyPr>
          <a:lstStyle/>
          <a:p>
            <a:pPr algn="ctr">
              <a:lnSpc>
                <a:spcPts val="1791"/>
              </a:lnSpc>
            </a:pPr>
            <a:r>
              <a:rPr lang="en-US" sz="1493">
                <a:solidFill>
                  <a:srgbClr val="E36C09"/>
                </a:solidFill>
                <a:latin typeface="Lato Bold"/>
              </a:rPr>
              <a:t>Venture</a:t>
            </a:r>
          </a:p>
          <a:p>
            <a:pPr algn="ctr">
              <a:lnSpc>
                <a:spcPts val="1791"/>
              </a:lnSpc>
            </a:pPr>
            <a:r>
              <a:rPr lang="en-US" sz="1493">
                <a:solidFill>
                  <a:srgbClr val="E36C09"/>
                </a:solidFill>
                <a:latin typeface="Lato Bold"/>
              </a:rPr>
              <a:t>Metrics</a:t>
            </a:r>
          </a:p>
        </p:txBody>
      </p:sp>
      <p:sp>
        <p:nvSpPr>
          <p:cNvPr id="16" name="Freeform 16"/>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cxnSp>
        <p:nvCxnSpPr>
          <p:cNvPr id="18" name="Straight Connector 17">
            <a:extLst>
              <a:ext uri="{FF2B5EF4-FFF2-40B4-BE49-F238E27FC236}">
                <a16:creationId xmlns:a16="http://schemas.microsoft.com/office/drawing/2014/main" id="{24FF9763-9412-CC8A-4F70-B72E40CF93EA}"/>
              </a:ext>
            </a:extLst>
          </p:cNvPr>
          <p:cNvCxnSpPr>
            <a:stCxn id="2" idx="2"/>
          </p:cNvCxnSpPr>
          <p:nvPr/>
        </p:nvCxnSpPr>
        <p:spPr>
          <a:xfrm flipH="1">
            <a:off x="4953000" y="1528120"/>
            <a:ext cx="420" cy="342488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4A4B74AE-072A-6D0D-D59B-48E5608BC666}"/>
              </a:ext>
            </a:extLst>
          </p:cNvPr>
          <p:cNvCxnSpPr>
            <a:cxnSpLocks/>
          </p:cNvCxnSpPr>
          <p:nvPr/>
        </p:nvCxnSpPr>
        <p:spPr>
          <a:xfrm>
            <a:off x="2286000" y="3352800"/>
            <a:ext cx="53340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14902"/>
        </a:solidFill>
        <a:effectLst/>
      </p:bgPr>
    </p:bg>
    <p:spTree>
      <p:nvGrpSpPr>
        <p:cNvPr id="1" name=""/>
        <p:cNvGrpSpPr/>
        <p:nvPr/>
      </p:nvGrpSpPr>
      <p:grpSpPr>
        <a:xfrm>
          <a:off x="0" y="0"/>
          <a:ext cx="0" cy="0"/>
          <a:chOff x="0" y="0"/>
          <a:chExt cx="0" cy="0"/>
        </a:xfrm>
      </p:grpSpPr>
      <p:sp>
        <p:nvSpPr>
          <p:cNvPr id="2" name="TextBox 2"/>
          <p:cNvSpPr txBox="1"/>
          <p:nvPr/>
        </p:nvSpPr>
        <p:spPr>
          <a:xfrm>
            <a:off x="731520" y="394587"/>
            <a:ext cx="7265269" cy="2845570"/>
          </a:xfrm>
          <a:prstGeom prst="rect">
            <a:avLst/>
          </a:prstGeom>
        </p:spPr>
        <p:txBody>
          <a:bodyPr lIns="0" tIns="0" rIns="0" bIns="0" rtlCol="0" anchor="t">
            <a:spAutoFit/>
          </a:bodyPr>
          <a:lstStyle/>
          <a:p>
            <a:pPr>
              <a:lnSpc>
                <a:spcPts val="7312"/>
              </a:lnSpc>
            </a:pPr>
            <a:r>
              <a:rPr lang="en-US" sz="5078">
                <a:solidFill>
                  <a:srgbClr val="FFFFFF"/>
                </a:solidFill>
                <a:latin typeface="Arial"/>
              </a:rPr>
              <a:t>Part II</a:t>
            </a:r>
          </a:p>
          <a:p>
            <a:pPr>
              <a:lnSpc>
                <a:spcPts val="7312"/>
              </a:lnSpc>
            </a:pPr>
            <a:endParaRPr lang="en-US" sz="5078">
              <a:solidFill>
                <a:srgbClr val="FFFFFF"/>
              </a:solidFill>
              <a:latin typeface="Arial"/>
            </a:endParaRPr>
          </a:p>
          <a:p>
            <a:pPr>
              <a:lnSpc>
                <a:spcPts val="7312"/>
              </a:lnSpc>
            </a:pPr>
            <a:endParaRPr lang="en-US" sz="5078">
              <a:solidFill>
                <a:srgbClr val="FFFFFF"/>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17859" y="312034"/>
            <a:ext cx="8473480" cy="1241302"/>
          </a:xfrm>
          <a:prstGeom prst="rect">
            <a:avLst/>
          </a:prstGeom>
        </p:spPr>
        <p:txBody>
          <a:bodyPr lIns="0" tIns="0" rIns="0" bIns="0" rtlCol="0" anchor="t">
            <a:spAutoFit/>
          </a:bodyPr>
          <a:lstStyle/>
          <a:p>
            <a:pPr algn="l">
              <a:lnSpc>
                <a:spcPts val="1631"/>
              </a:lnSpc>
            </a:pPr>
            <a:r>
              <a:rPr lang="en-US" sz="1599" dirty="0">
                <a:solidFill>
                  <a:srgbClr val="009DCF"/>
                </a:solidFill>
                <a:latin typeface="Arial Bold"/>
              </a:rPr>
              <a:t>Workshop Agenda - Part 2</a:t>
            </a:r>
          </a:p>
          <a:p>
            <a:pPr algn="l">
              <a:lnSpc>
                <a:spcPts val="1631"/>
              </a:lnSpc>
            </a:pPr>
            <a:endParaRPr lang="en-US" sz="1599" dirty="0">
              <a:solidFill>
                <a:srgbClr val="009DCF"/>
              </a:solidFill>
              <a:latin typeface="Arial Bold"/>
            </a:endParaRPr>
          </a:p>
          <a:p>
            <a:pPr algn="l">
              <a:lnSpc>
                <a:spcPts val="1631"/>
              </a:lnSpc>
            </a:pPr>
            <a:endParaRPr lang="en-US" sz="1599" dirty="0">
              <a:solidFill>
                <a:srgbClr val="009DCF"/>
              </a:solidFill>
              <a:latin typeface="Arial Bold"/>
            </a:endParaRPr>
          </a:p>
          <a:p>
            <a:pPr algn="l">
              <a:lnSpc>
                <a:spcPts val="1631"/>
              </a:lnSpc>
            </a:pPr>
            <a:endParaRPr lang="en-US" sz="1599" dirty="0">
              <a:solidFill>
                <a:srgbClr val="009DCF"/>
              </a:solidFill>
              <a:latin typeface="Arial Bold"/>
            </a:endParaRPr>
          </a:p>
          <a:p>
            <a:pPr>
              <a:lnSpc>
                <a:spcPts val="1631"/>
              </a:lnSpc>
            </a:pPr>
            <a:r>
              <a:rPr lang="en-US" sz="3200" dirty="0">
                <a:solidFill>
                  <a:srgbClr val="000000"/>
                </a:solidFill>
                <a:latin typeface="Arial Bold"/>
              </a:rPr>
              <a:t>Project Exercise</a:t>
            </a:r>
          </a:p>
          <a:p>
            <a:pPr algn="l">
              <a:lnSpc>
                <a:spcPts val="1631"/>
              </a:lnSpc>
            </a:pPr>
            <a:endParaRPr lang="en-US" sz="1599" dirty="0">
              <a:solidFill>
                <a:srgbClr val="009DCF"/>
              </a:solidFill>
              <a:latin typeface="Arial Bold"/>
            </a:endParaRPr>
          </a:p>
        </p:txBody>
      </p:sp>
      <p:sp>
        <p:nvSpPr>
          <p:cNvPr id="3" name="TextBox 3"/>
          <p:cNvSpPr txBox="1"/>
          <p:nvPr/>
        </p:nvSpPr>
        <p:spPr>
          <a:xfrm>
            <a:off x="1447800" y="1592989"/>
            <a:ext cx="7391400" cy="4603824"/>
          </a:xfrm>
          <a:prstGeom prst="rect">
            <a:avLst/>
          </a:prstGeom>
        </p:spPr>
        <p:txBody>
          <a:bodyPr wrap="square" lIns="0" tIns="0" rIns="0" bIns="0" rtlCol="0" anchor="t">
            <a:spAutoFit/>
          </a:bodyPr>
          <a:lstStyle/>
          <a:p>
            <a:pPr algn="l">
              <a:lnSpc>
                <a:spcPts val="2560"/>
              </a:lnSpc>
            </a:pPr>
            <a:endParaRPr dirty="0"/>
          </a:p>
          <a:p>
            <a:pPr marL="460586" lvl="1" indent="-230293" algn="l">
              <a:lnSpc>
                <a:spcPts val="2559"/>
              </a:lnSpc>
              <a:buFont typeface="Arial"/>
              <a:buChar char="•"/>
            </a:pPr>
            <a:r>
              <a:rPr lang="en-US" sz="2133" dirty="0">
                <a:solidFill>
                  <a:srgbClr val="000000"/>
                </a:solidFill>
                <a:latin typeface="Arial"/>
              </a:rPr>
              <a:t>NFL Strategic Goals</a:t>
            </a:r>
          </a:p>
          <a:p>
            <a:pPr marL="460586" lvl="1" indent="-230293" algn="l">
              <a:lnSpc>
                <a:spcPts val="4266"/>
              </a:lnSpc>
              <a:buFont typeface="Arial"/>
              <a:buChar char="•"/>
            </a:pPr>
            <a:r>
              <a:rPr lang="en-US" sz="2133" dirty="0">
                <a:solidFill>
                  <a:srgbClr val="000000"/>
                </a:solidFill>
                <a:latin typeface="Arial"/>
              </a:rPr>
              <a:t>Top NFL Risks</a:t>
            </a:r>
          </a:p>
          <a:p>
            <a:pPr marL="460586" lvl="1" indent="-230293" algn="l">
              <a:lnSpc>
                <a:spcPts val="4266"/>
              </a:lnSpc>
              <a:buFont typeface="Arial"/>
              <a:buChar char="•"/>
            </a:pPr>
            <a:r>
              <a:rPr lang="en-US" sz="2133" dirty="0">
                <a:solidFill>
                  <a:srgbClr val="000000"/>
                </a:solidFill>
                <a:latin typeface="Arial"/>
              </a:rPr>
              <a:t>NFL View Overview</a:t>
            </a:r>
          </a:p>
          <a:p>
            <a:pPr marL="921172" lvl="2" indent="-307057" algn="l">
              <a:lnSpc>
                <a:spcPts val="4266"/>
              </a:lnSpc>
              <a:buFont typeface="Arial"/>
              <a:buChar char="⚬"/>
            </a:pPr>
            <a:r>
              <a:rPr lang="en-US" sz="2133" dirty="0">
                <a:solidFill>
                  <a:srgbClr val="000000"/>
                </a:solidFill>
                <a:latin typeface="Arial"/>
              </a:rPr>
              <a:t>Map to Zone</a:t>
            </a:r>
          </a:p>
          <a:p>
            <a:pPr marL="460586" lvl="1" indent="-230293" algn="l">
              <a:lnSpc>
                <a:spcPts val="4266"/>
              </a:lnSpc>
              <a:buFont typeface="Arial"/>
              <a:buChar char="•"/>
            </a:pPr>
            <a:r>
              <a:rPr lang="en-US" sz="2133" dirty="0">
                <a:solidFill>
                  <a:srgbClr val="000000"/>
                </a:solidFill>
                <a:latin typeface="Arial"/>
              </a:rPr>
              <a:t>Optical Tracking</a:t>
            </a:r>
          </a:p>
          <a:p>
            <a:pPr marL="921172" lvl="2" indent="-307057" algn="l">
              <a:lnSpc>
                <a:spcPts val="4266"/>
              </a:lnSpc>
              <a:buFont typeface="Arial"/>
              <a:buChar char="⚬"/>
            </a:pPr>
            <a:r>
              <a:rPr lang="en-US" sz="2133" dirty="0">
                <a:solidFill>
                  <a:srgbClr val="000000"/>
                </a:solidFill>
                <a:latin typeface="Arial"/>
              </a:rPr>
              <a:t>Map to Zone</a:t>
            </a:r>
          </a:p>
          <a:p>
            <a:pPr marL="460586" lvl="1" indent="-230293" algn="l">
              <a:lnSpc>
                <a:spcPts val="4266"/>
              </a:lnSpc>
              <a:buFont typeface="Arial"/>
              <a:buChar char="•"/>
            </a:pPr>
            <a:r>
              <a:rPr lang="en-US" sz="2133" dirty="0">
                <a:solidFill>
                  <a:srgbClr val="000000"/>
                </a:solidFill>
                <a:latin typeface="Arial"/>
              </a:rPr>
              <a:t>Next Steps</a:t>
            </a:r>
          </a:p>
          <a:p>
            <a:pPr algn="l">
              <a:lnSpc>
                <a:spcPts val="2559"/>
              </a:lnSpc>
            </a:pPr>
            <a:endParaRPr lang="en-US" sz="2133" dirty="0">
              <a:solidFill>
                <a:srgbClr val="000000"/>
              </a:solidFill>
              <a:latin typeface="Arial"/>
            </a:endParaRPr>
          </a:p>
          <a:p>
            <a:pPr algn="l">
              <a:lnSpc>
                <a:spcPts val="2304"/>
              </a:lnSpc>
            </a:pPr>
            <a:endParaRPr lang="en-US" sz="2133" dirty="0">
              <a:solidFill>
                <a:srgbClr val="000000"/>
              </a:solidFill>
              <a:latin typeface="Arial"/>
            </a:endParaRPr>
          </a:p>
        </p:txBody>
      </p:sp>
      <p:sp>
        <p:nvSpPr>
          <p:cNvPr id="5" name="Freeform 5"/>
          <p:cNvSpPr/>
          <p:nvPr/>
        </p:nvSpPr>
        <p:spPr>
          <a:xfrm>
            <a:off x="206699" y="6422164"/>
            <a:ext cx="524821" cy="737059"/>
          </a:xfrm>
          <a:custGeom>
            <a:avLst/>
            <a:gdLst/>
            <a:ahLst/>
            <a:cxnLst/>
            <a:rect l="l" t="t" r="r" b="b"/>
            <a:pathLst>
              <a:path w="524821" h="737059">
                <a:moveTo>
                  <a:pt x="0" y="0"/>
                </a:moveTo>
                <a:lnTo>
                  <a:pt x="524821" y="0"/>
                </a:lnTo>
                <a:lnTo>
                  <a:pt x="524821" y="737059"/>
                </a:lnTo>
                <a:lnTo>
                  <a:pt x="0" y="737059"/>
                </a:lnTo>
                <a:lnTo>
                  <a:pt x="0" y="0"/>
                </a:lnTo>
                <a:close/>
              </a:path>
            </a:pathLst>
          </a:custGeom>
          <a:blipFill>
            <a:blip r:embed="rId3"/>
            <a:stretch>
              <a:fillRect/>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58317" y="2961437"/>
            <a:ext cx="1091184" cy="848563"/>
          </a:xfrm>
          <a:custGeom>
            <a:avLst/>
            <a:gdLst/>
            <a:ahLst/>
            <a:cxnLst/>
            <a:rect l="l" t="t" r="r" b="b"/>
            <a:pathLst>
              <a:path w="1091184" h="848563">
                <a:moveTo>
                  <a:pt x="0" y="0"/>
                </a:moveTo>
                <a:lnTo>
                  <a:pt x="1091184" y="0"/>
                </a:lnTo>
                <a:lnTo>
                  <a:pt x="1091184" y="848563"/>
                </a:lnTo>
                <a:lnTo>
                  <a:pt x="0" y="848563"/>
                </a:lnTo>
                <a:lnTo>
                  <a:pt x="0" y="0"/>
                </a:lnTo>
                <a:close/>
              </a:path>
            </a:pathLst>
          </a:custGeom>
          <a:blipFill>
            <a:blip r:embed="rId2"/>
            <a:stretch>
              <a:fillRect/>
            </a:stretch>
          </a:blipFill>
        </p:spPr>
      </p:sp>
      <p:sp>
        <p:nvSpPr>
          <p:cNvPr id="3" name="Freeform 3"/>
          <p:cNvSpPr/>
          <p:nvPr/>
        </p:nvSpPr>
        <p:spPr>
          <a:xfrm>
            <a:off x="8562442" y="3351581"/>
            <a:ext cx="481584" cy="580339"/>
          </a:xfrm>
          <a:custGeom>
            <a:avLst/>
            <a:gdLst/>
            <a:ahLst/>
            <a:cxnLst/>
            <a:rect l="l" t="t" r="r" b="b"/>
            <a:pathLst>
              <a:path w="481584" h="580339">
                <a:moveTo>
                  <a:pt x="0" y="0"/>
                </a:moveTo>
                <a:lnTo>
                  <a:pt x="481584" y="0"/>
                </a:lnTo>
                <a:lnTo>
                  <a:pt x="481584" y="580339"/>
                </a:lnTo>
                <a:lnTo>
                  <a:pt x="0" y="580339"/>
                </a:lnTo>
                <a:lnTo>
                  <a:pt x="0" y="0"/>
                </a:lnTo>
                <a:close/>
              </a:path>
            </a:pathLst>
          </a:custGeom>
          <a:blipFill>
            <a:blip r:embed="rId3"/>
            <a:stretch>
              <a:fillRect/>
            </a:stretch>
          </a:blipFill>
        </p:spPr>
      </p:sp>
      <p:sp>
        <p:nvSpPr>
          <p:cNvPr id="4" name="Freeform 4"/>
          <p:cNvSpPr/>
          <p:nvPr/>
        </p:nvSpPr>
        <p:spPr>
          <a:xfrm>
            <a:off x="86815" y="1811983"/>
            <a:ext cx="9449509" cy="2195269"/>
          </a:xfrm>
          <a:custGeom>
            <a:avLst/>
            <a:gdLst/>
            <a:ahLst/>
            <a:cxnLst/>
            <a:rect l="l" t="t" r="r" b="b"/>
            <a:pathLst>
              <a:path w="9449509" h="2195269">
                <a:moveTo>
                  <a:pt x="0" y="0"/>
                </a:moveTo>
                <a:lnTo>
                  <a:pt x="9449508" y="0"/>
                </a:lnTo>
                <a:lnTo>
                  <a:pt x="9449508" y="2195268"/>
                </a:lnTo>
                <a:lnTo>
                  <a:pt x="0" y="21952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48717" y="2969971"/>
            <a:ext cx="721766" cy="749808"/>
          </a:xfrm>
          <a:custGeom>
            <a:avLst/>
            <a:gdLst/>
            <a:ahLst/>
            <a:cxnLst/>
            <a:rect l="l" t="t" r="r" b="b"/>
            <a:pathLst>
              <a:path w="721766" h="749808">
                <a:moveTo>
                  <a:pt x="0" y="0"/>
                </a:moveTo>
                <a:lnTo>
                  <a:pt x="721766" y="0"/>
                </a:lnTo>
                <a:lnTo>
                  <a:pt x="721766" y="749808"/>
                </a:lnTo>
                <a:lnTo>
                  <a:pt x="0" y="749808"/>
                </a:lnTo>
                <a:lnTo>
                  <a:pt x="0" y="0"/>
                </a:lnTo>
                <a:close/>
              </a:path>
            </a:pathLst>
          </a:custGeom>
          <a:blipFill>
            <a:blip r:embed="rId6"/>
            <a:stretch>
              <a:fillRect/>
            </a:stretch>
          </a:blipFill>
        </p:spPr>
      </p:sp>
      <p:sp>
        <p:nvSpPr>
          <p:cNvPr id="6" name="Freeform 6"/>
          <p:cNvSpPr/>
          <p:nvPr/>
        </p:nvSpPr>
        <p:spPr>
          <a:xfrm>
            <a:off x="3978250" y="3077261"/>
            <a:ext cx="898550" cy="551078"/>
          </a:xfrm>
          <a:custGeom>
            <a:avLst/>
            <a:gdLst/>
            <a:ahLst/>
            <a:cxnLst/>
            <a:rect l="l" t="t" r="r" b="b"/>
            <a:pathLst>
              <a:path w="898550" h="551078">
                <a:moveTo>
                  <a:pt x="0" y="0"/>
                </a:moveTo>
                <a:lnTo>
                  <a:pt x="898550" y="0"/>
                </a:lnTo>
                <a:lnTo>
                  <a:pt x="898550" y="551078"/>
                </a:lnTo>
                <a:lnTo>
                  <a:pt x="0" y="551078"/>
                </a:lnTo>
                <a:lnTo>
                  <a:pt x="0" y="0"/>
                </a:lnTo>
                <a:close/>
              </a:path>
            </a:pathLst>
          </a:custGeom>
          <a:blipFill>
            <a:blip r:embed="rId7"/>
            <a:stretch>
              <a:fillRect/>
            </a:stretch>
          </a:blipFill>
        </p:spPr>
      </p:sp>
      <p:sp>
        <p:nvSpPr>
          <p:cNvPr id="7" name="Freeform 7"/>
          <p:cNvSpPr/>
          <p:nvPr/>
        </p:nvSpPr>
        <p:spPr>
          <a:xfrm>
            <a:off x="4938979" y="3033370"/>
            <a:ext cx="722986" cy="638861"/>
          </a:xfrm>
          <a:custGeom>
            <a:avLst/>
            <a:gdLst/>
            <a:ahLst/>
            <a:cxnLst/>
            <a:rect l="l" t="t" r="r" b="b"/>
            <a:pathLst>
              <a:path w="722986" h="638861">
                <a:moveTo>
                  <a:pt x="0" y="0"/>
                </a:moveTo>
                <a:lnTo>
                  <a:pt x="722986" y="0"/>
                </a:lnTo>
                <a:lnTo>
                  <a:pt x="722986" y="638860"/>
                </a:lnTo>
                <a:lnTo>
                  <a:pt x="0" y="638860"/>
                </a:lnTo>
                <a:lnTo>
                  <a:pt x="0" y="0"/>
                </a:lnTo>
                <a:close/>
              </a:path>
            </a:pathLst>
          </a:custGeom>
          <a:blipFill>
            <a:blip r:embed="rId8"/>
            <a:stretch>
              <a:fillRect/>
            </a:stretch>
          </a:blipFill>
        </p:spPr>
      </p:sp>
      <p:sp>
        <p:nvSpPr>
          <p:cNvPr id="8" name="Freeform 8"/>
          <p:cNvSpPr/>
          <p:nvPr/>
        </p:nvSpPr>
        <p:spPr>
          <a:xfrm>
            <a:off x="2087270" y="2910230"/>
            <a:ext cx="1627632" cy="903427"/>
          </a:xfrm>
          <a:custGeom>
            <a:avLst/>
            <a:gdLst/>
            <a:ahLst/>
            <a:cxnLst/>
            <a:rect l="l" t="t" r="r" b="b"/>
            <a:pathLst>
              <a:path w="1627632" h="903427">
                <a:moveTo>
                  <a:pt x="0" y="0"/>
                </a:moveTo>
                <a:lnTo>
                  <a:pt x="1627632" y="0"/>
                </a:lnTo>
                <a:lnTo>
                  <a:pt x="1627632" y="903428"/>
                </a:lnTo>
                <a:lnTo>
                  <a:pt x="0" y="903428"/>
                </a:lnTo>
                <a:lnTo>
                  <a:pt x="0" y="0"/>
                </a:lnTo>
                <a:close/>
              </a:path>
            </a:pathLst>
          </a:custGeom>
          <a:blipFill>
            <a:blip r:embed="rId9"/>
            <a:stretch>
              <a:fillRect/>
            </a:stretch>
          </a:blipFill>
        </p:spPr>
      </p:sp>
      <p:sp>
        <p:nvSpPr>
          <p:cNvPr id="9" name="Freeform 9"/>
          <p:cNvSpPr/>
          <p:nvPr/>
        </p:nvSpPr>
        <p:spPr>
          <a:xfrm>
            <a:off x="5810707" y="3084576"/>
            <a:ext cx="804672" cy="536448"/>
          </a:xfrm>
          <a:custGeom>
            <a:avLst/>
            <a:gdLst/>
            <a:ahLst/>
            <a:cxnLst/>
            <a:rect l="l" t="t" r="r" b="b"/>
            <a:pathLst>
              <a:path w="804672" h="536448">
                <a:moveTo>
                  <a:pt x="0" y="0"/>
                </a:moveTo>
                <a:lnTo>
                  <a:pt x="804672" y="0"/>
                </a:lnTo>
                <a:lnTo>
                  <a:pt x="804672" y="536448"/>
                </a:lnTo>
                <a:lnTo>
                  <a:pt x="0" y="536448"/>
                </a:lnTo>
                <a:lnTo>
                  <a:pt x="0" y="0"/>
                </a:lnTo>
                <a:close/>
              </a:path>
            </a:pathLst>
          </a:custGeom>
          <a:blipFill>
            <a:blip r:embed="rId10"/>
            <a:stretch>
              <a:fillRect/>
            </a:stretch>
          </a:blipFill>
        </p:spPr>
      </p:sp>
      <p:sp>
        <p:nvSpPr>
          <p:cNvPr id="10" name="Freeform 10"/>
          <p:cNvSpPr/>
          <p:nvPr/>
        </p:nvSpPr>
        <p:spPr>
          <a:xfrm>
            <a:off x="6606845" y="3000451"/>
            <a:ext cx="846125" cy="280416"/>
          </a:xfrm>
          <a:custGeom>
            <a:avLst/>
            <a:gdLst/>
            <a:ahLst/>
            <a:cxnLst/>
            <a:rect l="l" t="t" r="r" b="b"/>
            <a:pathLst>
              <a:path w="846125" h="280416">
                <a:moveTo>
                  <a:pt x="0" y="0"/>
                </a:moveTo>
                <a:lnTo>
                  <a:pt x="846125" y="0"/>
                </a:lnTo>
                <a:lnTo>
                  <a:pt x="846125" y="280416"/>
                </a:lnTo>
                <a:lnTo>
                  <a:pt x="0" y="280416"/>
                </a:lnTo>
                <a:lnTo>
                  <a:pt x="0" y="0"/>
                </a:lnTo>
                <a:close/>
              </a:path>
            </a:pathLst>
          </a:custGeom>
          <a:blipFill>
            <a:blip r:embed="rId11"/>
            <a:stretch>
              <a:fillRect/>
            </a:stretch>
          </a:blipFill>
        </p:spPr>
      </p:sp>
      <p:sp>
        <p:nvSpPr>
          <p:cNvPr id="11" name="Freeform 11"/>
          <p:cNvSpPr/>
          <p:nvPr/>
        </p:nvSpPr>
        <p:spPr>
          <a:xfrm>
            <a:off x="6766560" y="3336950"/>
            <a:ext cx="566928" cy="280416"/>
          </a:xfrm>
          <a:custGeom>
            <a:avLst/>
            <a:gdLst/>
            <a:ahLst/>
            <a:cxnLst/>
            <a:rect l="l" t="t" r="r" b="b"/>
            <a:pathLst>
              <a:path w="566928" h="280416">
                <a:moveTo>
                  <a:pt x="0" y="0"/>
                </a:moveTo>
                <a:lnTo>
                  <a:pt x="566928" y="0"/>
                </a:lnTo>
                <a:lnTo>
                  <a:pt x="566928" y="280416"/>
                </a:lnTo>
                <a:lnTo>
                  <a:pt x="0" y="280416"/>
                </a:lnTo>
                <a:lnTo>
                  <a:pt x="0" y="0"/>
                </a:lnTo>
                <a:close/>
              </a:path>
            </a:pathLst>
          </a:custGeom>
          <a:blipFill>
            <a:blip r:embed="rId12"/>
            <a:stretch>
              <a:fillRect/>
            </a:stretch>
          </a:blipFill>
        </p:spPr>
      </p:sp>
      <p:sp>
        <p:nvSpPr>
          <p:cNvPr id="12" name="Freeform 12"/>
          <p:cNvSpPr/>
          <p:nvPr/>
        </p:nvSpPr>
        <p:spPr>
          <a:xfrm>
            <a:off x="7897978" y="2883408"/>
            <a:ext cx="496214" cy="496214"/>
          </a:xfrm>
          <a:custGeom>
            <a:avLst/>
            <a:gdLst/>
            <a:ahLst/>
            <a:cxnLst/>
            <a:rect l="l" t="t" r="r" b="b"/>
            <a:pathLst>
              <a:path w="496214" h="496214">
                <a:moveTo>
                  <a:pt x="0" y="0"/>
                </a:moveTo>
                <a:lnTo>
                  <a:pt x="496214" y="0"/>
                </a:lnTo>
                <a:lnTo>
                  <a:pt x="496214" y="496214"/>
                </a:lnTo>
                <a:lnTo>
                  <a:pt x="0" y="496214"/>
                </a:lnTo>
                <a:lnTo>
                  <a:pt x="0" y="0"/>
                </a:lnTo>
                <a:close/>
              </a:path>
            </a:pathLst>
          </a:custGeom>
          <a:blipFill>
            <a:blip r:embed="rId13"/>
            <a:stretch>
              <a:fillRect/>
            </a:stretch>
          </a:blipFill>
        </p:spPr>
      </p:sp>
      <p:sp>
        <p:nvSpPr>
          <p:cNvPr id="13" name="Freeform 13"/>
          <p:cNvSpPr/>
          <p:nvPr/>
        </p:nvSpPr>
        <p:spPr>
          <a:xfrm>
            <a:off x="8722157" y="2876093"/>
            <a:ext cx="496214" cy="496214"/>
          </a:xfrm>
          <a:custGeom>
            <a:avLst/>
            <a:gdLst/>
            <a:ahLst/>
            <a:cxnLst/>
            <a:rect l="l" t="t" r="r" b="b"/>
            <a:pathLst>
              <a:path w="496214" h="496214">
                <a:moveTo>
                  <a:pt x="0" y="0"/>
                </a:moveTo>
                <a:lnTo>
                  <a:pt x="496214" y="0"/>
                </a:lnTo>
                <a:lnTo>
                  <a:pt x="496214" y="496214"/>
                </a:lnTo>
                <a:lnTo>
                  <a:pt x="0" y="496214"/>
                </a:lnTo>
                <a:lnTo>
                  <a:pt x="0" y="0"/>
                </a:lnTo>
                <a:close/>
              </a:path>
            </a:pathLst>
          </a:custGeom>
          <a:blipFill>
            <a:blip r:embed="rId14"/>
            <a:stretch>
              <a:fillRect/>
            </a:stretch>
          </a:blipFill>
        </p:spPr>
      </p:sp>
      <p:sp>
        <p:nvSpPr>
          <p:cNvPr id="14" name="Freeform 14"/>
          <p:cNvSpPr/>
          <p:nvPr/>
        </p:nvSpPr>
        <p:spPr>
          <a:xfrm>
            <a:off x="2001774" y="2306726"/>
            <a:ext cx="7620" cy="1560576"/>
          </a:xfrm>
          <a:custGeom>
            <a:avLst/>
            <a:gdLst/>
            <a:ahLst/>
            <a:cxnLst/>
            <a:rect l="l" t="t" r="r" b="b"/>
            <a:pathLst>
              <a:path w="7620" h="1560576">
                <a:moveTo>
                  <a:pt x="0" y="0"/>
                </a:moveTo>
                <a:lnTo>
                  <a:pt x="7620" y="0"/>
                </a:lnTo>
                <a:lnTo>
                  <a:pt x="7620" y="1560576"/>
                </a:lnTo>
                <a:lnTo>
                  <a:pt x="0" y="156057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5" name="Freeform 15"/>
          <p:cNvSpPr/>
          <p:nvPr/>
        </p:nvSpPr>
        <p:spPr>
          <a:xfrm>
            <a:off x="3859835" y="2306726"/>
            <a:ext cx="7620" cy="1560576"/>
          </a:xfrm>
          <a:custGeom>
            <a:avLst/>
            <a:gdLst/>
            <a:ahLst/>
            <a:cxnLst/>
            <a:rect l="l" t="t" r="r" b="b"/>
            <a:pathLst>
              <a:path w="7620" h="1560576">
                <a:moveTo>
                  <a:pt x="0" y="0"/>
                </a:moveTo>
                <a:lnTo>
                  <a:pt x="7620" y="0"/>
                </a:lnTo>
                <a:lnTo>
                  <a:pt x="7620" y="1560576"/>
                </a:lnTo>
                <a:lnTo>
                  <a:pt x="0" y="1560576"/>
                </a:lnTo>
                <a:lnTo>
                  <a:pt x="0" y="0"/>
                </a:lnTo>
                <a:close/>
              </a:path>
            </a:pathLst>
          </a:custGeom>
          <a:blipFill>
            <a:blip r:embed="rId15">
              <a:extLst>
                <a:ext uri="{96DAC541-7B7A-43D3-8B79-37D633B846F1}">
                  <asvg:svgBlip xmlns:asvg="http://schemas.microsoft.com/office/drawing/2016/SVG/main" r:embed="rId17"/>
                </a:ext>
              </a:extLst>
            </a:blip>
            <a:stretch>
              <a:fillRect/>
            </a:stretch>
          </a:blipFill>
        </p:spPr>
      </p:sp>
      <p:sp>
        <p:nvSpPr>
          <p:cNvPr id="16" name="Freeform 16"/>
          <p:cNvSpPr/>
          <p:nvPr/>
        </p:nvSpPr>
        <p:spPr>
          <a:xfrm>
            <a:off x="86815" y="2255924"/>
            <a:ext cx="9449509" cy="4076342"/>
          </a:xfrm>
          <a:custGeom>
            <a:avLst/>
            <a:gdLst/>
            <a:ahLst/>
            <a:cxnLst/>
            <a:rect l="l" t="t" r="r" b="b"/>
            <a:pathLst>
              <a:path w="9449509" h="4076342">
                <a:moveTo>
                  <a:pt x="0" y="0"/>
                </a:moveTo>
                <a:lnTo>
                  <a:pt x="9449508" y="0"/>
                </a:lnTo>
                <a:lnTo>
                  <a:pt x="9449508" y="4076342"/>
                </a:lnTo>
                <a:lnTo>
                  <a:pt x="0" y="407634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17" name="Freeform 17"/>
          <p:cNvSpPr/>
          <p:nvPr/>
        </p:nvSpPr>
        <p:spPr>
          <a:xfrm>
            <a:off x="314554" y="5508346"/>
            <a:ext cx="908304" cy="512064"/>
          </a:xfrm>
          <a:custGeom>
            <a:avLst/>
            <a:gdLst/>
            <a:ahLst/>
            <a:cxnLst/>
            <a:rect l="l" t="t" r="r" b="b"/>
            <a:pathLst>
              <a:path w="908304" h="512064">
                <a:moveTo>
                  <a:pt x="0" y="0"/>
                </a:moveTo>
                <a:lnTo>
                  <a:pt x="908304" y="0"/>
                </a:lnTo>
                <a:lnTo>
                  <a:pt x="908304" y="512064"/>
                </a:lnTo>
                <a:lnTo>
                  <a:pt x="0" y="512064"/>
                </a:lnTo>
                <a:lnTo>
                  <a:pt x="0" y="0"/>
                </a:lnTo>
                <a:close/>
              </a:path>
            </a:pathLst>
          </a:custGeom>
          <a:blipFill>
            <a:blip r:embed="rId20"/>
            <a:stretch>
              <a:fillRect/>
            </a:stretch>
          </a:blipFill>
        </p:spPr>
      </p:sp>
      <p:sp>
        <p:nvSpPr>
          <p:cNvPr id="18" name="Freeform 18"/>
          <p:cNvSpPr/>
          <p:nvPr/>
        </p:nvSpPr>
        <p:spPr>
          <a:xfrm>
            <a:off x="2199437" y="5458358"/>
            <a:ext cx="1149706" cy="515722"/>
          </a:xfrm>
          <a:custGeom>
            <a:avLst/>
            <a:gdLst/>
            <a:ahLst/>
            <a:cxnLst/>
            <a:rect l="l" t="t" r="r" b="b"/>
            <a:pathLst>
              <a:path w="1149706" h="515722">
                <a:moveTo>
                  <a:pt x="0" y="0"/>
                </a:moveTo>
                <a:lnTo>
                  <a:pt x="1149705" y="0"/>
                </a:lnTo>
                <a:lnTo>
                  <a:pt x="1149705" y="515722"/>
                </a:lnTo>
                <a:lnTo>
                  <a:pt x="0" y="515722"/>
                </a:lnTo>
                <a:lnTo>
                  <a:pt x="0" y="0"/>
                </a:lnTo>
                <a:close/>
              </a:path>
            </a:pathLst>
          </a:custGeom>
          <a:blipFill>
            <a:blip r:embed="rId21"/>
            <a:stretch>
              <a:fillRect/>
            </a:stretch>
          </a:blipFill>
        </p:spPr>
      </p:sp>
      <p:sp>
        <p:nvSpPr>
          <p:cNvPr id="19" name="Freeform 19"/>
          <p:cNvSpPr/>
          <p:nvPr/>
        </p:nvSpPr>
        <p:spPr>
          <a:xfrm>
            <a:off x="1298448" y="5626608"/>
            <a:ext cx="736397" cy="252374"/>
          </a:xfrm>
          <a:custGeom>
            <a:avLst/>
            <a:gdLst/>
            <a:ahLst/>
            <a:cxnLst/>
            <a:rect l="l" t="t" r="r" b="b"/>
            <a:pathLst>
              <a:path w="736397" h="252374">
                <a:moveTo>
                  <a:pt x="0" y="0"/>
                </a:moveTo>
                <a:lnTo>
                  <a:pt x="736397" y="0"/>
                </a:lnTo>
                <a:lnTo>
                  <a:pt x="736397" y="252374"/>
                </a:lnTo>
                <a:lnTo>
                  <a:pt x="0" y="252374"/>
                </a:lnTo>
                <a:lnTo>
                  <a:pt x="0" y="0"/>
                </a:lnTo>
                <a:close/>
              </a:path>
            </a:pathLst>
          </a:custGeom>
          <a:blipFill>
            <a:blip r:embed="rId22"/>
            <a:stretch>
              <a:fillRect/>
            </a:stretch>
          </a:blipFill>
        </p:spPr>
      </p:sp>
      <p:sp>
        <p:nvSpPr>
          <p:cNvPr id="20" name="Freeform 20"/>
          <p:cNvSpPr/>
          <p:nvPr/>
        </p:nvSpPr>
        <p:spPr>
          <a:xfrm>
            <a:off x="225400" y="4769358"/>
            <a:ext cx="2933700" cy="294132"/>
          </a:xfrm>
          <a:custGeom>
            <a:avLst/>
            <a:gdLst/>
            <a:ahLst/>
            <a:cxnLst/>
            <a:rect l="l" t="t" r="r" b="b"/>
            <a:pathLst>
              <a:path w="2933700" h="294132">
                <a:moveTo>
                  <a:pt x="0" y="0"/>
                </a:moveTo>
                <a:lnTo>
                  <a:pt x="2933700" y="0"/>
                </a:lnTo>
                <a:lnTo>
                  <a:pt x="2933700" y="294132"/>
                </a:lnTo>
                <a:lnTo>
                  <a:pt x="0" y="294132"/>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21" name="Freeform 21"/>
          <p:cNvSpPr/>
          <p:nvPr/>
        </p:nvSpPr>
        <p:spPr>
          <a:xfrm>
            <a:off x="3351428" y="4769358"/>
            <a:ext cx="2933700" cy="294132"/>
          </a:xfrm>
          <a:custGeom>
            <a:avLst/>
            <a:gdLst/>
            <a:ahLst/>
            <a:cxnLst/>
            <a:rect l="l" t="t" r="r" b="b"/>
            <a:pathLst>
              <a:path w="2933700" h="294132">
                <a:moveTo>
                  <a:pt x="0" y="0"/>
                </a:moveTo>
                <a:lnTo>
                  <a:pt x="2933700" y="0"/>
                </a:lnTo>
                <a:lnTo>
                  <a:pt x="2933700" y="294132"/>
                </a:lnTo>
                <a:lnTo>
                  <a:pt x="0" y="294132"/>
                </a:lnTo>
                <a:lnTo>
                  <a:pt x="0" y="0"/>
                </a:lnTo>
                <a:close/>
              </a:path>
            </a:pathLst>
          </a:custGeom>
          <a:blipFill>
            <a:blip r:embed="rId23">
              <a:extLst>
                <a:ext uri="{96DAC541-7B7A-43D3-8B79-37D633B846F1}">
                  <asvg:svgBlip xmlns:asvg="http://schemas.microsoft.com/office/drawing/2016/SVG/main" r:embed="rId25"/>
                </a:ext>
              </a:extLst>
            </a:blip>
            <a:stretch>
              <a:fillRect/>
            </a:stretch>
          </a:blipFill>
        </p:spPr>
      </p:sp>
      <p:sp>
        <p:nvSpPr>
          <p:cNvPr id="22" name="Freeform 22"/>
          <p:cNvSpPr/>
          <p:nvPr/>
        </p:nvSpPr>
        <p:spPr>
          <a:xfrm>
            <a:off x="6476238" y="4769358"/>
            <a:ext cx="2933700" cy="294132"/>
          </a:xfrm>
          <a:custGeom>
            <a:avLst/>
            <a:gdLst/>
            <a:ahLst/>
            <a:cxnLst/>
            <a:rect l="l" t="t" r="r" b="b"/>
            <a:pathLst>
              <a:path w="2933700" h="294132">
                <a:moveTo>
                  <a:pt x="0" y="0"/>
                </a:moveTo>
                <a:lnTo>
                  <a:pt x="2933700" y="0"/>
                </a:lnTo>
                <a:lnTo>
                  <a:pt x="2933700" y="294132"/>
                </a:lnTo>
                <a:lnTo>
                  <a:pt x="0" y="294132"/>
                </a:lnTo>
                <a:lnTo>
                  <a:pt x="0" y="0"/>
                </a:lnTo>
                <a:close/>
              </a:path>
            </a:pathLst>
          </a:custGeom>
          <a:blipFill>
            <a:blip r:embed="rId23">
              <a:extLst>
                <a:ext uri="{96DAC541-7B7A-43D3-8B79-37D633B846F1}">
                  <asvg:svgBlip xmlns:asvg="http://schemas.microsoft.com/office/drawing/2016/SVG/main" r:embed="rId26"/>
                </a:ext>
              </a:extLst>
            </a:blip>
            <a:stretch>
              <a:fillRect/>
            </a:stretch>
          </a:blipFill>
        </p:spPr>
      </p:sp>
      <p:sp>
        <p:nvSpPr>
          <p:cNvPr id="23" name="Freeform 23"/>
          <p:cNvSpPr/>
          <p:nvPr/>
        </p:nvSpPr>
        <p:spPr>
          <a:xfrm>
            <a:off x="3785616" y="5498592"/>
            <a:ext cx="780288" cy="648614"/>
          </a:xfrm>
          <a:custGeom>
            <a:avLst/>
            <a:gdLst/>
            <a:ahLst/>
            <a:cxnLst/>
            <a:rect l="l" t="t" r="r" b="b"/>
            <a:pathLst>
              <a:path w="780288" h="648614">
                <a:moveTo>
                  <a:pt x="0" y="0"/>
                </a:moveTo>
                <a:lnTo>
                  <a:pt x="780288" y="0"/>
                </a:lnTo>
                <a:lnTo>
                  <a:pt x="780288" y="648614"/>
                </a:lnTo>
                <a:lnTo>
                  <a:pt x="0" y="648614"/>
                </a:lnTo>
                <a:lnTo>
                  <a:pt x="0" y="0"/>
                </a:lnTo>
                <a:close/>
              </a:path>
            </a:pathLst>
          </a:custGeom>
          <a:blipFill>
            <a:blip r:embed="rId27"/>
            <a:stretch>
              <a:fillRect/>
            </a:stretch>
          </a:blipFill>
        </p:spPr>
      </p:sp>
      <p:sp>
        <p:nvSpPr>
          <p:cNvPr id="24" name="Freeform 24"/>
          <p:cNvSpPr/>
          <p:nvPr/>
        </p:nvSpPr>
        <p:spPr>
          <a:xfrm>
            <a:off x="4982870" y="5519318"/>
            <a:ext cx="950976" cy="635203"/>
          </a:xfrm>
          <a:custGeom>
            <a:avLst/>
            <a:gdLst/>
            <a:ahLst/>
            <a:cxnLst/>
            <a:rect l="l" t="t" r="r" b="b"/>
            <a:pathLst>
              <a:path w="950976" h="635203">
                <a:moveTo>
                  <a:pt x="0" y="0"/>
                </a:moveTo>
                <a:lnTo>
                  <a:pt x="950976" y="0"/>
                </a:lnTo>
                <a:lnTo>
                  <a:pt x="950976" y="635204"/>
                </a:lnTo>
                <a:lnTo>
                  <a:pt x="0" y="635204"/>
                </a:lnTo>
                <a:lnTo>
                  <a:pt x="0" y="0"/>
                </a:lnTo>
                <a:close/>
              </a:path>
            </a:pathLst>
          </a:custGeom>
          <a:blipFill>
            <a:blip r:embed="rId28"/>
            <a:stretch>
              <a:fillRect/>
            </a:stretch>
          </a:blipFill>
        </p:spPr>
      </p:sp>
      <p:sp>
        <p:nvSpPr>
          <p:cNvPr id="25" name="Freeform 25"/>
          <p:cNvSpPr/>
          <p:nvPr/>
        </p:nvSpPr>
        <p:spPr>
          <a:xfrm>
            <a:off x="8645347" y="5337658"/>
            <a:ext cx="769315" cy="709574"/>
          </a:xfrm>
          <a:custGeom>
            <a:avLst/>
            <a:gdLst/>
            <a:ahLst/>
            <a:cxnLst/>
            <a:rect l="l" t="t" r="r" b="b"/>
            <a:pathLst>
              <a:path w="769315" h="709574">
                <a:moveTo>
                  <a:pt x="0" y="0"/>
                </a:moveTo>
                <a:lnTo>
                  <a:pt x="769315" y="0"/>
                </a:lnTo>
                <a:lnTo>
                  <a:pt x="769315" y="709574"/>
                </a:lnTo>
                <a:lnTo>
                  <a:pt x="0" y="709574"/>
                </a:lnTo>
                <a:lnTo>
                  <a:pt x="0" y="0"/>
                </a:lnTo>
                <a:close/>
              </a:path>
            </a:pathLst>
          </a:custGeom>
          <a:blipFill>
            <a:blip r:embed="rId29"/>
            <a:stretch>
              <a:fillRect/>
            </a:stretch>
          </a:blipFill>
        </p:spPr>
      </p:sp>
      <p:sp>
        <p:nvSpPr>
          <p:cNvPr id="26" name="Freeform 26"/>
          <p:cNvSpPr/>
          <p:nvPr/>
        </p:nvSpPr>
        <p:spPr>
          <a:xfrm>
            <a:off x="7974787" y="5414467"/>
            <a:ext cx="523037" cy="602285"/>
          </a:xfrm>
          <a:custGeom>
            <a:avLst/>
            <a:gdLst/>
            <a:ahLst/>
            <a:cxnLst/>
            <a:rect l="l" t="t" r="r" b="b"/>
            <a:pathLst>
              <a:path w="523037" h="602285">
                <a:moveTo>
                  <a:pt x="0" y="0"/>
                </a:moveTo>
                <a:lnTo>
                  <a:pt x="523037" y="0"/>
                </a:lnTo>
                <a:lnTo>
                  <a:pt x="523037" y="602285"/>
                </a:lnTo>
                <a:lnTo>
                  <a:pt x="0" y="602285"/>
                </a:lnTo>
                <a:lnTo>
                  <a:pt x="0" y="0"/>
                </a:lnTo>
                <a:close/>
              </a:path>
            </a:pathLst>
          </a:custGeom>
          <a:blipFill>
            <a:blip r:embed="rId30"/>
            <a:stretch>
              <a:fillRect/>
            </a:stretch>
          </a:blipFill>
        </p:spPr>
      </p:sp>
      <p:sp>
        <p:nvSpPr>
          <p:cNvPr id="27" name="Freeform 27"/>
          <p:cNvSpPr/>
          <p:nvPr/>
        </p:nvSpPr>
        <p:spPr>
          <a:xfrm>
            <a:off x="6770218" y="5282794"/>
            <a:ext cx="960730" cy="547421"/>
          </a:xfrm>
          <a:custGeom>
            <a:avLst/>
            <a:gdLst/>
            <a:ahLst/>
            <a:cxnLst/>
            <a:rect l="l" t="t" r="r" b="b"/>
            <a:pathLst>
              <a:path w="960730" h="547421">
                <a:moveTo>
                  <a:pt x="0" y="0"/>
                </a:moveTo>
                <a:lnTo>
                  <a:pt x="960729" y="0"/>
                </a:lnTo>
                <a:lnTo>
                  <a:pt x="960729" y="547420"/>
                </a:lnTo>
                <a:lnTo>
                  <a:pt x="0" y="547420"/>
                </a:lnTo>
                <a:lnTo>
                  <a:pt x="0" y="0"/>
                </a:lnTo>
                <a:close/>
              </a:path>
            </a:pathLst>
          </a:custGeom>
          <a:blipFill>
            <a:blip r:embed="rId31"/>
            <a:stretch>
              <a:fillRect/>
            </a:stretch>
          </a:blipFill>
        </p:spPr>
      </p:sp>
      <p:sp>
        <p:nvSpPr>
          <p:cNvPr id="28" name="Freeform 28"/>
          <p:cNvSpPr/>
          <p:nvPr/>
        </p:nvSpPr>
        <p:spPr>
          <a:xfrm>
            <a:off x="7083552" y="5757062"/>
            <a:ext cx="335280" cy="459638"/>
          </a:xfrm>
          <a:custGeom>
            <a:avLst/>
            <a:gdLst/>
            <a:ahLst/>
            <a:cxnLst/>
            <a:rect l="l" t="t" r="r" b="b"/>
            <a:pathLst>
              <a:path w="335280" h="459638">
                <a:moveTo>
                  <a:pt x="0" y="0"/>
                </a:moveTo>
                <a:lnTo>
                  <a:pt x="335280" y="0"/>
                </a:lnTo>
                <a:lnTo>
                  <a:pt x="335280" y="459639"/>
                </a:lnTo>
                <a:lnTo>
                  <a:pt x="0" y="459639"/>
                </a:lnTo>
                <a:lnTo>
                  <a:pt x="0" y="0"/>
                </a:lnTo>
                <a:close/>
              </a:path>
            </a:pathLst>
          </a:custGeom>
          <a:blipFill>
            <a:blip r:embed="rId32"/>
            <a:stretch>
              <a:fillRect/>
            </a:stretch>
          </a:blipFill>
        </p:spPr>
      </p:sp>
      <p:sp>
        <p:nvSpPr>
          <p:cNvPr id="29" name="Freeform 29"/>
          <p:cNvSpPr/>
          <p:nvPr/>
        </p:nvSpPr>
        <p:spPr>
          <a:xfrm>
            <a:off x="1472390" y="5366309"/>
            <a:ext cx="523037" cy="19507"/>
          </a:xfrm>
          <a:custGeom>
            <a:avLst/>
            <a:gdLst/>
            <a:ahLst/>
            <a:cxnLst/>
            <a:rect l="l" t="t" r="r" b="b"/>
            <a:pathLst>
              <a:path w="523037" h="19507">
                <a:moveTo>
                  <a:pt x="0" y="0"/>
                </a:moveTo>
                <a:lnTo>
                  <a:pt x="523037" y="0"/>
                </a:lnTo>
                <a:lnTo>
                  <a:pt x="523037" y="19507"/>
                </a:lnTo>
                <a:lnTo>
                  <a:pt x="0" y="19507"/>
                </a:lnTo>
                <a:lnTo>
                  <a:pt x="0" y="0"/>
                </a:lnTo>
                <a:close/>
              </a:path>
            </a:pathLst>
          </a:custGeom>
          <a:blipFill>
            <a:blip r:embed="rId33">
              <a:extLst>
                <a:ext uri="{96DAC541-7B7A-43D3-8B79-37D633B846F1}">
                  <asvg:svgBlip xmlns:asvg="http://schemas.microsoft.com/office/drawing/2016/SVG/main" r:embed="rId34"/>
                </a:ext>
              </a:extLst>
            </a:blip>
            <a:stretch>
              <a:fillRect/>
            </a:stretch>
          </a:blipFill>
        </p:spPr>
      </p:sp>
      <p:sp>
        <p:nvSpPr>
          <p:cNvPr id="30" name="Freeform 30"/>
          <p:cNvSpPr/>
          <p:nvPr/>
        </p:nvSpPr>
        <p:spPr>
          <a:xfrm>
            <a:off x="2395324" y="5366309"/>
            <a:ext cx="529133" cy="19507"/>
          </a:xfrm>
          <a:custGeom>
            <a:avLst/>
            <a:gdLst/>
            <a:ahLst/>
            <a:cxnLst/>
            <a:rect l="l" t="t" r="r" b="b"/>
            <a:pathLst>
              <a:path w="529133" h="19507">
                <a:moveTo>
                  <a:pt x="0" y="0"/>
                </a:moveTo>
                <a:lnTo>
                  <a:pt x="529133" y="0"/>
                </a:lnTo>
                <a:lnTo>
                  <a:pt x="529133" y="19507"/>
                </a:lnTo>
                <a:lnTo>
                  <a:pt x="0" y="19507"/>
                </a:lnTo>
                <a:lnTo>
                  <a:pt x="0" y="0"/>
                </a:lnTo>
                <a:close/>
              </a:path>
            </a:pathLst>
          </a:custGeom>
          <a:blipFill>
            <a:blip r:embed="rId35">
              <a:extLst>
                <a:ext uri="{96DAC541-7B7A-43D3-8B79-37D633B846F1}">
                  <asvg:svgBlip xmlns:asvg="http://schemas.microsoft.com/office/drawing/2016/SVG/main" r:embed="rId36"/>
                </a:ext>
              </a:extLst>
            </a:blip>
            <a:stretch>
              <a:fillRect/>
            </a:stretch>
          </a:blipFill>
        </p:spPr>
      </p:sp>
      <p:sp>
        <p:nvSpPr>
          <p:cNvPr id="31" name="Freeform 31"/>
          <p:cNvSpPr/>
          <p:nvPr/>
        </p:nvSpPr>
        <p:spPr>
          <a:xfrm>
            <a:off x="3958742" y="5366309"/>
            <a:ext cx="401117" cy="19507"/>
          </a:xfrm>
          <a:custGeom>
            <a:avLst/>
            <a:gdLst/>
            <a:ahLst/>
            <a:cxnLst/>
            <a:rect l="l" t="t" r="r" b="b"/>
            <a:pathLst>
              <a:path w="401117" h="19507">
                <a:moveTo>
                  <a:pt x="0" y="0"/>
                </a:moveTo>
                <a:lnTo>
                  <a:pt x="401117" y="0"/>
                </a:lnTo>
                <a:lnTo>
                  <a:pt x="401117" y="19507"/>
                </a:lnTo>
                <a:lnTo>
                  <a:pt x="0" y="19507"/>
                </a:lnTo>
                <a:lnTo>
                  <a:pt x="0" y="0"/>
                </a:lnTo>
                <a:close/>
              </a:path>
            </a:pathLst>
          </a:custGeom>
          <a:blipFill>
            <a:blip r:embed="rId37">
              <a:extLst>
                <a:ext uri="{96DAC541-7B7A-43D3-8B79-37D633B846F1}">
                  <asvg:svgBlip xmlns:asvg="http://schemas.microsoft.com/office/drawing/2016/SVG/main" r:embed="rId38"/>
                </a:ext>
              </a:extLst>
            </a:blip>
            <a:stretch>
              <a:fillRect/>
            </a:stretch>
          </a:blipFill>
        </p:spPr>
      </p:sp>
      <p:sp>
        <p:nvSpPr>
          <p:cNvPr id="32" name="Freeform 32"/>
          <p:cNvSpPr/>
          <p:nvPr/>
        </p:nvSpPr>
        <p:spPr>
          <a:xfrm>
            <a:off x="4848964" y="5366309"/>
            <a:ext cx="1238707" cy="19507"/>
          </a:xfrm>
          <a:custGeom>
            <a:avLst/>
            <a:gdLst/>
            <a:ahLst/>
            <a:cxnLst/>
            <a:rect l="l" t="t" r="r" b="b"/>
            <a:pathLst>
              <a:path w="1238707" h="19507">
                <a:moveTo>
                  <a:pt x="0" y="0"/>
                </a:moveTo>
                <a:lnTo>
                  <a:pt x="1238707" y="0"/>
                </a:lnTo>
                <a:lnTo>
                  <a:pt x="1238707" y="19507"/>
                </a:lnTo>
                <a:lnTo>
                  <a:pt x="0" y="19507"/>
                </a:lnTo>
                <a:lnTo>
                  <a:pt x="0" y="0"/>
                </a:lnTo>
                <a:close/>
              </a:path>
            </a:pathLst>
          </a:custGeom>
          <a:blipFill>
            <a:blip r:embed="rId39">
              <a:extLst>
                <a:ext uri="{96DAC541-7B7A-43D3-8B79-37D633B846F1}">
                  <asvg:svgBlip xmlns:asvg="http://schemas.microsoft.com/office/drawing/2016/SVG/main" r:embed="rId40"/>
                </a:ext>
              </a:extLst>
            </a:blip>
            <a:stretch>
              <a:fillRect/>
            </a:stretch>
          </a:blipFill>
        </p:spPr>
      </p:sp>
      <p:sp>
        <p:nvSpPr>
          <p:cNvPr id="33" name="Freeform 33"/>
          <p:cNvSpPr/>
          <p:nvPr/>
        </p:nvSpPr>
        <p:spPr>
          <a:xfrm>
            <a:off x="7092185" y="5366309"/>
            <a:ext cx="316992" cy="19507"/>
          </a:xfrm>
          <a:custGeom>
            <a:avLst/>
            <a:gdLst/>
            <a:ahLst/>
            <a:cxnLst/>
            <a:rect l="l" t="t" r="r" b="b"/>
            <a:pathLst>
              <a:path w="316992" h="19507">
                <a:moveTo>
                  <a:pt x="0" y="0"/>
                </a:moveTo>
                <a:lnTo>
                  <a:pt x="316992" y="0"/>
                </a:lnTo>
                <a:lnTo>
                  <a:pt x="316992" y="19507"/>
                </a:lnTo>
                <a:lnTo>
                  <a:pt x="0" y="19507"/>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sp>
      <p:sp>
        <p:nvSpPr>
          <p:cNvPr id="34" name="Freeform 34"/>
          <p:cNvSpPr/>
          <p:nvPr/>
        </p:nvSpPr>
        <p:spPr>
          <a:xfrm>
            <a:off x="8103207" y="5342938"/>
            <a:ext cx="894893" cy="19507"/>
          </a:xfrm>
          <a:custGeom>
            <a:avLst/>
            <a:gdLst/>
            <a:ahLst/>
            <a:cxnLst/>
            <a:rect l="l" t="t" r="r" b="b"/>
            <a:pathLst>
              <a:path w="894893" h="19507">
                <a:moveTo>
                  <a:pt x="0" y="0"/>
                </a:moveTo>
                <a:lnTo>
                  <a:pt x="894893" y="0"/>
                </a:lnTo>
                <a:lnTo>
                  <a:pt x="894893" y="19507"/>
                </a:lnTo>
                <a:lnTo>
                  <a:pt x="0" y="19507"/>
                </a:lnTo>
                <a:lnTo>
                  <a:pt x="0" y="0"/>
                </a:lnTo>
                <a:close/>
              </a:path>
            </a:pathLst>
          </a:custGeom>
          <a:blipFill>
            <a:blip r:embed="rId43">
              <a:extLst>
                <a:ext uri="{96DAC541-7B7A-43D3-8B79-37D633B846F1}">
                  <asvg:svgBlip xmlns:asvg="http://schemas.microsoft.com/office/drawing/2016/SVG/main" r:embed="rId44"/>
                </a:ext>
              </a:extLst>
            </a:blip>
            <a:stretch>
              <a:fillRect/>
            </a:stretch>
          </a:blipFill>
        </p:spPr>
      </p:sp>
      <p:sp>
        <p:nvSpPr>
          <p:cNvPr id="35" name="Freeform 35"/>
          <p:cNvSpPr/>
          <p:nvPr/>
        </p:nvSpPr>
        <p:spPr>
          <a:xfrm>
            <a:off x="156058" y="1253338"/>
            <a:ext cx="9404909" cy="640080"/>
          </a:xfrm>
          <a:custGeom>
            <a:avLst/>
            <a:gdLst/>
            <a:ahLst/>
            <a:cxnLst/>
            <a:rect l="l" t="t" r="r" b="b"/>
            <a:pathLst>
              <a:path w="9404909" h="640080">
                <a:moveTo>
                  <a:pt x="0" y="0"/>
                </a:moveTo>
                <a:lnTo>
                  <a:pt x="9404908" y="0"/>
                </a:lnTo>
                <a:lnTo>
                  <a:pt x="9404908" y="640080"/>
                </a:lnTo>
                <a:lnTo>
                  <a:pt x="0" y="640080"/>
                </a:lnTo>
                <a:lnTo>
                  <a:pt x="0" y="0"/>
                </a:lnTo>
                <a:close/>
              </a:path>
            </a:pathLst>
          </a:custGeom>
          <a:blipFill>
            <a:blip r:embed="rId45"/>
            <a:stretch>
              <a:fillRect/>
            </a:stretch>
          </a:blipFill>
        </p:spPr>
      </p:sp>
      <p:sp>
        <p:nvSpPr>
          <p:cNvPr id="36" name="Freeform 36"/>
          <p:cNvSpPr/>
          <p:nvPr/>
        </p:nvSpPr>
        <p:spPr>
          <a:xfrm>
            <a:off x="1328928" y="1378908"/>
            <a:ext cx="7060387" cy="448673"/>
          </a:xfrm>
          <a:custGeom>
            <a:avLst/>
            <a:gdLst/>
            <a:ahLst/>
            <a:cxnLst/>
            <a:rect l="l" t="t" r="r" b="b"/>
            <a:pathLst>
              <a:path w="7060387" h="448673">
                <a:moveTo>
                  <a:pt x="0" y="0"/>
                </a:moveTo>
                <a:lnTo>
                  <a:pt x="7060387" y="0"/>
                </a:lnTo>
                <a:lnTo>
                  <a:pt x="7060387" y="448673"/>
                </a:lnTo>
                <a:lnTo>
                  <a:pt x="0" y="448673"/>
                </a:lnTo>
                <a:lnTo>
                  <a:pt x="0" y="0"/>
                </a:lnTo>
                <a:close/>
              </a:path>
            </a:pathLst>
          </a:custGeom>
          <a:blipFill>
            <a:blip r:embed="rId46"/>
            <a:stretch>
              <a:fillRect/>
            </a:stretch>
          </a:blipFill>
        </p:spPr>
      </p:sp>
      <p:sp>
        <p:nvSpPr>
          <p:cNvPr id="37" name="Freeform 37"/>
          <p:cNvSpPr/>
          <p:nvPr/>
        </p:nvSpPr>
        <p:spPr>
          <a:xfrm>
            <a:off x="189898" y="1236520"/>
            <a:ext cx="9340291" cy="575462"/>
          </a:xfrm>
          <a:custGeom>
            <a:avLst/>
            <a:gdLst/>
            <a:ahLst/>
            <a:cxnLst/>
            <a:rect l="l" t="t" r="r" b="b"/>
            <a:pathLst>
              <a:path w="9340291" h="575462">
                <a:moveTo>
                  <a:pt x="0" y="0"/>
                </a:moveTo>
                <a:lnTo>
                  <a:pt x="9340291" y="0"/>
                </a:lnTo>
                <a:lnTo>
                  <a:pt x="9340291" y="575463"/>
                </a:lnTo>
                <a:lnTo>
                  <a:pt x="0" y="575463"/>
                </a:lnTo>
                <a:lnTo>
                  <a:pt x="0" y="0"/>
                </a:lnTo>
                <a:close/>
              </a:path>
            </a:pathLst>
          </a:custGeom>
          <a:blipFill>
            <a:blip r:embed="rId47">
              <a:extLst>
                <a:ext uri="{96DAC541-7B7A-43D3-8B79-37D633B846F1}">
                  <asvg:svgBlip xmlns:asvg="http://schemas.microsoft.com/office/drawing/2016/SVG/main" r:embed="rId48"/>
                </a:ext>
              </a:extLst>
            </a:blip>
            <a:stretch>
              <a:fillRect/>
            </a:stretch>
          </a:blipFill>
        </p:spPr>
      </p:sp>
      <p:sp>
        <p:nvSpPr>
          <p:cNvPr id="38" name="TextBox 38"/>
          <p:cNvSpPr txBox="1"/>
          <p:nvPr/>
        </p:nvSpPr>
        <p:spPr>
          <a:xfrm>
            <a:off x="9546336" y="6092053"/>
            <a:ext cx="187109" cy="345018"/>
          </a:xfrm>
          <a:prstGeom prst="rect">
            <a:avLst/>
          </a:prstGeom>
        </p:spPr>
        <p:txBody>
          <a:bodyPr lIns="0" tIns="0" rIns="0" bIns="0" rtlCol="0" anchor="t">
            <a:spAutoFit/>
          </a:bodyPr>
          <a:lstStyle/>
          <a:p>
            <a:pPr algn="l">
              <a:lnSpc>
                <a:spcPts val="2016"/>
              </a:lnSpc>
            </a:pPr>
            <a:r>
              <a:rPr lang="en-US" sz="1440" spc="12">
                <a:solidFill>
                  <a:srgbClr val="000000"/>
                </a:solidFill>
                <a:latin typeface="Calibri (MS)"/>
              </a:rPr>
              <a:t>6</a:t>
            </a:r>
            <a:r>
              <a:rPr lang="en-US" sz="1440" spc="12">
                <a:solidFill>
                  <a:srgbClr val="FFFFFF"/>
                </a:solidFill>
                <a:latin typeface="Calibri (MS)"/>
              </a:rPr>
              <a:t>6</a:t>
            </a:r>
          </a:p>
        </p:txBody>
      </p:sp>
      <p:sp>
        <p:nvSpPr>
          <p:cNvPr id="39" name="TextBox 39"/>
          <p:cNvSpPr txBox="1"/>
          <p:nvPr/>
        </p:nvSpPr>
        <p:spPr>
          <a:xfrm>
            <a:off x="4165801" y="1888206"/>
            <a:ext cx="1291689" cy="284500"/>
          </a:xfrm>
          <a:prstGeom prst="rect">
            <a:avLst/>
          </a:prstGeom>
        </p:spPr>
        <p:txBody>
          <a:bodyPr lIns="0" tIns="0" rIns="0" bIns="0" rtlCol="0" anchor="t">
            <a:spAutoFit/>
          </a:bodyPr>
          <a:lstStyle/>
          <a:p>
            <a:pPr algn="l">
              <a:lnSpc>
                <a:spcPts val="2392"/>
              </a:lnSpc>
            </a:pPr>
            <a:r>
              <a:rPr lang="en-US" sz="1708" spc="-5">
                <a:solidFill>
                  <a:srgbClr val="FFFFFF"/>
                </a:solidFill>
                <a:latin typeface="IBM Plex Sans"/>
              </a:rPr>
              <a:t>Focus Areas</a:t>
            </a:r>
          </a:p>
        </p:txBody>
      </p:sp>
      <p:sp>
        <p:nvSpPr>
          <p:cNvPr id="40" name="TextBox 40"/>
          <p:cNvSpPr txBox="1"/>
          <p:nvPr/>
        </p:nvSpPr>
        <p:spPr>
          <a:xfrm>
            <a:off x="3469637" y="4369582"/>
            <a:ext cx="2682987" cy="284500"/>
          </a:xfrm>
          <a:prstGeom prst="rect">
            <a:avLst/>
          </a:prstGeom>
        </p:spPr>
        <p:txBody>
          <a:bodyPr lIns="0" tIns="0" rIns="0" bIns="0" rtlCol="0" anchor="t">
            <a:spAutoFit/>
          </a:bodyPr>
          <a:lstStyle/>
          <a:p>
            <a:pPr algn="l">
              <a:lnSpc>
                <a:spcPts val="2392"/>
              </a:lnSpc>
            </a:pPr>
            <a:r>
              <a:rPr lang="en-US" sz="1708" spc="-5">
                <a:solidFill>
                  <a:srgbClr val="FFFFFF"/>
                </a:solidFill>
                <a:latin typeface="IBM Plex Sans"/>
              </a:rPr>
              <a:t>Foundational Investments</a:t>
            </a:r>
          </a:p>
        </p:txBody>
      </p:sp>
      <p:sp>
        <p:nvSpPr>
          <p:cNvPr id="41" name="TextBox 41"/>
          <p:cNvSpPr txBox="1"/>
          <p:nvPr/>
        </p:nvSpPr>
        <p:spPr>
          <a:xfrm>
            <a:off x="461345" y="5148895"/>
            <a:ext cx="643433" cy="243345"/>
          </a:xfrm>
          <a:prstGeom prst="rect">
            <a:avLst/>
          </a:prstGeom>
        </p:spPr>
        <p:txBody>
          <a:bodyPr lIns="0" tIns="0" rIns="0" bIns="0" rtlCol="0" anchor="t">
            <a:spAutoFit/>
          </a:bodyPr>
          <a:lstStyle/>
          <a:p>
            <a:pPr algn="l">
              <a:lnSpc>
                <a:spcPts val="2096"/>
              </a:lnSpc>
            </a:pPr>
            <a:r>
              <a:rPr lang="en-US" sz="1497" spc="-4">
                <a:solidFill>
                  <a:srgbClr val="000000"/>
                </a:solidFill>
                <a:latin typeface="IBM Plex Sans"/>
              </a:rPr>
              <a:t>Quality</a:t>
            </a:r>
          </a:p>
        </p:txBody>
      </p:sp>
      <p:sp>
        <p:nvSpPr>
          <p:cNvPr id="42" name="TextBox 42"/>
          <p:cNvSpPr txBox="1"/>
          <p:nvPr/>
        </p:nvSpPr>
        <p:spPr>
          <a:xfrm>
            <a:off x="659343" y="2316290"/>
            <a:ext cx="846308" cy="243345"/>
          </a:xfrm>
          <a:prstGeom prst="rect">
            <a:avLst/>
          </a:prstGeom>
        </p:spPr>
        <p:txBody>
          <a:bodyPr lIns="0" tIns="0" rIns="0" bIns="0" rtlCol="0" anchor="t">
            <a:spAutoFit/>
          </a:bodyPr>
          <a:lstStyle/>
          <a:p>
            <a:pPr algn="l">
              <a:lnSpc>
                <a:spcPts val="2096"/>
              </a:lnSpc>
            </a:pPr>
            <a:r>
              <a:rPr lang="en-US" sz="1497" spc="-2">
                <a:solidFill>
                  <a:srgbClr val="000000"/>
                </a:solidFill>
                <a:latin typeface="IBM Plex Sans"/>
              </a:rPr>
              <a:t>Direct-to-</a:t>
            </a:r>
          </a:p>
        </p:txBody>
      </p:sp>
      <p:sp>
        <p:nvSpPr>
          <p:cNvPr id="43" name="TextBox 43"/>
          <p:cNvSpPr txBox="1"/>
          <p:nvPr/>
        </p:nvSpPr>
        <p:spPr>
          <a:xfrm>
            <a:off x="1427683" y="4713542"/>
            <a:ext cx="568322" cy="678706"/>
          </a:xfrm>
          <a:prstGeom prst="rect">
            <a:avLst/>
          </a:prstGeom>
        </p:spPr>
        <p:txBody>
          <a:bodyPr lIns="0" tIns="0" rIns="0" bIns="0" rtlCol="0" anchor="t">
            <a:spAutoFit/>
          </a:bodyPr>
          <a:lstStyle/>
          <a:p>
            <a:pPr algn="just">
              <a:lnSpc>
                <a:spcPts val="2827"/>
              </a:lnSpc>
            </a:pPr>
            <a:r>
              <a:rPr lang="en-US" sz="1497" spc="-4">
                <a:solidFill>
                  <a:srgbClr val="000000"/>
                </a:solidFill>
                <a:latin typeface="IBM Plex Sans"/>
              </a:rPr>
              <a:t>Game Youth</a:t>
            </a:r>
          </a:p>
        </p:txBody>
      </p:sp>
      <p:sp>
        <p:nvSpPr>
          <p:cNvPr id="44" name="TextBox 44"/>
          <p:cNvSpPr txBox="1"/>
          <p:nvPr/>
        </p:nvSpPr>
        <p:spPr>
          <a:xfrm>
            <a:off x="2395522" y="5148895"/>
            <a:ext cx="529316" cy="243345"/>
          </a:xfrm>
          <a:prstGeom prst="rect">
            <a:avLst/>
          </a:prstGeom>
        </p:spPr>
        <p:txBody>
          <a:bodyPr lIns="0" tIns="0" rIns="0" bIns="0" rtlCol="0" anchor="t">
            <a:spAutoFit/>
          </a:bodyPr>
          <a:lstStyle/>
          <a:p>
            <a:pPr algn="l">
              <a:lnSpc>
                <a:spcPts val="2096"/>
              </a:lnSpc>
            </a:pPr>
            <a:r>
              <a:rPr lang="en-US" sz="1497" spc="-1">
                <a:solidFill>
                  <a:srgbClr val="000000"/>
                </a:solidFill>
                <a:latin typeface="IBM Plex Sans"/>
              </a:rPr>
              <a:t>PH&amp;S</a:t>
            </a:r>
          </a:p>
        </p:txBody>
      </p:sp>
      <p:sp>
        <p:nvSpPr>
          <p:cNvPr id="45" name="TextBox 45"/>
          <p:cNvSpPr txBox="1"/>
          <p:nvPr/>
        </p:nvSpPr>
        <p:spPr>
          <a:xfrm>
            <a:off x="2371138" y="2430079"/>
            <a:ext cx="1140409" cy="243345"/>
          </a:xfrm>
          <a:prstGeom prst="rect">
            <a:avLst/>
          </a:prstGeom>
        </p:spPr>
        <p:txBody>
          <a:bodyPr lIns="0" tIns="0" rIns="0" bIns="0" rtlCol="0" anchor="t">
            <a:spAutoFit/>
          </a:bodyPr>
          <a:lstStyle/>
          <a:p>
            <a:pPr algn="l">
              <a:lnSpc>
                <a:spcPts val="2096"/>
              </a:lnSpc>
            </a:pPr>
            <a:r>
              <a:rPr lang="en-US" sz="1497" spc="-4">
                <a:solidFill>
                  <a:srgbClr val="000000"/>
                </a:solidFill>
                <a:latin typeface="IBM Plex Sans"/>
              </a:rPr>
              <a:t>International</a:t>
            </a:r>
          </a:p>
        </p:txBody>
      </p:sp>
      <p:sp>
        <p:nvSpPr>
          <p:cNvPr id="46" name="TextBox 46"/>
          <p:cNvSpPr txBox="1"/>
          <p:nvPr/>
        </p:nvSpPr>
        <p:spPr>
          <a:xfrm>
            <a:off x="4346448" y="2316290"/>
            <a:ext cx="919025" cy="243345"/>
          </a:xfrm>
          <a:prstGeom prst="rect">
            <a:avLst/>
          </a:prstGeom>
        </p:spPr>
        <p:txBody>
          <a:bodyPr lIns="0" tIns="0" rIns="0" bIns="0" rtlCol="0" anchor="t">
            <a:spAutoFit/>
          </a:bodyPr>
          <a:lstStyle/>
          <a:p>
            <a:pPr algn="l">
              <a:lnSpc>
                <a:spcPts val="2096"/>
              </a:lnSpc>
            </a:pPr>
            <a:r>
              <a:rPr lang="en-US" sz="1497" spc="-4">
                <a:solidFill>
                  <a:srgbClr val="000000"/>
                </a:solidFill>
                <a:latin typeface="IBM Plex Sans"/>
              </a:rPr>
              <a:t>Legalized </a:t>
            </a:r>
          </a:p>
        </p:txBody>
      </p:sp>
      <p:sp>
        <p:nvSpPr>
          <p:cNvPr id="47" name="TextBox 47"/>
          <p:cNvSpPr txBox="1"/>
          <p:nvPr/>
        </p:nvSpPr>
        <p:spPr>
          <a:xfrm>
            <a:off x="3351428" y="4713542"/>
            <a:ext cx="2736593" cy="669246"/>
          </a:xfrm>
          <a:prstGeom prst="rect">
            <a:avLst/>
          </a:prstGeom>
        </p:spPr>
        <p:txBody>
          <a:bodyPr lIns="0" tIns="0" rIns="0" bIns="0" rtlCol="0" anchor="t">
            <a:spAutoFit/>
          </a:bodyPr>
          <a:lstStyle/>
          <a:p>
            <a:pPr algn="ctr">
              <a:lnSpc>
                <a:spcPts val="2827"/>
              </a:lnSpc>
            </a:pPr>
            <a:r>
              <a:rPr lang="en-US" sz="1497" spc="-4">
                <a:solidFill>
                  <a:srgbClr val="000000"/>
                </a:solidFill>
                <a:latin typeface="IBM Plex Sans"/>
              </a:rPr>
              <a:t>Fan Development </a:t>
            </a:r>
          </a:p>
          <a:p>
            <a:pPr algn="l">
              <a:lnSpc>
                <a:spcPts val="2827"/>
              </a:lnSpc>
            </a:pPr>
            <a:r>
              <a:rPr lang="en-US" sz="1497" spc="-4">
                <a:solidFill>
                  <a:srgbClr val="000000"/>
                </a:solidFill>
                <a:latin typeface="IBM Plex Sans"/>
              </a:rPr>
              <a:t>             Avid            Youth / Latinx</a:t>
            </a:r>
          </a:p>
        </p:txBody>
      </p:sp>
      <p:sp>
        <p:nvSpPr>
          <p:cNvPr id="48" name="TextBox 48"/>
          <p:cNvSpPr txBox="1"/>
          <p:nvPr/>
        </p:nvSpPr>
        <p:spPr>
          <a:xfrm>
            <a:off x="6150864" y="2316290"/>
            <a:ext cx="1014626" cy="243345"/>
          </a:xfrm>
          <a:prstGeom prst="rect">
            <a:avLst/>
          </a:prstGeom>
        </p:spPr>
        <p:txBody>
          <a:bodyPr lIns="0" tIns="0" rIns="0" bIns="0" rtlCol="0" anchor="t">
            <a:spAutoFit/>
          </a:bodyPr>
          <a:lstStyle/>
          <a:p>
            <a:pPr algn="l">
              <a:lnSpc>
                <a:spcPts val="2096"/>
              </a:lnSpc>
            </a:pPr>
            <a:r>
              <a:rPr lang="en-US" sz="1497" spc="-4">
                <a:solidFill>
                  <a:srgbClr val="000000"/>
                </a:solidFill>
                <a:latin typeface="IBM Plex Sans"/>
              </a:rPr>
              <a:t>Non-Game </a:t>
            </a:r>
          </a:p>
        </p:txBody>
      </p:sp>
      <p:sp>
        <p:nvSpPr>
          <p:cNvPr id="49" name="TextBox 49"/>
          <p:cNvSpPr txBox="1"/>
          <p:nvPr/>
        </p:nvSpPr>
        <p:spPr>
          <a:xfrm>
            <a:off x="8284975" y="2316290"/>
            <a:ext cx="446578" cy="243345"/>
          </a:xfrm>
          <a:prstGeom prst="rect">
            <a:avLst/>
          </a:prstGeom>
        </p:spPr>
        <p:txBody>
          <a:bodyPr lIns="0" tIns="0" rIns="0" bIns="0" rtlCol="0" anchor="t">
            <a:spAutoFit/>
          </a:bodyPr>
          <a:lstStyle/>
          <a:p>
            <a:pPr algn="l">
              <a:lnSpc>
                <a:spcPts val="2096"/>
              </a:lnSpc>
            </a:pPr>
            <a:r>
              <a:rPr lang="en-US" sz="1497" spc="2">
                <a:solidFill>
                  <a:srgbClr val="000000"/>
                </a:solidFill>
                <a:latin typeface="IBM Plex Sans"/>
              </a:rPr>
              <a:t>New </a:t>
            </a:r>
          </a:p>
        </p:txBody>
      </p:sp>
      <p:sp>
        <p:nvSpPr>
          <p:cNvPr id="50" name="TextBox 50"/>
          <p:cNvSpPr txBox="1"/>
          <p:nvPr/>
        </p:nvSpPr>
        <p:spPr>
          <a:xfrm>
            <a:off x="6568460" y="4645426"/>
            <a:ext cx="2846203" cy="669246"/>
          </a:xfrm>
          <a:prstGeom prst="rect">
            <a:avLst/>
          </a:prstGeom>
        </p:spPr>
        <p:txBody>
          <a:bodyPr lIns="0" tIns="0" rIns="0" bIns="0" rtlCol="0" anchor="t">
            <a:spAutoFit/>
          </a:bodyPr>
          <a:lstStyle/>
          <a:p>
            <a:pPr algn="ctr">
              <a:lnSpc>
                <a:spcPts val="2827"/>
              </a:lnSpc>
            </a:pPr>
            <a:r>
              <a:rPr lang="en-US" sz="1497" spc="-4">
                <a:solidFill>
                  <a:srgbClr val="000000"/>
                </a:solidFill>
                <a:latin typeface="IBM Plex Sans"/>
              </a:rPr>
              <a:t>Business Operations</a:t>
            </a:r>
          </a:p>
          <a:p>
            <a:pPr algn="ctr">
              <a:lnSpc>
                <a:spcPts val="2827"/>
              </a:lnSpc>
            </a:pPr>
            <a:r>
              <a:rPr lang="en-US" sz="1497" spc="-4">
                <a:solidFill>
                  <a:srgbClr val="000000"/>
                </a:solidFill>
                <a:latin typeface="IBM Plex Sans"/>
              </a:rPr>
              <a:t>DEI                Data/Tech</a:t>
            </a:r>
          </a:p>
        </p:txBody>
      </p:sp>
      <p:sp>
        <p:nvSpPr>
          <p:cNvPr id="51" name="TextBox 51"/>
          <p:cNvSpPr txBox="1"/>
          <p:nvPr/>
        </p:nvSpPr>
        <p:spPr>
          <a:xfrm>
            <a:off x="611795" y="2544051"/>
            <a:ext cx="940956" cy="243634"/>
          </a:xfrm>
          <a:prstGeom prst="rect">
            <a:avLst/>
          </a:prstGeom>
        </p:spPr>
        <p:txBody>
          <a:bodyPr lIns="0" tIns="0" rIns="0" bIns="0" rtlCol="0" anchor="t">
            <a:spAutoFit/>
          </a:bodyPr>
          <a:lstStyle/>
          <a:p>
            <a:pPr algn="l">
              <a:lnSpc>
                <a:spcPts val="2099"/>
              </a:lnSpc>
            </a:pPr>
            <a:r>
              <a:rPr lang="en-US" sz="1499" spc="-4">
                <a:solidFill>
                  <a:srgbClr val="000000"/>
                </a:solidFill>
                <a:latin typeface="IBM Plex Sans"/>
              </a:rPr>
              <a:t>Consumer</a:t>
            </a:r>
          </a:p>
        </p:txBody>
      </p:sp>
      <p:sp>
        <p:nvSpPr>
          <p:cNvPr id="52" name="TextBox 52"/>
          <p:cNvSpPr txBox="1"/>
          <p:nvPr/>
        </p:nvSpPr>
        <p:spPr>
          <a:xfrm>
            <a:off x="4125773" y="2544051"/>
            <a:ext cx="1307554" cy="243634"/>
          </a:xfrm>
          <a:prstGeom prst="rect">
            <a:avLst/>
          </a:prstGeom>
        </p:spPr>
        <p:txBody>
          <a:bodyPr lIns="0" tIns="0" rIns="0" bIns="0" rtlCol="0" anchor="t">
            <a:spAutoFit/>
          </a:bodyPr>
          <a:lstStyle/>
          <a:p>
            <a:pPr algn="l">
              <a:lnSpc>
                <a:spcPts val="2099"/>
              </a:lnSpc>
            </a:pPr>
            <a:r>
              <a:rPr lang="en-US" sz="1499" spc="-4">
                <a:solidFill>
                  <a:srgbClr val="000000"/>
                </a:solidFill>
                <a:latin typeface="IBM Plex Sans"/>
              </a:rPr>
              <a:t>Sports Betting</a:t>
            </a:r>
          </a:p>
        </p:txBody>
      </p:sp>
      <p:sp>
        <p:nvSpPr>
          <p:cNvPr id="53" name="TextBox 53"/>
          <p:cNvSpPr txBox="1"/>
          <p:nvPr/>
        </p:nvSpPr>
        <p:spPr>
          <a:xfrm>
            <a:off x="5978957" y="2544051"/>
            <a:ext cx="1306220" cy="243634"/>
          </a:xfrm>
          <a:prstGeom prst="rect">
            <a:avLst/>
          </a:prstGeom>
        </p:spPr>
        <p:txBody>
          <a:bodyPr lIns="0" tIns="0" rIns="0" bIns="0" rtlCol="0" anchor="t">
            <a:spAutoFit/>
          </a:bodyPr>
          <a:lstStyle/>
          <a:p>
            <a:pPr algn="l">
              <a:lnSpc>
                <a:spcPts val="2099"/>
              </a:lnSpc>
            </a:pPr>
            <a:r>
              <a:rPr lang="en-US" sz="1499" spc="-4">
                <a:solidFill>
                  <a:srgbClr val="000000"/>
                </a:solidFill>
                <a:latin typeface="IBM Plex Sans"/>
              </a:rPr>
              <a:t>Media Content</a:t>
            </a:r>
          </a:p>
        </p:txBody>
      </p:sp>
      <p:sp>
        <p:nvSpPr>
          <p:cNvPr id="54" name="TextBox 54"/>
          <p:cNvSpPr txBox="1"/>
          <p:nvPr/>
        </p:nvSpPr>
        <p:spPr>
          <a:xfrm>
            <a:off x="7957010" y="2544051"/>
            <a:ext cx="1050463" cy="243634"/>
          </a:xfrm>
          <a:prstGeom prst="rect">
            <a:avLst/>
          </a:prstGeom>
        </p:spPr>
        <p:txBody>
          <a:bodyPr lIns="0" tIns="0" rIns="0" bIns="0" rtlCol="0" anchor="t">
            <a:spAutoFit/>
          </a:bodyPr>
          <a:lstStyle/>
          <a:p>
            <a:pPr algn="l">
              <a:lnSpc>
                <a:spcPts val="2099"/>
              </a:lnSpc>
            </a:pPr>
            <a:r>
              <a:rPr lang="en-US" sz="1499" spc="-4">
                <a:solidFill>
                  <a:srgbClr val="000000"/>
                </a:solidFill>
                <a:latin typeface="IBM Plex Sans"/>
              </a:rPr>
              <a:t>Technology</a:t>
            </a:r>
          </a:p>
        </p:txBody>
      </p:sp>
      <p:sp>
        <p:nvSpPr>
          <p:cNvPr id="55" name="TextBox 55"/>
          <p:cNvSpPr txBox="1"/>
          <p:nvPr/>
        </p:nvSpPr>
        <p:spPr>
          <a:xfrm>
            <a:off x="7763157" y="3372863"/>
            <a:ext cx="723344" cy="169118"/>
          </a:xfrm>
          <a:prstGeom prst="rect">
            <a:avLst/>
          </a:prstGeom>
        </p:spPr>
        <p:txBody>
          <a:bodyPr lIns="0" tIns="0" rIns="0" bIns="0" rtlCol="0" anchor="t">
            <a:spAutoFit/>
          </a:bodyPr>
          <a:lstStyle/>
          <a:p>
            <a:pPr algn="l">
              <a:lnSpc>
                <a:spcPts val="1491"/>
              </a:lnSpc>
            </a:pPr>
            <a:r>
              <a:rPr lang="en-US" sz="1065" spc="7">
                <a:solidFill>
                  <a:srgbClr val="000000"/>
                </a:solidFill>
                <a:latin typeface="Open Sans 2 Italics"/>
              </a:rPr>
              <a:t>Blockchain</a:t>
            </a:r>
          </a:p>
        </p:txBody>
      </p:sp>
      <p:sp>
        <p:nvSpPr>
          <p:cNvPr id="56" name="TextBox 56"/>
          <p:cNvSpPr txBox="1"/>
          <p:nvPr/>
        </p:nvSpPr>
        <p:spPr>
          <a:xfrm>
            <a:off x="2110641" y="5925053"/>
            <a:ext cx="1082863" cy="210274"/>
          </a:xfrm>
          <a:prstGeom prst="rect">
            <a:avLst/>
          </a:prstGeom>
        </p:spPr>
        <p:txBody>
          <a:bodyPr lIns="0" tIns="0" rIns="0" bIns="0" rtlCol="0" anchor="t">
            <a:spAutoFit/>
          </a:bodyPr>
          <a:lstStyle/>
          <a:p>
            <a:pPr algn="l">
              <a:lnSpc>
                <a:spcPts val="1787"/>
              </a:lnSpc>
            </a:pPr>
            <a:r>
              <a:rPr lang="en-US" sz="1276" spc="-3">
                <a:solidFill>
                  <a:srgbClr val="000000"/>
                </a:solidFill>
                <a:latin typeface="IBM Plex Sans"/>
              </a:rPr>
              <a:t>Digital Athlete</a:t>
            </a:r>
          </a:p>
        </p:txBody>
      </p:sp>
      <p:sp>
        <p:nvSpPr>
          <p:cNvPr id="57" name="TextBox 57"/>
          <p:cNvSpPr txBox="1"/>
          <p:nvPr/>
        </p:nvSpPr>
        <p:spPr>
          <a:xfrm>
            <a:off x="8271053" y="6027710"/>
            <a:ext cx="568185" cy="210274"/>
          </a:xfrm>
          <a:prstGeom prst="rect">
            <a:avLst/>
          </a:prstGeom>
        </p:spPr>
        <p:txBody>
          <a:bodyPr lIns="0" tIns="0" rIns="0" bIns="0" rtlCol="0" anchor="t">
            <a:spAutoFit/>
          </a:bodyPr>
          <a:lstStyle/>
          <a:p>
            <a:pPr algn="l">
              <a:lnSpc>
                <a:spcPts val="1787"/>
              </a:lnSpc>
            </a:pPr>
            <a:r>
              <a:rPr lang="en-US" sz="1276" spc="-2">
                <a:solidFill>
                  <a:srgbClr val="000000"/>
                </a:solidFill>
                <a:latin typeface="IBM Plex Sans"/>
              </a:rPr>
              <a:t>Fan 1:1</a:t>
            </a:r>
          </a:p>
        </p:txBody>
      </p:sp>
      <p:sp>
        <p:nvSpPr>
          <p:cNvPr id="58" name="TextBox 58"/>
          <p:cNvSpPr txBox="1"/>
          <p:nvPr/>
        </p:nvSpPr>
        <p:spPr>
          <a:xfrm>
            <a:off x="314554" y="212872"/>
            <a:ext cx="6300826" cy="487381"/>
          </a:xfrm>
          <a:prstGeom prst="rect">
            <a:avLst/>
          </a:prstGeom>
        </p:spPr>
        <p:txBody>
          <a:bodyPr lIns="0" tIns="0" rIns="0" bIns="0" rtlCol="0" anchor="t">
            <a:spAutoFit/>
          </a:bodyPr>
          <a:lstStyle/>
          <a:p>
            <a:pPr algn="l">
              <a:lnSpc>
                <a:spcPts val="4111"/>
              </a:lnSpc>
            </a:pPr>
            <a:r>
              <a:rPr lang="en-US" sz="2936" spc="-8">
                <a:solidFill>
                  <a:srgbClr val="10253F"/>
                </a:solidFill>
                <a:latin typeface="IBM Plex Sans Bold"/>
              </a:rPr>
              <a:t>STRATEGIC PLANNING FOCUS</a:t>
            </a:r>
          </a:p>
        </p:txBody>
      </p:sp>
      <p:sp>
        <p:nvSpPr>
          <p:cNvPr id="59" name="TextBox 59"/>
          <p:cNvSpPr txBox="1"/>
          <p:nvPr/>
        </p:nvSpPr>
        <p:spPr>
          <a:xfrm>
            <a:off x="17800" y="6246266"/>
            <a:ext cx="1629331" cy="167091"/>
          </a:xfrm>
          <a:prstGeom prst="rect">
            <a:avLst/>
          </a:prstGeom>
        </p:spPr>
        <p:txBody>
          <a:bodyPr lIns="0" tIns="0" rIns="0" bIns="0" rtlCol="0" anchor="t">
            <a:spAutoFit/>
          </a:bodyPr>
          <a:lstStyle/>
          <a:p>
            <a:pPr algn="l">
              <a:lnSpc>
                <a:spcPts val="1236"/>
              </a:lnSpc>
            </a:pPr>
            <a:r>
              <a:rPr lang="en-US" sz="883">
                <a:solidFill>
                  <a:srgbClr val="000000"/>
                </a:solidFill>
                <a:latin typeface="Calibri (MS) Italics"/>
              </a:rPr>
              <a:t>*League goals in no particular order</a:t>
            </a:r>
          </a:p>
        </p:txBody>
      </p:sp>
      <p:sp>
        <p:nvSpPr>
          <p:cNvPr id="60" name="TextBox 60"/>
          <p:cNvSpPr txBox="1"/>
          <p:nvPr/>
        </p:nvSpPr>
        <p:spPr>
          <a:xfrm>
            <a:off x="1029862" y="1379929"/>
            <a:ext cx="7638204" cy="298704"/>
          </a:xfrm>
          <a:prstGeom prst="rect">
            <a:avLst/>
          </a:prstGeom>
        </p:spPr>
        <p:txBody>
          <a:bodyPr lIns="0" tIns="0" rIns="0" bIns="0" rtlCol="0" anchor="t">
            <a:spAutoFit/>
          </a:bodyPr>
          <a:lstStyle/>
          <a:p>
            <a:pPr algn="l">
              <a:lnSpc>
                <a:spcPts val="2435"/>
              </a:lnSpc>
            </a:pPr>
            <a:r>
              <a:rPr lang="en-US" sz="1739" spc="-5">
                <a:solidFill>
                  <a:srgbClr val="FFFFFF"/>
                </a:solidFill>
                <a:latin typeface="IBM Plex Sans"/>
              </a:rPr>
              <a:t>League Goals: Increase Consumption | Fan Growth | Grow Key Demographics</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8699" y="980625"/>
            <a:ext cx="1004148" cy="1170874"/>
          </a:xfrm>
          <a:custGeom>
            <a:avLst/>
            <a:gdLst/>
            <a:ahLst/>
            <a:cxnLst/>
            <a:rect l="l" t="t" r="r" b="b"/>
            <a:pathLst>
              <a:path w="1004148" h="1170874">
                <a:moveTo>
                  <a:pt x="0" y="0"/>
                </a:moveTo>
                <a:lnTo>
                  <a:pt x="1004149" y="0"/>
                </a:lnTo>
                <a:lnTo>
                  <a:pt x="1004149" y="1170874"/>
                </a:lnTo>
                <a:lnTo>
                  <a:pt x="0" y="11708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98755" y="996086"/>
            <a:ext cx="505968" cy="504749"/>
          </a:xfrm>
          <a:custGeom>
            <a:avLst/>
            <a:gdLst/>
            <a:ahLst/>
            <a:cxnLst/>
            <a:rect l="l" t="t" r="r" b="b"/>
            <a:pathLst>
              <a:path w="505968" h="504749">
                <a:moveTo>
                  <a:pt x="0" y="0"/>
                </a:moveTo>
                <a:lnTo>
                  <a:pt x="505968" y="0"/>
                </a:lnTo>
                <a:lnTo>
                  <a:pt x="505968" y="504749"/>
                </a:lnTo>
                <a:lnTo>
                  <a:pt x="0" y="504749"/>
                </a:lnTo>
                <a:lnTo>
                  <a:pt x="0" y="0"/>
                </a:lnTo>
                <a:close/>
              </a:path>
            </a:pathLst>
          </a:custGeom>
          <a:blipFill>
            <a:blip r:embed="rId4"/>
            <a:stretch>
              <a:fillRect/>
            </a:stretch>
          </a:blipFill>
        </p:spPr>
      </p:sp>
      <p:sp>
        <p:nvSpPr>
          <p:cNvPr id="4" name="TextBox 4"/>
          <p:cNvSpPr txBox="1"/>
          <p:nvPr/>
        </p:nvSpPr>
        <p:spPr>
          <a:xfrm>
            <a:off x="738911" y="505834"/>
            <a:ext cx="5824560" cy="556146"/>
          </a:xfrm>
          <a:prstGeom prst="rect">
            <a:avLst/>
          </a:prstGeom>
        </p:spPr>
        <p:txBody>
          <a:bodyPr lIns="0" tIns="0" rIns="0" bIns="0" rtlCol="0" anchor="t">
            <a:spAutoFit/>
          </a:bodyPr>
          <a:lstStyle/>
          <a:p>
            <a:pPr algn="r">
              <a:lnSpc>
                <a:spcPts val="1970"/>
              </a:lnSpc>
            </a:pPr>
            <a:r>
              <a:rPr lang="en-US" sz="3198" spc="47">
                <a:solidFill>
                  <a:srgbClr val="00349D"/>
                </a:solidFill>
                <a:latin typeface="Calibri (MS) Bold"/>
              </a:rPr>
              <a:t>2023 NFL KEY RISK ASSESSMENT</a:t>
            </a:r>
          </a:p>
          <a:p>
            <a:pPr algn="l">
              <a:lnSpc>
                <a:spcPts val="3192"/>
              </a:lnSpc>
            </a:pPr>
            <a:endParaRPr lang="en-US" sz="3198" spc="47">
              <a:solidFill>
                <a:srgbClr val="00349D"/>
              </a:solidFill>
              <a:latin typeface="Calibri (MS) Bold"/>
            </a:endParaRPr>
          </a:p>
        </p:txBody>
      </p:sp>
      <p:sp>
        <p:nvSpPr>
          <p:cNvPr id="5" name="TextBox 5"/>
          <p:cNvSpPr txBox="1"/>
          <p:nvPr/>
        </p:nvSpPr>
        <p:spPr>
          <a:xfrm>
            <a:off x="6563472" y="1196028"/>
            <a:ext cx="1378901" cy="264160"/>
          </a:xfrm>
          <a:prstGeom prst="rect">
            <a:avLst/>
          </a:prstGeom>
        </p:spPr>
        <p:txBody>
          <a:bodyPr lIns="0" tIns="0" rIns="0" bIns="0" rtlCol="0" anchor="t">
            <a:spAutoFit/>
          </a:bodyPr>
          <a:lstStyle/>
          <a:p>
            <a:pPr algn="l">
              <a:lnSpc>
                <a:spcPts val="2239"/>
              </a:lnSpc>
            </a:pPr>
            <a:r>
              <a:rPr lang="en-US" sz="1599" spc="3">
                <a:solidFill>
                  <a:srgbClr val="003366"/>
                </a:solidFill>
                <a:latin typeface="Open Sans 2 Bold"/>
              </a:rPr>
              <a:t>“Next 5”</a:t>
            </a:r>
          </a:p>
        </p:txBody>
      </p:sp>
      <p:sp>
        <p:nvSpPr>
          <p:cNvPr id="6" name="TextBox 6"/>
          <p:cNvSpPr txBox="1"/>
          <p:nvPr/>
        </p:nvSpPr>
        <p:spPr>
          <a:xfrm>
            <a:off x="4876800" y="1622113"/>
            <a:ext cx="4384978" cy="1543698"/>
          </a:xfrm>
          <a:prstGeom prst="rect">
            <a:avLst/>
          </a:prstGeom>
        </p:spPr>
        <p:txBody>
          <a:bodyPr lIns="0" tIns="0" rIns="0" bIns="0" rtlCol="0" anchor="t">
            <a:spAutoFit/>
          </a:bodyPr>
          <a:lstStyle/>
          <a:p>
            <a:pPr marL="367031" lvl="1" indent="-183515" algn="just">
              <a:lnSpc>
                <a:spcPts val="2034"/>
              </a:lnSpc>
              <a:buFont typeface="Arial"/>
              <a:buChar char="•"/>
            </a:pPr>
            <a:r>
              <a:rPr lang="en-US" sz="1700">
                <a:solidFill>
                  <a:srgbClr val="003366"/>
                </a:solidFill>
                <a:latin typeface="Open Sans 2"/>
              </a:rPr>
              <a:t>Media Fragmentation / Behavioral Shift </a:t>
            </a:r>
          </a:p>
          <a:p>
            <a:pPr marL="367031" lvl="1" indent="-183515" algn="just">
              <a:lnSpc>
                <a:spcPts val="2034"/>
              </a:lnSpc>
              <a:buFont typeface="Arial"/>
              <a:buChar char="•"/>
            </a:pPr>
            <a:r>
              <a:rPr lang="en-US" sz="1700">
                <a:solidFill>
                  <a:srgbClr val="003366"/>
                </a:solidFill>
                <a:latin typeface="Open Sans 2"/>
              </a:rPr>
              <a:t>NFLPA Relations</a:t>
            </a:r>
          </a:p>
          <a:p>
            <a:pPr marL="367031" lvl="1" indent="-183515" algn="l">
              <a:lnSpc>
                <a:spcPts val="2034"/>
              </a:lnSpc>
              <a:buFont typeface="Arial"/>
              <a:buChar char="•"/>
            </a:pPr>
            <a:r>
              <a:rPr lang="en-US" sz="1700">
                <a:solidFill>
                  <a:srgbClr val="003366"/>
                </a:solidFill>
                <a:latin typeface="Open Sans 2"/>
              </a:rPr>
              <a:t>Collective Bargaining</a:t>
            </a:r>
          </a:p>
          <a:p>
            <a:pPr marL="367031" lvl="1" indent="-183515" algn="l">
              <a:lnSpc>
                <a:spcPts val="2034"/>
              </a:lnSpc>
              <a:buFont typeface="Arial"/>
              <a:buChar char="•"/>
            </a:pPr>
            <a:r>
              <a:rPr lang="en-US" sz="1700">
                <a:solidFill>
                  <a:srgbClr val="003366"/>
                </a:solidFill>
                <a:latin typeface="Open Sans 2"/>
              </a:rPr>
              <a:t>Internal Communications</a:t>
            </a:r>
          </a:p>
          <a:p>
            <a:pPr marL="367031" lvl="1" indent="-183515" algn="l">
              <a:lnSpc>
                <a:spcPts val="2034"/>
              </a:lnSpc>
              <a:buFont typeface="Arial"/>
              <a:buChar char="•"/>
            </a:pPr>
            <a:r>
              <a:rPr lang="en-US" sz="1700">
                <a:solidFill>
                  <a:srgbClr val="003366"/>
                </a:solidFill>
                <a:latin typeface="Open Sans 2"/>
              </a:rPr>
              <a:t>Regulatory Compliance</a:t>
            </a:r>
          </a:p>
          <a:p>
            <a:pPr algn="l">
              <a:lnSpc>
                <a:spcPts val="2034"/>
              </a:lnSpc>
            </a:pPr>
            <a:endParaRPr lang="en-US" sz="1700">
              <a:solidFill>
                <a:srgbClr val="003366"/>
              </a:solidFill>
              <a:latin typeface="Open Sans 2"/>
            </a:endParaRPr>
          </a:p>
        </p:txBody>
      </p:sp>
      <p:sp>
        <p:nvSpPr>
          <p:cNvPr id="7" name="TextBox 7"/>
          <p:cNvSpPr txBox="1"/>
          <p:nvPr/>
        </p:nvSpPr>
        <p:spPr>
          <a:xfrm>
            <a:off x="893917" y="1556454"/>
            <a:ext cx="4248213" cy="4372842"/>
          </a:xfrm>
          <a:prstGeom prst="rect">
            <a:avLst/>
          </a:prstGeom>
        </p:spPr>
        <p:txBody>
          <a:bodyPr lIns="0" tIns="0" rIns="0" bIns="0" rtlCol="0" anchor="t">
            <a:spAutoFit/>
          </a:bodyPr>
          <a:lstStyle/>
          <a:p>
            <a:pPr algn="l">
              <a:lnSpc>
                <a:spcPts val="2040"/>
              </a:lnSpc>
            </a:pPr>
            <a:r>
              <a:rPr lang="en-US" sz="1706">
                <a:solidFill>
                  <a:srgbClr val="003366"/>
                </a:solidFill>
                <a:latin typeface="Open Sans 2"/>
              </a:rPr>
              <a:t>1.PlayerHealth &amp; Safety</a:t>
            </a:r>
          </a:p>
          <a:p>
            <a:pPr algn="l">
              <a:lnSpc>
                <a:spcPts val="2043"/>
              </a:lnSpc>
            </a:pPr>
            <a:r>
              <a:rPr lang="en-US" sz="1708">
                <a:solidFill>
                  <a:srgbClr val="003366"/>
                </a:solidFill>
                <a:latin typeface="Open Sans 2"/>
              </a:rPr>
              <a:t>2.Game Integrity</a:t>
            </a:r>
          </a:p>
          <a:p>
            <a:pPr algn="l">
              <a:lnSpc>
                <a:spcPts val="2040"/>
              </a:lnSpc>
            </a:pPr>
            <a:r>
              <a:rPr lang="en-US" sz="1706">
                <a:solidFill>
                  <a:srgbClr val="003366"/>
                </a:solidFill>
                <a:latin typeface="Open Sans 2"/>
              </a:rPr>
              <a:t>3.Game Quality</a:t>
            </a:r>
          </a:p>
          <a:p>
            <a:pPr algn="l">
              <a:lnSpc>
                <a:spcPts val="2040"/>
              </a:lnSpc>
            </a:pPr>
            <a:r>
              <a:rPr lang="en-US" sz="1706">
                <a:solidFill>
                  <a:srgbClr val="003366"/>
                </a:solidFill>
                <a:latin typeface="Open Sans 2"/>
              </a:rPr>
              <a:t>4.Reputation / Brand</a:t>
            </a:r>
          </a:p>
          <a:p>
            <a:pPr algn="l">
              <a:lnSpc>
                <a:spcPts val="2040"/>
              </a:lnSpc>
            </a:pPr>
            <a:r>
              <a:rPr lang="en-US" sz="1706">
                <a:solidFill>
                  <a:srgbClr val="003366"/>
                </a:solidFill>
                <a:latin typeface="Open Sans 2"/>
              </a:rPr>
              <a:t>5.Fan Engagement</a:t>
            </a:r>
          </a:p>
          <a:p>
            <a:pPr algn="l">
              <a:lnSpc>
                <a:spcPts val="2040"/>
              </a:lnSpc>
            </a:pPr>
            <a:r>
              <a:rPr lang="en-US" sz="1706">
                <a:solidFill>
                  <a:srgbClr val="003366"/>
                </a:solidFill>
                <a:latin typeface="Open Sans 2"/>
              </a:rPr>
              <a:t>6.Cyber-Security / Data Privacy </a:t>
            </a:r>
          </a:p>
          <a:p>
            <a:pPr algn="l">
              <a:lnSpc>
                <a:spcPts val="2040"/>
              </a:lnSpc>
            </a:pPr>
            <a:r>
              <a:rPr lang="en-US" sz="1706">
                <a:solidFill>
                  <a:srgbClr val="003366"/>
                </a:solidFill>
                <a:latin typeface="Open Sans 2"/>
              </a:rPr>
              <a:t>7.Youth Markets / Football</a:t>
            </a:r>
          </a:p>
          <a:p>
            <a:pPr algn="l">
              <a:lnSpc>
                <a:spcPts val="2040"/>
              </a:lnSpc>
            </a:pPr>
            <a:r>
              <a:rPr lang="en-US" sz="1706">
                <a:solidFill>
                  <a:srgbClr val="003366"/>
                </a:solidFill>
                <a:latin typeface="Open Sans 2"/>
              </a:rPr>
              <a:t>8.Legalized Sports-Betting </a:t>
            </a:r>
          </a:p>
          <a:p>
            <a:pPr algn="l">
              <a:lnSpc>
                <a:spcPts val="2040"/>
              </a:lnSpc>
            </a:pPr>
            <a:r>
              <a:rPr lang="en-US" sz="1706">
                <a:solidFill>
                  <a:srgbClr val="003366"/>
                </a:solidFill>
                <a:latin typeface="Open Sans 2"/>
              </a:rPr>
              <a:t>9.International Markets</a:t>
            </a:r>
          </a:p>
          <a:p>
            <a:pPr algn="just">
              <a:lnSpc>
                <a:spcPts val="2040"/>
              </a:lnSpc>
            </a:pPr>
            <a:r>
              <a:rPr lang="en-US" sz="1706">
                <a:solidFill>
                  <a:srgbClr val="003366"/>
                </a:solidFill>
                <a:latin typeface="Open Sans 2"/>
              </a:rPr>
              <a:t>10.Natural Disaster/ Unforeseen Event </a:t>
            </a:r>
          </a:p>
          <a:p>
            <a:pPr algn="just">
              <a:lnSpc>
                <a:spcPts val="2040"/>
              </a:lnSpc>
            </a:pPr>
            <a:r>
              <a:rPr lang="en-US" sz="1706">
                <a:solidFill>
                  <a:srgbClr val="003366"/>
                </a:solidFill>
                <a:latin typeface="Open Sans 2"/>
              </a:rPr>
              <a:t>11.Talent Management (Diversity / </a:t>
            </a:r>
          </a:p>
          <a:p>
            <a:pPr algn="l">
              <a:lnSpc>
                <a:spcPts val="2040"/>
              </a:lnSpc>
            </a:pPr>
            <a:r>
              <a:rPr lang="en-US" sz="1706">
                <a:solidFill>
                  <a:srgbClr val="003366"/>
                </a:solidFill>
                <a:latin typeface="Open Sans 2"/>
              </a:rPr>
              <a:t>Succession)</a:t>
            </a:r>
          </a:p>
          <a:p>
            <a:pPr algn="l">
              <a:lnSpc>
                <a:spcPts val="2040"/>
              </a:lnSpc>
            </a:pPr>
            <a:r>
              <a:rPr lang="en-US" sz="1706">
                <a:solidFill>
                  <a:srgbClr val="003366"/>
                </a:solidFill>
                <a:latin typeface="Open Sans 2"/>
              </a:rPr>
              <a:t>12.League-Club Support</a:t>
            </a:r>
          </a:p>
          <a:p>
            <a:pPr algn="l">
              <a:lnSpc>
                <a:spcPts val="2040"/>
              </a:lnSpc>
            </a:pPr>
            <a:r>
              <a:rPr lang="en-US" sz="1706">
                <a:solidFill>
                  <a:srgbClr val="003366"/>
                </a:solidFill>
                <a:latin typeface="Open Sans 2"/>
              </a:rPr>
              <a:t>13.Third-Party Management</a:t>
            </a:r>
          </a:p>
          <a:p>
            <a:pPr algn="l">
              <a:lnSpc>
                <a:spcPts val="2040"/>
              </a:lnSpc>
            </a:pPr>
            <a:r>
              <a:rPr lang="en-US" sz="1706">
                <a:solidFill>
                  <a:srgbClr val="003366"/>
                </a:solidFill>
                <a:latin typeface="Open Sans 2"/>
              </a:rPr>
              <a:t>14.Event Management</a:t>
            </a:r>
          </a:p>
          <a:p>
            <a:pPr algn="l">
              <a:lnSpc>
                <a:spcPts val="2040"/>
              </a:lnSpc>
            </a:pPr>
            <a:r>
              <a:rPr lang="en-US" sz="1706">
                <a:solidFill>
                  <a:srgbClr val="003366"/>
                </a:solidFill>
                <a:latin typeface="Open Sans 2"/>
              </a:rPr>
              <a:t>15.Economy / Geo-Politics</a:t>
            </a:r>
          </a:p>
          <a:p>
            <a:pPr algn="l">
              <a:lnSpc>
                <a:spcPts val="2040"/>
              </a:lnSpc>
            </a:pPr>
            <a:endParaRPr lang="en-US" sz="1706">
              <a:solidFill>
                <a:srgbClr val="003366"/>
              </a:solidFill>
              <a:latin typeface="Open Sans 2"/>
            </a:endParaRPr>
          </a:p>
        </p:txBody>
      </p:sp>
      <p:sp>
        <p:nvSpPr>
          <p:cNvPr id="8" name="TextBox 8"/>
          <p:cNvSpPr txBox="1"/>
          <p:nvPr/>
        </p:nvSpPr>
        <p:spPr>
          <a:xfrm>
            <a:off x="458573" y="1181392"/>
            <a:ext cx="3982883" cy="246126"/>
          </a:xfrm>
          <a:prstGeom prst="rect">
            <a:avLst/>
          </a:prstGeom>
        </p:spPr>
        <p:txBody>
          <a:bodyPr lIns="0" tIns="0" rIns="0" bIns="0" rtlCol="0" anchor="t">
            <a:spAutoFit/>
          </a:bodyPr>
          <a:lstStyle/>
          <a:p>
            <a:pPr algn="ctr">
              <a:lnSpc>
                <a:spcPts val="1631"/>
              </a:lnSpc>
              <a:spcBef>
                <a:spcPct val="0"/>
              </a:spcBef>
            </a:pPr>
            <a:r>
              <a:rPr lang="en-US" sz="1599">
                <a:solidFill>
                  <a:srgbClr val="000000"/>
                </a:solidFill>
                <a:latin typeface="Arial Bold"/>
              </a:rPr>
              <a:t>TOP 15 NFL RISKS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1520" y="1889381"/>
            <a:ext cx="8473083" cy="3099053"/>
          </a:xfrm>
          <a:prstGeom prst="rect">
            <a:avLst/>
          </a:prstGeom>
        </p:spPr>
        <p:txBody>
          <a:bodyPr lIns="0" tIns="0" rIns="0" bIns="0" rtlCol="0" anchor="t">
            <a:spAutoFit/>
          </a:bodyPr>
          <a:lstStyle/>
          <a:p>
            <a:pPr marL="647692" lvl="1" indent="-323846">
              <a:lnSpc>
                <a:spcPts val="3059"/>
              </a:lnSpc>
              <a:buFont typeface="Arial"/>
              <a:buChar char="•"/>
            </a:pPr>
            <a:r>
              <a:rPr lang="en-US" sz="2999">
                <a:solidFill>
                  <a:srgbClr val="000000"/>
                </a:solidFill>
                <a:latin typeface="Arial"/>
              </a:rPr>
              <a:t>Optical Tracking </a:t>
            </a:r>
          </a:p>
          <a:p>
            <a:pPr marL="647692" lvl="1" indent="-323846">
              <a:lnSpc>
                <a:spcPts val="3059"/>
              </a:lnSpc>
              <a:buFont typeface="Arial"/>
              <a:buChar char="•"/>
            </a:pPr>
            <a:r>
              <a:rPr lang="en-US" sz="2999">
                <a:solidFill>
                  <a:srgbClr val="000000"/>
                </a:solidFill>
                <a:latin typeface="Arial"/>
              </a:rPr>
              <a:t>Player View) </a:t>
            </a:r>
          </a:p>
          <a:p>
            <a:pPr>
              <a:lnSpc>
                <a:spcPts val="3059"/>
              </a:lnSpc>
            </a:pPr>
            <a:endParaRPr lang="en-US" sz="2999">
              <a:solidFill>
                <a:srgbClr val="000000"/>
              </a:solidFill>
              <a:latin typeface="Arial"/>
            </a:endParaRPr>
          </a:p>
          <a:p>
            <a:pPr>
              <a:lnSpc>
                <a:spcPts val="3263"/>
              </a:lnSpc>
            </a:pPr>
            <a:endParaRPr lang="en-US" sz="2999">
              <a:solidFill>
                <a:srgbClr val="000000"/>
              </a:solidFill>
              <a:latin typeface="Arial"/>
            </a:endParaRPr>
          </a:p>
          <a:p>
            <a:pPr>
              <a:lnSpc>
                <a:spcPts val="2345"/>
              </a:lnSpc>
              <a:spcBef>
                <a:spcPct val="0"/>
              </a:spcBef>
            </a:pPr>
            <a:r>
              <a:rPr lang="en-US" sz="2299">
                <a:solidFill>
                  <a:srgbClr val="000000"/>
                </a:solidFill>
                <a:latin typeface="Arial"/>
              </a:rPr>
              <a:t>      *     Problem - What problem are we trying to address?</a:t>
            </a:r>
          </a:p>
          <a:p>
            <a:pPr>
              <a:lnSpc>
                <a:spcPts val="2345"/>
              </a:lnSpc>
              <a:spcBef>
                <a:spcPct val="0"/>
              </a:spcBef>
            </a:pPr>
            <a:r>
              <a:rPr lang="en-US" sz="2299">
                <a:solidFill>
                  <a:srgbClr val="000000"/>
                </a:solidFill>
                <a:latin typeface="Arial"/>
              </a:rPr>
              <a:t>      *     Criteria - Why should this project be selected?</a:t>
            </a:r>
          </a:p>
          <a:p>
            <a:pPr>
              <a:lnSpc>
                <a:spcPts val="2345"/>
              </a:lnSpc>
              <a:spcBef>
                <a:spcPct val="0"/>
              </a:spcBef>
            </a:pPr>
            <a:r>
              <a:rPr lang="en-US" sz="2299">
                <a:solidFill>
                  <a:srgbClr val="000000"/>
                </a:solidFill>
                <a:latin typeface="Arial"/>
              </a:rPr>
              <a:t>      *     Timing - When is this need going to be most acute?</a:t>
            </a:r>
          </a:p>
          <a:p>
            <a:pPr>
              <a:lnSpc>
                <a:spcPts val="2345"/>
              </a:lnSpc>
              <a:spcBef>
                <a:spcPct val="0"/>
              </a:spcBef>
            </a:pPr>
            <a:r>
              <a:rPr lang="en-US" sz="2299">
                <a:solidFill>
                  <a:srgbClr val="000000"/>
                </a:solidFill>
                <a:latin typeface="Arial"/>
              </a:rPr>
              <a:t>      *     Impact - What will change as a result of this project?</a:t>
            </a:r>
          </a:p>
          <a:p>
            <a:pPr>
              <a:lnSpc>
                <a:spcPts val="2345"/>
              </a:lnSpc>
              <a:spcBef>
                <a:spcPct val="0"/>
              </a:spcBef>
            </a:pPr>
            <a:r>
              <a:rPr lang="en-US" sz="2299">
                <a:solidFill>
                  <a:srgbClr val="000000"/>
                </a:solidFill>
                <a:latin typeface="Arial"/>
              </a:rPr>
              <a:t>      *     Process - How do we get there?</a:t>
            </a:r>
          </a:p>
        </p:txBody>
      </p:sp>
      <p:sp>
        <p:nvSpPr>
          <p:cNvPr id="3" name="TextBox 3"/>
          <p:cNvSpPr txBox="1"/>
          <p:nvPr/>
        </p:nvSpPr>
        <p:spPr>
          <a:xfrm>
            <a:off x="731520" y="271097"/>
            <a:ext cx="9037257" cy="1074039"/>
          </a:xfrm>
          <a:prstGeom prst="rect">
            <a:avLst/>
          </a:prstGeom>
        </p:spPr>
        <p:txBody>
          <a:bodyPr lIns="0" tIns="0" rIns="0" bIns="0" rtlCol="0" anchor="t">
            <a:spAutoFit/>
          </a:bodyPr>
          <a:lstStyle/>
          <a:p>
            <a:pPr>
              <a:lnSpc>
                <a:spcPts val="1631"/>
              </a:lnSpc>
            </a:pPr>
            <a:r>
              <a:rPr lang="en-US" sz="1599">
                <a:solidFill>
                  <a:srgbClr val="F14902"/>
                </a:solidFill>
                <a:latin typeface="Arial Bold"/>
              </a:rPr>
              <a:t>Project Overview</a:t>
            </a:r>
          </a:p>
          <a:p>
            <a:pPr algn="l">
              <a:lnSpc>
                <a:spcPts val="1631"/>
              </a:lnSpc>
            </a:pPr>
            <a:endParaRPr lang="en-US" sz="1599">
              <a:solidFill>
                <a:srgbClr val="F14902"/>
              </a:solidFill>
              <a:latin typeface="Arial Bold"/>
            </a:endParaRPr>
          </a:p>
          <a:p>
            <a:pPr algn="l">
              <a:lnSpc>
                <a:spcPts val="1631"/>
              </a:lnSpc>
            </a:pPr>
            <a:endParaRPr lang="en-US" sz="1599">
              <a:solidFill>
                <a:srgbClr val="F14902"/>
              </a:solidFill>
              <a:latin typeface="Arial Bold"/>
            </a:endParaRPr>
          </a:p>
          <a:p>
            <a:pPr algn="l">
              <a:lnSpc>
                <a:spcPts val="3264"/>
              </a:lnSpc>
            </a:pPr>
            <a:r>
              <a:rPr lang="en-US" sz="3200">
                <a:solidFill>
                  <a:srgbClr val="000000"/>
                </a:solidFill>
                <a:latin typeface="Arial"/>
              </a:rPr>
              <a:t>NFL Technology Innovation HUB</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1520" y="1889381"/>
            <a:ext cx="9022080" cy="3676649"/>
          </a:xfrm>
          <a:prstGeom prst="rect">
            <a:avLst/>
          </a:prstGeom>
        </p:spPr>
        <p:txBody>
          <a:bodyPr lIns="0" tIns="0" rIns="0" bIns="0" rtlCol="0" anchor="t">
            <a:spAutoFit/>
          </a:bodyPr>
          <a:lstStyle/>
          <a:p>
            <a:pPr marL="647692" lvl="1" indent="-323846">
              <a:lnSpc>
                <a:spcPts val="3059"/>
              </a:lnSpc>
              <a:buFont typeface="Arial"/>
              <a:buChar char="•"/>
            </a:pPr>
            <a:r>
              <a:rPr lang="en-US" sz="2999">
                <a:solidFill>
                  <a:srgbClr val="000000"/>
                </a:solidFill>
                <a:latin typeface="Arial"/>
              </a:rPr>
              <a:t>Optical Tracking </a:t>
            </a:r>
          </a:p>
          <a:p>
            <a:pPr marL="647692" lvl="1" indent="-323846">
              <a:lnSpc>
                <a:spcPts val="3059"/>
              </a:lnSpc>
              <a:buFont typeface="Arial"/>
              <a:buChar char="•"/>
            </a:pPr>
            <a:r>
              <a:rPr lang="en-US" sz="2999">
                <a:solidFill>
                  <a:srgbClr val="000000"/>
                </a:solidFill>
                <a:latin typeface="Arial"/>
              </a:rPr>
              <a:t>Player View) </a:t>
            </a:r>
          </a:p>
          <a:p>
            <a:pPr>
              <a:lnSpc>
                <a:spcPts val="3059"/>
              </a:lnSpc>
            </a:pPr>
            <a:endParaRPr lang="en-US" sz="2999">
              <a:solidFill>
                <a:srgbClr val="000000"/>
              </a:solidFill>
              <a:latin typeface="Arial"/>
            </a:endParaRPr>
          </a:p>
          <a:p>
            <a:pPr>
              <a:lnSpc>
                <a:spcPts val="3263"/>
              </a:lnSpc>
            </a:pPr>
            <a:endParaRPr lang="en-US" sz="2999">
              <a:solidFill>
                <a:srgbClr val="000000"/>
              </a:solidFill>
              <a:latin typeface="Arial"/>
            </a:endParaRPr>
          </a:p>
          <a:p>
            <a:pPr>
              <a:lnSpc>
                <a:spcPts val="2039"/>
              </a:lnSpc>
            </a:pPr>
            <a:endParaRPr lang="en-US" sz="2999">
              <a:solidFill>
                <a:srgbClr val="000000"/>
              </a:solidFill>
              <a:latin typeface="Arial"/>
            </a:endParaRPr>
          </a:p>
          <a:p>
            <a:pPr>
              <a:lnSpc>
                <a:spcPts val="2039"/>
              </a:lnSpc>
            </a:pPr>
            <a:r>
              <a:rPr lang="en-US" sz="1999">
                <a:solidFill>
                  <a:srgbClr val="000000"/>
                </a:solidFill>
                <a:latin typeface="Arial"/>
              </a:rPr>
              <a:t> * Group Discussion</a:t>
            </a:r>
          </a:p>
          <a:p>
            <a:pPr>
              <a:lnSpc>
                <a:spcPts val="2039"/>
              </a:lnSpc>
            </a:pPr>
            <a:r>
              <a:rPr lang="en-US" sz="1999">
                <a:solidFill>
                  <a:srgbClr val="000000"/>
                </a:solidFill>
                <a:latin typeface="Arial"/>
              </a:rPr>
              <a:t> * Solicit brainstorming / discussion on did we place it in the right zone &amp; why</a:t>
            </a:r>
          </a:p>
          <a:p>
            <a:pPr>
              <a:lnSpc>
                <a:spcPts val="2039"/>
              </a:lnSpc>
            </a:pPr>
            <a:r>
              <a:rPr lang="en-US" sz="1999">
                <a:solidFill>
                  <a:srgbClr val="000000"/>
                </a:solidFill>
                <a:latin typeface="Arial"/>
              </a:rPr>
              <a:t> * Now that we have it placed in the zone, what is the impact? (does this require something else to come out of incubation?, is there an impact on transformation?, are there any lessons / shared technologies that can be leveraged in productivity or performance... etc.)</a:t>
            </a:r>
          </a:p>
          <a:p>
            <a:pPr>
              <a:lnSpc>
                <a:spcPts val="2039"/>
              </a:lnSpc>
              <a:spcBef>
                <a:spcPct val="0"/>
              </a:spcBef>
            </a:pPr>
            <a:endParaRPr lang="en-US" sz="1999">
              <a:solidFill>
                <a:srgbClr val="000000"/>
              </a:solidFill>
              <a:latin typeface="Arial"/>
            </a:endParaRPr>
          </a:p>
        </p:txBody>
      </p:sp>
      <p:sp>
        <p:nvSpPr>
          <p:cNvPr id="3" name="TextBox 3"/>
          <p:cNvSpPr txBox="1"/>
          <p:nvPr/>
        </p:nvSpPr>
        <p:spPr>
          <a:xfrm>
            <a:off x="731520" y="271097"/>
            <a:ext cx="9037257" cy="1074039"/>
          </a:xfrm>
          <a:prstGeom prst="rect">
            <a:avLst/>
          </a:prstGeom>
        </p:spPr>
        <p:txBody>
          <a:bodyPr lIns="0" tIns="0" rIns="0" bIns="0" rtlCol="0" anchor="t">
            <a:spAutoFit/>
          </a:bodyPr>
          <a:lstStyle/>
          <a:p>
            <a:pPr>
              <a:lnSpc>
                <a:spcPts val="1631"/>
              </a:lnSpc>
            </a:pPr>
            <a:r>
              <a:rPr lang="en-US" sz="1599" dirty="0">
                <a:solidFill>
                  <a:srgbClr val="F14902"/>
                </a:solidFill>
                <a:latin typeface="Arial Bold"/>
              </a:rPr>
              <a:t>Project Zone Mapping</a:t>
            </a:r>
          </a:p>
          <a:p>
            <a:pPr algn="l">
              <a:lnSpc>
                <a:spcPts val="1631"/>
              </a:lnSpc>
            </a:pPr>
            <a:endParaRPr lang="en-US" sz="1599" dirty="0">
              <a:solidFill>
                <a:srgbClr val="F14902"/>
              </a:solidFill>
              <a:latin typeface="Arial Bold"/>
            </a:endParaRPr>
          </a:p>
          <a:p>
            <a:pPr algn="l">
              <a:lnSpc>
                <a:spcPts val="1631"/>
              </a:lnSpc>
            </a:pPr>
            <a:endParaRPr lang="en-US" sz="1599" dirty="0">
              <a:solidFill>
                <a:srgbClr val="F14902"/>
              </a:solidFill>
              <a:latin typeface="Arial Bold"/>
            </a:endParaRPr>
          </a:p>
          <a:p>
            <a:pPr algn="l">
              <a:lnSpc>
                <a:spcPts val="3264"/>
              </a:lnSpc>
            </a:pPr>
            <a:r>
              <a:rPr lang="en-US" sz="3200" dirty="0">
                <a:solidFill>
                  <a:srgbClr val="000000"/>
                </a:solidFill>
                <a:latin typeface="Arial"/>
              </a:rPr>
              <a:t>NFL Technology Innovation HUB</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59644" y="1424580"/>
            <a:ext cx="7066185" cy="3645078"/>
          </a:xfrm>
          <a:custGeom>
            <a:avLst/>
            <a:gdLst/>
            <a:ahLst/>
            <a:cxnLst/>
            <a:rect l="l" t="t" r="r" b="b"/>
            <a:pathLst>
              <a:path w="7066185" h="3645078">
                <a:moveTo>
                  <a:pt x="0" y="0"/>
                </a:moveTo>
                <a:lnTo>
                  <a:pt x="7066185" y="0"/>
                </a:lnTo>
                <a:lnTo>
                  <a:pt x="7066185" y="3645078"/>
                </a:lnTo>
                <a:lnTo>
                  <a:pt x="0" y="3645078"/>
                </a:lnTo>
                <a:lnTo>
                  <a:pt x="0" y="0"/>
                </a:lnTo>
                <a:close/>
              </a:path>
            </a:pathLst>
          </a:custGeom>
          <a:blipFill>
            <a:blip r:embed="rId2"/>
            <a:stretch>
              <a:fillRect t="-4521" b="-4521"/>
            </a:stretch>
          </a:blipFill>
        </p:spPr>
      </p:sp>
      <p:sp>
        <p:nvSpPr>
          <p:cNvPr id="3" name="TextBox 3">
            <a:extLst>
              <a:ext uri="{FF2B5EF4-FFF2-40B4-BE49-F238E27FC236}">
                <a16:creationId xmlns:a16="http://schemas.microsoft.com/office/drawing/2014/main" id="{1537DFDB-F763-8571-AAAA-1D9FF014E6E4}"/>
              </a:ext>
            </a:extLst>
          </p:cNvPr>
          <p:cNvSpPr txBox="1"/>
          <p:nvPr/>
        </p:nvSpPr>
        <p:spPr>
          <a:xfrm>
            <a:off x="304800" y="228600"/>
            <a:ext cx="9037257" cy="628377"/>
          </a:xfrm>
          <a:prstGeom prst="rect">
            <a:avLst/>
          </a:prstGeom>
        </p:spPr>
        <p:txBody>
          <a:bodyPr lIns="0" tIns="0" rIns="0" bIns="0" rtlCol="0" anchor="t">
            <a:spAutoFit/>
          </a:bodyPr>
          <a:lstStyle/>
          <a:p>
            <a:pPr algn="l">
              <a:lnSpc>
                <a:spcPts val="1631"/>
              </a:lnSpc>
            </a:pPr>
            <a:endParaRPr lang="en-US" sz="1599" dirty="0">
              <a:solidFill>
                <a:srgbClr val="F14902"/>
              </a:solidFill>
              <a:latin typeface="Arial Bold"/>
            </a:endParaRPr>
          </a:p>
          <a:p>
            <a:pPr algn="l">
              <a:lnSpc>
                <a:spcPts val="3264"/>
              </a:lnSpc>
            </a:pPr>
            <a:r>
              <a:rPr lang="en-US" sz="3200" dirty="0">
                <a:solidFill>
                  <a:srgbClr val="000000"/>
                </a:solidFill>
                <a:latin typeface="Arial"/>
              </a:rPr>
              <a:t>Next Steps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1325</Words>
  <Application>Microsoft Macintosh PowerPoint</Application>
  <PresentationFormat>Custom</PresentationFormat>
  <Paragraphs>365</Paragraphs>
  <Slides>28</Slides>
  <Notes>19</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28</vt:i4>
      </vt:variant>
    </vt:vector>
  </HeadingPairs>
  <TitlesOfParts>
    <vt:vector size="46" baseType="lpstr">
      <vt:lpstr>Arial Bold Italics</vt:lpstr>
      <vt:lpstr>Arial Bold</vt:lpstr>
      <vt:lpstr>Open Sans 2 Italics</vt:lpstr>
      <vt:lpstr>Calibri (MS)</vt:lpstr>
      <vt:lpstr>Calibri (MS) Bold</vt:lpstr>
      <vt:lpstr>IBM Plex Sans</vt:lpstr>
      <vt:lpstr>IBM Plex Sans Bold</vt:lpstr>
      <vt:lpstr>Calibri</vt:lpstr>
      <vt:lpstr>Arial Italics</vt:lpstr>
      <vt:lpstr>Arimo</vt:lpstr>
      <vt:lpstr>Open Sans 2 Bold</vt:lpstr>
      <vt:lpstr>Calibri (MS) Italics</vt:lpstr>
      <vt:lpstr>Open Sans 2</vt:lpstr>
      <vt:lpstr>Open Sans 1</vt:lpstr>
      <vt:lpstr>Lato Light</vt:lpstr>
      <vt:lpstr>Arial</vt:lpstr>
      <vt:lpstr>Lato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NFL Technology Innovation Hub Workshop Slide Deck[_Working Doc.gslides</dc:title>
  <cp:lastModifiedBy>Tye Hayes</cp:lastModifiedBy>
  <cp:revision>5</cp:revision>
  <dcterms:created xsi:type="dcterms:W3CDTF">2006-08-16T00:00:00Z</dcterms:created>
  <dcterms:modified xsi:type="dcterms:W3CDTF">2023-12-19T16:14:54Z</dcterms:modified>
  <dc:identifier>DAFuu4dnIvA</dc:identifier>
</cp:coreProperties>
</file>