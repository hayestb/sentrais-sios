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TxoyI0lepMzFycncwMstZpuMi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EDA306-AF86-4F78-A4FE-A2A43E0545B5}">
  <a:tblStyle styleId="{6AEDA306-AF86-4F78-A4FE-A2A43E0545B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6459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NFL EVERGAME Phase II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5603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9795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19795"/>
                </a:solidFill>
                <a:latin typeface="Arial"/>
                <a:ea typeface="Arial"/>
                <a:cs typeface="Arial"/>
                <a:sym typeface="Arial"/>
              </a:rPr>
              <a:t>Implementation Timeline &amp; Workstream Mapping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383280"/>
            <a:ext cx="3200400" cy="45720"/>
          </a:xfrm>
          <a:prstGeom prst="rect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GDA Lifecycle • Stadium Certification Lifecycle • IT Events Lifecycle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March 3 – August 15, 2026 (24 Weeks)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Workstream Delivery Model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Three parallel lifecycles with distinct delivery commitments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1371600"/>
            <a:ext cx="10789920" cy="10972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822960" y="15087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GDA Readiness &amp; Certification Lifecycle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924927" y="1508750"/>
            <a:ext cx="2322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PRODUCTION DELIVERY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22960" y="18745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Full production implementation including playbooks, evidence workflows, dashboards, calendar integration, training, UAT, and go-live support. Go-Live: June 30,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40080" y="2606040"/>
            <a:ext cx="10789920" cy="109728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22960" y="274320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Stadium Certification Lifecycle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877301" y="2743200"/>
            <a:ext cx="2369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DESIGN + PROTOTYPE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" y="31089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Good-faith deliverables: Current-state review, To-Be workflow design, simulator-level prototype, implementation roadmap with effort estimates. Production build requires change order.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3840480"/>
            <a:ext cx="1078992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22960" y="39776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IT Events Readiness Lifecycle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010651" y="3977650"/>
            <a:ext cx="2236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DESIGN + PROTOTYPE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Good-faith deliverables: Current-state review, To-Be workflow design, simulator-level prototype, implementation roadmap with effort estimates. Production build requires change order.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Implementation Phases Overview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40075" y="1188725"/>
            <a:ext cx="2560200" cy="832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710300" y="13556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1: Discovery &amp; Alignment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10290" y="1724647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Weeks 1-3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383305" y="1124715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Kick-off and stakeholder alignment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Requirements validation and source of truth confirmation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Current-state documentation (all workstreams)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Dependency mapping and risk assessment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Stage Gate 1: Scope &amp; Requirements Sign-Off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40225" y="2287825"/>
            <a:ext cx="2560200" cy="87960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74415" y="2558097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2: Design &amp;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74415" y="2900635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Weeks 4-12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383280" y="2287815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GDA final design and workflow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Stadium Certification To-Be workflow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IT Events To-Be workflow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Technical architecture validation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Stage Gate 2: Design Approval &amp; Build Authorization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39975" y="3424300"/>
            <a:ext cx="2560200" cy="832200"/>
          </a:xfrm>
          <a:prstGeom prst="rect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674415" y="3594647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3: Build &amp; Configuration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10290" y="398726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Weeks 13-20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383280" y="3380078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GDA production system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Stadium Certification simulator prototype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IT Events simulator prototype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Integration configuration and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Stage Gate 3: Build Complete &amp; UAT Readiness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100" y="4562850"/>
            <a:ext cx="2560200" cy="7908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10290" y="4721197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4: UAT &amp; Readiness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29140" y="5073872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Weeks 21-23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383280" y="4472315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GDA user acceptance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Training delivery (GDA users)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Documentation finalization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Go-live readiness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Stage Gate 4: Go-Live Authorization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40150" y="5674750"/>
            <a:ext cx="2560200" cy="879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10290" y="587027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5: Go-Live &amp; Stabilization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53215" y="6222372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Week 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383280" y="5635440"/>
            <a:ext cx="7863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GDA production go-live (June 30, 2026)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Hypercare support and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Issue triage and resolution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Stadium Cert &amp; IT Events roadmap delivery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Phase II closure and Phase III 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GDA Readiness &amp; Certification Lifecycle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9875520" y="411480"/>
            <a:ext cx="1554480" cy="41148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9824610" y="512426"/>
            <a:ext cx="16563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4" name="Google Shape;74;p4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{6AEDA306-AF86-4F78-A4FE-A2A43E0545B5}</a:tableStyleId>
              </a:tblPr>
              <a:tblGrid>
                <a:gridCol w="1975125"/>
                <a:gridCol w="877825"/>
                <a:gridCol w="3072375"/>
                <a:gridCol w="3072375"/>
                <a:gridCol w="1975125"/>
              </a:tblGrid>
              <a:tr h="413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Phase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Weeks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Key Activities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Deliverables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Gate Criteria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9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Discovery &amp; Alignment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1-3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Stakeholder interviews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GDA checklist review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WhatsApp workflow analysis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Dependency mapping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Requirements document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Current-state process map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Risk register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Implementation plan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Requirements signed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SMEs assigned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Dependencies mapped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97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Design &amp; Validation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4-12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Playbook configuration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Evidence workflow design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Dashboard wireframes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Calendar integration spec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Final GDA design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Workflow diagrams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Dashboard mockups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Integration architecture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Design approved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Tech stack validated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Build plan confirmed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16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Build &amp; Configuration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13-20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System build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Playbook creation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Dashboard development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Calendar integration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Security hardening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Configured system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2026 GDA playbooks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Operational dashboards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IT Master Calendar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Security documentation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All features built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Integration tested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Security reviewed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16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UAT &amp; Readiness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21-23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User acceptance testing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Training delivery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Documentation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Go-live preparation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UAT sign-off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Training materials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User guides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Runbooks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Go-live checklist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UAT passed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Users trained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Docs complete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976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Go-Live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24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Production cutover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Hypercare monitoring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Issue resolution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Process optimization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Live GDA system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Hypercare logs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Lessons learned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Optimization backlog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Go-live successful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Spreadsheets retired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Support stabilized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5" name="Google Shape;75;p4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{6AEDA306-AF86-4F78-A4FE-A2A43E0545B5}</a:tableStyleId>
              </a:tblPr>
              <a:tblGrid>
                <a:gridCol w="1975100"/>
                <a:gridCol w="877825"/>
                <a:gridCol w="3072400"/>
                <a:gridCol w="3072400"/>
                <a:gridCol w="19751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Phase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97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Weeks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97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Key Activities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97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Deliverables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979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Gate Criteria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1979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1979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Stadium Certification Lifecycle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8961120" y="411480"/>
            <a:ext cx="2468880" cy="41148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9052560" y="5029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+ PROTOTYPE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" name="Google Shape;84;p5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{6AEDA306-AF86-4F78-A4FE-A2A43E0545B5}</a:tableStyleId>
              </a:tblPr>
              <a:tblGrid>
                <a:gridCol w="1567550"/>
                <a:gridCol w="836025"/>
                <a:gridCol w="3344075"/>
                <a:gridCol w="3448600"/>
                <a:gridCol w="1776550"/>
              </a:tblGrid>
              <a:tr h="388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Phase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Weeks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Key Activities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Deliverables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Status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91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Discovery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1-3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Current certification process review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Stakeholder interviews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Pain point identification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Requirements gathering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Current-state documentation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Requirements matrix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Stakeholder feedback log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Design scope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(No production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build)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09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Design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4-12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To-Be workflow design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Certification criteria mapping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Approval routing design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Dashboard concept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Integration touchpoints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To-Be process flows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Certification playbooks (design)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Dashboard wireframes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Integration requirements doc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Design approved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(Production build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requires change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order)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919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Prototype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13-20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Simulator-level prototype build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Workflow demonstration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Stakeholder validation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Technical feasibility proof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Interactive simulator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Demo environment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Validation feedback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Technical architecture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Prototype demo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(Not production-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ready)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096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Roadmap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21-24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Production implementation plan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Effort estimation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Resource requirements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Cost modeling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Phase III proposal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Implementation roadmap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Effort estimate (hours/cost)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Phase III SOW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Change order template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Roadmap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delivered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(Phase III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planning input)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Google Shape;85;p5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{6AEDA306-AF86-4F78-A4FE-A2A43E0545B5}</a:tableStyleId>
              </a:tblPr>
              <a:tblGrid>
                <a:gridCol w="1567550"/>
                <a:gridCol w="836025"/>
                <a:gridCol w="3344075"/>
                <a:gridCol w="3448600"/>
                <a:gridCol w="17765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Phase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Weeks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Key Activities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Deliverables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528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282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86;p5"/>
          <p:cNvSpPr/>
          <p:nvPr/>
        </p:nvSpPr>
        <p:spPr>
          <a:xfrm>
            <a:off x="457200" y="5591900"/>
            <a:ext cx="10972800" cy="1053600"/>
          </a:xfrm>
          <a:prstGeom prst="rect">
            <a:avLst/>
          </a:prstGeom>
          <a:solidFill>
            <a:srgbClr val="FFF5E6"/>
          </a:solidFill>
          <a:ln cap="flat" cmpd="sng" w="25400">
            <a:solidFill>
              <a:srgbClr val="C4B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53505" y="5614428"/>
            <a:ext cx="1051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⚠ Stadium Certification Scope Boundary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0080" y="5934525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Phase II Commitment: Design + prototype to validate feasibility and inform Phase III planning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620084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Out of Scope: Production build, go-live, training, or operational support. These activities require a change order and are proposed for Phase III (post-August 2026).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IT Events Readiness Lifecycle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8961120" y="411480"/>
            <a:ext cx="246888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9052560" y="5029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+ PROTOTYPE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6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{6AEDA306-AF86-4F78-A4FE-A2A43E0545B5}</a:tableStyleId>
              </a:tblPr>
              <a:tblGrid>
                <a:gridCol w="1567550"/>
                <a:gridCol w="836025"/>
                <a:gridCol w="3344075"/>
                <a:gridCol w="3448600"/>
                <a:gridCol w="1776550"/>
              </a:tblGrid>
              <a:tr h="40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Phase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Weeks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Key Activities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Deliverables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Status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94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Discovery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1-3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IT Events inventory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Current planning process review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Stakeholder needs assessment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Integration dependencies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Event categories taxonomy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Current-state workflows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Requirements catalog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Integration map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Design scope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(No production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build)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13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Design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4-12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To-Be event lifecycle design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Planning workflow configuration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Readiness criteria framework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Dashboard requirements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Notification design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Event lifecycle flows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Planning playbooks (design)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Readiness checklists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Dashboard wireframes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Communication templates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Design approved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(Production build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requires change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order)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13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Prototype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13-20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Simulator-level prototype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Multi-event scenario testing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Workflow validation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Stakeholder demos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Technical proof-of-concept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Interactive simulator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Event scenario library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Demo environment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Validation results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Technical design doc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Prototype demo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(Not production-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ready)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  <a:tr h="1131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Roadmap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21-24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Production build planning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Resource and timeline estimates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Phased rollout strategy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Cost analysis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Phase III proposal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Implementation roadmap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Build estimate (hours/cost)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Rollout plan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Phase III SOW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• Change order template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✓ Roadmap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delivered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(Phase III</a:t>
                      </a:r>
                      <a:endParaRPr sz="1000" u="none" cap="none" strike="noStrike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374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2D3748"/>
                          </a:solidFill>
                        </a:rPr>
                        <a:t>planning input)</a:t>
                      </a:r>
                      <a:endParaRPr sz="1000" u="none" cap="none" strike="noStrike"/>
                    </a:p>
                  </a:txBody>
                  <a:tcPr marT="91450" marB="91450" marR="91450" marL="91450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Google Shape;99;p6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{6AEDA306-AF86-4F78-A4FE-A2A43E0545B5}</a:tableStyleId>
              </a:tblPr>
              <a:tblGrid>
                <a:gridCol w="1567550"/>
                <a:gridCol w="836025"/>
                <a:gridCol w="3344075"/>
                <a:gridCol w="3448600"/>
                <a:gridCol w="177655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Phase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Weeks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Key Activities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Deliverables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1100" u="none" cap="none" strike="noStrike"/>
                    </a:p>
                  </a:txBody>
                  <a:tcPr marT="91450" marB="91450" marR="91450" marL="91450" anchor="ctr">
                    <a:lnL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366F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366F1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6"/>
          <p:cNvSpPr/>
          <p:nvPr/>
        </p:nvSpPr>
        <p:spPr>
          <a:xfrm>
            <a:off x="457075" y="5886675"/>
            <a:ext cx="10972800" cy="855300"/>
          </a:xfrm>
          <a:prstGeom prst="rect">
            <a:avLst/>
          </a:prstGeom>
          <a:solidFill>
            <a:srgbClr val="FFF5E6"/>
          </a:solidFill>
          <a:ln cap="flat" cmpd="sng" w="25400">
            <a:solidFill>
              <a:srgbClr val="C4B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74430" y="5886665"/>
            <a:ext cx="10515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⚠ IT Events Readiness Scope Boundary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85805" y="6126225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Phase II Commitment: Design + prototype to validate approach and inform Phase III planning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85805" y="632892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Out of Scope: Production build, event-specific configurations, go-live, training, or operational support. These activities require a change order and are proposed for Phase III (post-August 2026).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Integrated Workstream Timeline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All three lifecycles running in parallel with distinct delivery commitments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40080" y="137160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Weeks 1-3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40080" y="160020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Discovery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194560" y="1371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Weeks 4-12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2194560" y="160020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029200" y="13716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Weeks 13-20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0" y="160020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863840" y="137160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Weeks 21-23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863840" y="1600200"/>
            <a:ext cx="1554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UAT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509760" y="137160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Weeks 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9509760" y="160020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Go-Live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2011680"/>
            <a:ext cx="137160" cy="54864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40080" y="21031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979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19795"/>
                </a:solidFill>
                <a:latin typeface="Arial"/>
                <a:ea typeface="Arial"/>
                <a:cs typeface="Arial"/>
                <a:sym typeface="Arial"/>
              </a:rPr>
              <a:t>GDA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" y="2103120"/>
            <a:ext cx="1463040" cy="365760"/>
          </a:xfrm>
          <a:prstGeom prst="rect">
            <a:avLst/>
          </a:prstGeom>
          <a:solidFill>
            <a:srgbClr val="319795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2286000" y="2103120"/>
            <a:ext cx="2743200" cy="365760"/>
          </a:xfrm>
          <a:prstGeom prst="rect">
            <a:avLst/>
          </a:prstGeom>
          <a:solidFill>
            <a:srgbClr val="319795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212080" y="2103120"/>
            <a:ext cx="2743200" cy="365760"/>
          </a:xfrm>
          <a:prstGeom prst="rect">
            <a:avLst/>
          </a:prstGeom>
          <a:solidFill>
            <a:srgbClr val="319795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8138160" y="2103120"/>
            <a:ext cx="1554480" cy="365760"/>
          </a:xfrm>
          <a:prstGeom prst="rect">
            <a:avLst/>
          </a:prstGeom>
          <a:solidFill>
            <a:srgbClr val="319795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9875520" y="2103120"/>
            <a:ext cx="1280160" cy="36576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9921240" y="21488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PRODUCTION GO-LIVE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7200" y="2743200"/>
            <a:ext cx="137160" cy="54864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40080" y="2834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Stadium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40080" y="2834640"/>
            <a:ext cx="1463040" cy="365760"/>
          </a:xfrm>
          <a:prstGeom prst="rect">
            <a:avLst/>
          </a:prstGeom>
          <a:solidFill>
            <a:srgbClr val="2C5282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2286000" y="2834640"/>
            <a:ext cx="2743200" cy="365760"/>
          </a:xfrm>
          <a:prstGeom prst="rect">
            <a:avLst/>
          </a:prstGeom>
          <a:solidFill>
            <a:srgbClr val="2C5282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5212080" y="2834640"/>
            <a:ext cx="2743200" cy="365760"/>
          </a:xfrm>
          <a:prstGeom prst="rect">
            <a:avLst/>
          </a:prstGeom>
          <a:solidFill>
            <a:srgbClr val="2C5282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8138160" y="2834640"/>
            <a:ext cx="3017520" cy="36576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2C528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257800" y="28803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+ PROTOTYPE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8183880" y="28803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7200" y="3474720"/>
            <a:ext cx="13716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40080" y="356616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IT Events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0080" y="3566160"/>
            <a:ext cx="1463040" cy="36576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2286000" y="3566160"/>
            <a:ext cx="2743200" cy="36576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212080" y="3566160"/>
            <a:ext cx="2743200" cy="36576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138160" y="3566160"/>
            <a:ext cx="3017520" cy="36576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6366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257800" y="361188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+ PROTOTYPE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183880" y="36118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6366F1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429768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Legend: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40080" y="4572000"/>
            <a:ext cx="365760" cy="228600"/>
          </a:xfrm>
          <a:prstGeom prst="rect">
            <a:avLst/>
          </a:prstGeom>
          <a:solidFill>
            <a:srgbClr val="319795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097280" y="457200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= Production delivery (contractual commitment)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4892040"/>
            <a:ext cx="365760" cy="2286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2C528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097280" y="48920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= Roadmap/planning (good-faith deliverable, no production build)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Stage Gates &amp; Governance Checkpoints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Critical decision points for all workstreams with go/no-go criteria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731520" y="1444752"/>
            <a:ext cx="21031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Gate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731520" y="1627632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End of Week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108960" y="13716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Gate Criteria: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108960" y="1572768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Requirements signed off by NFL and NOVATE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All workstream scopes clearly defined and documented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SMEs assigned and available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Dependencies mapped with mitigation plans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Risk register established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863840" y="1371600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863840" y="157276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Proceed to Design or escalate scope issues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40080" y="2453575"/>
            <a:ext cx="2286000" cy="45720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731520" y="2526727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Gate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731520" y="2709607"/>
            <a:ext cx="210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End of Week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108960" y="2453575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Gate Criteria: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3108960" y="2654743"/>
            <a:ext cx="4572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GDA final design approved by Technical Advisory Committee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Stadium Cert &amp; IT Events To-Be designs validated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Technical architecture reviewed and approved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Build plan confirmed with resource allocation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Integration requirements documented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7863840" y="2453575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979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19795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7863840" y="2654743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Authorize GDA build + prototype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0017" y="3462400"/>
            <a:ext cx="2286000" cy="457200"/>
          </a:xfrm>
          <a:prstGeom prst="rect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31458" y="3535552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Gate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31458" y="3718432"/>
            <a:ext cx="210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End of Week 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108897" y="3462400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Gate Criteria: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108897" y="3663568"/>
            <a:ext cx="4572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GDA system build complete and tested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Stadium Cert &amp; IT Events prototypes functional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Integration testing passed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UAT environment ready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Training materials prepared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863778" y="3462400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863778" y="3663568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Proceed to UAT or remediate build issues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40017" y="4565775"/>
            <a:ext cx="2286000" cy="4572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731458" y="4638927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 Gate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731458" y="4821807"/>
            <a:ext cx="2103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End of Week 23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108897" y="4565775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Gate Criteria: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108897" y="4766943"/>
            <a:ext cx="4572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GDA UAT completed with sign-off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All critical defects resolved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Users trained and certified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Go-live runbook approved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• Hypercare plan in place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863778" y="4565775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Decision: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863778" y="4766943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Authorize GDA production go-live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Cross-Workstream Dependencies &amp; Risks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40080" y="10058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Key Dependencies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0080" y="1463040"/>
            <a:ext cx="5029200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197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777240" y="1536192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979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19795"/>
                </a:solidFill>
                <a:latin typeface="Arial"/>
                <a:ea typeface="Arial"/>
                <a:cs typeface="Arial"/>
                <a:sym typeface="Arial"/>
              </a:rPr>
              <a:t>NFL Inputs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77240" y="1737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2026 GDA checklists, stadium certification criteria, IT events calendar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Impact: Delays in delivery affect all three workstreams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Mitigation: Establish SLA for document delivery (Week 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40080" y="2331720"/>
            <a:ext cx="5029200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197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777240" y="2404872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979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19795"/>
                </a:solidFill>
                <a:latin typeface="Arial"/>
                <a:ea typeface="Arial"/>
                <a:cs typeface="Arial"/>
                <a:sym typeface="Arial"/>
              </a:rPr>
              <a:t>SME Availability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777240" y="26060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Subject matter experts for requirements, validation, UAT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Impact: Bottlenecks in design and testing phases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Mitigation: Named SMEs assigned at kickoff with % allocation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0080" y="3200400"/>
            <a:ext cx="5029200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3197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777240" y="3273552"/>
            <a:ext cx="4754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979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19795"/>
                </a:solidFill>
                <a:latin typeface="Arial"/>
                <a:ea typeface="Arial"/>
                <a:cs typeface="Arial"/>
                <a:sym typeface="Arial"/>
              </a:rPr>
              <a:t>Technical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777240" y="34747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Shared infrastructure, integration points, security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Impact: All workstreams depend on common tech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Mitigation: Architecture locked at Stage Gate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5943600" y="10058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Critical Risks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943600" y="1463040"/>
            <a:ext cx="5029200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4B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6080760" y="153619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Scope Creep (Stadium/IT Events)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0058400" y="153619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600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4600A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6080760" y="17373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Impact: Timeline delay, budget overrun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Mitigation: Strict change control, weekly governance review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943600" y="2331720"/>
            <a:ext cx="5029200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4B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6080760" y="240487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GDA Go-Live Delay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0058400" y="240487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600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4600A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080760" y="26060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Impact: Missed 2026 season deadline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Mitigation: 2-week buffer in UAT phase, hypercare team ready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943600" y="3200400"/>
            <a:ext cx="5029200" cy="77724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4B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080760" y="327355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B04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4B04A"/>
                </a:solidFill>
                <a:latin typeface="Arial"/>
                <a:ea typeface="Arial"/>
                <a:cs typeface="Arial"/>
                <a:sym typeface="Arial"/>
              </a:rPr>
              <a:t>Stakeholder Misalignment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0058400" y="3273552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4600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C4600A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080760" y="347472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Impact: Rework in design/build phases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Mitigation: Stage gates with sign-off, bi-weekly TAC meetings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Phase III Transition Planning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91440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Stadium Certification and IT Events production implementation (Post-August 2026)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40080" y="1371600"/>
            <a:ext cx="5029200" cy="1463040"/>
          </a:xfrm>
          <a:prstGeom prst="rect">
            <a:avLst/>
          </a:prstGeom>
          <a:solidFill>
            <a:srgbClr val="319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77240" y="15087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II Deliverables (Week 24)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77240" y="18288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Stadium Certification: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Interactive simulator/prototype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To-Be workflow 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Implementation roadmap with effort estimates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Phase III SOW and change order template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IT Events Readiness: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Interactive simulator/prototype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Event lifecycle design documentation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Implementation roadmap with effort estimates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Phase III SOW and change order template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5943600" y="1371600"/>
            <a:ext cx="5029200" cy="1463040"/>
          </a:xfrm>
          <a:prstGeom prst="rect">
            <a:avLst/>
          </a:prstGeom>
          <a:solidFill>
            <a:srgbClr val="2C52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080760" y="150876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Phase III Proposed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080760" y="18288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Stadium Certification Production: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Full system build based on approved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Stadium-specific configurations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Approval workflow 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Training and go-live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IT Events Production: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Full system build based on approved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Multi-event lifecycle configuration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Integration with GDA and Stadium modules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• Training and go-live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0080" y="31089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Phase III Go/No-Go Decision Framework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77240" y="3566160"/>
            <a:ext cx="228600" cy="228600"/>
          </a:xfrm>
          <a:prstGeom prst="ellipse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1097280" y="35387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GDA Success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3474720" y="3538728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Phase II GDA go-live successful with stable operations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777240" y="3913632"/>
            <a:ext cx="228600" cy="228600"/>
          </a:xfrm>
          <a:prstGeom prst="ellipse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097280" y="38862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Prototype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474720" y="3886200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Stadium Cert &amp; IT Events simulators validated by stakeholders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77240" y="4261104"/>
            <a:ext cx="228600" cy="228600"/>
          </a:xfrm>
          <a:prstGeom prst="ellipse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097280" y="42336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Business Case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3474720" y="4233672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ROI and business value confirmed for production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777240" y="4608576"/>
            <a:ext cx="228600" cy="228600"/>
          </a:xfrm>
          <a:prstGeom prst="ellipse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1097280" y="45811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Resource Availability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3474720" y="4581144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NFL and NOVATE resources committed for Phase III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777240" y="4956048"/>
            <a:ext cx="228600" cy="228600"/>
          </a:xfrm>
          <a:prstGeom prst="ellipse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1097280" y="492861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28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C5282"/>
                </a:solidFill>
                <a:latin typeface="Arial"/>
                <a:ea typeface="Arial"/>
                <a:cs typeface="Arial"/>
                <a:sym typeface="Arial"/>
              </a:rPr>
              <a:t>Budget Approval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474720" y="4928616"/>
            <a:ext cx="7498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D3748"/>
                </a:solidFill>
                <a:latin typeface="Arial"/>
                <a:ea typeface="Arial"/>
                <a:cs typeface="Arial"/>
                <a:sym typeface="Arial"/>
              </a:rPr>
              <a:t>Phase III funding secured based on effort estimates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"/>
          <p:cNvSpPr/>
          <p:nvPr/>
        </p:nvSpPr>
        <p:spPr>
          <a:xfrm>
            <a:off x="457200" y="18288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FAFC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7FAFC"/>
                </a:solidFill>
                <a:latin typeface="Arial"/>
                <a:ea typeface="Arial"/>
                <a:cs typeface="Arial"/>
                <a:sym typeface="Arial"/>
              </a:rPr>
              <a:t>Implementation Readiness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9795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319795"/>
                </a:solidFill>
                <a:latin typeface="Arial"/>
                <a:ea typeface="Arial"/>
                <a:cs typeface="Arial"/>
                <a:sym typeface="Arial"/>
              </a:rPr>
              <a:t>Three Lifecycles • One Integrated Timeline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457200" y="3383280"/>
            <a:ext cx="3657600" cy="45720"/>
          </a:xfrm>
          <a:prstGeom prst="rect">
            <a:avLst/>
          </a:prstGeom>
          <a:solidFill>
            <a:srgbClr val="C4B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GDA Production Delivery • Stadium Cert Design &amp; Prototype • IT Events Design &amp; Prototype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March 3 – August 15, 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2026-01-29T06:34:13Z</dcterms:created>
  <dc:creator>NOVATE | Sentrais</dc:creator>
</cp:coreProperties>
</file>